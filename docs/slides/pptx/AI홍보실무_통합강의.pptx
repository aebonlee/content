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404" r:id="rId4"/>
    <p:sldId id="405" r:id="rId5"/>
    <p:sldId id="406" r:id="rId6"/>
    <p:sldId id="400" r:id="rId7"/>
    <p:sldId id="410" r:id="rId8"/>
    <p:sldId id="417" r:id="rId9"/>
    <p:sldId id="418" r:id="rId10"/>
    <p:sldId id="419" r:id="rId11"/>
    <p:sldId id="421" r:id="rId12"/>
    <p:sldId id="436" r:id="rId13"/>
    <p:sldId id="426" r:id="rId14"/>
    <p:sldId id="407" r:id="rId15"/>
    <p:sldId id="413" r:id="rId16"/>
    <p:sldId id="438" r:id="rId17"/>
    <p:sldId id="420" r:id="rId18"/>
    <p:sldId id="422" r:id="rId19"/>
    <p:sldId id="403" r:id="rId20"/>
    <p:sldId id="429" r:id="rId21"/>
    <p:sldId id="432" r:id="rId22"/>
    <p:sldId id="433" r:id="rId23"/>
    <p:sldId id="435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437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413"/>
    <p:restoredTop sz="94658"/>
  </p:normalViewPr>
  <p:slideViewPr>
    <p:cSldViewPr snapToGrid="0" snapToObjects="1">
      <p:cViewPr varScale="1">
        <p:scale>
          <a:sx n="80" d="100"/>
          <a:sy n="80" d="100"/>
        </p:scale>
        <p:origin x="208" y="10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68680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737360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606039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474720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4343400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212079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080759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1051560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400"/>
              </a:spcAft>
            </a:pPr>
            <a:r>
              <a:rPr sz="1400" b="0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ONE-DAY WORKSHOP · AI MARKETING · 8 HOURS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AI로 만드는 홍보 실무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800"/>
              </a:spcAft>
            </a:pPr>
            <a:r>
              <a:rPr sz="2200" b="0">
                <a:solidFill>
                  <a:srgbClr val="C7D2E6"/>
                </a:solidFill>
                <a:latin typeface="Noto Serif KR"/>
                <a:ea typeface="Noto Serif KR"/>
                <a:cs typeface="Noto Serif KR"/>
              </a:rPr>
              <a:t>콘텐츠 · 이미지 · 페이지까지 자동화 완성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9FAEC8"/>
                </a:solidFill>
                <a:latin typeface="Pretendard"/>
                <a:ea typeface="Pretendard"/>
                <a:cs typeface="Pretendard"/>
              </a:rPr>
              <a:t>7개 모듈 · 14세션 · 하루 동안 하나의 캠페인을 처음부터 끝까지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5532120"/>
            <a:ext cx="10469880" cy="822960"/>
          </a:xfrm>
          <a:prstGeom prst="rect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3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오늘의 러닝 케이스   </a:t>
            </a:r>
            <a:r>
              <a:rPr sz="1400" b="0">
                <a:solidFill>
                  <a:srgbClr val="D7E0F0"/>
                </a:solidFill>
                <a:latin typeface="Pretendard"/>
                <a:ea typeface="Pretendard"/>
                <a:cs typeface="Pretendard"/>
              </a:rPr>
              <a:t>무알콜 수제 맥주 브랜드 ‘Night Off’ (타깃: 건강은 챙기되 분위기는 즐기고 싶은 30대 직장인)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TODAY'S JOURNEY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오늘의 여정 — 7개 모듈, 하나의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1033272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600"/>
              </a:spcAft>
            </a:pPr>
            <a:r>
              <a:rPr sz="16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M1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어떤 업무를 AI로?  </a:t>
            </a:r>
            <a:r>
              <a:rPr sz="14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— 내 홍보 업무를 진단하고 자동화 1순위를 고른다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600"/>
              </a:spcAft>
            </a:pPr>
            <a:r>
              <a:rPr sz="16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M2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무엇을 말할까?  </a:t>
            </a:r>
            <a:r>
              <a:rPr sz="14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— 목적·타깃·핵심 메시지(메시지 하우스) + 프롬프트 원리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600"/>
              </a:spcAft>
            </a:pPr>
            <a:r>
              <a:rPr sz="16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M3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글로 풀어내기  </a:t>
            </a:r>
            <a:r>
              <a:rPr sz="14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— 소개문·SNS·블로그·카드뉴스 문안을 톤 유지하며 대량 생성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600"/>
              </a:spcAft>
            </a:pPr>
            <a:r>
              <a:rPr sz="16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M4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보이게 만들기  </a:t>
            </a:r>
            <a:r>
              <a:rPr sz="14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— 문구와 톤이 맞는 배너·카드뉴스·썸네일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600"/>
              </a:spcAft>
            </a:pPr>
            <a:r>
              <a:rPr sz="16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M5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화면 설계  </a:t>
            </a:r>
            <a:r>
              <a:rPr sz="14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— 자연어로 홍보 페이지 UI 시안(Google Stitch)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600"/>
              </a:spcAft>
            </a:pPr>
            <a:r>
              <a:rPr sz="16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M6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페이지 완성  </a:t>
            </a:r>
            <a:r>
              <a:rPr sz="14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— 섹션 카피·CTA·사용자 흐름으로 전환되는 페이지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600"/>
              </a:spcAft>
            </a:pPr>
            <a:r>
              <a:rPr sz="16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M7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자산으로 남기기  </a:t>
            </a:r>
            <a:r>
              <a:rPr sz="14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— 템플릿화·자동화 + 결과물 발표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5897880"/>
            <a:ext cx="10332720" cy="50292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각 모듈은 앞 모듈의 결과물을 입력으로 받아 이어집니다 — 따로가 아니라 하나의 캠페인.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1554480"/>
            <a:ext cx="1005840" cy="12801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400" b="0">
                <a:solidFill>
                  <a:srgbClr val="BFD2EC"/>
                </a:solidFill>
                <a:latin typeface="JetBrains Mono"/>
                <a:ea typeface="JetBrains Mono"/>
                <a:cs typeface="JetBrains Mono"/>
              </a:rPr>
              <a:t>MODULE 1 · 1교시 · 09:00–09:50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</a:pPr>
            <a:r>
              <a:rPr sz="38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M1. AI 기반 업무효율화의 이해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생성형 AI를 "확률적 언어 생성기"로 정확히 이해하고, 내 홍보 워크플로를 입력→처리→출력 단위로 분해해 어디를 자동화할지 판단한다.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5212080"/>
            <a:ext cx="10515600" cy="1330388"/>
          </a:xfrm>
          <a:prstGeom prst="rect">
            <a:avLst/>
          </a:prstGeom>
          <a:solidFill>
            <a:srgbClr val="184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64592" rtlCol="0" anchor="ctr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300"/>
              </a:spcAft>
            </a:pPr>
            <a:r>
              <a:rPr sz="1200" b="1">
                <a:solidFill>
                  <a:srgbClr val="9FC0E6"/>
                </a:solidFill>
                <a:latin typeface="JetBrains Mono"/>
                <a:ea typeface="JetBrains Mono"/>
                <a:cs typeface="JetBrains Mono"/>
              </a:rPr>
              <a:t>이전  </a:t>
            </a:r>
            <a:r>
              <a:rPr sz="1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워크숍 시작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300"/>
              </a:spcAft>
            </a:pPr>
            <a:r>
              <a:rPr sz="12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이번  </a:t>
            </a: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 업무를 진단해 'AI로 바꿀 한 곳'을 찾는다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1">
                <a:solidFill>
                  <a:srgbClr val="9FC0E6"/>
                </a:solidFill>
                <a:latin typeface="JetBrains Mono"/>
                <a:ea typeface="JetBrains Mono"/>
                <a:cs typeface="JetBrains Mono"/>
              </a:rPr>
              <a:t>다음  </a:t>
            </a:r>
            <a:r>
              <a:rPr sz="1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찾은 그 업무의 메시지부터 잡으러 → M2</a:t>
            </a:r>
          </a:p>
        </p:txBody>
      </p:sp>
      <p:sp>
        <p:nvSpPr>
          <p:cNvPr id="140" name="num"/>
          <p:cNvSpPr txBox="1"/>
          <p:nvPr/>
        </p:nvSpPr>
        <p:spPr>
          <a:xfrm>
            <a:off x="9080500" y="3810000"/>
            <a:ext cx="2286000" cy="1905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US" sz="10000" b="1" dirty="0">
                <a:solidFill>
                  <a:srgbClr val="3D679A"/>
                </a:solidFill>
                <a:latin typeface="Noto Serif KR"/>
                <a:ea typeface="Noto Serif KR"/>
              </a:rPr>
              <a:t>01</a:t>
            </a:r>
          </a:p>
        </p:txBody>
      </p:sp>
      <p:sp>
        <p:nvSpPr>
          <p:cNvPr id="141" name="pcap"/>
          <p:cNvSpPr txBox="1"/>
          <p:nvPr/>
        </p:nvSpPr>
        <p:spPr>
          <a:xfrm>
            <a:off x="825500" y="3962400"/>
            <a:ext cx="5080000" cy="3048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ko-KR" sz="1200" b="1" dirty="0">
                <a:solidFill>
                  <a:srgbClr val="E8A33D"/>
                </a:solidFill>
                <a:latin typeface="JetBrains Mono"/>
                <a:ea typeface="JetBrains Mono"/>
              </a:rPr>
              <a:t>이 모듈의 작업 단위</a:t>
            </a:r>
          </a:p>
        </p:txBody>
      </p:sp>
      <p:sp>
        <p:nvSpPr>
          <p:cNvPr id="142" name="chip0"/>
          <p:cNvSpPr/>
          <p:nvPr/>
        </p:nvSpPr>
        <p:spPr>
          <a:xfrm>
            <a:off x="825500" y="4368800"/>
            <a:ext cx="1498600" cy="584200"/>
          </a:xfrm>
          <a:prstGeom prst="roundRect">
            <a:avLst>
              <a:gd name="adj" fmla="val 18000"/>
            </a:avLst>
          </a:prstGeom>
          <a:solidFill>
            <a:srgbClr val="416A9C"/>
          </a:solidFill>
          <a:ln w="12700">
            <a:solidFill>
              <a:srgbClr val="E8A33D"/>
            </a:solidFill>
          </a:ln>
        </p:spPr>
        <p:txBody>
          <a:bodyPr lIns="0" tIns="0" rIns="0" bIns="0" anchor="ctr"/>
          <a:lstStyle/>
          <a:p>
            <a:pPr algn="ctr"/>
            <a:r>
              <a:rPr lang="ko-KR" sz="1600" b="1" dirty="0">
                <a:solidFill>
                  <a:srgbClr val="FFFFFF"/>
                </a:solidFill>
                <a:latin typeface="Pretendard"/>
                <a:ea typeface="Pretendard"/>
              </a:rPr>
              <a:t>입력</a:t>
            </a:r>
          </a:p>
        </p:txBody>
      </p:sp>
      <p:sp>
        <p:nvSpPr>
          <p:cNvPr id="143" name="arr0"/>
          <p:cNvSpPr/>
          <p:nvPr/>
        </p:nvSpPr>
        <p:spPr>
          <a:xfrm>
            <a:off x="2374900" y="4521200"/>
            <a:ext cx="304800" cy="27940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4" name="chip1"/>
          <p:cNvSpPr/>
          <p:nvPr/>
        </p:nvSpPr>
        <p:spPr>
          <a:xfrm>
            <a:off x="2730500" y="4368800"/>
            <a:ext cx="1498600" cy="584200"/>
          </a:xfrm>
          <a:prstGeom prst="roundRect">
            <a:avLst>
              <a:gd name="adj" fmla="val 18000"/>
            </a:avLst>
          </a:prstGeom>
          <a:solidFill>
            <a:srgbClr val="416A9C"/>
          </a:solidFill>
          <a:ln w="12700">
            <a:solidFill>
              <a:srgbClr val="E8A33D"/>
            </a:solidFill>
          </a:ln>
        </p:spPr>
        <p:txBody>
          <a:bodyPr lIns="0" tIns="0" rIns="0" bIns="0" anchor="ctr"/>
          <a:lstStyle/>
          <a:p>
            <a:pPr algn="ctr"/>
            <a:r>
              <a:rPr lang="ko-KR" sz="1600" b="1" dirty="0">
                <a:solidFill>
                  <a:srgbClr val="FFFFFF"/>
                </a:solidFill>
                <a:latin typeface="Pretendard"/>
                <a:ea typeface="Pretendard"/>
              </a:rPr>
              <a:t>처리</a:t>
            </a:r>
          </a:p>
        </p:txBody>
      </p:sp>
      <p:sp>
        <p:nvSpPr>
          <p:cNvPr id="145" name="arr1"/>
          <p:cNvSpPr/>
          <p:nvPr/>
        </p:nvSpPr>
        <p:spPr>
          <a:xfrm>
            <a:off x="4279900" y="4521200"/>
            <a:ext cx="304800" cy="27940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6" name="chip2"/>
          <p:cNvSpPr/>
          <p:nvPr/>
        </p:nvSpPr>
        <p:spPr>
          <a:xfrm>
            <a:off x="4635500" y="4368800"/>
            <a:ext cx="1498600" cy="584200"/>
          </a:xfrm>
          <a:prstGeom prst="roundRect">
            <a:avLst>
              <a:gd name="adj" fmla="val 18000"/>
            </a:avLst>
          </a:prstGeom>
          <a:solidFill>
            <a:srgbClr val="416A9C"/>
          </a:solidFill>
          <a:ln w="12700">
            <a:solidFill>
              <a:srgbClr val="E8A33D"/>
            </a:solidFill>
          </a:ln>
        </p:spPr>
        <p:txBody>
          <a:bodyPr lIns="0" tIns="0" rIns="0" bIns="0" anchor="ctr"/>
          <a:lstStyle/>
          <a:p>
            <a:pPr algn="ctr"/>
            <a:r>
              <a:rPr lang="ko-KR" sz="1600" b="1" dirty="0">
                <a:solidFill>
                  <a:srgbClr val="FFFFFF"/>
                </a:solidFill>
                <a:latin typeface="Pretendard"/>
                <a:ea typeface="Pretendard"/>
              </a:rPr>
              <a:t>출력</a:t>
            </a:r>
          </a:p>
        </p:txBody>
      </p:sp>
    </p:spTree>
    <p:extLst>
      <p:ext uri="{BB962C8B-B14F-4D97-AF65-F5344CB8AC3E}">
        <p14:creationId xmlns:p14="http://schemas.microsoft.com/office/powerpoint/2010/main" val="3263040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학습 목표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이 모듈에서 할 수 있게 되는 것</a:t>
            </a:r>
          </a:p>
        </p:txBody>
      </p:sp>
      <p:sp>
        <p:nvSpPr>
          <p:cNvPr id="100" name="card0"/>
          <p:cNvSpPr/>
          <p:nvPr/>
        </p:nvSpPr>
        <p:spPr>
          <a:xfrm>
            <a:off x="825500" y="1905000"/>
            <a:ext cx="10541000" cy="132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6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" name="badge0"/>
          <p:cNvSpPr/>
          <p:nvPr/>
        </p:nvSpPr>
        <p:spPr>
          <a:xfrm>
            <a:off x="1155700" y="2222500"/>
            <a:ext cx="685800" cy="685800"/>
          </a:xfrm>
          <a:prstGeom prst="ellipse">
            <a:avLst/>
          </a:prstGeom>
          <a:solidFill>
            <a:srgbClr val="1D4E89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900" b="1" dirty="0">
                <a:solidFill>
                  <a:srgbClr val="FFFFFF"/>
                </a:solidFill>
                <a:latin typeface="Noto Serif KR"/>
                <a:ea typeface="Noto Serif KR"/>
              </a:rPr>
              <a:t>01</a:t>
            </a:r>
          </a:p>
        </p:txBody>
      </p:sp>
      <p:sp>
        <p:nvSpPr>
          <p:cNvPr id="102" name="txt0"/>
          <p:cNvSpPr txBox="1"/>
          <p:nvPr/>
        </p:nvSpPr>
        <p:spPr>
          <a:xfrm>
            <a:off x="2197100" y="2082800"/>
            <a:ext cx="8890000" cy="965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spcAft>
                <a:spcPts val="300"/>
              </a:spcAft>
            </a:pPr>
            <a:r>
              <a:rPr lang="ko-KR" sz="1650" b="1" dirty="0">
                <a:solidFill>
                  <a:srgbClr val="14213D"/>
                </a:solidFill>
                <a:latin typeface="Pretendard"/>
                <a:ea typeface="Pretendard"/>
              </a:rPr>
              <a:t>원리·한계 이해</a:t>
            </a:r>
          </a:p>
          <a:p>
            <a:pPr>
              <a:lnSpc>
                <a:spcPct val="116000"/>
              </a:lnSpc>
            </a:pPr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생성형 AI(LLM)의 동작 원리와 한계(환각)를 명확히 설명할 수 있다.</a:t>
            </a:r>
          </a:p>
        </p:txBody>
      </p:sp>
      <p:sp>
        <p:nvSpPr>
          <p:cNvPr id="103" name="card1"/>
          <p:cNvSpPr/>
          <p:nvPr/>
        </p:nvSpPr>
        <p:spPr>
          <a:xfrm>
            <a:off x="825500" y="3454400"/>
            <a:ext cx="10541000" cy="132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6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4" name="badge1"/>
          <p:cNvSpPr/>
          <p:nvPr/>
        </p:nvSpPr>
        <p:spPr>
          <a:xfrm>
            <a:off x="1155700" y="3771900"/>
            <a:ext cx="685800" cy="685800"/>
          </a:xfrm>
          <a:prstGeom prst="ellipse">
            <a:avLst/>
          </a:prstGeom>
          <a:solidFill>
            <a:srgbClr val="1D4E89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900" b="1" dirty="0">
                <a:solidFill>
                  <a:srgbClr val="FFFFFF"/>
                </a:solidFill>
                <a:latin typeface="Noto Serif KR"/>
                <a:ea typeface="Noto Serif KR"/>
              </a:rPr>
              <a:t>02</a:t>
            </a:r>
          </a:p>
        </p:txBody>
      </p:sp>
      <p:sp>
        <p:nvSpPr>
          <p:cNvPr id="105" name="txt1"/>
          <p:cNvSpPr txBox="1"/>
          <p:nvPr/>
        </p:nvSpPr>
        <p:spPr>
          <a:xfrm>
            <a:off x="2197100" y="3632200"/>
            <a:ext cx="8890000" cy="965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spcAft>
                <a:spcPts val="300"/>
              </a:spcAft>
            </a:pPr>
            <a:r>
              <a:rPr lang="ko-KR" sz="1650" b="1" dirty="0">
                <a:solidFill>
                  <a:srgbClr val="14213D"/>
                </a:solidFill>
                <a:latin typeface="Pretendard"/>
                <a:ea typeface="Pretendard"/>
              </a:rPr>
              <a:t>프로세스 변화</a:t>
            </a:r>
          </a:p>
          <a:p>
            <a:pPr>
              <a:lnSpc>
                <a:spcPct val="116000"/>
              </a:lnSpc>
            </a:pPr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기존 홍보 프로세스가 AI 도입 후 어떻게 바뀌는지 짚어낼 수 있다.</a:t>
            </a:r>
          </a:p>
        </p:txBody>
      </p:sp>
      <p:sp>
        <p:nvSpPr>
          <p:cNvPr id="106" name="card2"/>
          <p:cNvSpPr/>
          <p:nvPr/>
        </p:nvSpPr>
        <p:spPr>
          <a:xfrm>
            <a:off x="825500" y="5003800"/>
            <a:ext cx="10541000" cy="132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6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7" name="badge2"/>
          <p:cNvSpPr/>
          <p:nvPr/>
        </p:nvSpPr>
        <p:spPr>
          <a:xfrm>
            <a:off x="1155700" y="5321300"/>
            <a:ext cx="685800" cy="685800"/>
          </a:xfrm>
          <a:prstGeom prst="ellipse">
            <a:avLst/>
          </a:prstGeom>
          <a:solidFill>
            <a:srgbClr val="1D4E89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900" b="1" dirty="0">
                <a:solidFill>
                  <a:srgbClr val="FFFFFF"/>
                </a:solidFill>
                <a:latin typeface="Noto Serif KR"/>
                <a:ea typeface="Noto Serif KR"/>
              </a:rPr>
              <a:t>03</a:t>
            </a:r>
          </a:p>
        </p:txBody>
      </p:sp>
      <p:sp>
        <p:nvSpPr>
          <p:cNvPr id="108" name="txt2"/>
          <p:cNvSpPr txBox="1"/>
          <p:nvPr/>
        </p:nvSpPr>
        <p:spPr>
          <a:xfrm>
            <a:off x="2197100" y="5181600"/>
            <a:ext cx="8890000" cy="965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spcAft>
                <a:spcPts val="300"/>
              </a:spcAft>
            </a:pPr>
            <a:r>
              <a:rPr lang="ko-KR" sz="1650" b="1" dirty="0">
                <a:solidFill>
                  <a:srgbClr val="14213D"/>
                </a:solidFill>
                <a:latin typeface="Pretendard"/>
                <a:ea typeface="Pretendard"/>
              </a:rPr>
              <a:t>자동화 지점 판단</a:t>
            </a:r>
          </a:p>
          <a:p>
            <a:pPr>
              <a:lnSpc>
                <a:spcPct val="116000"/>
              </a:lnSpc>
            </a:pPr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내 홍보 업무를 입력→처리→출력으로 분해해 자동화 지점을 판단한다.</a:t>
            </a:r>
          </a:p>
        </p:txBody>
      </p:sp>
    </p:spTree>
    <p:extLst>
      <p:ext uri="{BB962C8B-B14F-4D97-AF65-F5344CB8AC3E}">
        <p14:creationId xmlns:p14="http://schemas.microsoft.com/office/powerpoint/2010/main" val="1986970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2468880"/>
            <a:ext cx="822960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800"/>
              </a:spcAft>
            </a:pPr>
            <a:r>
              <a:rPr sz="1400" b="0">
                <a:solidFill>
                  <a:srgbClr val="BFD2EC"/>
                </a:solidFill>
                <a:latin typeface="JetBrains Mono"/>
                <a:ea typeface="JetBrains Mono"/>
                <a:cs typeface="JetBrains Mono"/>
              </a:rPr>
              <a:t>세션 1</a:t>
            </a:r>
          </a:p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1200"/>
              </a:spcAft>
            </a:pPr>
            <a:r>
              <a:rPr sz="32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생성형 AI의 개념과 홍보 업무의 변화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LLM의 동작 원리(다음 토큰 예측)와 한계(환각)를 알고, "검색기"가 아니라 "생성기"로 다룬다.</a:t>
            </a:r>
          </a:p>
        </p:txBody>
      </p:sp>
      <p:sp>
        <p:nvSpPr>
          <p:cNvPr id="120" name="num"/>
          <p:cNvSpPr txBox="1"/>
          <p:nvPr/>
        </p:nvSpPr>
        <p:spPr>
          <a:xfrm>
            <a:off x="8890000" y="508000"/>
            <a:ext cx="2476500" cy="1905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US" sz="11000" b="1" dirty="0">
                <a:solidFill>
                  <a:srgbClr val="386397"/>
                </a:solidFill>
                <a:latin typeface="Noto Serif KR"/>
                <a:ea typeface="Noto Serif KR"/>
              </a:rPr>
              <a:t>01</a:t>
            </a:r>
          </a:p>
        </p:txBody>
      </p:sp>
      <p:sp>
        <p:nvSpPr>
          <p:cNvPr id="121" name="cap"/>
          <p:cNvSpPr txBox="1"/>
          <p:nvPr/>
        </p:nvSpPr>
        <p:spPr>
          <a:xfrm>
            <a:off x="825500" y="5257800"/>
            <a:ext cx="5080000" cy="3048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ko-KR" sz="1200" b="1" dirty="0">
                <a:solidFill>
                  <a:srgbClr val="E8A33D"/>
                </a:solidFill>
                <a:latin typeface="JetBrains Mono"/>
                <a:ea typeface="JetBrains Mono"/>
              </a:rPr>
              <a:t>이 세션의 흐름</a:t>
            </a:r>
          </a:p>
        </p:txBody>
      </p:sp>
      <p:sp>
        <p:nvSpPr>
          <p:cNvPr id="122" name="chip0"/>
          <p:cNvSpPr/>
          <p:nvPr/>
        </p:nvSpPr>
        <p:spPr>
          <a:xfrm>
            <a:off x="825500" y="5638800"/>
            <a:ext cx="2387600" cy="533400"/>
          </a:xfrm>
          <a:prstGeom prst="roundRect">
            <a:avLst>
              <a:gd name="adj" fmla="val 20000"/>
            </a:avLst>
          </a:prstGeom>
          <a:solidFill>
            <a:srgbClr val="466E9E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1350" b="1" dirty="0">
                <a:solidFill>
                  <a:srgbClr val="FFFFFF"/>
                </a:solidFill>
                <a:latin typeface="Pretendard"/>
                <a:ea typeface="Pretendard"/>
              </a:rPr>
              <a:t>핵심 개념</a:t>
            </a:r>
          </a:p>
        </p:txBody>
      </p:sp>
      <p:sp>
        <p:nvSpPr>
          <p:cNvPr id="123" name="arr0"/>
          <p:cNvSpPr/>
          <p:nvPr/>
        </p:nvSpPr>
        <p:spPr>
          <a:xfrm>
            <a:off x="3263900" y="5791200"/>
            <a:ext cx="228600" cy="22860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4" name="chip1"/>
          <p:cNvSpPr/>
          <p:nvPr/>
        </p:nvSpPr>
        <p:spPr>
          <a:xfrm>
            <a:off x="3543300" y="5638800"/>
            <a:ext cx="2387600" cy="533400"/>
          </a:xfrm>
          <a:prstGeom prst="roundRect">
            <a:avLst>
              <a:gd name="adj" fmla="val 20000"/>
            </a:avLst>
          </a:prstGeom>
          <a:solidFill>
            <a:srgbClr val="466E9E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1350" b="1" dirty="0">
                <a:solidFill>
                  <a:srgbClr val="FFFFFF"/>
                </a:solidFill>
                <a:latin typeface="Pretendard"/>
                <a:ea typeface="Pretendard"/>
              </a:rPr>
              <a:t>개념 깊이보기</a:t>
            </a:r>
          </a:p>
        </p:txBody>
      </p:sp>
      <p:sp>
        <p:nvSpPr>
          <p:cNvPr id="125" name="arr1"/>
          <p:cNvSpPr/>
          <p:nvPr/>
        </p:nvSpPr>
        <p:spPr>
          <a:xfrm>
            <a:off x="5981700" y="5791200"/>
            <a:ext cx="228600" cy="22860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6" name="chip2"/>
          <p:cNvSpPr/>
          <p:nvPr/>
        </p:nvSpPr>
        <p:spPr>
          <a:xfrm>
            <a:off x="6261100" y="5638800"/>
            <a:ext cx="2387600" cy="533400"/>
          </a:xfrm>
          <a:prstGeom prst="roundRect">
            <a:avLst>
              <a:gd name="adj" fmla="val 20000"/>
            </a:avLst>
          </a:prstGeom>
          <a:solidFill>
            <a:srgbClr val="466E9E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1350" b="1" dirty="0">
                <a:solidFill>
                  <a:srgbClr val="FFFFFF"/>
                </a:solidFill>
                <a:latin typeface="Pretendard"/>
                <a:ea typeface="Pretendard"/>
              </a:rPr>
              <a:t>실습 · 프롬프트</a:t>
            </a:r>
          </a:p>
        </p:txBody>
      </p:sp>
      <p:sp>
        <p:nvSpPr>
          <p:cNvPr id="127" name="arr2"/>
          <p:cNvSpPr/>
          <p:nvPr/>
        </p:nvSpPr>
        <p:spPr>
          <a:xfrm>
            <a:off x="8699500" y="5791200"/>
            <a:ext cx="228600" cy="22860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8" name="chip3"/>
          <p:cNvSpPr/>
          <p:nvPr/>
        </p:nvSpPr>
        <p:spPr>
          <a:xfrm>
            <a:off x="8978900" y="5638800"/>
            <a:ext cx="2387600" cy="533400"/>
          </a:xfrm>
          <a:prstGeom prst="roundRect">
            <a:avLst>
              <a:gd name="adj" fmla="val 20000"/>
            </a:avLst>
          </a:prstGeom>
          <a:solidFill>
            <a:srgbClr val="466E9E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1350" b="1" dirty="0">
                <a:solidFill>
                  <a:srgbClr val="FFFFFF"/>
                </a:solidFill>
                <a:latin typeface="Pretendard"/>
                <a:ea typeface="Pretendard"/>
              </a:rPr>
              <a:t>흔한 실수 · 결과물</a:t>
            </a:r>
          </a:p>
        </p:txBody>
      </p:sp>
    </p:spTree>
    <p:extLst>
      <p:ext uri="{BB962C8B-B14F-4D97-AF65-F5344CB8AC3E}">
        <p14:creationId xmlns:p14="http://schemas.microsoft.com/office/powerpoint/2010/main" val="3068633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핵심 개념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핵심 개념</a:t>
            </a:r>
          </a:p>
        </p:txBody>
      </p:sp>
      <p:sp>
        <p:nvSpPr>
          <p:cNvPr id="100" name="card0"/>
          <p:cNvSpPr/>
          <p:nvPr/>
        </p:nvSpPr>
        <p:spPr>
          <a:xfrm>
            <a:off x="825500" y="1905000"/>
            <a:ext cx="10541000" cy="132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6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" name="circ0"/>
          <p:cNvSpPr/>
          <p:nvPr/>
        </p:nvSpPr>
        <p:spPr>
          <a:xfrm>
            <a:off x="1168400" y="2235200"/>
            <a:ext cx="660400" cy="660400"/>
          </a:xfrm>
          <a:prstGeom prst="ellipse">
            <a:avLst/>
          </a:prstGeom>
          <a:solidFill>
            <a:srgbClr val="E7EE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txt0"/>
          <p:cNvSpPr txBox="1"/>
          <p:nvPr/>
        </p:nvSpPr>
        <p:spPr>
          <a:xfrm>
            <a:off x="2159000" y="2082800"/>
            <a:ext cx="8953500" cy="965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300"/>
              </a:spcAft>
            </a:pPr>
            <a:r>
              <a:rPr lang="ko-KR" sz="1650" b="1" dirty="0">
                <a:solidFill>
                  <a:srgbClr val="14213D"/>
                </a:solidFill>
                <a:latin typeface="Pretendard"/>
                <a:ea typeface="Pretendard"/>
              </a:rPr>
              <a:t>생성형 AI (LLM)</a:t>
            </a:r>
          </a:p>
          <a:p>
            <a:pPr>
              <a:lnSpc>
                <a:spcPct val="116000"/>
              </a:lnSpc>
            </a:pPr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문맥상 가장 그럴듯한 다음 토큰을 확률적으로 이어 붙인다. 사실 DB 조회가 아니라 패턴 생성 → 출력은 “정답”이 아니라 “가장 그럴듯한 초안”.</a:t>
            </a:r>
          </a:p>
        </p:txBody>
      </p:sp>
      <p:sp>
        <p:nvSpPr>
          <p:cNvPr id="103" name="card1"/>
          <p:cNvSpPr/>
          <p:nvPr/>
        </p:nvSpPr>
        <p:spPr>
          <a:xfrm>
            <a:off x="825500" y="3454400"/>
            <a:ext cx="10541000" cy="132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6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4" name="circ1"/>
          <p:cNvSpPr/>
          <p:nvPr/>
        </p:nvSpPr>
        <p:spPr>
          <a:xfrm>
            <a:off x="1168400" y="3784600"/>
            <a:ext cx="660400" cy="660400"/>
          </a:xfrm>
          <a:prstGeom prst="ellipse">
            <a:avLst/>
          </a:prstGeom>
          <a:solidFill>
            <a:srgbClr val="FBEF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txt1"/>
          <p:cNvSpPr txBox="1"/>
          <p:nvPr/>
        </p:nvSpPr>
        <p:spPr>
          <a:xfrm>
            <a:off x="2159000" y="3632200"/>
            <a:ext cx="8953500" cy="965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300"/>
              </a:spcAft>
            </a:pPr>
            <a:r>
              <a:rPr lang="ko-KR" sz="1650" b="1" dirty="0">
                <a:solidFill>
                  <a:srgbClr val="14213D"/>
                </a:solidFill>
                <a:latin typeface="Pretendard"/>
                <a:ea typeface="Pretendard"/>
              </a:rPr>
              <a:t>환각 (Hallucination)</a:t>
            </a:r>
          </a:p>
          <a:p>
            <a:pPr>
              <a:lnSpc>
                <a:spcPct val="116000"/>
              </a:lnSpc>
            </a:pPr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근거 없이 그럴듯한 사실·수치·인용을 만들어내는 현상. 통계·날짜·고유명사·법령은 반드시 원본 교차검증.</a:t>
            </a:r>
          </a:p>
        </p:txBody>
      </p:sp>
      <p:sp>
        <p:nvSpPr>
          <p:cNvPr id="106" name="card2"/>
          <p:cNvSpPr/>
          <p:nvPr/>
        </p:nvSpPr>
        <p:spPr>
          <a:xfrm>
            <a:off x="825500" y="5003800"/>
            <a:ext cx="10541000" cy="132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6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7" name="circ2"/>
          <p:cNvSpPr/>
          <p:nvPr/>
        </p:nvSpPr>
        <p:spPr>
          <a:xfrm>
            <a:off x="1168400" y="5334000"/>
            <a:ext cx="660400" cy="660400"/>
          </a:xfrm>
          <a:prstGeom prst="ellipse">
            <a:avLst/>
          </a:prstGeom>
          <a:solidFill>
            <a:srgbClr val="E2EF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txt2"/>
          <p:cNvSpPr txBox="1"/>
          <p:nvPr/>
        </p:nvSpPr>
        <p:spPr>
          <a:xfrm>
            <a:off x="2159000" y="5181600"/>
            <a:ext cx="8953500" cy="965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300"/>
              </a:spcAft>
            </a:pPr>
            <a:r>
              <a:rPr lang="ko-KR" sz="1650" b="1" dirty="0">
                <a:solidFill>
                  <a:srgbClr val="14213D"/>
                </a:solidFill>
                <a:latin typeface="Pretendard"/>
                <a:ea typeface="Pretendard"/>
              </a:rPr>
              <a:t>Human-in-the-loop</a:t>
            </a:r>
          </a:p>
          <a:p>
            <a:pPr>
              <a:lnSpc>
                <a:spcPct val="116000"/>
              </a:lnSpc>
            </a:pPr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AI는 초안 생성, 사람은 사실검증·톤조정·최종승인. 발행 책임은 항상 사람에게.</a:t>
            </a:r>
          </a:p>
        </p:txBody>
      </p:sp>
      <p:pic>
        <p:nvPicPr>
          <p:cNvPr id="109" name="Graphic 109" descr="생성형 AI 아이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95400" y="2362200"/>
            <a:ext cx="406400" cy="406400"/>
          </a:xfrm>
          <a:prstGeom prst="rect">
            <a:avLst/>
          </a:prstGeom>
        </p:spPr>
      </p:pic>
      <p:pic>
        <p:nvPicPr>
          <p:cNvPr id="110" name="Graphic 110" descr="환각 경고 아이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5400" y="3911600"/>
            <a:ext cx="406400" cy="406400"/>
          </a:xfrm>
          <a:prstGeom prst="rect">
            <a:avLst/>
          </a:prstGeom>
        </p:spPr>
      </p:pic>
      <p:pic>
        <p:nvPicPr>
          <p:cNvPr id="111" name="Graphic 111" descr="사람 검수 방패 아이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5400" y="54610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470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개념 깊이 보기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개념을 예시로 — 우리 케이스에 적용하면</a:t>
            </a:r>
          </a:p>
        </p:txBody>
      </p:sp>
      <p:sp>
        <p:nvSpPr>
          <p:cNvPr id="100" name="card0"/>
          <p:cNvSpPr/>
          <p:nvPr/>
        </p:nvSpPr>
        <p:spPr>
          <a:xfrm>
            <a:off x="825500" y="1905000"/>
            <a:ext cx="10541000" cy="2095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6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" name="circ0"/>
          <p:cNvSpPr/>
          <p:nvPr/>
        </p:nvSpPr>
        <p:spPr>
          <a:xfrm>
            <a:off x="1181100" y="2584450"/>
            <a:ext cx="736600" cy="736600"/>
          </a:xfrm>
          <a:prstGeom prst="ellipse">
            <a:avLst/>
          </a:prstGeom>
          <a:solidFill>
            <a:srgbClr val="E7EE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txt0"/>
          <p:cNvSpPr txBox="1"/>
          <p:nvPr/>
        </p:nvSpPr>
        <p:spPr>
          <a:xfrm>
            <a:off x="2349500" y="2133600"/>
            <a:ext cx="8712200" cy="1638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spcAft>
                <a:spcPts val="500"/>
              </a:spcAft>
            </a:pPr>
            <a:r>
              <a:rPr lang="ko-KR" sz="1700" b="1" dirty="0">
                <a:solidFill>
                  <a:srgbClr val="14213D"/>
                </a:solidFill>
                <a:latin typeface="Pretendard"/>
                <a:ea typeface="Pretendard"/>
              </a:rPr>
              <a:t>생성형 AI (LLM)</a:t>
            </a:r>
          </a:p>
          <a:p>
            <a:pPr>
              <a:lnSpc>
                <a:spcPct val="124000"/>
              </a:lnSpc>
            </a:pPr>
            <a:r>
              <a:rPr lang="ko-KR" sz="1300" b="1" dirty="0">
                <a:solidFill>
                  <a:srgbClr val="E8A33D"/>
                </a:solidFill>
                <a:latin typeface="JetBrains Mono"/>
                <a:ea typeface="JetBrains Mono"/>
              </a:rPr>
              <a:t>예) </a:t>
            </a:r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“무알콜 맥주 카피 써줘” → 학습한 수만 개 카피 패턴에서 가장 그럴듯한 문장을 “생성”한다. 어딘가에서 찾아오는 게 아니다.</a:t>
            </a:r>
          </a:p>
        </p:txBody>
      </p:sp>
      <p:sp>
        <p:nvSpPr>
          <p:cNvPr id="103" name="card1"/>
          <p:cNvSpPr/>
          <p:nvPr/>
        </p:nvSpPr>
        <p:spPr>
          <a:xfrm>
            <a:off x="825500" y="4305300"/>
            <a:ext cx="10541000" cy="2095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6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4" name="circ1"/>
          <p:cNvSpPr/>
          <p:nvPr/>
        </p:nvSpPr>
        <p:spPr>
          <a:xfrm>
            <a:off x="1181100" y="4984750"/>
            <a:ext cx="736600" cy="736600"/>
          </a:xfrm>
          <a:prstGeom prst="ellipse">
            <a:avLst/>
          </a:prstGeom>
          <a:solidFill>
            <a:srgbClr val="FBEF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txt1"/>
          <p:cNvSpPr txBox="1"/>
          <p:nvPr/>
        </p:nvSpPr>
        <p:spPr>
          <a:xfrm>
            <a:off x="2349500" y="4533900"/>
            <a:ext cx="8712200" cy="1638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spcAft>
                <a:spcPts val="500"/>
              </a:spcAft>
            </a:pPr>
            <a:r>
              <a:rPr lang="ko-KR" sz="1700" b="1" dirty="0">
                <a:solidFill>
                  <a:srgbClr val="14213D"/>
                </a:solidFill>
                <a:latin typeface="Pretendard"/>
                <a:ea typeface="Pretendard"/>
              </a:rPr>
              <a:t>환각 (Hallucination)</a:t>
            </a:r>
          </a:p>
          <a:p>
            <a:pPr>
              <a:lnSpc>
                <a:spcPct val="124000"/>
              </a:lnSpc>
            </a:pPr>
            <a:r>
              <a:rPr lang="ko-KR" sz="1300" b="1" dirty="0">
                <a:solidFill>
                  <a:srgbClr val="E8A33D"/>
                </a:solidFill>
                <a:latin typeface="JetBrains Mono"/>
                <a:ea typeface="JetBrains Mono"/>
              </a:rPr>
              <a:t>예) </a:t>
            </a:r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“무알콜 맥주 시장이 매년 40% 성장”이라고 자신있게 답해도 출처가 없을 수 있다. 통계·수치는 반드시 원본 확인.</a:t>
            </a:r>
          </a:p>
        </p:txBody>
      </p:sp>
      <p:pic>
        <p:nvPicPr>
          <p:cNvPr id="106" name="Graphic 106" descr="생성형 AI 아이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08100" y="2717800"/>
            <a:ext cx="457200" cy="457200"/>
          </a:xfrm>
          <a:prstGeom prst="rect">
            <a:avLst/>
          </a:prstGeom>
        </p:spPr>
      </p:pic>
      <p:pic>
        <p:nvPicPr>
          <p:cNvPr id="107" name="Graphic 107" descr="환각 경고 아이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08100" y="511810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970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개념 심화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왜 "검색기 아닌 생성기"가 중요한가</a:t>
            </a:r>
          </a:p>
        </p:txBody>
      </p:sp>
      <p:sp>
        <p:nvSpPr>
          <p:cNvPr id="100" name="c"/>
          <p:cNvSpPr/>
          <p:nvPr/>
        </p:nvSpPr>
        <p:spPr>
          <a:xfrm>
            <a:off x="914400" y="2159000"/>
            <a:ext cx="4876800" cy="3175000"/>
          </a:xfrm>
          <a:prstGeom prst="roundRect">
            <a:avLst>
              <a:gd name="adj" fmla="val 5000"/>
            </a:avLst>
          </a:prstGeom>
          <a:solidFill>
            <a:srgbClr val="F6F0F0"/>
          </a:solidFill>
          <a:ln w="12700">
            <a:solidFill>
              <a:srgbClr val="E3C5C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" name="c"/>
          <p:cNvSpPr/>
          <p:nvPr/>
        </p:nvSpPr>
        <p:spPr>
          <a:xfrm>
            <a:off x="6400800" y="2159000"/>
            <a:ext cx="4876800" cy="3175000"/>
          </a:xfrm>
          <a:prstGeom prst="roundRect">
            <a:avLst>
              <a:gd name="adj" fmla="val 5000"/>
            </a:avLst>
          </a:prstGeom>
          <a:solidFill>
            <a:srgbClr val="EDF2F9"/>
          </a:solidFill>
          <a:ln w="12700">
            <a:solidFill>
              <a:srgbClr val="C4D6E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2" name="t"/>
          <p:cNvSpPr txBox="1"/>
          <p:nvPr/>
        </p:nvSpPr>
        <p:spPr>
          <a:xfrm>
            <a:off x="1219200" y="2463800"/>
            <a:ext cx="4267200" cy="2667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spcAft>
                <a:spcPts val="900"/>
              </a:spcAft>
            </a:pPr>
            <a:r>
              <a:rPr lang="en-US" sz="1700" b="1" dirty="0">
                <a:solidFill>
                  <a:srgbClr val="A63333"/>
                </a:solidFill>
                <a:latin typeface="Pretendard"/>
                <a:ea typeface="Pretendard"/>
              </a:rPr>
              <a:t>✕  </a:t>
            </a:r>
            <a:r>
              <a:rPr lang="ko-KR" sz="1700" b="1" dirty="0">
                <a:solidFill>
                  <a:srgbClr val="14213D"/>
                </a:solidFill>
                <a:latin typeface="Pretendard"/>
                <a:ea typeface="Pretendard"/>
              </a:rPr>
              <a:t>검색기로 착각하면</a:t>
            </a:r>
          </a:p>
          <a:p>
            <a:pPr>
              <a:lnSpc>
                <a:spcPct val="126000"/>
              </a:lnSpc>
              <a:spcAft>
                <a:spcPts val="700"/>
              </a:spcAft>
            </a:pPr>
            <a:r>
              <a:rPr lang="ko-KR" sz="1550" dirty="0">
                <a:solidFill>
                  <a:srgbClr val="14213D"/>
                </a:solidFill>
                <a:latin typeface="Pretendard"/>
                <a:ea typeface="Pretendard"/>
              </a:rPr>
              <a:t>“정답”을 기대하고 AI 답을 그대로 발행한다.</a:t>
            </a:r>
          </a:p>
          <a:p>
            <a:pPr>
              <a:lnSpc>
                <a:spcPct val="124000"/>
              </a:lnSpc>
            </a:pPr>
            <a:r>
              <a:rPr lang="ko-KR" sz="1400" b="1" dirty="0">
                <a:solidFill>
                  <a:srgbClr val="A63333"/>
                </a:solidFill>
                <a:latin typeface="Pretendard"/>
                <a:ea typeface="Pretendard"/>
              </a:rPr>
              <a:t>→ 환각·과장·오류가 검수 없이 그대로 노출</a:t>
            </a:r>
          </a:p>
        </p:txBody>
      </p:sp>
      <p:sp>
        <p:nvSpPr>
          <p:cNvPr id="103" name="t"/>
          <p:cNvSpPr txBox="1"/>
          <p:nvPr/>
        </p:nvSpPr>
        <p:spPr>
          <a:xfrm>
            <a:off x="6705600" y="2463800"/>
            <a:ext cx="4267200" cy="2667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spcAft>
                <a:spcPts val="900"/>
              </a:spcAft>
            </a:pPr>
            <a:r>
              <a:rPr lang="en-US" sz="1700" b="1" dirty="0">
                <a:solidFill>
                  <a:srgbClr val="2C6B44"/>
                </a:solidFill>
                <a:latin typeface="Pretendard"/>
                <a:ea typeface="Pretendard"/>
              </a:rPr>
              <a:t>✓  </a:t>
            </a:r>
            <a:r>
              <a:rPr lang="ko-KR" sz="1700" b="1" dirty="0">
                <a:solidFill>
                  <a:srgbClr val="14213D"/>
                </a:solidFill>
                <a:latin typeface="Pretendard"/>
                <a:ea typeface="Pretendard"/>
              </a:rPr>
              <a:t>생성기로 이해하면</a:t>
            </a:r>
          </a:p>
          <a:p>
            <a:pPr>
              <a:lnSpc>
                <a:spcPct val="126000"/>
              </a:lnSpc>
              <a:spcAft>
                <a:spcPts val="700"/>
              </a:spcAft>
            </a:pPr>
            <a:r>
              <a:rPr lang="ko-KR" sz="1550" dirty="0">
                <a:solidFill>
                  <a:srgbClr val="14213D"/>
                </a:solidFill>
                <a:latin typeface="Pretendard"/>
                <a:ea typeface="Pretendard"/>
              </a:rPr>
              <a:t>“초안”을 받아 내가 사실검증·톤조정·완성한다.</a:t>
            </a:r>
          </a:p>
          <a:p>
            <a:pPr>
              <a:lnSpc>
                <a:spcPct val="124000"/>
              </a:lnSpc>
            </a:pPr>
            <a:r>
              <a:rPr lang="ko-KR" sz="1400" b="1" dirty="0">
                <a:solidFill>
                  <a:srgbClr val="1D4E89"/>
                </a:solidFill>
                <a:latin typeface="Pretendard"/>
                <a:ea typeface="Pretendard"/>
              </a:rPr>
              <a:t>→ 안전하고 빠른, 반복 가능한 워크플로</a:t>
            </a:r>
          </a:p>
        </p:txBody>
      </p:sp>
      <p:sp>
        <p:nvSpPr>
          <p:cNvPr id="104" name="arr"/>
          <p:cNvSpPr/>
          <p:nvPr/>
        </p:nvSpPr>
        <p:spPr>
          <a:xfrm>
            <a:off x="5842000" y="3581400"/>
            <a:ext cx="508000" cy="33020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c"/>
          <p:cNvSpPr/>
          <p:nvPr/>
        </p:nvSpPr>
        <p:spPr>
          <a:xfrm>
            <a:off x="914400" y="5588000"/>
            <a:ext cx="10363200" cy="6604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 w="12700">
            <a:solidFill>
              <a:srgbClr val="1421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7" name="bt"/>
          <p:cNvSpPr txBox="1"/>
          <p:nvPr/>
        </p:nvSpPr>
        <p:spPr>
          <a:xfrm>
            <a:off x="1219200" y="5588000"/>
            <a:ext cx="9753600" cy="6604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ko-KR" sz="1450" b="1" dirty="0">
                <a:solidFill>
                  <a:srgbClr val="E8A33D"/>
                </a:solidFill>
                <a:latin typeface="Pretendard"/>
                <a:ea typeface="Pretendard"/>
              </a:rPr>
              <a:t>한 줄 정리  </a:t>
            </a:r>
            <a:r>
              <a:rPr lang="ko-KR" sz="1450" dirty="0">
                <a:solidFill>
                  <a:srgbClr val="FFFFFF"/>
                </a:solidFill>
                <a:latin typeface="Pretendard"/>
                <a:ea typeface="Pretendard"/>
              </a:rPr>
              <a:t>AI는 정답 자판기가 아니라, 검수를 전제로 한 ‘초안 생성기’다.</a:t>
            </a:r>
          </a:p>
        </p:txBody>
      </p:sp>
    </p:spTree>
    <p:extLst>
      <p:ext uri="{BB962C8B-B14F-4D97-AF65-F5344CB8AC3E}">
        <p14:creationId xmlns:p14="http://schemas.microsoft.com/office/powerpoint/2010/main" val="2562830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개념 심화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자동화 2×2 매트릭스</a:t>
            </a:r>
          </a:p>
        </p:txBody>
      </p:sp>
      <p:sp>
        <p:nvSpPr>
          <p:cNvPr id="100" name="cell"/>
          <p:cNvSpPr txBox="1"/>
          <p:nvPr/>
        </p:nvSpPr>
        <p:spPr>
          <a:xfrm>
            <a:off x="2159000" y="1930400"/>
            <a:ext cx="4470400" cy="1930400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 w="12700">
            <a:solidFill>
              <a:srgbClr val="C9D6E8"/>
            </a:solidFill>
          </a:ln>
        </p:spPr>
        <p:txBody>
          <a:bodyPr wrap="square" lIns="152400" tIns="114300" rIns="152400" bIns="91440" anchor="ctr"/>
          <a:lstStyle/>
          <a:p>
            <a:pPr>
              <a:spcAft>
                <a:spcPts val="500"/>
              </a:spcAft>
            </a:pPr>
            <a:r>
              <a:rPr lang="ko-KR" sz="1650" b="1" dirty="0">
                <a:solidFill>
                  <a:srgbClr val="14213D"/>
                </a:solidFill>
                <a:latin typeface="Pretendard"/>
                <a:ea typeface="Pretendard"/>
              </a:rPr>
              <a:t>사람이 주도</a:t>
            </a:r>
          </a:p>
          <a:p>
            <a:pPr>
              <a:lnSpc>
                <a:spcPct val="120000"/>
              </a:lnSpc>
            </a:pPr>
            <a:r>
              <a:rPr lang="ko-KR" sz="1350" dirty="0">
                <a:solidFill>
                  <a:srgbClr val="576176"/>
                </a:solidFill>
                <a:latin typeface="Pretendard"/>
                <a:ea typeface="Pretendard"/>
              </a:rPr>
              <a:t>브랜드 컨셉·핵심 메시지 결정 (AI는 보조 아이디어만)</a:t>
            </a:r>
          </a:p>
        </p:txBody>
      </p:sp>
      <p:sp>
        <p:nvSpPr>
          <p:cNvPr id="101" name="cell"/>
          <p:cNvSpPr txBox="1"/>
          <p:nvPr/>
        </p:nvSpPr>
        <p:spPr>
          <a:xfrm>
            <a:off x="6781800" y="1930400"/>
            <a:ext cx="4470400" cy="1930400"/>
          </a:xfrm>
          <a:prstGeom prst="roundRect">
            <a:avLst>
              <a:gd name="adj" fmla="val 5000"/>
            </a:avLst>
          </a:prstGeom>
          <a:solidFill>
            <a:srgbClr val="EDF2F9"/>
          </a:solidFill>
          <a:ln w="12700">
            <a:solidFill>
              <a:srgbClr val="9DBCE0"/>
            </a:solidFill>
          </a:ln>
        </p:spPr>
        <p:txBody>
          <a:bodyPr wrap="square" lIns="152400" tIns="114300" rIns="152400" bIns="91440" anchor="ctr"/>
          <a:lstStyle/>
          <a:p>
            <a:pPr>
              <a:spcAft>
                <a:spcPts val="500"/>
              </a:spcAft>
            </a:pPr>
            <a:r>
              <a:rPr lang="ko-KR" sz="1650" b="1" dirty="0">
                <a:solidFill>
                  <a:srgbClr val="1D4E89"/>
                </a:solidFill>
                <a:latin typeface="Pretendard"/>
                <a:ea typeface="Pretendard"/>
              </a:rPr>
              <a:t>AI 초안 + 사람 마감</a:t>
            </a:r>
          </a:p>
          <a:p>
            <a:pPr>
              <a:lnSpc>
                <a:spcPct val="120000"/>
              </a:lnSpc>
            </a:pPr>
            <a:r>
              <a:rPr lang="ko-KR" sz="1350" dirty="0">
                <a:solidFill>
                  <a:srgbClr val="576176"/>
                </a:solidFill>
                <a:latin typeface="Pretendard"/>
                <a:ea typeface="Pretendard"/>
              </a:rPr>
              <a:t>캠페인 카피 변형안을 대량 생성→사람이 선별·완성</a:t>
            </a:r>
          </a:p>
        </p:txBody>
      </p:sp>
      <p:sp>
        <p:nvSpPr>
          <p:cNvPr id="102" name="cell"/>
          <p:cNvSpPr txBox="1"/>
          <p:nvPr/>
        </p:nvSpPr>
        <p:spPr>
          <a:xfrm>
            <a:off x="2159000" y="4013200"/>
            <a:ext cx="4470400" cy="1930400"/>
          </a:xfrm>
          <a:prstGeom prst="roundRect">
            <a:avLst>
              <a:gd name="adj" fmla="val 5000"/>
            </a:avLst>
          </a:prstGeom>
          <a:solidFill>
            <a:srgbClr val="F1F3F7"/>
          </a:solidFill>
          <a:ln w="12700">
            <a:solidFill>
              <a:srgbClr val="D7DEEA"/>
            </a:solidFill>
          </a:ln>
        </p:spPr>
        <p:txBody>
          <a:bodyPr wrap="square" lIns="152400" tIns="114300" rIns="152400" bIns="91440" anchor="ctr"/>
          <a:lstStyle/>
          <a:p>
            <a:pPr>
              <a:spcAft>
                <a:spcPts val="500"/>
              </a:spcAft>
            </a:pPr>
            <a:r>
              <a:rPr lang="ko-KR" sz="1650" b="1" dirty="0">
                <a:solidFill>
                  <a:srgbClr val="7A8294"/>
                </a:solidFill>
                <a:latin typeface="Pretendard"/>
                <a:ea typeface="Pretendard"/>
              </a:rPr>
              <a:t>후순위 · 수동</a:t>
            </a:r>
          </a:p>
          <a:p>
            <a:pPr>
              <a:lnSpc>
                <a:spcPct val="120000"/>
              </a:lnSpc>
            </a:pPr>
            <a:r>
              <a:rPr lang="ko-KR" sz="1350" dirty="0">
                <a:solidFill>
                  <a:srgbClr val="576176"/>
                </a:solidFill>
                <a:latin typeface="Pretendard"/>
                <a:ea typeface="Pretendard"/>
              </a:rPr>
              <a:t>1회성 단순 공지 — 굳이 자동화 안 해도 됨</a:t>
            </a:r>
          </a:p>
        </p:txBody>
      </p:sp>
      <p:sp>
        <p:nvSpPr>
          <p:cNvPr id="103" name="cell"/>
          <p:cNvSpPr txBox="1"/>
          <p:nvPr/>
        </p:nvSpPr>
        <p:spPr>
          <a:xfrm>
            <a:off x="6781800" y="4013200"/>
            <a:ext cx="4470400" cy="1930400"/>
          </a:xfrm>
          <a:prstGeom prst="roundRect">
            <a:avLst>
              <a:gd name="adj" fmla="val 5000"/>
            </a:avLst>
          </a:prstGeom>
          <a:solidFill>
            <a:srgbClr val="FBEFD8"/>
          </a:solidFill>
          <a:ln w="19050">
            <a:solidFill>
              <a:srgbClr val="E8A33D"/>
            </a:solidFill>
          </a:ln>
        </p:spPr>
        <p:txBody>
          <a:bodyPr wrap="square" lIns="152400" tIns="114300" rIns="152400" bIns="91440" anchor="ctr"/>
          <a:lstStyle/>
          <a:p>
            <a:pPr>
              <a:spcAft>
                <a:spcPts val="500"/>
              </a:spcAft>
            </a:pPr>
            <a:r>
              <a:rPr lang="ko-KR" sz="1650" b="1" dirty="0">
                <a:solidFill>
                  <a:srgbClr val="B5781B"/>
                </a:solidFill>
                <a:latin typeface="Pretendard"/>
                <a:ea typeface="Pretendard"/>
              </a:rPr>
              <a:t>★  1순위 자동화</a:t>
            </a:r>
          </a:p>
          <a:p>
            <a:pPr>
              <a:lnSpc>
                <a:spcPct val="120000"/>
              </a:lnSpc>
            </a:pPr>
            <a:r>
              <a:rPr lang="ko-KR" sz="1350" dirty="0">
                <a:solidFill>
                  <a:srgbClr val="576176"/>
                </a:solidFill>
                <a:latin typeface="Pretendard"/>
                <a:ea typeface="Pretendard"/>
              </a:rPr>
              <a:t>매주 정기 게시글·카드뉴스 규격화 — 여기부터!</a:t>
            </a:r>
          </a:p>
        </p:txBody>
      </p:sp>
      <p:sp>
        <p:nvSpPr>
          <p:cNvPr id="104" name="yax"/>
          <p:cNvSpPr txBox="1"/>
          <p:nvPr/>
        </p:nvSpPr>
        <p:spPr>
          <a:xfrm>
            <a:off x="1333500" y="1930400"/>
            <a:ext cx="381000" cy="4013200"/>
          </a:xfrm>
          <a:prstGeom prst="rect">
            <a:avLst/>
          </a:prstGeom>
          <a:noFill/>
        </p:spPr>
        <p:txBody>
          <a:bodyPr vert="vert270" wrap="none" lIns="0" tIns="0" rIns="0" bIns="0" anchor="ctr"/>
          <a:lstStyle/>
          <a:p>
            <a:pPr algn="ctr"/>
            <a:r>
              <a:rPr lang="ko-KR" sz="1350" b="1" dirty="0">
                <a:solidFill>
                  <a:srgbClr val="1D4E89"/>
                </a:solidFill>
                <a:latin typeface="Pretendard"/>
                <a:ea typeface="Pretendard"/>
              </a:rPr>
              <a:t>창의성  (낮음 → 높음)</a:t>
            </a:r>
          </a:p>
        </p:txBody>
      </p:sp>
      <p:sp>
        <p:nvSpPr>
          <p:cNvPr id="105" name="xax"/>
          <p:cNvSpPr txBox="1"/>
          <p:nvPr/>
        </p:nvSpPr>
        <p:spPr>
          <a:xfrm>
            <a:off x="2159000" y="6070600"/>
            <a:ext cx="9093200" cy="3556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r>
              <a:rPr lang="ko-KR" sz="1350" b="1" dirty="0">
                <a:solidFill>
                  <a:srgbClr val="1D4E89"/>
                </a:solidFill>
                <a:latin typeface="Pretendard"/>
                <a:ea typeface="Pretendard"/>
              </a:rPr>
              <a:t>반복성  (낮음 → 높음)</a:t>
            </a:r>
          </a:p>
        </p:txBody>
      </p:sp>
    </p:spTree>
    <p:extLst>
      <p:ext uri="{BB962C8B-B14F-4D97-AF65-F5344CB8AC3E}">
        <p14:creationId xmlns:p14="http://schemas.microsoft.com/office/powerpoint/2010/main" val="923129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절차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실습 절차 — 직접 해봅니다</a:t>
            </a:r>
          </a:p>
        </p:txBody>
      </p:sp>
      <p:sp>
        <p:nvSpPr>
          <p:cNvPr id="100" name="rail"/>
          <p:cNvSpPr/>
          <p:nvPr/>
        </p:nvSpPr>
        <p:spPr>
          <a:xfrm>
            <a:off x="1270000" y="2260600"/>
            <a:ext cx="50800" cy="3276600"/>
          </a:xfrm>
          <a:prstGeom prst="rect">
            <a:avLst/>
          </a:prstGeom>
          <a:solidFill>
            <a:srgbClr val="C9D6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c0"/>
          <p:cNvSpPr txBox="1"/>
          <p:nvPr/>
        </p:nvSpPr>
        <p:spPr>
          <a:xfrm>
            <a:off x="990600" y="1955800"/>
            <a:ext cx="609600" cy="609600"/>
          </a:xfrm>
          <a:prstGeom prst="ellipse">
            <a:avLst/>
          </a:prstGeom>
          <a:solidFill>
            <a:srgbClr val="1D4E89"/>
          </a:solidFill>
          <a:ln w="38100">
            <a:solidFill>
              <a:srgbClr val="F4F6FB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1900" b="1" dirty="0">
                <a:solidFill>
                  <a:srgbClr val="FFFFFF"/>
                </a:solidFill>
                <a:latin typeface="Noto Serif KR"/>
                <a:ea typeface="Noto Serif KR"/>
              </a:rPr>
              <a:t>1</a:t>
            </a:r>
          </a:p>
        </p:txBody>
      </p:sp>
      <p:sp>
        <p:nvSpPr>
          <p:cNvPr id="102" name="t0"/>
          <p:cNvSpPr txBox="1"/>
          <p:nvPr/>
        </p:nvSpPr>
        <p:spPr>
          <a:xfrm>
            <a:off x="1905000" y="1803400"/>
            <a:ext cx="946150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spcAft>
                <a:spcPts val="300"/>
              </a:spcAft>
            </a:pPr>
            <a:r>
              <a:rPr lang="ko-KR" sz="1700" b="1" dirty="0">
                <a:solidFill>
                  <a:srgbClr val="14213D"/>
                </a:solidFill>
                <a:latin typeface="Pretendard"/>
                <a:ea typeface="Pretendard"/>
              </a:rPr>
              <a:t>업무 쪼개기</a:t>
            </a:r>
          </a:p>
          <a:p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내 홍보 업무를 “입력 → 처리 → 출력” 단위로 나열한다.</a:t>
            </a:r>
          </a:p>
        </p:txBody>
      </p:sp>
      <p:sp>
        <p:nvSpPr>
          <p:cNvPr id="103" name="c1"/>
          <p:cNvSpPr txBox="1"/>
          <p:nvPr/>
        </p:nvSpPr>
        <p:spPr>
          <a:xfrm>
            <a:off x="990600" y="3048000"/>
            <a:ext cx="609600" cy="609600"/>
          </a:xfrm>
          <a:prstGeom prst="ellipse">
            <a:avLst/>
          </a:prstGeom>
          <a:solidFill>
            <a:srgbClr val="1D4E89"/>
          </a:solidFill>
          <a:ln w="38100">
            <a:solidFill>
              <a:srgbClr val="F4F6FB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1900" b="1" dirty="0">
                <a:solidFill>
                  <a:srgbClr val="FFFFFF"/>
                </a:solidFill>
                <a:latin typeface="Noto Serif KR"/>
                <a:ea typeface="Noto Serif KR"/>
              </a:rPr>
              <a:t>2</a:t>
            </a:r>
          </a:p>
        </p:txBody>
      </p:sp>
      <p:sp>
        <p:nvSpPr>
          <p:cNvPr id="104" name="t1"/>
          <p:cNvSpPr txBox="1"/>
          <p:nvPr/>
        </p:nvSpPr>
        <p:spPr>
          <a:xfrm>
            <a:off x="1905000" y="2895600"/>
            <a:ext cx="946150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spcAft>
                <a:spcPts val="300"/>
              </a:spcAft>
            </a:pPr>
            <a:r>
              <a:rPr lang="ko-KR" sz="1700" b="1" dirty="0">
                <a:solidFill>
                  <a:srgbClr val="14213D"/>
                </a:solidFill>
                <a:latin typeface="Pretendard"/>
                <a:ea typeface="Pretendard"/>
              </a:rPr>
              <a:t>2×2 분류</a:t>
            </a:r>
          </a:p>
          <a:p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각 작업을 반복성(고/저) × 창의성(고/저)으로 배치한다.</a:t>
            </a:r>
          </a:p>
        </p:txBody>
      </p:sp>
      <p:sp>
        <p:nvSpPr>
          <p:cNvPr id="105" name="c2"/>
          <p:cNvSpPr txBox="1"/>
          <p:nvPr/>
        </p:nvSpPr>
        <p:spPr>
          <a:xfrm>
            <a:off x="990600" y="4140200"/>
            <a:ext cx="609600" cy="609600"/>
          </a:xfrm>
          <a:prstGeom prst="ellipse">
            <a:avLst/>
          </a:prstGeom>
          <a:solidFill>
            <a:srgbClr val="1D4E89"/>
          </a:solidFill>
          <a:ln w="38100">
            <a:solidFill>
              <a:srgbClr val="F4F6FB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1900" b="1" dirty="0">
                <a:solidFill>
                  <a:srgbClr val="FFFFFF"/>
                </a:solidFill>
                <a:latin typeface="Noto Serif KR"/>
                <a:ea typeface="Noto Serif KR"/>
              </a:rPr>
              <a:t>3</a:t>
            </a:r>
          </a:p>
        </p:txBody>
      </p:sp>
      <p:sp>
        <p:nvSpPr>
          <p:cNvPr id="106" name="t2"/>
          <p:cNvSpPr txBox="1"/>
          <p:nvPr/>
        </p:nvSpPr>
        <p:spPr>
          <a:xfrm>
            <a:off x="1905000" y="3987800"/>
            <a:ext cx="946150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spcAft>
                <a:spcPts val="300"/>
              </a:spcAft>
            </a:pPr>
            <a:r>
              <a:rPr lang="ko-KR" sz="1700" b="1" dirty="0">
                <a:solidFill>
                  <a:srgbClr val="14213D"/>
                </a:solidFill>
                <a:latin typeface="Pretendard"/>
                <a:ea typeface="Pretendard"/>
              </a:rPr>
              <a:t>1순위 표시</a:t>
            </a:r>
          </a:p>
          <a:p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반복성 高 · 창의성 低 = 자동화 1순위로 표시한다.</a:t>
            </a:r>
          </a:p>
        </p:txBody>
      </p:sp>
      <p:sp>
        <p:nvSpPr>
          <p:cNvPr id="107" name="c3"/>
          <p:cNvSpPr txBox="1"/>
          <p:nvPr/>
        </p:nvSpPr>
        <p:spPr>
          <a:xfrm>
            <a:off x="990600" y="5232400"/>
            <a:ext cx="609600" cy="609600"/>
          </a:xfrm>
          <a:prstGeom prst="ellipse">
            <a:avLst/>
          </a:prstGeom>
          <a:solidFill>
            <a:srgbClr val="1D4E89"/>
          </a:solidFill>
          <a:ln w="38100">
            <a:solidFill>
              <a:srgbClr val="F4F6FB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1900" b="1" dirty="0">
                <a:solidFill>
                  <a:srgbClr val="FFFFFF"/>
                </a:solidFill>
                <a:latin typeface="Noto Serif KR"/>
                <a:ea typeface="Noto Serif KR"/>
              </a:rPr>
              <a:t>4</a:t>
            </a:r>
          </a:p>
        </p:txBody>
      </p:sp>
      <p:sp>
        <p:nvSpPr>
          <p:cNvPr id="108" name="t3"/>
          <p:cNvSpPr txBox="1"/>
          <p:nvPr/>
        </p:nvSpPr>
        <p:spPr>
          <a:xfrm>
            <a:off x="1905000" y="5080000"/>
            <a:ext cx="946150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spcAft>
                <a:spcPts val="300"/>
              </a:spcAft>
            </a:pPr>
            <a:r>
              <a:rPr lang="ko-KR" sz="1700" b="1" dirty="0">
                <a:solidFill>
                  <a:srgbClr val="14213D"/>
                </a:solidFill>
                <a:latin typeface="Pretendard"/>
                <a:ea typeface="Pretendard"/>
              </a:rPr>
              <a:t>시간 수치화</a:t>
            </a:r>
          </a:p>
          <a:p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현재 소요시간 vs AI 도입 후 예상시간을 숫자로 적는다.</a:t>
            </a:r>
          </a:p>
        </p:txBody>
      </p:sp>
    </p:spTree>
    <p:extLst>
      <p:ext uri="{BB962C8B-B14F-4D97-AF65-F5344CB8AC3E}">
        <p14:creationId xmlns:p14="http://schemas.microsoft.com/office/powerpoint/2010/main" val="3830023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프롬프트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업무 진단 보조 프롬프트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438400"/>
            <a:ext cx="10332720" cy="3810000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502920" rIns="365760" bIns="32004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너는 중소기업 홍보 담당자의 업무 컨설턴트야.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아래 업무 목록을 (1) 반복성 (2) AI 자동화 적합도 (3) 추천 도구로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1~5점 표를 만들어 정리하고, 자동화 우선순위를 제안해줘.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[업무 목록]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 매주 인스타 게시글 3건 작성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 월 1회 보도자료 작성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 행사 안내 카드뉴스 제작</a:t>
            </a:r>
          </a:p>
        </p:txBody>
      </p:sp>
      <p:sp>
        <p:nvSpPr>
          <p:cNvPr id="120" name="hbar"/>
          <p:cNvSpPr txBox="1"/>
          <p:nvPr/>
        </p:nvSpPr>
        <p:spPr>
          <a:xfrm>
            <a:off x="914400" y="2006600"/>
            <a:ext cx="10337800" cy="431800"/>
          </a:xfrm>
          <a:prstGeom prst="rect">
            <a:avLst/>
          </a:prstGeom>
          <a:solidFill>
            <a:srgbClr val="0C1323"/>
          </a:solidFill>
          <a:ln>
            <a:noFill/>
          </a:ln>
        </p:spPr>
        <p:txBody>
          <a:bodyPr lIns="990600" tIns="0" rIns="203200" bIns="0" anchor="ctr"/>
          <a:lstStyle/>
          <a:p>
            <a:pPr algn="r"/>
            <a:r>
              <a:rPr lang="ko-KR" sz="1200" dirty="0">
                <a:solidFill>
                  <a:srgbClr val="BFD2EC"/>
                </a:solidFill>
                <a:latin typeface="JetBrains Mono"/>
                <a:ea typeface="JetBrains Mono"/>
              </a:rPr>
              <a:t>prompt.txt · 복사해서 그대로 사용</a:t>
            </a:r>
          </a:p>
        </p:txBody>
      </p:sp>
      <p:sp>
        <p:nvSpPr>
          <p:cNvPr id="121" name="dot0"/>
          <p:cNvSpPr/>
          <p:nvPr/>
        </p:nvSpPr>
        <p:spPr>
          <a:xfrm>
            <a:off x="1117600" y="2159000"/>
            <a:ext cx="127000" cy="12700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2" name="dot1"/>
          <p:cNvSpPr/>
          <p:nvPr/>
        </p:nvSpPr>
        <p:spPr>
          <a:xfrm>
            <a:off x="1320800" y="2159000"/>
            <a:ext cx="127000" cy="127000"/>
          </a:xfrm>
          <a:prstGeom prst="ellipse">
            <a:avLst/>
          </a:prstGeom>
          <a:solidFill>
            <a:srgbClr val="6E8F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3" name="dot2"/>
          <p:cNvSpPr/>
          <p:nvPr/>
        </p:nvSpPr>
        <p:spPr>
          <a:xfrm>
            <a:off x="1524000" y="2159000"/>
            <a:ext cx="127000" cy="127000"/>
          </a:xfrm>
          <a:prstGeom prst="ellipse">
            <a:avLst/>
          </a:prstGeom>
          <a:solidFill>
            <a:srgbClr val="415F8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4" name="cap"/>
          <p:cNvSpPr txBox="1"/>
          <p:nvPr/>
        </p:nvSpPr>
        <p:spPr>
          <a:xfrm>
            <a:off x="914400" y="1600200"/>
            <a:ext cx="10337800" cy="3302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ko-KR" sz="1300" b="1" dirty="0">
                <a:solidFill>
                  <a:srgbClr val="C77F1A"/>
                </a:solidFill>
                <a:latin typeface="JetBrains Mono"/>
                <a:ea typeface="JetBrains Mono"/>
              </a:rPr>
              <a:t>TIP — </a:t>
            </a:r>
            <a:r>
              <a:rPr lang="ko-KR" sz="1300" dirty="0">
                <a:solidFill>
                  <a:srgbClr val="576176"/>
                </a:solidFill>
                <a:latin typeface="Pretendard"/>
                <a:ea typeface="Pretendard"/>
              </a:rPr>
              <a:t>[대괄호] 부분만 내 업무로 바꿔 그대로 붙여넣으세요.</a:t>
            </a:r>
          </a:p>
        </p:txBody>
      </p:sp>
    </p:spTree>
    <p:extLst>
      <p:ext uri="{BB962C8B-B14F-4D97-AF65-F5344CB8AC3E}">
        <p14:creationId xmlns:p14="http://schemas.microsoft.com/office/powerpoint/2010/main" val="557976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실제 입력 → 출력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실제 예시 — 업무 진단표가 이렇게 나온다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83080"/>
            <a:ext cx="10332720" cy="1874519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502920" rIns="320040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아래 업무를 (1)반복성 (2)AI 적합도 (3)추천도구로 1~5점 표로 만들고 우선순위를 제안해줘.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 매주 인스타 게시글 3건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 월 1회 보도자료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 행사 카드뉴스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83080"/>
            <a:ext cx="2011680" cy="329184"/>
          </a:xfrm>
          <a:prstGeom prst="rect">
            <a:avLst/>
          </a:prstGeom>
          <a:solidFill>
            <a:srgbClr val="24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0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▸ 입력 프롬프트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794760"/>
            <a:ext cx="10332720" cy="2514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9EC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502920" rIns="32004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endParaRPr sz="1350">
              <a:solidFill>
                <a:srgbClr val="1D4E8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400" y="3794760"/>
            <a:ext cx="1828800" cy="329184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▸ 나온 결과(예)</a:t>
            </a:r>
          </a:p>
        </p:txBody>
      </p:sp>
      <p:sp>
        <p:nvSpPr>
          <p:cNvPr id="140" name="flowdot"/>
          <p:cNvSpPr txBox="1"/>
          <p:nvPr/>
        </p:nvSpPr>
        <p:spPr>
          <a:xfrm>
            <a:off x="5892800" y="3530600"/>
            <a:ext cx="381000" cy="381000"/>
          </a:xfrm>
          <a:prstGeom prst="ellipse">
            <a:avLst/>
          </a:prstGeom>
          <a:solidFill>
            <a:srgbClr val="E8A33D"/>
          </a:solidFill>
          <a:ln w="25400">
            <a:solidFill>
              <a:srgbClr val="F4F6FB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1400" b="1" dirty="0">
                <a:solidFill>
                  <a:srgbClr val="14213D"/>
                </a:solidFill>
                <a:latin typeface="Pretendard"/>
                <a:ea typeface="Pretendard"/>
              </a:rPr>
              <a:t>↓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7B6DFE08-8B61-AD49-BB6C-12821FC2BE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7379237"/>
              </p:ext>
            </p:extLst>
          </p:nvPr>
        </p:nvGraphicFramePr>
        <p:xfrm>
          <a:off x="1117600" y="4267200"/>
          <a:ext cx="9931400" cy="132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469249606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30386146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16539401"/>
                    </a:ext>
                  </a:extLst>
                </a:gridCol>
                <a:gridCol w="2692400">
                  <a:extLst>
                    <a:ext uri="{9D8B030D-6E8A-4147-A177-3AD203B41FA5}">
                      <a16:colId xmlns:a16="http://schemas.microsoft.com/office/drawing/2014/main" val="371071931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Pretendard"/>
                        </a:rPr>
                        <a:t>업무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Pretendard"/>
                        </a:rPr>
                        <a:t>반복성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Pretendard"/>
                        </a:rPr>
                        <a:t>AI 적합도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Pretendard"/>
                        </a:rPr>
                        <a:t>추천 도구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99485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300" b="1">
                          <a:solidFill>
                            <a:srgbClr val="14213D"/>
                          </a:solidFill>
                          <a:latin typeface="Pretendard"/>
                        </a:rPr>
                        <a:t>인스타 게시글</a:t>
                      </a:r>
                    </a:p>
                  </a:txBody>
                  <a:tcPr anchor="ctr">
                    <a:solidFill>
                      <a:srgbClr val="FB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14213D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anchor="ctr">
                    <a:solidFill>
                      <a:srgbClr val="FB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14213D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anchor="ctr">
                    <a:solidFill>
                      <a:srgbClr val="FBEF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300" b="0">
                          <a:solidFill>
                            <a:srgbClr val="14213D"/>
                          </a:solidFill>
                          <a:latin typeface="Pretendard"/>
                        </a:rPr>
                        <a:t>ChatGPT</a:t>
                      </a:r>
                    </a:p>
                  </a:txBody>
                  <a:tcPr anchor="ctr">
                    <a:solidFill>
                      <a:srgbClr val="FB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72132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300" b="1">
                          <a:solidFill>
                            <a:srgbClr val="14213D"/>
                          </a:solidFill>
                          <a:latin typeface="Pretendard"/>
                        </a:rPr>
                        <a:t>보도자료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14213D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14213D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300" b="0">
                          <a:solidFill>
                            <a:srgbClr val="14213D"/>
                          </a:solidFill>
                          <a:latin typeface="Pretendard"/>
                        </a:rPr>
                        <a:t>Claude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731656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300" b="1">
                          <a:solidFill>
                            <a:srgbClr val="14213D"/>
                          </a:solidFill>
                          <a:latin typeface="Pretendard"/>
                        </a:rPr>
                        <a:t>행사 카드뉴스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14213D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14213D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300" b="0">
                          <a:solidFill>
                            <a:srgbClr val="14213D"/>
                          </a:solidFill>
                          <a:latin typeface="Pretendard"/>
                        </a:rPr>
                        <a:t>ChatGPT + Canva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75766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25D1517-766A-6745-A67E-3655C9E954F7}"/>
              </a:ext>
            </a:extLst>
          </p:cNvPr>
          <p:cNvSpPr txBox="1"/>
          <p:nvPr/>
        </p:nvSpPr>
        <p:spPr>
          <a:xfrm>
            <a:off x="1117600" y="5740400"/>
            <a:ext cx="99314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ko-KR" altLang="en-US" sz="1350" b="1">
                <a:solidFill>
                  <a:srgbClr val="1D4E89"/>
                </a:solidFill>
                <a:latin typeface="Pretendard"/>
              </a:rPr>
              <a:t>→ </a:t>
            </a:r>
            <a:r>
              <a:rPr lang="en-US" altLang="ko-KR" sz="1350" b="1">
                <a:solidFill>
                  <a:srgbClr val="1D4E89"/>
                </a:solidFill>
                <a:latin typeface="Pretendard"/>
              </a:rPr>
              <a:t>1</a:t>
            </a:r>
            <a:r>
              <a:rPr lang="ko-KR" altLang="en-US" sz="1350" b="1">
                <a:solidFill>
                  <a:srgbClr val="1D4E89"/>
                </a:solidFill>
                <a:latin typeface="Pretendard"/>
              </a:rPr>
              <a:t>순위</a:t>
            </a:r>
            <a:r>
              <a:rPr lang="en-US" altLang="ko-KR" sz="1350" b="1">
                <a:solidFill>
                  <a:srgbClr val="1D4E89"/>
                </a:solidFill>
                <a:latin typeface="Pretendard"/>
              </a:rPr>
              <a:t>: </a:t>
            </a:r>
            <a:r>
              <a:rPr lang="ko-KR" altLang="en-US" sz="1350" b="1">
                <a:solidFill>
                  <a:srgbClr val="1D4E89"/>
                </a:solidFill>
                <a:latin typeface="Pretendard"/>
              </a:rPr>
              <a:t>매주 인스타 게시글 </a:t>
            </a:r>
            <a:r>
              <a:rPr lang="en-US" altLang="ko-KR" sz="1350" b="1">
                <a:solidFill>
                  <a:srgbClr val="1D4E89"/>
                </a:solidFill>
                <a:latin typeface="Pretendard"/>
              </a:rPr>
              <a:t>(</a:t>
            </a:r>
            <a:r>
              <a:rPr lang="ko-KR" altLang="en-US" sz="1350" b="1">
                <a:solidFill>
                  <a:srgbClr val="1D4E89"/>
                </a:solidFill>
                <a:latin typeface="Pretendard"/>
              </a:rPr>
              <a:t>반복 </a:t>
            </a:r>
            <a:r>
              <a:rPr lang="en-US" altLang="ko-KR" sz="1350" b="1">
                <a:solidFill>
                  <a:srgbClr val="1D4E89"/>
                </a:solidFill>
                <a:latin typeface="Pretendard"/>
              </a:rPr>
              <a:t>5 · </a:t>
            </a:r>
            <a:r>
              <a:rPr lang="ko-KR" altLang="en-US" sz="1350" b="1">
                <a:solidFill>
                  <a:srgbClr val="1D4E89"/>
                </a:solidFill>
                <a:latin typeface="Pretendard"/>
              </a:rPr>
              <a:t>적합 </a:t>
            </a:r>
            <a:r>
              <a:rPr lang="en-US" altLang="ko-KR" sz="1350" b="1">
                <a:solidFill>
                  <a:srgbClr val="1D4E89"/>
                </a:solidFill>
                <a:latin typeface="Pretendard"/>
              </a:rPr>
              <a:t>5). </a:t>
            </a:r>
            <a:r>
              <a:rPr lang="ko-KR" altLang="en-US" sz="1350" b="1">
                <a:solidFill>
                  <a:srgbClr val="1D4E89"/>
                </a:solidFill>
                <a:latin typeface="Pretendard"/>
              </a:rPr>
              <a:t>여기부터 자동화 권장</a:t>
            </a:r>
            <a:r>
              <a:rPr lang="en-US" altLang="ko-KR" sz="1350" b="1">
                <a:solidFill>
                  <a:srgbClr val="1D4E89"/>
                </a:solidFill>
                <a:latin typeface="Pretendard"/>
              </a:rPr>
              <a:t>.</a:t>
            </a:r>
            <a:endParaRPr lang="ko-KR" altLang="en-US" sz="1350" b="1">
              <a:solidFill>
                <a:srgbClr val="1D4E89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4221068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정리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생성형 AI의 개념과 홍보 업무의 변화</a:t>
            </a:r>
          </a:p>
        </p:txBody>
      </p:sp>
      <p:sp>
        <p:nvSpPr>
          <p:cNvPr id="100" name="cardA"/>
          <p:cNvSpPr/>
          <p:nvPr/>
        </p:nvSpPr>
        <p:spPr>
          <a:xfrm>
            <a:off x="825500" y="1930400"/>
            <a:ext cx="10541000" cy="2489200"/>
          </a:xfrm>
          <a:prstGeom prst="roundRect">
            <a:avLst>
              <a:gd name="adj" fmla="val 4000"/>
            </a:avLst>
          </a:prstGeom>
          <a:solidFill>
            <a:srgbClr val="FBF3E3"/>
          </a:solidFill>
          <a:ln w="12700">
            <a:solidFill>
              <a:srgbClr val="EAC48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" name="hA"/>
          <p:cNvSpPr txBox="1"/>
          <p:nvPr/>
        </p:nvSpPr>
        <p:spPr>
          <a:xfrm>
            <a:off x="1676400" y="2184400"/>
            <a:ext cx="5080000" cy="4064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ko-KR" sz="1700" b="1" dirty="0">
                <a:solidFill>
                  <a:srgbClr val="B5781B"/>
                </a:solidFill>
                <a:latin typeface="Pretendard"/>
                <a:ea typeface="Pretendard"/>
              </a:rPr>
              <a:t>흔한 실수</a:t>
            </a:r>
          </a:p>
        </p:txBody>
      </p:sp>
      <p:sp>
        <p:nvSpPr>
          <p:cNvPr id="102" name="iA"/>
          <p:cNvSpPr txBox="1"/>
          <p:nvPr/>
        </p:nvSpPr>
        <p:spPr>
          <a:xfrm>
            <a:off x="1168400" y="2743200"/>
            <a:ext cx="9855200" cy="147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200025" indent="-200025">
              <a:lnSpc>
                <a:spcPct val="120000"/>
              </a:lnSpc>
              <a:spcAft>
                <a:spcPts val="700"/>
              </a:spcAft>
              <a:buFont typeface="Arial"/>
              <a:buChar char="•"/>
            </a:pPr>
            <a:r>
              <a:rPr lang="ko-KR" sz="1450" dirty="0">
                <a:solidFill>
                  <a:srgbClr val="14213D"/>
                </a:solidFill>
                <a:latin typeface="Pretendard"/>
                <a:ea typeface="Pretendard"/>
              </a:rPr>
              <a:t>AI 출력을 검수 없이 발행 → 환각·톤 불일치 사고. 발행 전 사람 검수는 비협상 원칙.</a:t>
            </a:r>
          </a:p>
          <a:p>
            <a:pPr marL="200025" indent="-200025">
              <a:lnSpc>
                <a:spcPct val="120000"/>
              </a:lnSpc>
              <a:spcAft>
                <a:spcPts val="700"/>
              </a:spcAft>
              <a:buFont typeface="Arial"/>
              <a:buChar char="•"/>
            </a:pPr>
            <a:r>
              <a:rPr lang="ko-KR" sz="1450" dirty="0">
                <a:solidFill>
                  <a:srgbClr val="14213D"/>
                </a:solidFill>
                <a:latin typeface="Pretendard"/>
                <a:ea typeface="Pretendard"/>
              </a:rPr>
              <a:t>“전부 자동화” 욕심 → 판단·창의 영역까지 맡기면 품질이 무너진다.</a:t>
            </a:r>
          </a:p>
        </p:txBody>
      </p:sp>
      <p:sp>
        <p:nvSpPr>
          <p:cNvPr id="103" name="cardB"/>
          <p:cNvSpPr/>
          <p:nvPr/>
        </p:nvSpPr>
        <p:spPr>
          <a:xfrm>
            <a:off x="825500" y="4724400"/>
            <a:ext cx="10541000" cy="154940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B"/>
          <p:cNvSpPr txBox="1"/>
          <p:nvPr/>
        </p:nvSpPr>
        <p:spPr>
          <a:xfrm>
            <a:off x="1778000" y="4927600"/>
            <a:ext cx="9144000" cy="1143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spcAft>
                <a:spcPts val="300"/>
              </a:spcAft>
            </a:pPr>
            <a:r>
              <a:rPr lang="ko-KR" sz="1250" b="1" dirty="0">
                <a:solidFill>
                  <a:srgbClr val="E8A33D"/>
                </a:solidFill>
                <a:latin typeface="JetBrains Mono"/>
                <a:ea typeface="JetBrains Mono"/>
              </a:rPr>
              <a:t>이 세션의 결과물</a:t>
            </a:r>
          </a:p>
          <a:p>
            <a:pPr>
              <a:lnSpc>
                <a:spcPct val="118000"/>
              </a:lnSpc>
            </a:pPr>
            <a:r>
              <a:rPr lang="ko-KR" sz="1600" b="1" dirty="0">
                <a:solidFill>
                  <a:srgbClr val="FFFFFF"/>
                </a:solidFill>
                <a:latin typeface="Pretendard"/>
                <a:ea typeface="Pretendard"/>
              </a:rPr>
              <a:t>반복업무 진단표 1장 — 업무·반복성·자동화 적합도·추천 도구·예상 절감시간.</a:t>
            </a:r>
          </a:p>
        </p:txBody>
      </p:sp>
      <p:pic>
        <p:nvPicPr>
          <p:cNvPr id="105" name="Graphic 105" descr="흔한 실수 경고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8400" y="2197100"/>
            <a:ext cx="381000" cy="381000"/>
          </a:xfrm>
          <a:prstGeom prst="rect">
            <a:avLst/>
          </a:prstGeom>
        </p:spPr>
      </p:pic>
      <p:pic>
        <p:nvPicPr>
          <p:cNvPr id="106" name="Graphic 106" descr="결과물 체크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400" y="53086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270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2468880"/>
            <a:ext cx="822960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800"/>
              </a:spcAft>
            </a:pPr>
            <a:r>
              <a:rPr sz="1400" b="0">
                <a:solidFill>
                  <a:srgbClr val="BFD2EC"/>
                </a:solidFill>
                <a:latin typeface="JetBrains Mono"/>
                <a:ea typeface="JetBrains Mono"/>
                <a:cs typeface="JetBrains Mono"/>
              </a:rPr>
              <a:t>세션 2</a:t>
            </a:r>
          </a:p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1200"/>
              </a:spcAft>
            </a:pPr>
            <a:r>
              <a:rPr sz="32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중소기업 실무 적용 사례와 활용 포인트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중소기업 현장의 적용 사례로 "효과 큰 한 곳"을 먼저 찾는다(스몰 윈 전략).</a:t>
            </a:r>
          </a:p>
        </p:txBody>
      </p:sp>
      <p:sp>
        <p:nvSpPr>
          <p:cNvPr id="120" name="num"/>
          <p:cNvSpPr txBox="1"/>
          <p:nvPr/>
        </p:nvSpPr>
        <p:spPr>
          <a:xfrm>
            <a:off x="8890000" y="508000"/>
            <a:ext cx="2476500" cy="1905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US" sz="11000" b="1" dirty="0">
                <a:solidFill>
                  <a:srgbClr val="386397"/>
                </a:solidFill>
                <a:latin typeface="Noto Serif KR"/>
                <a:ea typeface="Noto Serif KR"/>
              </a:rPr>
              <a:t>02</a:t>
            </a:r>
          </a:p>
        </p:txBody>
      </p:sp>
      <p:sp>
        <p:nvSpPr>
          <p:cNvPr id="121" name="cap"/>
          <p:cNvSpPr txBox="1"/>
          <p:nvPr/>
        </p:nvSpPr>
        <p:spPr>
          <a:xfrm>
            <a:off x="825500" y="5257800"/>
            <a:ext cx="5080000" cy="3048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ko-KR" sz="1200" b="1" dirty="0">
                <a:solidFill>
                  <a:srgbClr val="E8A33D"/>
                </a:solidFill>
                <a:latin typeface="JetBrains Mono"/>
                <a:ea typeface="JetBrains Mono"/>
              </a:rPr>
              <a:t>이 세션의 흐름</a:t>
            </a:r>
          </a:p>
        </p:txBody>
      </p:sp>
      <p:sp>
        <p:nvSpPr>
          <p:cNvPr id="122" name="chip0"/>
          <p:cNvSpPr/>
          <p:nvPr/>
        </p:nvSpPr>
        <p:spPr>
          <a:xfrm>
            <a:off x="825500" y="5638800"/>
            <a:ext cx="2387600" cy="533400"/>
          </a:xfrm>
          <a:prstGeom prst="roundRect">
            <a:avLst>
              <a:gd name="adj" fmla="val 20000"/>
            </a:avLst>
          </a:prstGeom>
          <a:solidFill>
            <a:srgbClr val="466E9E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1350" b="1" dirty="0">
                <a:solidFill>
                  <a:srgbClr val="FFFFFF"/>
                </a:solidFill>
                <a:latin typeface="Pretendard"/>
                <a:ea typeface="Pretendard"/>
              </a:rPr>
              <a:t>적용 사례</a:t>
            </a:r>
          </a:p>
        </p:txBody>
      </p:sp>
      <p:sp>
        <p:nvSpPr>
          <p:cNvPr id="123" name="arr0"/>
          <p:cNvSpPr/>
          <p:nvPr/>
        </p:nvSpPr>
        <p:spPr>
          <a:xfrm>
            <a:off x="3263900" y="5791200"/>
            <a:ext cx="228600" cy="22860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4" name="chip1"/>
          <p:cNvSpPr/>
          <p:nvPr/>
        </p:nvSpPr>
        <p:spPr>
          <a:xfrm>
            <a:off x="3543300" y="5638800"/>
            <a:ext cx="2387600" cy="533400"/>
          </a:xfrm>
          <a:prstGeom prst="roundRect">
            <a:avLst>
              <a:gd name="adj" fmla="val 20000"/>
            </a:avLst>
          </a:prstGeom>
          <a:solidFill>
            <a:srgbClr val="466E9E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1350" b="1" dirty="0">
                <a:solidFill>
                  <a:srgbClr val="FFFFFF"/>
                </a:solidFill>
                <a:latin typeface="Pretendard"/>
                <a:ea typeface="Pretendard"/>
              </a:rPr>
              <a:t>활용 포인트</a:t>
            </a:r>
          </a:p>
        </p:txBody>
      </p:sp>
      <p:sp>
        <p:nvSpPr>
          <p:cNvPr id="125" name="arr1"/>
          <p:cNvSpPr/>
          <p:nvPr/>
        </p:nvSpPr>
        <p:spPr>
          <a:xfrm>
            <a:off x="5981700" y="5791200"/>
            <a:ext cx="228600" cy="22860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6" name="chip2"/>
          <p:cNvSpPr/>
          <p:nvPr/>
        </p:nvSpPr>
        <p:spPr>
          <a:xfrm>
            <a:off x="6261100" y="5638800"/>
            <a:ext cx="2387600" cy="533400"/>
          </a:xfrm>
          <a:prstGeom prst="roundRect">
            <a:avLst>
              <a:gd name="adj" fmla="val 20000"/>
            </a:avLst>
          </a:prstGeom>
          <a:solidFill>
            <a:srgbClr val="466E9E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1350" b="1" dirty="0">
                <a:solidFill>
                  <a:srgbClr val="FFFFFF"/>
                </a:solidFill>
                <a:latin typeface="Pretendard"/>
                <a:ea typeface="Pretendard"/>
              </a:rPr>
              <a:t>실습 · 프롬프트</a:t>
            </a:r>
          </a:p>
        </p:txBody>
      </p:sp>
      <p:sp>
        <p:nvSpPr>
          <p:cNvPr id="127" name="arr2"/>
          <p:cNvSpPr/>
          <p:nvPr/>
        </p:nvSpPr>
        <p:spPr>
          <a:xfrm>
            <a:off x="8699500" y="5791200"/>
            <a:ext cx="228600" cy="22860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8" name="chip3"/>
          <p:cNvSpPr/>
          <p:nvPr/>
        </p:nvSpPr>
        <p:spPr>
          <a:xfrm>
            <a:off x="8978900" y="5638800"/>
            <a:ext cx="2387600" cy="533400"/>
          </a:xfrm>
          <a:prstGeom prst="roundRect">
            <a:avLst>
              <a:gd name="adj" fmla="val 20000"/>
            </a:avLst>
          </a:prstGeom>
          <a:solidFill>
            <a:srgbClr val="466E9E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1350" b="1" dirty="0">
                <a:solidFill>
                  <a:srgbClr val="FFFFFF"/>
                </a:solidFill>
                <a:latin typeface="Pretendard"/>
                <a:ea typeface="Pretendard"/>
              </a:rPr>
              <a:t>좋은예 vs 나쁜예</a:t>
            </a:r>
          </a:p>
        </p:txBody>
      </p:sp>
    </p:spTree>
    <p:extLst>
      <p:ext uri="{BB962C8B-B14F-4D97-AF65-F5344CB8AC3E}">
        <p14:creationId xmlns:p14="http://schemas.microsoft.com/office/powerpoint/2010/main" val="15898597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핵심 개념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핵심 개념</a:t>
            </a:r>
          </a:p>
        </p:txBody>
      </p:sp>
      <p:sp>
        <p:nvSpPr>
          <p:cNvPr id="100" name="card0"/>
          <p:cNvSpPr/>
          <p:nvPr/>
        </p:nvSpPr>
        <p:spPr>
          <a:xfrm>
            <a:off x="825500" y="1905000"/>
            <a:ext cx="10541000" cy="2095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6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" name="circ0"/>
          <p:cNvSpPr/>
          <p:nvPr/>
        </p:nvSpPr>
        <p:spPr>
          <a:xfrm>
            <a:off x="1181100" y="2584450"/>
            <a:ext cx="736600" cy="736600"/>
          </a:xfrm>
          <a:prstGeom prst="ellipse">
            <a:avLst/>
          </a:prstGeom>
          <a:solidFill>
            <a:srgbClr val="E7EE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txt0"/>
          <p:cNvSpPr txBox="1"/>
          <p:nvPr/>
        </p:nvSpPr>
        <p:spPr>
          <a:xfrm>
            <a:off x="2349500" y="2133600"/>
            <a:ext cx="8712200" cy="1638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spcAft>
                <a:spcPts val="500"/>
              </a:spcAft>
            </a:pPr>
            <a:r>
              <a:rPr lang="ko-KR" sz="1700" b="1" dirty="0">
                <a:solidFill>
                  <a:srgbClr val="14213D"/>
                </a:solidFill>
                <a:latin typeface="Pretendard"/>
                <a:ea typeface="Pretendard"/>
              </a:rPr>
              <a:t>업무효율화 ROI</a:t>
            </a:r>
          </a:p>
          <a:p>
            <a:pPr>
              <a:lnSpc>
                <a:spcPct val="124000"/>
              </a:lnSpc>
            </a:pPr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(절감 시간 × 빈도) − (도구 학습·검수 비용). 빈도가 높은 업무일수록 절감 효과가 복리처럼 누적된다.</a:t>
            </a:r>
          </a:p>
        </p:txBody>
      </p:sp>
      <p:sp>
        <p:nvSpPr>
          <p:cNvPr id="103" name="card1"/>
          <p:cNvSpPr/>
          <p:nvPr/>
        </p:nvSpPr>
        <p:spPr>
          <a:xfrm>
            <a:off x="825500" y="4305300"/>
            <a:ext cx="10541000" cy="2095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6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4" name="circ1"/>
          <p:cNvSpPr/>
          <p:nvPr/>
        </p:nvSpPr>
        <p:spPr>
          <a:xfrm>
            <a:off x="1181100" y="4984750"/>
            <a:ext cx="736600" cy="736600"/>
          </a:xfrm>
          <a:prstGeom prst="ellipse">
            <a:avLst/>
          </a:prstGeom>
          <a:solidFill>
            <a:srgbClr val="FBEF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txt1"/>
          <p:cNvSpPr txBox="1"/>
          <p:nvPr/>
        </p:nvSpPr>
        <p:spPr>
          <a:xfrm>
            <a:off x="2349500" y="4533900"/>
            <a:ext cx="8712200" cy="1638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spcAft>
                <a:spcPts val="500"/>
              </a:spcAft>
            </a:pPr>
            <a:r>
              <a:rPr lang="ko-KR" sz="1700" b="1" dirty="0">
                <a:solidFill>
                  <a:srgbClr val="14213D"/>
                </a:solidFill>
                <a:latin typeface="Pretendard"/>
                <a:ea typeface="Pretendard"/>
              </a:rPr>
              <a:t>스몰 윈 (Small Win)</a:t>
            </a:r>
          </a:p>
          <a:p>
            <a:pPr>
              <a:lnSpc>
                <a:spcPct val="124000"/>
              </a:lnSpc>
            </a:pPr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전 과정을 한 번에 바꾸지 않고, 효과가 즉시 보이는 단일 업무부터 자동화해 조직의 신뢰를 먼저 쌓는다.</a:t>
            </a:r>
          </a:p>
        </p:txBody>
      </p:sp>
      <p:pic>
        <p:nvPicPr>
          <p:cNvPr id="106" name="Graphic 106" descr="ROI 차트 아이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0800" y="2717800"/>
            <a:ext cx="457200" cy="457200"/>
          </a:xfrm>
          <a:prstGeom prst="rect">
            <a:avLst/>
          </a:prstGeom>
        </p:spPr>
      </p:pic>
      <p:pic>
        <p:nvPicPr>
          <p:cNvPr id="107" name="Graphic 107" descr="스몰윈 트로피 아이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20800" y="511810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383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개념 깊이 보기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개념을 예시로 — 우리 케이스에 적용하면</a:t>
            </a:r>
          </a:p>
        </p:txBody>
      </p:sp>
      <p:sp>
        <p:nvSpPr>
          <p:cNvPr id="100" name="card0"/>
          <p:cNvSpPr/>
          <p:nvPr/>
        </p:nvSpPr>
        <p:spPr>
          <a:xfrm>
            <a:off x="825500" y="1905000"/>
            <a:ext cx="10541000" cy="2095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6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" name="circ0"/>
          <p:cNvSpPr/>
          <p:nvPr/>
        </p:nvSpPr>
        <p:spPr>
          <a:xfrm>
            <a:off x="1181100" y="2584450"/>
            <a:ext cx="736600" cy="736600"/>
          </a:xfrm>
          <a:prstGeom prst="ellipse">
            <a:avLst/>
          </a:prstGeom>
          <a:solidFill>
            <a:srgbClr val="FBEF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txt0"/>
          <p:cNvSpPr txBox="1"/>
          <p:nvPr/>
        </p:nvSpPr>
        <p:spPr>
          <a:xfrm>
            <a:off x="2349500" y="2133600"/>
            <a:ext cx="8712200" cy="1638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spcAft>
                <a:spcPts val="500"/>
              </a:spcAft>
            </a:pPr>
            <a:r>
              <a:rPr lang="ko-KR" sz="1700" b="1" dirty="0">
                <a:solidFill>
                  <a:srgbClr val="14213D"/>
                </a:solidFill>
                <a:latin typeface="Pretendard"/>
                <a:ea typeface="Pretendard"/>
              </a:rPr>
              <a:t>스몰 윈 (Small Win)</a:t>
            </a:r>
          </a:p>
          <a:p>
            <a:pPr>
              <a:lnSpc>
                <a:spcPct val="124000"/>
              </a:lnSpc>
            </a:pPr>
            <a:r>
              <a:rPr lang="ko-KR" sz="1300" b="1" dirty="0">
                <a:solidFill>
                  <a:srgbClr val="E8A33D"/>
                </a:solidFill>
                <a:latin typeface="JetBrains Mono"/>
                <a:ea typeface="JetBrains Mono"/>
              </a:rPr>
              <a:t>예) </a:t>
            </a:r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“전 홍보를 AI로!”(X) → “매주 인스타 게시글만 먼저”(O). 한 곳에서 시간이 확 줄면 팀이 믿고 범위를 넓힌다.</a:t>
            </a:r>
          </a:p>
        </p:txBody>
      </p:sp>
      <p:sp>
        <p:nvSpPr>
          <p:cNvPr id="103" name="card1"/>
          <p:cNvSpPr/>
          <p:nvPr/>
        </p:nvSpPr>
        <p:spPr>
          <a:xfrm>
            <a:off x="825500" y="4305300"/>
            <a:ext cx="10541000" cy="2095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6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4" name="circ1"/>
          <p:cNvSpPr/>
          <p:nvPr/>
        </p:nvSpPr>
        <p:spPr>
          <a:xfrm>
            <a:off x="1181100" y="4984750"/>
            <a:ext cx="736600" cy="736600"/>
          </a:xfrm>
          <a:prstGeom prst="ellipse">
            <a:avLst/>
          </a:prstGeom>
          <a:solidFill>
            <a:srgbClr val="E7EE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txt1"/>
          <p:cNvSpPr txBox="1"/>
          <p:nvPr/>
        </p:nvSpPr>
        <p:spPr>
          <a:xfrm>
            <a:off x="2349500" y="4533900"/>
            <a:ext cx="8712200" cy="1638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spcAft>
                <a:spcPts val="500"/>
              </a:spcAft>
            </a:pPr>
            <a:r>
              <a:rPr lang="ko-KR" sz="1700" b="1" dirty="0">
                <a:solidFill>
                  <a:srgbClr val="14213D"/>
                </a:solidFill>
                <a:latin typeface="Pretendard"/>
                <a:ea typeface="Pretendard"/>
              </a:rPr>
              <a:t>업무효율화 ROI</a:t>
            </a:r>
          </a:p>
          <a:p>
            <a:pPr>
              <a:lnSpc>
                <a:spcPct val="124000"/>
              </a:lnSpc>
            </a:pPr>
            <a:r>
              <a:rPr lang="ko-KR" sz="1300" b="1" dirty="0">
                <a:solidFill>
                  <a:srgbClr val="E8A33D"/>
                </a:solidFill>
                <a:latin typeface="JetBrains Mono"/>
                <a:ea typeface="JetBrains Mono"/>
              </a:rPr>
              <a:t>예) </a:t>
            </a:r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주간 카드뉴스 제작 2시간 → 40분. 주 1회 × 4주 = 월 약 5.3시간 절감. 빈도 높은 업무부터 골라야 효과가 쌓인다.</a:t>
            </a:r>
          </a:p>
        </p:txBody>
      </p:sp>
      <p:pic>
        <p:nvPicPr>
          <p:cNvPr id="106" name="Graphic 106" descr="스몰윈 트로피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0800" y="2717800"/>
            <a:ext cx="457200" cy="457200"/>
          </a:xfrm>
          <a:prstGeom prst="rect">
            <a:avLst/>
          </a:prstGeom>
        </p:spPr>
      </p:pic>
      <p:pic>
        <p:nvPicPr>
          <p:cNvPr id="107" name="Graphic 107" descr="ROI 차트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20800" y="511810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7101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절차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실습 절차 — 직접 해봅니다</a:t>
            </a:r>
          </a:p>
        </p:txBody>
      </p:sp>
      <p:sp>
        <p:nvSpPr>
          <p:cNvPr id="100" name="rail"/>
          <p:cNvSpPr/>
          <p:nvPr/>
        </p:nvSpPr>
        <p:spPr>
          <a:xfrm>
            <a:off x="1270000" y="2692400"/>
            <a:ext cx="50800" cy="2997200"/>
          </a:xfrm>
          <a:prstGeom prst="rect">
            <a:avLst/>
          </a:prstGeom>
          <a:solidFill>
            <a:srgbClr val="C9D6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c0"/>
          <p:cNvSpPr txBox="1"/>
          <p:nvPr/>
        </p:nvSpPr>
        <p:spPr>
          <a:xfrm>
            <a:off x="990600" y="2387600"/>
            <a:ext cx="609600" cy="609600"/>
          </a:xfrm>
          <a:prstGeom prst="ellipse">
            <a:avLst/>
          </a:prstGeom>
          <a:solidFill>
            <a:srgbClr val="1D4E89"/>
          </a:solidFill>
          <a:ln w="38100">
            <a:solidFill>
              <a:srgbClr val="F4F6FB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1900" b="1" dirty="0">
                <a:solidFill>
                  <a:srgbClr val="FFFFFF"/>
                </a:solidFill>
                <a:latin typeface="Noto Serif KR"/>
                <a:ea typeface="Noto Serif KR"/>
              </a:rPr>
              <a:t>1</a:t>
            </a:r>
          </a:p>
        </p:txBody>
      </p:sp>
      <p:sp>
        <p:nvSpPr>
          <p:cNvPr id="102" name="t0"/>
          <p:cNvSpPr txBox="1"/>
          <p:nvPr/>
        </p:nvSpPr>
        <p:spPr>
          <a:xfrm>
            <a:off x="1905000" y="2184400"/>
            <a:ext cx="9461500" cy="1016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spcAft>
                <a:spcPts val="300"/>
              </a:spcAft>
            </a:pPr>
            <a:r>
              <a:rPr lang="ko-KR" sz="1800" b="1" dirty="0">
                <a:solidFill>
                  <a:srgbClr val="14213D"/>
                </a:solidFill>
                <a:latin typeface="Pretendard"/>
                <a:ea typeface="Pretendard"/>
              </a:rPr>
              <a:t>업무 선정</a:t>
            </a:r>
          </a:p>
          <a:p>
            <a:pPr>
              <a:lnSpc>
                <a:spcPct val="118000"/>
              </a:lnSpc>
            </a:pPr>
            <a:r>
              <a:rPr lang="ko-KR" sz="1450" dirty="0">
                <a:solidFill>
                  <a:srgbClr val="576176"/>
                </a:solidFill>
                <a:latin typeface="Pretendard"/>
                <a:ea typeface="Pretendard"/>
              </a:rPr>
              <a:t>진단표에서 ROI가 가장 큰 업무 1개를 고른다 (스몰 윈).</a:t>
            </a:r>
          </a:p>
        </p:txBody>
      </p:sp>
      <p:sp>
        <p:nvSpPr>
          <p:cNvPr id="103" name="c1"/>
          <p:cNvSpPr txBox="1"/>
          <p:nvPr/>
        </p:nvSpPr>
        <p:spPr>
          <a:xfrm>
            <a:off x="990600" y="3886200"/>
            <a:ext cx="609600" cy="609600"/>
          </a:xfrm>
          <a:prstGeom prst="ellipse">
            <a:avLst/>
          </a:prstGeom>
          <a:solidFill>
            <a:srgbClr val="1D4E89"/>
          </a:solidFill>
          <a:ln w="38100">
            <a:solidFill>
              <a:srgbClr val="F4F6FB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1900" b="1" dirty="0">
                <a:solidFill>
                  <a:srgbClr val="FFFFFF"/>
                </a:solidFill>
                <a:latin typeface="Noto Serif KR"/>
                <a:ea typeface="Noto Serif KR"/>
              </a:rPr>
              <a:t>2</a:t>
            </a:r>
          </a:p>
        </p:txBody>
      </p:sp>
      <p:sp>
        <p:nvSpPr>
          <p:cNvPr id="104" name="t1"/>
          <p:cNvSpPr txBox="1"/>
          <p:nvPr/>
        </p:nvSpPr>
        <p:spPr>
          <a:xfrm>
            <a:off x="1905000" y="3683000"/>
            <a:ext cx="9461500" cy="1016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spcAft>
                <a:spcPts val="300"/>
              </a:spcAft>
            </a:pPr>
            <a:r>
              <a:rPr lang="ko-KR" sz="1800" b="1" dirty="0">
                <a:solidFill>
                  <a:srgbClr val="14213D"/>
                </a:solidFill>
                <a:latin typeface="Pretendard"/>
                <a:ea typeface="Pretendard"/>
              </a:rPr>
              <a:t>절차 기록</a:t>
            </a:r>
          </a:p>
          <a:p>
            <a:pPr>
              <a:lnSpc>
                <a:spcPct val="118000"/>
              </a:lnSpc>
            </a:pPr>
            <a:r>
              <a:rPr lang="ko-KR" sz="1450" dirty="0">
                <a:solidFill>
                  <a:srgbClr val="576176"/>
                </a:solidFill>
                <a:latin typeface="Pretendard"/>
                <a:ea typeface="Pretendard"/>
              </a:rPr>
              <a:t>현재 작업 절차를 글로 적는다. 이 글이 곧 프롬프트의 재료가 된다.</a:t>
            </a:r>
          </a:p>
        </p:txBody>
      </p:sp>
      <p:sp>
        <p:nvSpPr>
          <p:cNvPr id="105" name="c2"/>
          <p:cNvSpPr txBox="1"/>
          <p:nvPr/>
        </p:nvSpPr>
        <p:spPr>
          <a:xfrm>
            <a:off x="990600" y="5384800"/>
            <a:ext cx="609600" cy="609600"/>
          </a:xfrm>
          <a:prstGeom prst="ellipse">
            <a:avLst/>
          </a:prstGeom>
          <a:solidFill>
            <a:srgbClr val="1D4E89"/>
          </a:solidFill>
          <a:ln w="38100">
            <a:solidFill>
              <a:srgbClr val="F4F6FB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1900" b="1" dirty="0">
                <a:solidFill>
                  <a:srgbClr val="FFFFFF"/>
                </a:solidFill>
                <a:latin typeface="Noto Serif KR"/>
                <a:ea typeface="Noto Serif KR"/>
              </a:rPr>
              <a:t>3</a:t>
            </a:r>
          </a:p>
        </p:txBody>
      </p:sp>
      <p:sp>
        <p:nvSpPr>
          <p:cNvPr id="106" name="t2"/>
          <p:cNvSpPr txBox="1"/>
          <p:nvPr/>
        </p:nvSpPr>
        <p:spPr>
          <a:xfrm>
            <a:off x="1905000" y="5181600"/>
            <a:ext cx="9461500" cy="1016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spcAft>
                <a:spcPts val="300"/>
              </a:spcAft>
            </a:pPr>
            <a:r>
              <a:rPr lang="ko-KR" sz="1800" b="1" dirty="0">
                <a:solidFill>
                  <a:srgbClr val="14213D"/>
                </a:solidFill>
                <a:latin typeface="Pretendard"/>
                <a:ea typeface="Pretendard"/>
              </a:rPr>
              <a:t>검수 지점 설계</a:t>
            </a:r>
          </a:p>
          <a:p>
            <a:pPr>
              <a:lnSpc>
                <a:spcPct val="118000"/>
              </a:lnSpc>
            </a:pPr>
            <a:r>
              <a:rPr lang="ko-KR" sz="1450" dirty="0">
                <a:solidFill>
                  <a:srgbClr val="576176"/>
                </a:solidFill>
                <a:latin typeface="Pretendard"/>
                <a:ea typeface="Pretendard"/>
              </a:rPr>
              <a:t>AI 도입 후 새 절차를 그리고, 사람이 개입할 검수 지점을 표시한다.</a:t>
            </a:r>
          </a:p>
        </p:txBody>
      </p:sp>
    </p:spTree>
    <p:extLst>
      <p:ext uri="{BB962C8B-B14F-4D97-AF65-F5344CB8AC3E}">
        <p14:creationId xmlns:p14="http://schemas.microsoft.com/office/powerpoint/2010/main" val="18825580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프롬프트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적용 시나리오 설계 프롬프트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438400"/>
            <a:ext cx="10332720" cy="3810000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502920" rIns="365760" bIns="32004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다음 업무를 AI로 자동화하는 단계별 절차를 만들어줘.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각 단계에 "AI가 하는 일"과 "사람이 검수할 점"을 구분해서 표시해줘.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업무: 매주 신제품 인스타 게시글 작성</a:t>
            </a:r>
          </a:p>
        </p:txBody>
      </p:sp>
      <p:sp>
        <p:nvSpPr>
          <p:cNvPr id="120" name="hbar"/>
          <p:cNvSpPr txBox="1"/>
          <p:nvPr/>
        </p:nvSpPr>
        <p:spPr>
          <a:xfrm>
            <a:off x="914400" y="2006600"/>
            <a:ext cx="10337800" cy="431800"/>
          </a:xfrm>
          <a:prstGeom prst="rect">
            <a:avLst/>
          </a:prstGeom>
          <a:solidFill>
            <a:srgbClr val="0C1323"/>
          </a:solidFill>
          <a:ln>
            <a:noFill/>
          </a:ln>
        </p:spPr>
        <p:txBody>
          <a:bodyPr lIns="990600" tIns="0" rIns="203200" bIns="0" anchor="ctr"/>
          <a:lstStyle/>
          <a:p>
            <a:pPr algn="r"/>
            <a:r>
              <a:rPr lang="ko-KR" sz="1200" dirty="0">
                <a:solidFill>
                  <a:srgbClr val="BFD2EC"/>
                </a:solidFill>
                <a:latin typeface="JetBrains Mono"/>
                <a:ea typeface="JetBrains Mono"/>
              </a:rPr>
              <a:t>prompt.txt · 복사해서 그대로 사용</a:t>
            </a:r>
          </a:p>
        </p:txBody>
      </p:sp>
      <p:sp>
        <p:nvSpPr>
          <p:cNvPr id="121" name="dot0"/>
          <p:cNvSpPr/>
          <p:nvPr/>
        </p:nvSpPr>
        <p:spPr>
          <a:xfrm>
            <a:off x="1117600" y="2159000"/>
            <a:ext cx="127000" cy="12700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2" name="dot1"/>
          <p:cNvSpPr/>
          <p:nvPr/>
        </p:nvSpPr>
        <p:spPr>
          <a:xfrm>
            <a:off x="1320800" y="2159000"/>
            <a:ext cx="127000" cy="127000"/>
          </a:xfrm>
          <a:prstGeom prst="ellipse">
            <a:avLst/>
          </a:prstGeom>
          <a:solidFill>
            <a:srgbClr val="6E8F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3" name="dot2"/>
          <p:cNvSpPr/>
          <p:nvPr/>
        </p:nvSpPr>
        <p:spPr>
          <a:xfrm>
            <a:off x="1524000" y="2159000"/>
            <a:ext cx="127000" cy="127000"/>
          </a:xfrm>
          <a:prstGeom prst="ellipse">
            <a:avLst/>
          </a:prstGeom>
          <a:solidFill>
            <a:srgbClr val="415F8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4" name="cap"/>
          <p:cNvSpPr txBox="1"/>
          <p:nvPr/>
        </p:nvSpPr>
        <p:spPr>
          <a:xfrm>
            <a:off x="914400" y="1600200"/>
            <a:ext cx="10337800" cy="3302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ko-KR" sz="1300" b="1" dirty="0">
                <a:solidFill>
                  <a:srgbClr val="C77F1A"/>
                </a:solidFill>
                <a:latin typeface="JetBrains Mono"/>
                <a:ea typeface="JetBrains Mono"/>
              </a:rPr>
              <a:t>TIP — </a:t>
            </a:r>
            <a:r>
              <a:rPr lang="ko-KR" sz="1300" dirty="0">
                <a:solidFill>
                  <a:srgbClr val="576176"/>
                </a:solidFill>
                <a:latin typeface="Pretendard"/>
                <a:ea typeface="Pretendard"/>
              </a:rPr>
              <a:t>“업무:” 한 줄만 내 상황으로 바꾸면 단계별 절차 초안이 나옵니다.</a:t>
            </a:r>
          </a:p>
        </p:txBody>
      </p:sp>
    </p:spTree>
    <p:extLst>
      <p:ext uri="{BB962C8B-B14F-4D97-AF65-F5344CB8AC3E}">
        <p14:creationId xmlns:p14="http://schemas.microsoft.com/office/powerpoint/2010/main" val="36984568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좋은예 VS 나쁜예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비교 — 자동화 도입, 어떻게 시작할까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78000"/>
            <a:ext cx="5029200" cy="3810000"/>
          </a:xfrm>
          <a:prstGeom prst="rect">
            <a:avLst/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20040" rIns="320040" rtlCol="0" anchor="t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48400" y="1778000"/>
            <a:ext cx="5029200" cy="3810000"/>
          </a:xfrm>
          <a:prstGeom prst="rect">
            <a:avLst/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20040" rIns="320040" rtlCol="0" anchor="t"/>
          <a:lstStyle/>
          <a:p>
            <a:endParaRPr/>
          </a:p>
        </p:txBody>
      </p:sp>
      <p:sp>
        <p:nvSpPr>
          <p:cNvPr id="120" name="t121"/>
          <p:cNvSpPr txBox="1"/>
          <p:nvPr/>
        </p:nvSpPr>
        <p:spPr>
          <a:xfrm>
            <a:off x="1676400" y="19812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ko-KR" sz="1700" b="1" dirty="0">
                <a:solidFill>
                  <a:srgbClr val="A63333"/>
                </a:solidFill>
                <a:latin typeface="Noto Serif KR"/>
                <a:ea typeface="Noto Serif KR"/>
              </a:rPr>
              <a:t>이렇게 하면 실패</a:t>
            </a:r>
          </a:p>
        </p:txBody>
      </p:sp>
      <p:sp>
        <p:nvSpPr>
          <p:cNvPr id="121" name="t122"/>
          <p:cNvSpPr txBox="1"/>
          <p:nvPr/>
        </p:nvSpPr>
        <p:spPr>
          <a:xfrm>
            <a:off x="7010400" y="19812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ko-KR" sz="1700" b="1" dirty="0">
                <a:solidFill>
                  <a:srgbClr val="2C6B44"/>
                </a:solidFill>
                <a:latin typeface="Noto Serif KR"/>
                <a:ea typeface="Noto Serif KR"/>
              </a:rPr>
              <a:t>이렇게 시작하자</a:t>
            </a:r>
          </a:p>
        </p:txBody>
      </p:sp>
      <p:sp>
        <p:nvSpPr>
          <p:cNvPr id="122" name="r123"/>
          <p:cNvSpPr/>
          <p:nvPr/>
        </p:nvSpPr>
        <p:spPr>
          <a:xfrm>
            <a:off x="1193800" y="2565400"/>
            <a:ext cx="4470400" cy="25400"/>
          </a:xfrm>
          <a:prstGeom prst="rect">
            <a:avLst/>
          </a:prstGeom>
          <a:solidFill>
            <a:srgbClr val="E3C5C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3" name="r124"/>
          <p:cNvSpPr/>
          <p:nvPr/>
        </p:nvSpPr>
        <p:spPr>
          <a:xfrm>
            <a:off x="6527800" y="2565400"/>
            <a:ext cx="4470400" cy="25400"/>
          </a:xfrm>
          <a:prstGeom prst="rect">
            <a:avLst/>
          </a:prstGeom>
          <a:solidFill>
            <a:srgbClr val="C4DEC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4" name="t125"/>
          <p:cNvSpPr txBox="1"/>
          <p:nvPr/>
        </p:nvSpPr>
        <p:spPr>
          <a:xfrm>
            <a:off x="1193800" y="2794000"/>
            <a:ext cx="4470400" cy="1905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A63333"/>
                </a:solidFill>
                <a:latin typeface="Pretendard"/>
                <a:ea typeface="Pretendard"/>
              </a:rPr>
              <a:t>✕  </a:t>
            </a:r>
            <a:r>
              <a:rPr lang="ko-KR" sz="1500" dirty="0">
                <a:solidFill>
                  <a:srgbClr val="14213D"/>
                </a:solidFill>
                <a:latin typeface="Pretendard"/>
                <a:ea typeface="Pretendard"/>
              </a:rPr>
              <a:t>“모든 홍보 업무를 한 번에 자동화”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A63333"/>
                </a:solidFill>
                <a:latin typeface="Pretendard"/>
                <a:ea typeface="Pretendard"/>
              </a:rPr>
              <a:t>✕  </a:t>
            </a:r>
            <a:r>
              <a:rPr lang="ko-KR" sz="1500" dirty="0">
                <a:solidFill>
                  <a:srgbClr val="14213D"/>
                </a:solidFill>
                <a:latin typeface="Pretendard"/>
                <a:ea typeface="Pretendard"/>
              </a:rPr>
              <a:t>검수 지점 없이 AI가 바로 발행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A63333"/>
                </a:solidFill>
                <a:latin typeface="Pretendard"/>
                <a:ea typeface="Pretendard"/>
              </a:rPr>
              <a:t>✕  </a:t>
            </a:r>
            <a:r>
              <a:rPr lang="ko-KR" sz="1500" dirty="0">
                <a:solidFill>
                  <a:srgbClr val="14213D"/>
                </a:solidFill>
                <a:latin typeface="Pretendard"/>
                <a:ea typeface="Pretendard"/>
              </a:rPr>
              <a:t>효과 측정 없이 막연히 “편해졌다”</a:t>
            </a:r>
          </a:p>
        </p:txBody>
      </p:sp>
      <p:sp>
        <p:nvSpPr>
          <p:cNvPr id="125" name="t126"/>
          <p:cNvSpPr txBox="1"/>
          <p:nvPr/>
        </p:nvSpPr>
        <p:spPr>
          <a:xfrm>
            <a:off x="6527800" y="2794000"/>
            <a:ext cx="4470400" cy="1905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C6B44"/>
                </a:solidFill>
                <a:latin typeface="Pretendard"/>
                <a:ea typeface="Pretendard"/>
              </a:rPr>
              <a:t>✓  </a:t>
            </a:r>
            <a:r>
              <a:rPr lang="ko-KR" sz="1500" dirty="0">
                <a:solidFill>
                  <a:srgbClr val="14213D"/>
                </a:solidFill>
                <a:latin typeface="Pretendard"/>
                <a:ea typeface="Pretendard"/>
              </a:rPr>
              <a:t>반복 5점짜리 업무 1개부터 (스몰 윈)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C6B44"/>
                </a:solidFill>
                <a:latin typeface="Pretendard"/>
                <a:ea typeface="Pretendard"/>
              </a:rPr>
              <a:t>✓  </a:t>
            </a:r>
            <a:r>
              <a:rPr lang="ko-KR" sz="1500" dirty="0">
                <a:solidFill>
                  <a:srgbClr val="14213D"/>
                </a:solidFill>
                <a:latin typeface="Pretendard"/>
                <a:ea typeface="Pretendard"/>
              </a:rPr>
              <a:t>단계마다 사람 검수 게이트 배치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C6B44"/>
                </a:solidFill>
                <a:latin typeface="Pretendard"/>
                <a:ea typeface="Pretendard"/>
              </a:rPr>
              <a:t>✓  </a:t>
            </a:r>
            <a:r>
              <a:rPr lang="ko-KR" sz="1500" dirty="0">
                <a:solidFill>
                  <a:srgbClr val="14213D"/>
                </a:solidFill>
                <a:latin typeface="Pretendard"/>
                <a:ea typeface="Pretendard"/>
              </a:rPr>
              <a:t>절감시간을 숫자로 기록 (주 3h→1h)</a:t>
            </a:r>
          </a:p>
        </p:txBody>
      </p:sp>
      <p:sp>
        <p:nvSpPr>
          <p:cNvPr id="126" name="t127"/>
          <p:cNvSpPr txBox="1"/>
          <p:nvPr/>
        </p:nvSpPr>
        <p:spPr>
          <a:xfrm>
            <a:off x="1193800" y="4978400"/>
            <a:ext cx="4470400" cy="50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ko-KR" sz="1350" b="1" i="1" dirty="0">
                <a:solidFill>
                  <a:srgbClr val="A63333"/>
                </a:solidFill>
                <a:latin typeface="Pretendard"/>
                <a:ea typeface="Pretendard"/>
              </a:rPr>
              <a:t>→ 통제 불가 · 환각 사고 · ROI 불명</a:t>
            </a:r>
          </a:p>
        </p:txBody>
      </p:sp>
      <p:sp>
        <p:nvSpPr>
          <p:cNvPr id="127" name="t128"/>
          <p:cNvSpPr txBox="1"/>
          <p:nvPr/>
        </p:nvSpPr>
        <p:spPr>
          <a:xfrm>
            <a:off x="6527800" y="4978400"/>
            <a:ext cx="4470400" cy="50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ko-KR" sz="1350" b="1" i="1" dirty="0">
                <a:solidFill>
                  <a:srgbClr val="2C6B44"/>
                </a:solidFill>
                <a:latin typeface="Pretendard"/>
                <a:ea typeface="Pretendard"/>
              </a:rPr>
              <a:t>→ 측정 가능한 성과 + 신뢰 축적</a:t>
            </a:r>
          </a:p>
        </p:txBody>
      </p:sp>
      <p:sp>
        <p:nvSpPr>
          <p:cNvPr id="128" name="r129"/>
          <p:cNvSpPr/>
          <p:nvPr/>
        </p:nvSpPr>
        <p:spPr>
          <a:xfrm>
            <a:off x="914400" y="5765800"/>
            <a:ext cx="10363200" cy="609600"/>
          </a:xfrm>
          <a:prstGeom prst="roundRect">
            <a:avLst>
              <a:gd name="adj" fmla="val 16000"/>
            </a:avLst>
          </a:prstGeom>
          <a:solidFill>
            <a:srgbClr val="1421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9" name="t130"/>
          <p:cNvSpPr txBox="1"/>
          <p:nvPr/>
        </p:nvSpPr>
        <p:spPr>
          <a:xfrm>
            <a:off x="1219200" y="5765800"/>
            <a:ext cx="9753600" cy="609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ko-KR" sz="1450" b="1" dirty="0">
                <a:solidFill>
                  <a:srgbClr val="E8A33D"/>
                </a:solidFill>
                <a:latin typeface="Pretendard"/>
                <a:ea typeface="Pretendard"/>
              </a:rPr>
              <a:t>핵심 원칙  </a:t>
            </a:r>
            <a:r>
              <a:rPr lang="ko-KR" sz="1450" dirty="0">
                <a:solidFill>
                  <a:srgbClr val="FFFFFF"/>
                </a:solidFill>
                <a:latin typeface="Pretendard"/>
                <a:ea typeface="Pretendard"/>
              </a:rPr>
              <a:t>스몰 윈 1개 × 단계별 사람 검수 게이트 × 절감시간 수치화</a:t>
            </a:r>
          </a:p>
        </p:txBody>
      </p:sp>
      <p:pic>
        <p:nvPicPr>
          <p:cNvPr id="130" name="Graphic 130" descr="실패 경고 아이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93800" y="1981200"/>
            <a:ext cx="381000" cy="381000"/>
          </a:xfrm>
          <a:prstGeom prst="rect">
            <a:avLst/>
          </a:prstGeom>
        </p:spPr>
      </p:pic>
      <p:pic>
        <p:nvPicPr>
          <p:cNvPr id="131" name="Graphic 131" descr="성공 체크 아이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27800" y="19812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1433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정리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중소기업 실무 적용 사례와 활용 포인트</a:t>
            </a:r>
          </a:p>
        </p:txBody>
      </p:sp>
      <p:sp>
        <p:nvSpPr>
          <p:cNvPr id="100" name="cardA"/>
          <p:cNvSpPr/>
          <p:nvPr/>
        </p:nvSpPr>
        <p:spPr>
          <a:xfrm>
            <a:off x="825500" y="1930400"/>
            <a:ext cx="10541000" cy="2489200"/>
          </a:xfrm>
          <a:prstGeom prst="roundRect">
            <a:avLst>
              <a:gd name="adj" fmla="val 4000"/>
            </a:avLst>
          </a:prstGeom>
          <a:solidFill>
            <a:srgbClr val="FBF3E3"/>
          </a:solidFill>
          <a:ln w="12700">
            <a:solidFill>
              <a:srgbClr val="EAC48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" name="hA"/>
          <p:cNvSpPr txBox="1"/>
          <p:nvPr/>
        </p:nvSpPr>
        <p:spPr>
          <a:xfrm>
            <a:off x="1676400" y="2184400"/>
            <a:ext cx="5080000" cy="4064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ko-KR" sz="1700" b="1" dirty="0">
                <a:solidFill>
                  <a:srgbClr val="B5781B"/>
                </a:solidFill>
                <a:latin typeface="Pretendard"/>
                <a:ea typeface="Pretendard"/>
              </a:rPr>
              <a:t>흔한 실수</a:t>
            </a:r>
          </a:p>
        </p:txBody>
      </p:sp>
      <p:sp>
        <p:nvSpPr>
          <p:cNvPr id="102" name="iA"/>
          <p:cNvSpPr txBox="1"/>
          <p:nvPr/>
        </p:nvSpPr>
        <p:spPr>
          <a:xfrm>
            <a:off x="1168400" y="2743200"/>
            <a:ext cx="9855200" cy="147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200025" indent="-200025">
              <a:lnSpc>
                <a:spcPct val="120000"/>
              </a:lnSpc>
              <a:spcAft>
                <a:spcPts val="700"/>
              </a:spcAft>
              <a:buFont typeface="Arial"/>
              <a:buChar char="•"/>
            </a:pPr>
            <a:r>
              <a:rPr lang="ko-KR" sz="1450" dirty="0">
                <a:solidFill>
                  <a:srgbClr val="14213D"/>
                </a:solidFill>
                <a:latin typeface="Pretendard"/>
                <a:ea typeface="Pretendard"/>
              </a:rPr>
              <a:t>검수 지점을 정하지 않으면 자동화가 “통제 불가”가 된다. 단계마다 사람 게이트를 둔다.</a:t>
            </a:r>
          </a:p>
          <a:p>
            <a:pPr marL="200025" indent="-200025">
              <a:lnSpc>
                <a:spcPct val="120000"/>
              </a:lnSpc>
              <a:spcAft>
                <a:spcPts val="700"/>
              </a:spcAft>
              <a:buFont typeface="Arial"/>
              <a:buChar char="•"/>
            </a:pPr>
            <a:r>
              <a:rPr lang="ko-KR" sz="1450" dirty="0">
                <a:solidFill>
                  <a:srgbClr val="14213D"/>
                </a:solidFill>
                <a:latin typeface="Pretendard"/>
                <a:ea typeface="Pretendard"/>
              </a:rPr>
              <a:t>절감 시간을 숫자로 남기지 않으면 도입 효과를 설득할 근거가 사라진다.</a:t>
            </a:r>
          </a:p>
        </p:txBody>
      </p:sp>
      <p:sp>
        <p:nvSpPr>
          <p:cNvPr id="103" name="cardB"/>
          <p:cNvSpPr/>
          <p:nvPr/>
        </p:nvSpPr>
        <p:spPr>
          <a:xfrm>
            <a:off x="825500" y="4724400"/>
            <a:ext cx="10541000" cy="154940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B"/>
          <p:cNvSpPr txBox="1"/>
          <p:nvPr/>
        </p:nvSpPr>
        <p:spPr>
          <a:xfrm>
            <a:off x="1778000" y="4927600"/>
            <a:ext cx="9144000" cy="1143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spcAft>
                <a:spcPts val="300"/>
              </a:spcAft>
            </a:pPr>
            <a:r>
              <a:rPr lang="ko-KR" sz="1250" b="1" dirty="0">
                <a:solidFill>
                  <a:srgbClr val="E8A33D"/>
                </a:solidFill>
                <a:latin typeface="JetBrains Mono"/>
                <a:ea typeface="JetBrains Mono"/>
              </a:rPr>
              <a:t>이 세션의 결과물</a:t>
            </a:r>
          </a:p>
          <a:p>
            <a:pPr>
              <a:lnSpc>
                <a:spcPct val="118000"/>
              </a:lnSpc>
            </a:pPr>
            <a:r>
              <a:rPr lang="ko-KR" sz="1600" b="1" dirty="0">
                <a:solidFill>
                  <a:srgbClr val="FFFFFF"/>
                </a:solidFill>
                <a:latin typeface="Pretendard"/>
                <a:ea typeface="Pretendard"/>
              </a:rPr>
              <a:t>1순위 자동화 시나리오 1건 — 현재 절차 → AI 절차 → 검수 지점.</a:t>
            </a:r>
          </a:p>
        </p:txBody>
      </p:sp>
      <p:pic>
        <p:nvPicPr>
          <p:cNvPr id="105" name="Graphic 105" descr="흔한 실수 경고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8400" y="2197100"/>
            <a:ext cx="381000" cy="381000"/>
          </a:xfrm>
          <a:prstGeom prst="rect">
            <a:avLst/>
          </a:prstGeom>
        </p:spPr>
      </p:pic>
      <p:pic>
        <p:nvPicPr>
          <p:cNvPr id="106" name="Graphic 106" descr="결과물 체크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400" y="53086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9965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도구 가이드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이 모듈에서 쓰는 도구</a:t>
            </a:r>
          </a:p>
        </p:txBody>
      </p:sp>
      <p:sp>
        <p:nvSpPr>
          <p:cNvPr id="100" name="tc0"/>
          <p:cNvSpPr/>
          <p:nvPr/>
        </p:nvSpPr>
        <p:spPr>
          <a:xfrm>
            <a:off x="825500" y="1981200"/>
            <a:ext cx="5080000" cy="3149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6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" name="ci0"/>
          <p:cNvSpPr/>
          <p:nvPr/>
        </p:nvSpPr>
        <p:spPr>
          <a:xfrm>
            <a:off x="1181100" y="2311400"/>
            <a:ext cx="660400" cy="660400"/>
          </a:xfrm>
          <a:prstGeom prst="ellipse">
            <a:avLst/>
          </a:prstGeom>
          <a:solidFill>
            <a:srgbClr val="E7EE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nm0"/>
          <p:cNvSpPr txBox="1"/>
          <p:nvPr/>
        </p:nvSpPr>
        <p:spPr>
          <a:xfrm>
            <a:off x="1993900" y="2311400"/>
            <a:ext cx="3683000" cy="6604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en-US" sz="2000" b="1" dirty="0">
                <a:solidFill>
                  <a:srgbClr val="14213D"/>
                </a:solidFill>
                <a:latin typeface="Noto Serif KR"/>
                <a:ea typeface="Noto Serif KR"/>
              </a:rPr>
              <a:t>ChatGPT</a:t>
            </a:r>
          </a:p>
        </p:txBody>
      </p:sp>
      <p:sp>
        <p:nvSpPr>
          <p:cNvPr id="103" name="ds0"/>
          <p:cNvSpPr txBox="1"/>
          <p:nvPr/>
        </p:nvSpPr>
        <p:spPr>
          <a:xfrm>
            <a:off x="1181100" y="3200400"/>
            <a:ext cx="4368800" cy="1092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24000"/>
              </a:lnSpc>
            </a:pPr>
            <a:r>
              <a:rPr lang="ko-KR" sz="1450" dirty="0">
                <a:solidFill>
                  <a:srgbClr val="576176"/>
                </a:solidFill>
                <a:latin typeface="Pretendard"/>
                <a:ea typeface="Pretendard"/>
              </a:rPr>
              <a:t>범용 초안 생성·요약·분류. 무료(GPT-4o mini 등)로 시작할 수 있고 표·분류 작업에 강하다.</a:t>
            </a:r>
          </a:p>
        </p:txBody>
      </p:sp>
      <p:sp>
        <p:nvSpPr>
          <p:cNvPr id="104" name="us0"/>
          <p:cNvSpPr txBox="1"/>
          <p:nvPr/>
        </p:nvSpPr>
        <p:spPr>
          <a:xfrm>
            <a:off x="1181100" y="4495800"/>
            <a:ext cx="43688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ko-KR" sz="1350" b="1" dirty="0">
                <a:solidFill>
                  <a:srgbClr val="B5781B"/>
                </a:solidFill>
                <a:latin typeface="Pretendard"/>
                <a:ea typeface="Pretendard"/>
              </a:rPr>
              <a:t>이럴 때 → 업무 진단표·카피 후보 대량 생성</a:t>
            </a:r>
          </a:p>
        </p:txBody>
      </p:sp>
      <p:sp>
        <p:nvSpPr>
          <p:cNvPr id="105" name="tc1"/>
          <p:cNvSpPr/>
          <p:nvPr/>
        </p:nvSpPr>
        <p:spPr>
          <a:xfrm>
            <a:off x="6286500" y="1981200"/>
            <a:ext cx="5080000" cy="3149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6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6" name="ci1"/>
          <p:cNvSpPr/>
          <p:nvPr/>
        </p:nvSpPr>
        <p:spPr>
          <a:xfrm>
            <a:off x="6642100" y="2311400"/>
            <a:ext cx="660400" cy="660400"/>
          </a:xfrm>
          <a:prstGeom prst="ellipse">
            <a:avLst/>
          </a:prstGeom>
          <a:solidFill>
            <a:srgbClr val="FBEF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nm1"/>
          <p:cNvSpPr txBox="1"/>
          <p:nvPr/>
        </p:nvSpPr>
        <p:spPr>
          <a:xfrm>
            <a:off x="7454900" y="2311400"/>
            <a:ext cx="3683000" cy="6604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en-US" sz="2000" b="1" dirty="0">
                <a:solidFill>
                  <a:srgbClr val="14213D"/>
                </a:solidFill>
                <a:latin typeface="Noto Serif KR"/>
                <a:ea typeface="Noto Serif KR"/>
              </a:rPr>
              <a:t>Claude</a:t>
            </a:r>
          </a:p>
        </p:txBody>
      </p:sp>
      <p:sp>
        <p:nvSpPr>
          <p:cNvPr id="108" name="ds1"/>
          <p:cNvSpPr txBox="1"/>
          <p:nvPr/>
        </p:nvSpPr>
        <p:spPr>
          <a:xfrm>
            <a:off x="6642100" y="3200400"/>
            <a:ext cx="4368800" cy="1092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24000"/>
              </a:lnSpc>
            </a:pPr>
            <a:r>
              <a:rPr lang="ko-KR" sz="1450" dirty="0">
                <a:solidFill>
                  <a:srgbClr val="576176"/>
                </a:solidFill>
                <a:latin typeface="Pretendard"/>
                <a:ea typeface="Pretendard"/>
              </a:rPr>
              <a:t>긴 문서 이해와 일관된 톤 유지에 강점. 구조가 중요한 글에 적합하다.</a:t>
            </a:r>
          </a:p>
        </p:txBody>
      </p:sp>
      <p:sp>
        <p:nvSpPr>
          <p:cNvPr id="109" name="us1"/>
          <p:cNvSpPr txBox="1"/>
          <p:nvPr/>
        </p:nvSpPr>
        <p:spPr>
          <a:xfrm>
            <a:off x="6642100" y="4495800"/>
            <a:ext cx="43688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ko-KR" sz="1350" b="1" dirty="0">
                <a:solidFill>
                  <a:srgbClr val="B5781B"/>
                </a:solidFill>
                <a:latin typeface="Pretendard"/>
                <a:ea typeface="Pretendard"/>
              </a:rPr>
              <a:t>이럴 때 → 보도자료·장문 콘텐츠·톤 통일</a:t>
            </a:r>
          </a:p>
        </p:txBody>
      </p:sp>
      <p:sp>
        <p:nvSpPr>
          <p:cNvPr id="110" name="strip"/>
          <p:cNvSpPr/>
          <p:nvPr/>
        </p:nvSpPr>
        <p:spPr>
          <a:xfrm>
            <a:off x="825500" y="5384800"/>
            <a:ext cx="10541000" cy="914400"/>
          </a:xfrm>
          <a:prstGeom prst="roundRect">
            <a:avLst>
              <a:gd name="adj" fmla="val 10000"/>
            </a:avLst>
          </a:prstGeom>
          <a:solidFill>
            <a:srgbClr val="DCE6F2"/>
          </a:solidFill>
          <a:ln>
            <a:noFill/>
          </a:ln>
        </p:spPr>
        <p:txBody>
          <a:bodyPr wrap="square" lIns="304800" tIns="0" rIns="304800" bIns="0" anchor="ctr"/>
          <a:lstStyle/>
          <a:p>
            <a:pPr>
              <a:lnSpc>
                <a:spcPct val="118000"/>
              </a:lnSpc>
            </a:pPr>
            <a:r>
              <a:rPr lang="ko-KR" sz="1450" b="1" dirty="0">
                <a:solidFill>
                  <a:srgbClr val="1D4E89"/>
                </a:solidFill>
                <a:latin typeface="Pretendard"/>
                <a:ea typeface="Pretendard"/>
              </a:rPr>
              <a:t>선택 기준  </a:t>
            </a:r>
            <a:r>
              <a:rPr lang="ko-KR" sz="1450" dirty="0">
                <a:solidFill>
                  <a:srgbClr val="14213D"/>
                </a:solidFill>
                <a:latin typeface="Pretendard"/>
                <a:ea typeface="Pretendard"/>
              </a:rPr>
              <a:t>분류·표 작업은 ChatGPT, 긴 글·톤 일관성은 Claude. 둘 다 무료로 시작해 비교해 보세요.</a:t>
            </a:r>
          </a:p>
        </p:txBody>
      </p:sp>
      <p:pic>
        <p:nvPicPr>
          <p:cNvPr id="111" name="Graphic 111" descr="ChatGPT 아이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82700" y="2413000"/>
            <a:ext cx="457200" cy="457200"/>
          </a:xfrm>
          <a:prstGeom prst="rect">
            <a:avLst/>
          </a:prstGeom>
        </p:spPr>
      </p:pic>
      <p:pic>
        <p:nvPicPr>
          <p:cNvPr id="112" name="Graphic 112" descr="Claude 아이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3700" y="241300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4890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CHECKLIST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모듈 체크리스트</a:t>
            </a:r>
          </a:p>
        </p:txBody>
      </p:sp>
      <p:sp>
        <p:nvSpPr>
          <p:cNvPr id="100" name="row0"/>
          <p:cNvSpPr/>
          <p:nvPr/>
        </p:nvSpPr>
        <p:spPr>
          <a:xfrm>
            <a:off x="825500" y="1930400"/>
            <a:ext cx="10541000" cy="1219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E6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" name="cb0"/>
          <p:cNvSpPr txBox="1"/>
          <p:nvPr/>
        </p:nvSpPr>
        <p:spPr>
          <a:xfrm>
            <a:off x="1155700" y="23114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BEFD8"/>
          </a:solidFill>
          <a:ln w="19050">
            <a:solidFill>
              <a:srgbClr val="E8A33D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1600" b="1" dirty="0">
                <a:solidFill>
                  <a:srgbClr val="B5781B"/>
                </a:solidFill>
                <a:latin typeface="Pretendard"/>
                <a:ea typeface="Pretendard"/>
              </a:rPr>
              <a:t>✓</a:t>
            </a:r>
          </a:p>
        </p:txBody>
      </p:sp>
      <p:sp>
        <p:nvSpPr>
          <p:cNvPr id="102" name="tx0"/>
          <p:cNvSpPr txBox="1"/>
          <p:nvPr/>
        </p:nvSpPr>
        <p:spPr>
          <a:xfrm>
            <a:off x="1943100" y="2133600"/>
            <a:ext cx="9144000" cy="812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spcAft>
                <a:spcPts val="300"/>
              </a:spcAft>
            </a:pPr>
            <a:r>
              <a:rPr lang="ko-KR" sz="1700" b="1" dirty="0">
                <a:solidFill>
                  <a:srgbClr val="14213D"/>
                </a:solidFill>
                <a:latin typeface="Pretendard"/>
                <a:ea typeface="Pretendard"/>
              </a:rPr>
              <a:t>내 홍보 업무를 입력 → 처리 → 출력으로 분해했다.</a:t>
            </a:r>
          </a:p>
          <a:p>
            <a:r>
              <a:rPr lang="ko-KR" sz="1350" dirty="0">
                <a:solidFill>
                  <a:srgbClr val="576176"/>
                </a:solidFill>
                <a:latin typeface="Pretendard"/>
                <a:ea typeface="Pretendard"/>
              </a:rPr>
              <a:t>각 단계를 표로 정리 — 어디가 반복인지 한눈에 보인다.</a:t>
            </a:r>
          </a:p>
        </p:txBody>
      </p:sp>
      <p:sp>
        <p:nvSpPr>
          <p:cNvPr id="103" name="row1"/>
          <p:cNvSpPr/>
          <p:nvPr/>
        </p:nvSpPr>
        <p:spPr>
          <a:xfrm>
            <a:off x="825500" y="3429000"/>
            <a:ext cx="10541000" cy="1219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E6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4" name="cb1"/>
          <p:cNvSpPr txBox="1"/>
          <p:nvPr/>
        </p:nvSpPr>
        <p:spPr>
          <a:xfrm>
            <a:off x="1155700" y="38100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BEFD8"/>
          </a:solidFill>
          <a:ln w="19050">
            <a:solidFill>
              <a:srgbClr val="E8A33D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1600" b="1" dirty="0">
                <a:solidFill>
                  <a:srgbClr val="B5781B"/>
                </a:solidFill>
                <a:latin typeface="Pretendard"/>
                <a:ea typeface="Pretendard"/>
              </a:rPr>
              <a:t>✓</a:t>
            </a:r>
          </a:p>
        </p:txBody>
      </p:sp>
      <p:sp>
        <p:nvSpPr>
          <p:cNvPr id="105" name="tx1"/>
          <p:cNvSpPr txBox="1"/>
          <p:nvPr/>
        </p:nvSpPr>
        <p:spPr>
          <a:xfrm>
            <a:off x="1943100" y="3632200"/>
            <a:ext cx="9144000" cy="812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spcAft>
                <a:spcPts val="300"/>
              </a:spcAft>
            </a:pPr>
            <a:r>
              <a:rPr lang="ko-KR" sz="1700" b="1" dirty="0">
                <a:solidFill>
                  <a:srgbClr val="14213D"/>
                </a:solidFill>
                <a:latin typeface="Pretendard"/>
                <a:ea typeface="Pretendard"/>
              </a:rPr>
              <a:t>반복업무 진단표를 만들었다.</a:t>
            </a:r>
          </a:p>
          <a:p>
            <a:r>
              <a:rPr lang="ko-KR" sz="1350" dirty="0">
                <a:solidFill>
                  <a:srgbClr val="576176"/>
                </a:solidFill>
                <a:latin typeface="Pretendard"/>
                <a:ea typeface="Pretendard"/>
              </a:rPr>
              <a:t>반복성 · 자동화 적합도 · 추천 도구 · 예상 절감시간 컬럼 포함.</a:t>
            </a:r>
          </a:p>
        </p:txBody>
      </p:sp>
      <p:sp>
        <p:nvSpPr>
          <p:cNvPr id="106" name="row2"/>
          <p:cNvSpPr/>
          <p:nvPr/>
        </p:nvSpPr>
        <p:spPr>
          <a:xfrm>
            <a:off x="825500" y="4927600"/>
            <a:ext cx="10541000" cy="1219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E6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7" name="cb2"/>
          <p:cNvSpPr txBox="1"/>
          <p:nvPr/>
        </p:nvSpPr>
        <p:spPr>
          <a:xfrm>
            <a:off x="1155700" y="53086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BEFD8"/>
          </a:solidFill>
          <a:ln w="19050">
            <a:solidFill>
              <a:srgbClr val="E8A33D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1600" b="1" dirty="0">
                <a:solidFill>
                  <a:srgbClr val="B5781B"/>
                </a:solidFill>
                <a:latin typeface="Pretendard"/>
                <a:ea typeface="Pretendard"/>
              </a:rPr>
              <a:t>✓</a:t>
            </a:r>
          </a:p>
        </p:txBody>
      </p:sp>
      <p:sp>
        <p:nvSpPr>
          <p:cNvPr id="108" name="tx2"/>
          <p:cNvSpPr txBox="1"/>
          <p:nvPr/>
        </p:nvSpPr>
        <p:spPr>
          <a:xfrm>
            <a:off x="1943100" y="5130800"/>
            <a:ext cx="9144000" cy="812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spcAft>
                <a:spcPts val="300"/>
              </a:spcAft>
            </a:pPr>
            <a:r>
              <a:rPr lang="ko-KR" sz="1700" b="1" dirty="0">
                <a:solidFill>
                  <a:srgbClr val="14213D"/>
                </a:solidFill>
                <a:latin typeface="Pretendard"/>
                <a:ea typeface="Pretendard"/>
              </a:rPr>
              <a:t>ROI 1순위 업무의 자동화 시나리오를 그렸다.</a:t>
            </a:r>
          </a:p>
          <a:p>
            <a:r>
              <a:rPr lang="ko-KR" sz="1350" dirty="0">
                <a:solidFill>
                  <a:srgbClr val="576176"/>
                </a:solidFill>
                <a:latin typeface="Pretendard"/>
                <a:ea typeface="Pretendard"/>
              </a:rPr>
              <a:t>현재 절차 → AI 절차 → 사람 검수 지점까지 표시.</a:t>
            </a:r>
          </a:p>
        </p:txBody>
      </p:sp>
    </p:spTree>
    <p:extLst>
      <p:ext uri="{BB962C8B-B14F-4D97-AF65-F5344CB8AC3E}">
        <p14:creationId xmlns:p14="http://schemas.microsoft.com/office/powerpoint/2010/main" val="14537072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1371600"/>
            <a:ext cx="822960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lang="ko-KR" sz="1400" dirty="0">
                <a:solidFill>
                  <a:srgbClr val="E8A33D"/>
                </a:solidFill>
                <a:latin typeface="JetBrains Mono"/>
                <a:ea typeface="JetBrains Mono"/>
              </a:rPr>
              <a:t>MISSION · 도장깨기</a:t>
            </a:r>
          </a:p>
          <a:p>
            <a:r>
              <a:rPr lang="ko-KR" sz="3200" b="1" dirty="0">
                <a:solidFill>
                  <a:srgbClr val="FFFFFF"/>
                </a:solidFill>
                <a:latin typeface="Noto Serif KR"/>
                <a:ea typeface="Noto Serif KR"/>
              </a:rPr>
              <a:t>미션 01 — 반복 업무 찾기</a:t>
            </a:r>
          </a:p>
        </p:txBody>
      </p:sp>
      <p:sp>
        <p:nvSpPr>
          <p:cNvPr id="120" name="task"/>
          <p:cNvSpPr/>
          <p:nvPr/>
        </p:nvSpPr>
        <p:spPr>
          <a:xfrm>
            <a:off x="825500" y="3378200"/>
            <a:ext cx="10515600" cy="1371600"/>
          </a:xfrm>
          <a:prstGeom prst="roundRect">
            <a:avLst>
              <a:gd name="adj" fmla="val 7000"/>
            </a:avLst>
          </a:prstGeom>
          <a:solidFill>
            <a:srgbClr val="303C5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1" name="stripe"/>
          <p:cNvSpPr/>
          <p:nvPr/>
        </p:nvSpPr>
        <p:spPr>
          <a:xfrm>
            <a:off x="1003300" y="3606800"/>
            <a:ext cx="63500" cy="9144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2" name="ic"/>
          <p:cNvSpPr/>
          <p:nvPr/>
        </p:nvSpPr>
        <p:spPr>
          <a:xfrm>
            <a:off x="1320800" y="3683000"/>
            <a:ext cx="762000" cy="76200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3" name="tt"/>
          <p:cNvSpPr txBox="1"/>
          <p:nvPr/>
        </p:nvSpPr>
        <p:spPr>
          <a:xfrm>
            <a:off x="2489200" y="3581400"/>
            <a:ext cx="8509000" cy="965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spcAft>
                <a:spcPts val="300"/>
              </a:spcAft>
            </a:pPr>
            <a:r>
              <a:rPr lang="ko-KR" sz="1250" b="1" dirty="0">
                <a:solidFill>
                  <a:srgbClr val="E8A33D"/>
                </a:solidFill>
                <a:latin typeface="JetBrains Mono"/>
                <a:ea typeface="JetBrains Mono"/>
              </a:rPr>
              <a:t>이번 미션</a:t>
            </a:r>
          </a:p>
          <a:p>
            <a:pPr>
              <a:lnSpc>
                <a:spcPct val="116000"/>
              </a:lnSpc>
            </a:pPr>
            <a:r>
              <a:rPr lang="ko-KR" sz="1750" b="1" dirty="0">
                <a:solidFill>
                  <a:srgbClr val="FFFFFF"/>
                </a:solidFill>
                <a:latin typeface="Pretendard"/>
                <a:ea typeface="Pretendard"/>
              </a:rPr>
              <a:t>“매번 똑같이 하는 일”부터 — 자동화 1순위를 고른다.</a:t>
            </a:r>
          </a:p>
        </p:txBody>
      </p:sp>
      <p:sp>
        <p:nvSpPr>
          <p:cNvPr id="124" name="nextf"/>
          <p:cNvSpPr txBox="1"/>
          <p:nvPr/>
        </p:nvSpPr>
        <p:spPr>
          <a:xfrm>
            <a:off x="825500" y="5207000"/>
            <a:ext cx="10515600" cy="508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ko-KR" sz="1450" b="1" dirty="0">
                <a:solidFill>
                  <a:srgbClr val="E8A33D"/>
                </a:solidFill>
                <a:latin typeface="JetBrains Mono"/>
                <a:ea typeface="JetBrains Mono"/>
              </a:rPr>
              <a:t>▶  다음  </a:t>
            </a:r>
            <a:r>
              <a:rPr lang="ko-KR" sz="1700" b="1" dirty="0">
                <a:solidFill>
                  <a:srgbClr val="FFFFFF"/>
                </a:solidFill>
                <a:latin typeface="Pretendard"/>
                <a:ea typeface="Pretendard"/>
              </a:rPr>
              <a:t>M2. AI 기반 홍보 기획 실무</a:t>
            </a:r>
          </a:p>
        </p:txBody>
      </p:sp>
      <p:pic>
        <p:nvPicPr>
          <p:cNvPr id="125" name="Graphic 125" descr="미션 전구 아이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73200" y="383540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0234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1554480"/>
            <a:ext cx="1005840" cy="12801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400" b="0">
                <a:solidFill>
                  <a:srgbClr val="BFD2EC"/>
                </a:solidFill>
                <a:latin typeface="JetBrains Mono"/>
                <a:ea typeface="JetBrains Mono"/>
                <a:cs typeface="JetBrains Mono"/>
              </a:rPr>
              <a:t>MODULE 2 · 2교시 · 10:00–10:50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</a:pPr>
            <a:r>
              <a:rPr sz="38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M2. AI 기반 홍보 기획 실무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홍보 목적→타깃→핵심 메시지를 구조화하고, 결과 품질을 끌어올리는 프롬프트 작성 원리(역할·맥락·작업·형식 + few-shot)를 체득한다.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555958"/>
            <a:ext cx="10515600" cy="1707682"/>
          </a:xfrm>
          <a:prstGeom prst="rect">
            <a:avLst/>
          </a:prstGeom>
          <a:solidFill>
            <a:srgbClr val="184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64592" rtlCol="0" anchor="ctr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300"/>
              </a:spcAft>
            </a:pPr>
            <a:r>
              <a:rPr sz="1400" b="1">
                <a:solidFill>
                  <a:srgbClr val="9FC0E6"/>
                </a:solidFill>
                <a:latin typeface="JetBrains Mono"/>
                <a:ea typeface="JetBrains Mono"/>
                <a:cs typeface="JetBrains Mono"/>
              </a:rPr>
              <a:t>이전  </a:t>
            </a:r>
            <a:r>
              <a:rPr sz="1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M1에서 자동화할 업무를 골랐다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300"/>
              </a:spcAft>
            </a:pPr>
            <a:r>
              <a:rPr sz="14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이번  </a:t>
            </a:r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Night Off의 핵심 메시지와 좋은 프롬프트의 골격을 만든다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1">
                <a:solidFill>
                  <a:srgbClr val="9FC0E6"/>
                </a:solidFill>
                <a:latin typeface="JetBrains Mono"/>
                <a:ea typeface="JetBrains Mono"/>
                <a:cs typeface="JetBrains Mono"/>
              </a:rPr>
              <a:t>다음  </a:t>
            </a:r>
            <a:r>
              <a:rPr sz="1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 메시지를 실제 글로 → M3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학습 목표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이 모듈에서 할 수 있게 되는 것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A208712D-11EF-014B-9C2B-558CE55A694F}"/>
              </a:ext>
            </a:extLst>
          </p:cNvPr>
          <p:cNvSpPr/>
          <p:nvPr/>
        </p:nvSpPr>
        <p:spPr>
          <a:xfrm>
            <a:off x="825500" y="1905000"/>
            <a:ext cx="50800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3F6400-350F-9344-A864-A39F106F0F9B}"/>
              </a:ext>
            </a:extLst>
          </p:cNvPr>
          <p:cNvSpPr txBox="1"/>
          <p:nvPr/>
        </p:nvSpPr>
        <p:spPr>
          <a:xfrm>
            <a:off x="1257300" y="2235200"/>
            <a:ext cx="15240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4000" b="1">
                <a:solidFill>
                  <a:srgbClr val="E8A33D"/>
                </a:solidFill>
                <a:latin typeface="JetBrains Mono"/>
              </a:rPr>
              <a:t>01</a:t>
            </a:r>
            <a:endParaRPr lang="ko-KR" altLang="en-US" sz="40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E80D89B-0D9E-F44B-BDDA-123AE040CC97}"/>
              </a:ext>
            </a:extLst>
          </p:cNvPr>
          <p:cNvSpPr/>
          <p:nvPr/>
        </p:nvSpPr>
        <p:spPr>
          <a:xfrm>
            <a:off x="1282700" y="3124200"/>
            <a:ext cx="685800" cy="50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72AA4A-7F74-A146-A3C3-970EC830D1CB}"/>
              </a:ext>
            </a:extLst>
          </p:cNvPr>
          <p:cNvSpPr txBox="1"/>
          <p:nvPr/>
        </p:nvSpPr>
        <p:spPr>
          <a:xfrm>
            <a:off x="1282700" y="3479800"/>
            <a:ext cx="4165600" cy="165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2000" b="1">
                <a:solidFill>
                  <a:srgbClr val="14213D"/>
                </a:solidFill>
                <a:latin typeface="Pretendard"/>
              </a:rPr>
              <a:t>홍보 목적</a:t>
            </a:r>
            <a:r>
              <a:rPr lang="en-US" altLang="ko-KR" sz="2000" b="1">
                <a:solidFill>
                  <a:srgbClr val="14213D"/>
                </a:solidFill>
                <a:latin typeface="Pretendard"/>
              </a:rPr>
              <a:t>·</a:t>
            </a:r>
            <a:r>
              <a:rPr lang="ko-KR" altLang="en-US" sz="2000" b="1">
                <a:solidFill>
                  <a:srgbClr val="14213D"/>
                </a:solidFill>
                <a:latin typeface="Pretendard"/>
              </a:rPr>
              <a:t>타깃</a:t>
            </a:r>
            <a:r>
              <a:rPr lang="en-US" altLang="ko-KR" sz="2000" b="1">
                <a:solidFill>
                  <a:srgbClr val="14213D"/>
                </a:solidFill>
                <a:latin typeface="Pretendard"/>
              </a:rPr>
              <a:t>·</a:t>
            </a:r>
            <a:r>
              <a:rPr lang="ko-KR" altLang="en-US" sz="2000" b="1">
                <a:solidFill>
                  <a:srgbClr val="14213D"/>
                </a:solidFill>
                <a:latin typeface="Pretendard"/>
              </a:rPr>
              <a:t>핵심 메시지를 한 문장으로 정리할 수 있다</a:t>
            </a:r>
            <a:r>
              <a:rPr lang="en-US" altLang="ko-KR" sz="2000" b="1">
                <a:solidFill>
                  <a:srgbClr val="14213D"/>
                </a:solidFill>
                <a:latin typeface="Pretendard"/>
              </a:rPr>
              <a:t>.</a:t>
            </a:r>
            <a:endParaRPr lang="ko-KR" altLang="en-US" sz="2000" b="1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CB212D-F1E6-8C48-83AE-1DEF6EE7E092}"/>
              </a:ext>
            </a:extLst>
          </p:cNvPr>
          <p:cNvSpPr txBox="1"/>
          <p:nvPr/>
        </p:nvSpPr>
        <p:spPr>
          <a:xfrm>
            <a:off x="1282700" y="5613400"/>
            <a:ext cx="41656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1D4E89"/>
                </a:solidFill>
                <a:latin typeface="JetBrains Mono"/>
              </a:rPr>
              <a:t>→ 메시지 하우스로 홍보의 뼈대 세우기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7A1E68FD-7D8E-E042-B227-91B4F00A37EC}"/>
              </a:ext>
            </a:extLst>
          </p:cNvPr>
          <p:cNvSpPr/>
          <p:nvPr/>
        </p:nvSpPr>
        <p:spPr>
          <a:xfrm>
            <a:off x="6286500" y="1905000"/>
            <a:ext cx="50800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3830CB-DEFB-6940-9D44-E6459E7D2F09}"/>
              </a:ext>
            </a:extLst>
          </p:cNvPr>
          <p:cNvSpPr txBox="1"/>
          <p:nvPr/>
        </p:nvSpPr>
        <p:spPr>
          <a:xfrm>
            <a:off x="6718300" y="2235200"/>
            <a:ext cx="15240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4000" b="1">
                <a:solidFill>
                  <a:srgbClr val="E8A33D"/>
                </a:solidFill>
                <a:latin typeface="JetBrains Mono"/>
              </a:rPr>
              <a:t>02</a:t>
            </a:r>
            <a:endParaRPr lang="ko-KR" altLang="en-US" sz="40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7099229-E247-EE4B-AC03-52944D88B55A}"/>
              </a:ext>
            </a:extLst>
          </p:cNvPr>
          <p:cNvSpPr/>
          <p:nvPr/>
        </p:nvSpPr>
        <p:spPr>
          <a:xfrm>
            <a:off x="6743700" y="3124200"/>
            <a:ext cx="685800" cy="50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05C83D-ABA1-8349-BFA7-795DD2E4D8E9}"/>
              </a:ext>
            </a:extLst>
          </p:cNvPr>
          <p:cNvSpPr txBox="1"/>
          <p:nvPr/>
        </p:nvSpPr>
        <p:spPr>
          <a:xfrm>
            <a:off x="6743700" y="3479800"/>
            <a:ext cx="4165600" cy="165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2000" b="1">
                <a:solidFill>
                  <a:srgbClr val="14213D"/>
                </a:solidFill>
                <a:latin typeface="Pretendard"/>
              </a:rPr>
              <a:t>좋은 프롬프트의 구성 요소를 적용해 결과 품질을 높인다</a:t>
            </a:r>
            <a:r>
              <a:rPr lang="en-US" altLang="ko-KR" sz="2000" b="1">
                <a:solidFill>
                  <a:srgbClr val="14213D"/>
                </a:solidFill>
                <a:latin typeface="Pretendard"/>
              </a:rPr>
              <a:t>.</a:t>
            </a:r>
            <a:endParaRPr lang="ko-KR" altLang="en-US" sz="2000" b="1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57A636-4C75-5C41-B2D6-73E5F888967F}"/>
              </a:ext>
            </a:extLst>
          </p:cNvPr>
          <p:cNvSpPr txBox="1"/>
          <p:nvPr/>
        </p:nvSpPr>
        <p:spPr>
          <a:xfrm>
            <a:off x="6743700" y="5613400"/>
            <a:ext cx="41656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>
                <a:solidFill>
                  <a:srgbClr val="1D4E89"/>
                </a:solidFill>
                <a:latin typeface="JetBrains Mono"/>
              </a:rPr>
              <a:t>→ R-C-T-F + Few-shot </a:t>
            </a:r>
            <a:r>
              <a:rPr lang="ko-KR" altLang="en-US" sz="1400">
                <a:solidFill>
                  <a:srgbClr val="1D4E89"/>
                </a:solidFill>
                <a:latin typeface="JetBrains Mono"/>
              </a:rPr>
              <a:t>적용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BD18F8CC-D9EF-D444-A94E-3EAEAB0D4E50}"/>
              </a:ext>
            </a:extLst>
          </p:cNvPr>
          <p:cNvSpPr/>
          <p:nvPr/>
        </p:nvSpPr>
        <p:spPr>
          <a:xfrm>
            <a:off x="914400" y="2387600"/>
            <a:ext cx="165100" cy="3810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625D19-B157-4743-9DA4-3F68AA6D19FE}"/>
              </a:ext>
            </a:extLst>
          </p:cNvPr>
          <p:cNvSpPr txBox="1"/>
          <p:nvPr/>
        </p:nvSpPr>
        <p:spPr>
          <a:xfrm>
            <a:off x="1219200" y="24257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E8A33D"/>
                </a:solidFill>
                <a:latin typeface="JetBrains Mono"/>
              </a:rPr>
              <a:t>SESSION 1</a:t>
            </a:r>
            <a:endParaRPr lang="ko-KR" altLang="en-US" sz="15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5B618B-C69D-D547-B232-49344A4C3744}"/>
              </a:ext>
            </a:extLst>
          </p:cNvPr>
          <p:cNvSpPr txBox="1"/>
          <p:nvPr/>
        </p:nvSpPr>
        <p:spPr>
          <a:xfrm>
            <a:off x="889000" y="28448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3200" b="1">
                <a:solidFill>
                  <a:srgbClr val="FFFFFF"/>
                </a:solidFill>
                <a:latin typeface="Noto Serif KR"/>
              </a:rPr>
              <a:t>홍보 목적 → 타깃 → 핵심 메시지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4EBABE-CAD1-104E-A01B-A95E6CA1F2C3}"/>
              </a:ext>
            </a:extLst>
          </p:cNvPr>
          <p:cNvSpPr txBox="1"/>
          <p:nvPr/>
        </p:nvSpPr>
        <p:spPr>
          <a:xfrm>
            <a:off x="914400" y="3657600"/>
            <a:ext cx="101600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00">
                <a:solidFill>
                  <a:srgbClr val="DCE6F2"/>
                </a:solidFill>
                <a:latin typeface="Pretendard"/>
              </a:rPr>
              <a:t>메시지 하우스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(</a:t>
            </a:r>
            <a:r>
              <a:rPr lang="ko-KR" altLang="en-US" sz="1600">
                <a:solidFill>
                  <a:srgbClr val="DCE6F2"/>
                </a:solidFill>
                <a:latin typeface="Pretendard"/>
              </a:rPr>
              <a:t>핵심 메시지 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1 + </a:t>
            </a:r>
            <a:r>
              <a:rPr lang="ko-KR" altLang="en-US" sz="1600">
                <a:solidFill>
                  <a:srgbClr val="DCE6F2"/>
                </a:solidFill>
                <a:latin typeface="Pretendard"/>
              </a:rPr>
              <a:t>근거 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3) </a:t>
            </a:r>
            <a:r>
              <a:rPr lang="ko-KR" altLang="en-US" sz="1600">
                <a:solidFill>
                  <a:srgbClr val="DCE6F2"/>
                </a:solidFill>
                <a:latin typeface="Pretendard"/>
              </a:rPr>
              <a:t>구조로 홍보의 뼈대를 먼저 세운다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.</a:t>
            </a:r>
            <a:endParaRPr lang="ko-KR" altLang="en-US" sz="1600">
              <a:solidFill>
                <a:srgbClr val="DCE6F2"/>
              </a:solidFill>
              <a:latin typeface="Pretendard"/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77CE2619-312D-4148-A01B-A2A54BAE72A8}"/>
              </a:ext>
            </a:extLst>
          </p:cNvPr>
          <p:cNvSpPr/>
          <p:nvPr/>
        </p:nvSpPr>
        <p:spPr>
          <a:xfrm>
            <a:off x="914400" y="4724400"/>
            <a:ext cx="2616200" cy="8636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FFFFFF"/>
                </a:solidFill>
                <a:latin typeface="Pretendard"/>
              </a:rPr>
              <a:t>홍보 목적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4D41D9-755E-DD47-9FAF-17B001614D65}"/>
              </a:ext>
            </a:extLst>
          </p:cNvPr>
          <p:cNvSpPr txBox="1"/>
          <p:nvPr/>
        </p:nvSpPr>
        <p:spPr>
          <a:xfrm>
            <a:off x="3530600" y="4724400"/>
            <a:ext cx="558800" cy="863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2400" b="1">
                <a:solidFill>
                  <a:srgbClr val="9FB3CE"/>
                </a:solidFill>
                <a:latin typeface="Pretendard"/>
              </a:rPr>
              <a:t>→</a:t>
            </a: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CAA32BFD-3B3D-6E43-BD21-3D08A31137D6}"/>
              </a:ext>
            </a:extLst>
          </p:cNvPr>
          <p:cNvSpPr/>
          <p:nvPr/>
        </p:nvSpPr>
        <p:spPr>
          <a:xfrm>
            <a:off x="4089400" y="4724400"/>
            <a:ext cx="2616200" cy="8636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FFFFFF"/>
                </a:solidFill>
                <a:latin typeface="Pretendard"/>
              </a:rPr>
              <a:t>타깃 고객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90D4B3-5630-C840-BBFA-343A09979BD2}"/>
              </a:ext>
            </a:extLst>
          </p:cNvPr>
          <p:cNvSpPr txBox="1"/>
          <p:nvPr/>
        </p:nvSpPr>
        <p:spPr>
          <a:xfrm>
            <a:off x="6705600" y="4724400"/>
            <a:ext cx="558800" cy="863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2400" b="1">
                <a:solidFill>
                  <a:srgbClr val="9FB3CE"/>
                </a:solidFill>
                <a:latin typeface="Pretendard"/>
              </a:rPr>
              <a:t>→</a:t>
            </a: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186E3A9D-558A-424E-9DEB-1B98E1D27684}"/>
              </a:ext>
            </a:extLst>
          </p:cNvPr>
          <p:cNvSpPr/>
          <p:nvPr/>
        </p:nvSpPr>
        <p:spPr>
          <a:xfrm>
            <a:off x="7264400" y="4724400"/>
            <a:ext cx="2616200" cy="863600"/>
          </a:xfrm>
          <a:prstGeom prst="round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핵심 메시지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핵심 개념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핵심 개념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9AF88D31-5C39-9C4D-B2D5-254C5B356DF2}"/>
              </a:ext>
            </a:extLst>
          </p:cNvPr>
          <p:cNvSpPr/>
          <p:nvPr/>
        </p:nvSpPr>
        <p:spPr>
          <a:xfrm>
            <a:off x="825500" y="1905000"/>
            <a:ext cx="33401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3D182BD-F62D-BC43-98C0-8A839AD593C8}"/>
              </a:ext>
            </a:extLst>
          </p:cNvPr>
          <p:cNvSpPr/>
          <p:nvPr/>
        </p:nvSpPr>
        <p:spPr>
          <a:xfrm>
            <a:off x="825500" y="1905000"/>
            <a:ext cx="3340100" cy="88900"/>
          </a:xfrm>
          <a:prstGeom prst="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7523E22-3BDB-EC48-8BC6-64B868F11A30}"/>
              </a:ext>
            </a:extLst>
          </p:cNvPr>
          <p:cNvSpPr/>
          <p:nvPr/>
        </p:nvSpPr>
        <p:spPr>
          <a:xfrm>
            <a:off x="11303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1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9866BD-7877-2B42-9C9F-4D5A9A3EB088}"/>
              </a:ext>
            </a:extLst>
          </p:cNvPr>
          <p:cNvSpPr txBox="1"/>
          <p:nvPr/>
        </p:nvSpPr>
        <p:spPr>
          <a:xfrm>
            <a:off x="1790700" y="2387600"/>
            <a:ext cx="21971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700" b="1">
                <a:solidFill>
                  <a:srgbClr val="14213D"/>
                </a:solidFill>
                <a:latin typeface="Pretendard"/>
              </a:rPr>
              <a:t>타깃 페르소나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E3189BB-372F-AB4A-B4BA-AD66FA3B5895}"/>
              </a:ext>
            </a:extLst>
          </p:cNvPr>
          <p:cNvSpPr/>
          <p:nvPr/>
        </p:nvSpPr>
        <p:spPr>
          <a:xfrm>
            <a:off x="1130300" y="30480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82E9CA-D44E-CB47-979C-91758994B299}"/>
              </a:ext>
            </a:extLst>
          </p:cNvPr>
          <p:cNvSpPr txBox="1"/>
          <p:nvPr/>
        </p:nvSpPr>
        <p:spPr>
          <a:xfrm>
            <a:off x="1130300" y="3251200"/>
            <a:ext cx="2730500" cy="2032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연령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역할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고민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구매동기를 한 인물로 구체화한다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구체적일수록 카피가 날카로워진다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5C42A97D-C862-4447-BA09-0AA3D0AE61B1}"/>
              </a:ext>
            </a:extLst>
          </p:cNvPr>
          <p:cNvSpPr/>
          <p:nvPr/>
        </p:nvSpPr>
        <p:spPr>
          <a:xfrm>
            <a:off x="1130300" y="5562600"/>
            <a:ext cx="2730500" cy="457200"/>
          </a:xfrm>
          <a:prstGeom prst="roundRect">
            <a:avLst/>
          </a:prstGeom>
          <a:solidFill>
            <a:srgbClr val="E7ECF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A6578D-99AE-C844-BDBE-A462100D8699}"/>
              </a:ext>
            </a:extLst>
          </p:cNvPr>
          <p:cNvSpPr txBox="1"/>
          <p:nvPr/>
        </p:nvSpPr>
        <p:spPr>
          <a:xfrm>
            <a:off x="11303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350" b="1">
                <a:solidFill>
                  <a:srgbClr val="14213D"/>
                </a:solidFill>
                <a:latin typeface="Pretendard"/>
              </a:rPr>
              <a:t>한 사람으로 좁히기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A552CFE5-2E7A-8543-BBF4-2DF3BE0A2E64}"/>
              </a:ext>
            </a:extLst>
          </p:cNvPr>
          <p:cNvSpPr/>
          <p:nvPr/>
        </p:nvSpPr>
        <p:spPr>
          <a:xfrm>
            <a:off x="4419600" y="1905000"/>
            <a:ext cx="33401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3D50C89-3578-E14A-BF4D-FA1E51D21B99}"/>
              </a:ext>
            </a:extLst>
          </p:cNvPr>
          <p:cNvSpPr/>
          <p:nvPr/>
        </p:nvSpPr>
        <p:spPr>
          <a:xfrm>
            <a:off x="4419600" y="1905000"/>
            <a:ext cx="3340100" cy="88900"/>
          </a:xfrm>
          <a:prstGeom prst="rect">
            <a:avLst/>
          </a:prstGeom>
          <a:solidFill>
            <a:srgbClr val="1D4E8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1770731B-2DFD-A044-86D4-FED9C4986CAB}"/>
              </a:ext>
            </a:extLst>
          </p:cNvPr>
          <p:cNvSpPr/>
          <p:nvPr/>
        </p:nvSpPr>
        <p:spPr>
          <a:xfrm>
            <a:off x="47244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2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246534-9A82-6242-9EF6-21B080929F1C}"/>
              </a:ext>
            </a:extLst>
          </p:cNvPr>
          <p:cNvSpPr txBox="1"/>
          <p:nvPr/>
        </p:nvSpPr>
        <p:spPr>
          <a:xfrm>
            <a:off x="5384800" y="2387600"/>
            <a:ext cx="21971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700" b="1">
                <a:solidFill>
                  <a:srgbClr val="14213D"/>
                </a:solidFill>
                <a:latin typeface="Pretendard"/>
              </a:rPr>
              <a:t>메시지 하우스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C24D14D-9CA0-8A4B-B2EE-78B5454277D5}"/>
              </a:ext>
            </a:extLst>
          </p:cNvPr>
          <p:cNvSpPr/>
          <p:nvPr/>
        </p:nvSpPr>
        <p:spPr>
          <a:xfrm>
            <a:off x="4724400" y="30480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15BB4B-90BE-8C4D-866E-B3DF975DF83A}"/>
              </a:ext>
            </a:extLst>
          </p:cNvPr>
          <p:cNvSpPr txBox="1"/>
          <p:nvPr/>
        </p:nvSpPr>
        <p:spPr>
          <a:xfrm>
            <a:off x="4724400" y="3251200"/>
            <a:ext cx="2730500" cy="2032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지붕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(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핵심 메시지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1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문장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) +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기둥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(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근거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3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개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).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모든 콘텐츠가 이 한 채에서 파생된다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8F5BDFA4-5AB7-BD47-8974-FA5BE21DAA1F}"/>
              </a:ext>
            </a:extLst>
          </p:cNvPr>
          <p:cNvSpPr/>
          <p:nvPr/>
        </p:nvSpPr>
        <p:spPr>
          <a:xfrm>
            <a:off x="4724400" y="5562600"/>
            <a:ext cx="2730500" cy="457200"/>
          </a:xfrm>
          <a:prstGeom prst="roundRect">
            <a:avLst/>
          </a:prstGeom>
          <a:solidFill>
            <a:srgbClr val="E4EC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9959A3-06A6-A049-8CEB-2343B86E3787}"/>
              </a:ext>
            </a:extLst>
          </p:cNvPr>
          <p:cNvSpPr txBox="1"/>
          <p:nvPr/>
        </p:nvSpPr>
        <p:spPr>
          <a:xfrm>
            <a:off x="47244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350" b="1">
                <a:solidFill>
                  <a:srgbClr val="1D4E89"/>
                </a:solidFill>
                <a:latin typeface="Pretendard"/>
              </a:rPr>
              <a:t>지붕 </a:t>
            </a:r>
            <a:r>
              <a:rPr lang="en-US" altLang="ko-KR" sz="1350" b="1">
                <a:solidFill>
                  <a:srgbClr val="1D4E89"/>
                </a:solidFill>
                <a:latin typeface="Pretendard"/>
              </a:rPr>
              <a:t>1 · </a:t>
            </a:r>
            <a:r>
              <a:rPr lang="ko-KR" altLang="en-US" sz="1350" b="1">
                <a:solidFill>
                  <a:srgbClr val="1D4E89"/>
                </a:solidFill>
                <a:latin typeface="Pretendard"/>
              </a:rPr>
              <a:t>기둥 </a:t>
            </a:r>
            <a:r>
              <a:rPr lang="en-US" altLang="ko-KR" sz="1350" b="1">
                <a:solidFill>
                  <a:srgbClr val="1D4E89"/>
                </a:solidFill>
                <a:latin typeface="Pretendard"/>
              </a:rPr>
              <a:t>3</a:t>
            </a:r>
            <a:endParaRPr lang="ko-KR" altLang="en-US" sz="1350" b="1">
              <a:solidFill>
                <a:srgbClr val="1D4E89"/>
              </a:solidFill>
              <a:latin typeface="Pretendard"/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E02778AD-B32F-424C-B783-8867DDF79897}"/>
              </a:ext>
            </a:extLst>
          </p:cNvPr>
          <p:cNvSpPr/>
          <p:nvPr/>
        </p:nvSpPr>
        <p:spPr>
          <a:xfrm>
            <a:off x="8013700" y="1905000"/>
            <a:ext cx="33401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67ABEE7-4571-2445-87F0-0D0199B1566E}"/>
              </a:ext>
            </a:extLst>
          </p:cNvPr>
          <p:cNvSpPr/>
          <p:nvPr/>
        </p:nvSpPr>
        <p:spPr>
          <a:xfrm>
            <a:off x="8013700" y="1905000"/>
            <a:ext cx="3340100" cy="889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950BA16C-36A3-1B47-A89F-6415E2522176}"/>
              </a:ext>
            </a:extLst>
          </p:cNvPr>
          <p:cNvSpPr/>
          <p:nvPr/>
        </p:nvSpPr>
        <p:spPr>
          <a:xfrm>
            <a:off x="83185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3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E71E80-5D26-C34B-A661-344C02D5E1A8}"/>
              </a:ext>
            </a:extLst>
          </p:cNvPr>
          <p:cNvSpPr txBox="1"/>
          <p:nvPr/>
        </p:nvSpPr>
        <p:spPr>
          <a:xfrm>
            <a:off x="8978900" y="2387600"/>
            <a:ext cx="21971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700" b="1">
                <a:solidFill>
                  <a:srgbClr val="14213D"/>
                </a:solidFill>
                <a:latin typeface="Pretendard"/>
              </a:rPr>
              <a:t>가치 제안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16C456D-6F91-7443-912D-B8089796CE52}"/>
              </a:ext>
            </a:extLst>
          </p:cNvPr>
          <p:cNvSpPr/>
          <p:nvPr/>
        </p:nvSpPr>
        <p:spPr>
          <a:xfrm>
            <a:off x="8318500" y="30480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C5DA35-41E4-6141-B870-5B3C22275315}"/>
              </a:ext>
            </a:extLst>
          </p:cNvPr>
          <p:cNvSpPr txBox="1"/>
          <p:nvPr/>
        </p:nvSpPr>
        <p:spPr>
          <a:xfrm>
            <a:off x="8318500" y="3251200"/>
            <a:ext cx="2730500" cy="2032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‘누구에게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어떤 문제를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어떻게 해결’ 한 문장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기능이 아니라 고객이 얻는 결과로 말한다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B8C18D01-A8CD-4F47-A5EF-499DB577A5FA}"/>
              </a:ext>
            </a:extLst>
          </p:cNvPr>
          <p:cNvSpPr/>
          <p:nvPr/>
        </p:nvSpPr>
        <p:spPr>
          <a:xfrm>
            <a:off x="8318500" y="5562600"/>
            <a:ext cx="2730500" cy="457200"/>
          </a:xfrm>
          <a:prstGeom prst="roundRect">
            <a:avLst/>
          </a:prstGeom>
          <a:solidFill>
            <a:srgbClr val="FBEF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4F3C99-B4F4-B849-A8B1-54D430AD8881}"/>
              </a:ext>
            </a:extLst>
          </p:cNvPr>
          <p:cNvSpPr txBox="1"/>
          <p:nvPr/>
        </p:nvSpPr>
        <p:spPr>
          <a:xfrm>
            <a:off x="83185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350" b="1">
                <a:solidFill>
                  <a:srgbClr val="9A6B12"/>
                </a:solidFill>
                <a:latin typeface="Pretendard"/>
              </a:rPr>
              <a:t>결과로 말하기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개념 깊이 보기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개념을 예시로 — 우리 케이스에 적용하면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BBD8F524-24CD-FD48-B1A2-56568F170452}"/>
              </a:ext>
            </a:extLst>
          </p:cNvPr>
          <p:cNvSpPr/>
          <p:nvPr/>
        </p:nvSpPr>
        <p:spPr>
          <a:xfrm>
            <a:off x="825500" y="1905000"/>
            <a:ext cx="5461000" cy="4381500"/>
          </a:xfrm>
          <a:prstGeom prst="roundRect">
            <a:avLst>
              <a:gd name="adj" fmla="val 8246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5FBAF9-250E-0343-90CE-4CD998ADCAF0}"/>
              </a:ext>
            </a:extLst>
          </p:cNvPr>
          <p:cNvSpPr txBox="1"/>
          <p:nvPr/>
        </p:nvSpPr>
        <p:spPr>
          <a:xfrm>
            <a:off x="1181100" y="2159000"/>
            <a:ext cx="47498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14213D"/>
                </a:solidFill>
                <a:latin typeface="Pretendard"/>
              </a:rPr>
              <a:t>타깃 페르소나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E56A7C-FF88-314C-A398-A6E2659D402C}"/>
              </a:ext>
            </a:extLst>
          </p:cNvPr>
          <p:cNvSpPr txBox="1"/>
          <p:nvPr/>
        </p:nvSpPr>
        <p:spPr>
          <a:xfrm>
            <a:off x="1181100" y="2540000"/>
            <a:ext cx="47498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250">
                <a:solidFill>
                  <a:srgbClr val="576176"/>
                </a:solidFill>
                <a:latin typeface="Pretendard"/>
              </a:rPr>
              <a:t>막연 → 구체로 좁히기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7608B8-5647-2C4A-98BA-B4C09B8B2208}"/>
              </a:ext>
            </a:extLst>
          </p:cNvPr>
          <p:cNvSpPr txBox="1"/>
          <p:nvPr/>
        </p:nvSpPr>
        <p:spPr>
          <a:xfrm>
            <a:off x="1181100" y="2946400"/>
            <a:ext cx="47498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576176"/>
                </a:solidFill>
                <a:latin typeface="JetBrains Mono"/>
              </a:rPr>
              <a:t>BEFORE · </a:t>
            </a:r>
            <a:r>
              <a:rPr lang="ko-KR" altLang="en-US" sz="1100" b="1">
                <a:solidFill>
                  <a:srgbClr val="576176"/>
                </a:solidFill>
                <a:latin typeface="JetBrains Mono"/>
              </a:rPr>
              <a:t>막연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622FFD31-8E8B-5F4D-86D2-DC439372F655}"/>
              </a:ext>
            </a:extLst>
          </p:cNvPr>
          <p:cNvSpPr/>
          <p:nvPr/>
        </p:nvSpPr>
        <p:spPr>
          <a:xfrm>
            <a:off x="1181100" y="3200400"/>
            <a:ext cx="4749800" cy="533400"/>
          </a:xfrm>
          <a:prstGeom prst="roundRect">
            <a:avLst/>
          </a:prstGeom>
          <a:solidFill>
            <a:srgbClr val="ECEFF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F13210-2ED8-A84D-B231-AF80AC3FF4BA}"/>
              </a:ext>
            </a:extLst>
          </p:cNvPr>
          <p:cNvSpPr txBox="1"/>
          <p:nvPr/>
        </p:nvSpPr>
        <p:spPr>
          <a:xfrm>
            <a:off x="1181100" y="3200400"/>
            <a:ext cx="47498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500">
                <a:solidFill>
                  <a:srgbClr val="576176"/>
                </a:solidFill>
                <a:latin typeface="Pretendard"/>
              </a:rPr>
              <a:t>“</a:t>
            </a:r>
            <a:r>
              <a:rPr lang="en-US" altLang="ko-KR" sz="1500">
                <a:solidFill>
                  <a:srgbClr val="576176"/>
                </a:solidFill>
                <a:latin typeface="Pretendard"/>
              </a:rPr>
              <a:t>30</a:t>
            </a:r>
            <a:r>
              <a:rPr lang="ko-KR" altLang="en-US" sz="1500">
                <a:solidFill>
                  <a:srgbClr val="576176"/>
                </a:solidFill>
                <a:latin typeface="Pretendard"/>
              </a:rPr>
              <a:t>대 직장인”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6A4171-C62A-0048-892A-F1F605D3A9D0}"/>
              </a:ext>
            </a:extLst>
          </p:cNvPr>
          <p:cNvSpPr txBox="1"/>
          <p:nvPr/>
        </p:nvSpPr>
        <p:spPr>
          <a:xfrm>
            <a:off x="1181100" y="3810000"/>
            <a:ext cx="47498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2000" b="1">
                <a:solidFill>
                  <a:srgbClr val="E8A33D"/>
                </a:solidFill>
                <a:latin typeface="Pretendard"/>
              </a:rPr>
              <a:t>↓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D23ABC-5DAE-5C40-A8F3-C053475DEA29}"/>
              </a:ext>
            </a:extLst>
          </p:cNvPr>
          <p:cNvSpPr txBox="1"/>
          <p:nvPr/>
        </p:nvSpPr>
        <p:spPr>
          <a:xfrm>
            <a:off x="1181100" y="4191000"/>
            <a:ext cx="47498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B5781B"/>
                </a:solidFill>
                <a:latin typeface="JetBrains Mono"/>
              </a:rPr>
              <a:t>AFTER · </a:t>
            </a:r>
            <a:r>
              <a:rPr lang="ko-KR" altLang="en-US" sz="1100" b="1">
                <a:solidFill>
                  <a:srgbClr val="B5781B"/>
                </a:solidFill>
                <a:latin typeface="JetBrains Mono"/>
              </a:rPr>
              <a:t>구체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5276CDE7-06A7-A647-9A3D-665977883844}"/>
              </a:ext>
            </a:extLst>
          </p:cNvPr>
          <p:cNvSpPr/>
          <p:nvPr/>
        </p:nvSpPr>
        <p:spPr>
          <a:xfrm>
            <a:off x="1181100" y="4445000"/>
            <a:ext cx="4749800" cy="990600"/>
          </a:xfrm>
          <a:prstGeom prst="roundRect">
            <a:avLst/>
          </a:prstGeom>
          <a:solidFill>
            <a:srgbClr val="FBEF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BBB17B-E8CF-D548-A7AE-0F31E6A32AAD}"/>
              </a:ext>
            </a:extLst>
          </p:cNvPr>
          <p:cNvSpPr txBox="1"/>
          <p:nvPr/>
        </p:nvSpPr>
        <p:spPr>
          <a:xfrm>
            <a:off x="1333500" y="4445000"/>
            <a:ext cx="4445000" cy="990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50" b="1">
                <a:solidFill>
                  <a:srgbClr val="14213D"/>
                </a:solidFill>
                <a:latin typeface="Pretendard"/>
              </a:rPr>
              <a:t>“퇴근 후 혼술하지만 다음날 컨디션이 걱정인 </a:t>
            </a:r>
            <a:r>
              <a:rPr lang="en-US" altLang="ko-KR" sz="1450" b="1">
                <a:solidFill>
                  <a:srgbClr val="14213D"/>
                </a:solidFill>
                <a:latin typeface="Pretendard"/>
              </a:rPr>
              <a:t>33</a:t>
            </a:r>
            <a:r>
              <a:rPr lang="ko-KR" altLang="en-US" sz="1450" b="1">
                <a:solidFill>
                  <a:srgbClr val="14213D"/>
                </a:solidFill>
                <a:latin typeface="Pretendard"/>
              </a:rPr>
              <a:t>세 회사원 지현”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B86448-6B53-E249-BD4F-F921A6B36458}"/>
              </a:ext>
            </a:extLst>
          </p:cNvPr>
          <p:cNvSpPr txBox="1"/>
          <p:nvPr/>
        </p:nvSpPr>
        <p:spPr>
          <a:xfrm>
            <a:off x="1181100" y="5588000"/>
            <a:ext cx="47498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250" i="1">
                <a:solidFill>
                  <a:srgbClr val="1D4E89"/>
                </a:solidFill>
                <a:latin typeface="JetBrains Mono"/>
              </a:rPr>
              <a:t>→ 구체적일수록 카피가 날카로워진다</a:t>
            </a:r>
            <a:r>
              <a:rPr lang="en-US" altLang="ko-KR" sz="1250" i="1">
                <a:solidFill>
                  <a:srgbClr val="1D4E89"/>
                </a:solidFill>
                <a:latin typeface="JetBrains Mono"/>
              </a:rPr>
              <a:t>.</a:t>
            </a:r>
            <a:endParaRPr lang="ko-KR" altLang="en-US" sz="1250" i="1">
              <a:solidFill>
                <a:srgbClr val="1D4E89"/>
              </a:solidFill>
              <a:latin typeface="JetBrains Mono"/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07818F2C-7E27-3143-8129-90A86291B08A}"/>
              </a:ext>
            </a:extLst>
          </p:cNvPr>
          <p:cNvSpPr/>
          <p:nvPr/>
        </p:nvSpPr>
        <p:spPr>
          <a:xfrm>
            <a:off x="6540500" y="1905000"/>
            <a:ext cx="4826000" cy="4381500"/>
          </a:xfrm>
          <a:prstGeom prst="roundRect">
            <a:avLst>
              <a:gd name="adj" fmla="val 6781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A24927-5650-AC4E-9FD8-94CA5706CC85}"/>
              </a:ext>
            </a:extLst>
          </p:cNvPr>
          <p:cNvSpPr txBox="1"/>
          <p:nvPr/>
        </p:nvSpPr>
        <p:spPr>
          <a:xfrm>
            <a:off x="6845300" y="2159000"/>
            <a:ext cx="42164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FFFFFF"/>
                </a:solidFill>
                <a:latin typeface="Pretendard"/>
              </a:rPr>
              <a:t>메시지 하우스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BAD918-4B20-D54F-9E28-A329664DFE27}"/>
              </a:ext>
            </a:extLst>
          </p:cNvPr>
          <p:cNvSpPr txBox="1"/>
          <p:nvPr/>
        </p:nvSpPr>
        <p:spPr>
          <a:xfrm>
            <a:off x="6845300" y="2540000"/>
            <a:ext cx="42164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250">
                <a:solidFill>
                  <a:srgbClr val="E8A33D"/>
                </a:solidFill>
                <a:latin typeface="Pretendard"/>
              </a:rPr>
              <a:t>지붕 </a:t>
            </a:r>
            <a:r>
              <a:rPr lang="en-US" altLang="ko-KR" sz="1250">
                <a:solidFill>
                  <a:srgbClr val="E8A33D"/>
                </a:solidFill>
                <a:latin typeface="Pretendard"/>
              </a:rPr>
              <a:t>1</a:t>
            </a:r>
            <a:r>
              <a:rPr lang="ko-KR" altLang="en-US" sz="1250">
                <a:solidFill>
                  <a:srgbClr val="E8A33D"/>
                </a:solidFill>
                <a:latin typeface="Pretendard"/>
              </a:rPr>
              <a:t>문장 </a:t>
            </a:r>
            <a:r>
              <a:rPr lang="en-US" altLang="ko-KR" sz="1250">
                <a:solidFill>
                  <a:srgbClr val="E8A33D"/>
                </a:solidFill>
                <a:latin typeface="Pretendard"/>
              </a:rPr>
              <a:t>+ </a:t>
            </a:r>
            <a:r>
              <a:rPr lang="ko-KR" altLang="en-US" sz="1250">
                <a:solidFill>
                  <a:srgbClr val="E8A33D"/>
                </a:solidFill>
                <a:latin typeface="Pretendard"/>
              </a:rPr>
              <a:t>기둥 </a:t>
            </a:r>
            <a:r>
              <a:rPr lang="en-US" altLang="ko-KR" sz="1250">
                <a:solidFill>
                  <a:srgbClr val="E8A33D"/>
                </a:solidFill>
                <a:latin typeface="Pretendard"/>
              </a:rPr>
              <a:t>3</a:t>
            </a:r>
            <a:r>
              <a:rPr lang="ko-KR" altLang="en-US" sz="1250">
                <a:solidFill>
                  <a:srgbClr val="E8A33D"/>
                </a:solidFill>
                <a:latin typeface="Pretendard"/>
              </a:rPr>
              <a:t>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307FD7-5BF8-4448-894E-574F61ABAC0F}"/>
              </a:ext>
            </a:extLst>
          </p:cNvPr>
          <p:cNvSpPr txBox="1"/>
          <p:nvPr/>
        </p:nvSpPr>
        <p:spPr>
          <a:xfrm>
            <a:off x="6845300" y="2921000"/>
            <a:ext cx="42164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100" b="1">
                <a:solidFill>
                  <a:srgbClr val="E8A33D"/>
                </a:solidFill>
                <a:latin typeface="JetBrains Mono"/>
              </a:rPr>
              <a:t>지붕 </a:t>
            </a:r>
            <a:r>
              <a:rPr lang="en-US" altLang="ko-KR" sz="1100" b="1">
                <a:solidFill>
                  <a:srgbClr val="E8A33D"/>
                </a:solidFill>
                <a:latin typeface="JetBrains Mono"/>
              </a:rPr>
              <a:t>· </a:t>
            </a:r>
            <a:r>
              <a:rPr lang="ko-KR" altLang="en-US" sz="1100" b="1">
                <a:solidFill>
                  <a:srgbClr val="E8A33D"/>
                </a:solidFill>
                <a:latin typeface="JetBrains Mono"/>
              </a:rPr>
              <a:t>핵심 메시지</a:t>
            </a: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72F96CB0-2D42-F34B-A7EE-4C6DB47D9E71}"/>
              </a:ext>
            </a:extLst>
          </p:cNvPr>
          <p:cNvSpPr/>
          <p:nvPr/>
        </p:nvSpPr>
        <p:spPr>
          <a:xfrm>
            <a:off x="6845300" y="3175000"/>
            <a:ext cx="4216400" cy="685800"/>
          </a:xfrm>
          <a:prstGeom prst="round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D4B382-1AFC-FE4D-B040-F1336FF2D2AC}"/>
              </a:ext>
            </a:extLst>
          </p:cNvPr>
          <p:cNvSpPr txBox="1"/>
          <p:nvPr/>
        </p:nvSpPr>
        <p:spPr>
          <a:xfrm>
            <a:off x="6845300" y="3175000"/>
            <a:ext cx="4216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500" b="1">
                <a:solidFill>
                  <a:srgbClr val="14213D"/>
                </a:solidFill>
                <a:latin typeface="Pretendard"/>
              </a:rPr>
              <a:t>부담 없이 즐기는 진짜 맥주맛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3A17BB-63F9-F94E-BEA8-B7C4F7228297}"/>
              </a:ext>
            </a:extLst>
          </p:cNvPr>
          <p:cNvSpPr txBox="1"/>
          <p:nvPr/>
        </p:nvSpPr>
        <p:spPr>
          <a:xfrm>
            <a:off x="6845300" y="4038600"/>
            <a:ext cx="42164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100" b="1">
                <a:solidFill>
                  <a:srgbClr val="E8A33D"/>
                </a:solidFill>
                <a:latin typeface="JetBrains Mono"/>
              </a:rPr>
              <a:t>기둥 </a:t>
            </a:r>
            <a:r>
              <a:rPr lang="en-US" altLang="ko-KR" sz="1100" b="1">
                <a:solidFill>
                  <a:srgbClr val="E8A33D"/>
                </a:solidFill>
                <a:latin typeface="JetBrains Mono"/>
              </a:rPr>
              <a:t>· </a:t>
            </a:r>
            <a:r>
              <a:rPr lang="ko-KR" altLang="en-US" sz="1100" b="1">
                <a:solidFill>
                  <a:srgbClr val="E8A33D"/>
                </a:solidFill>
                <a:latin typeface="JetBrains Mono"/>
              </a:rPr>
              <a:t>근거 </a:t>
            </a:r>
            <a:r>
              <a:rPr lang="en-US" altLang="ko-KR" sz="1100" b="1">
                <a:solidFill>
                  <a:srgbClr val="E8A33D"/>
                </a:solidFill>
                <a:latin typeface="JetBrains Mono"/>
              </a:rPr>
              <a:t>3</a:t>
            </a:r>
            <a:endParaRPr lang="ko-KR" altLang="en-US" sz="11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F1138FBE-55ED-F94E-8596-AA59F5911F27}"/>
              </a:ext>
            </a:extLst>
          </p:cNvPr>
          <p:cNvSpPr/>
          <p:nvPr/>
        </p:nvSpPr>
        <p:spPr>
          <a:xfrm>
            <a:off x="6845300" y="4318000"/>
            <a:ext cx="1320800" cy="1676400"/>
          </a:xfrm>
          <a:prstGeom prst="roundRect">
            <a:avLst/>
          </a:prstGeom>
          <a:solidFill>
            <a:srgbClr val="20314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DA6E6E-07F8-2C4A-9B7F-CB1947ADCA2D}"/>
              </a:ext>
            </a:extLst>
          </p:cNvPr>
          <p:cNvSpPr txBox="1"/>
          <p:nvPr/>
        </p:nvSpPr>
        <p:spPr>
          <a:xfrm>
            <a:off x="6921500" y="4318000"/>
            <a:ext cx="1168400" cy="167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FFFFFF"/>
                </a:solidFill>
                <a:latin typeface="Pretendard"/>
              </a:rPr>
              <a:t>진짜 </a:t>
            </a:r>
            <a:endParaRPr lang="en-US" altLang="ko-KR" sz="1400" b="1" dirty="0">
              <a:solidFill>
                <a:srgbClr val="FFFFFF"/>
              </a:solidFill>
              <a:latin typeface="Pretendard"/>
            </a:endParaRPr>
          </a:p>
          <a:p>
            <a:pPr algn="ctr"/>
            <a:r>
              <a:rPr lang="ko-KR" altLang="en-US" sz="1400" b="1" dirty="0">
                <a:solidFill>
                  <a:srgbClr val="FFFFFF"/>
                </a:solidFill>
                <a:latin typeface="Pretendard"/>
              </a:rPr>
              <a:t>발효 공법</a:t>
            </a: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5CD5E224-196B-3948-8C6E-B56B34B8A98B}"/>
              </a:ext>
            </a:extLst>
          </p:cNvPr>
          <p:cNvSpPr/>
          <p:nvPr/>
        </p:nvSpPr>
        <p:spPr>
          <a:xfrm>
            <a:off x="8293100" y="4318000"/>
            <a:ext cx="1320800" cy="1676400"/>
          </a:xfrm>
          <a:prstGeom prst="roundRect">
            <a:avLst/>
          </a:prstGeom>
          <a:solidFill>
            <a:srgbClr val="20314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E49AD4-AF9F-3245-B6D7-F36E4BA246DA}"/>
              </a:ext>
            </a:extLst>
          </p:cNvPr>
          <p:cNvSpPr txBox="1"/>
          <p:nvPr/>
        </p:nvSpPr>
        <p:spPr>
          <a:xfrm>
            <a:off x="8369300" y="4318000"/>
            <a:ext cx="1168400" cy="167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FFFFFF"/>
                </a:solidFill>
                <a:latin typeface="Pretendard"/>
              </a:rPr>
              <a:t>칼로리 </a:t>
            </a:r>
            <a:r>
              <a:rPr lang="en-US" altLang="ko-KR" sz="1400" b="1" dirty="0">
                <a:solidFill>
                  <a:srgbClr val="FFFFFF"/>
                </a:solidFill>
                <a:latin typeface="Pretendard"/>
              </a:rPr>
              <a:t>30% ↓</a:t>
            </a:r>
            <a:endParaRPr lang="ko-KR" altLang="en-US" sz="140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4429EC28-712A-F947-A862-741DEF008987}"/>
              </a:ext>
            </a:extLst>
          </p:cNvPr>
          <p:cNvSpPr/>
          <p:nvPr/>
        </p:nvSpPr>
        <p:spPr>
          <a:xfrm>
            <a:off x="9740900" y="4318000"/>
            <a:ext cx="1320800" cy="1676400"/>
          </a:xfrm>
          <a:prstGeom prst="roundRect">
            <a:avLst/>
          </a:prstGeom>
          <a:solidFill>
            <a:srgbClr val="20314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268CA0-4656-AA4B-9B78-7D1093F60E34}"/>
              </a:ext>
            </a:extLst>
          </p:cNvPr>
          <p:cNvSpPr txBox="1"/>
          <p:nvPr/>
        </p:nvSpPr>
        <p:spPr>
          <a:xfrm>
            <a:off x="9817100" y="4318000"/>
            <a:ext cx="1168400" cy="167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FFFFFF"/>
                </a:solidFill>
                <a:latin typeface="Pretendard"/>
              </a:rPr>
              <a:t>알코올 </a:t>
            </a:r>
            <a:r>
              <a:rPr lang="en-US" altLang="ko-KR" sz="1400" b="1">
                <a:solidFill>
                  <a:srgbClr val="FFFFFF"/>
                </a:solidFill>
                <a:latin typeface="Pretendard"/>
              </a:rPr>
              <a:t>0.0%</a:t>
            </a:r>
            <a:endParaRPr lang="ko-KR" altLang="en-US" sz="1400" b="1">
              <a:solidFill>
                <a:srgbClr val="FFFFF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개념 심화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메시지 하우스를 먼저 세우는 이유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365760" rIns="457200" rtlCol="0" anchor="ctr"/>
          <a:lstStyle/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뼈대 없이 콘텐츠부터 만들면 채널마다 말이 달라진다. 지붕(핵심 1문장) 하나를 정하면 SNS·블로그·페이지가 모두 한 목소리를 낸다.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절차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실습 절차 — 직접 해봅니다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17C72293-BAD6-DB45-99BD-B9D7BCDE6F52}"/>
              </a:ext>
            </a:extLst>
          </p:cNvPr>
          <p:cNvSpPr/>
          <p:nvPr/>
        </p:nvSpPr>
        <p:spPr>
          <a:xfrm>
            <a:off x="825500" y="1930400"/>
            <a:ext cx="10541000" cy="9398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38EF43D-3217-CE48-B148-49A905A67060}"/>
              </a:ext>
            </a:extLst>
          </p:cNvPr>
          <p:cNvSpPr/>
          <p:nvPr/>
        </p:nvSpPr>
        <p:spPr>
          <a:xfrm>
            <a:off x="825500" y="19304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80DC9C86-1D21-794E-825A-9869A32C4BC8}"/>
              </a:ext>
            </a:extLst>
          </p:cNvPr>
          <p:cNvSpPr/>
          <p:nvPr/>
        </p:nvSpPr>
        <p:spPr>
          <a:xfrm>
            <a:off x="1143000" y="21590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1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7AC8E3-1F6B-B847-8066-902469B3E482}"/>
              </a:ext>
            </a:extLst>
          </p:cNvPr>
          <p:cNvSpPr txBox="1"/>
          <p:nvPr/>
        </p:nvSpPr>
        <p:spPr>
          <a:xfrm>
            <a:off x="1905000" y="2095500"/>
            <a:ext cx="2286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타깃 페르소나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EC1E2D-94EA-B846-8A4D-879D0E51CE56}"/>
              </a:ext>
            </a:extLst>
          </p:cNvPr>
          <p:cNvSpPr txBox="1"/>
          <p:nvPr/>
        </p:nvSpPr>
        <p:spPr>
          <a:xfrm>
            <a:off x="4318000" y="2057400"/>
            <a:ext cx="68580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연령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역할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고민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구매동기 중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3~4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개 속성으로 한 인물을 적는다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13189982-046C-7449-9F0A-BA890030C72E}"/>
              </a:ext>
            </a:extLst>
          </p:cNvPr>
          <p:cNvSpPr/>
          <p:nvPr/>
        </p:nvSpPr>
        <p:spPr>
          <a:xfrm>
            <a:off x="825500" y="2971800"/>
            <a:ext cx="10541000" cy="9398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A18AC96-318A-4F40-BE8B-9E9141827907}"/>
              </a:ext>
            </a:extLst>
          </p:cNvPr>
          <p:cNvSpPr/>
          <p:nvPr/>
        </p:nvSpPr>
        <p:spPr>
          <a:xfrm>
            <a:off x="825500" y="29718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7760F5A0-E420-734F-9E11-7B50AA3C7B50}"/>
              </a:ext>
            </a:extLst>
          </p:cNvPr>
          <p:cNvSpPr/>
          <p:nvPr/>
        </p:nvSpPr>
        <p:spPr>
          <a:xfrm>
            <a:off x="1143000" y="32004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2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7998EB-4F16-D543-886E-DAD3788AAF38}"/>
              </a:ext>
            </a:extLst>
          </p:cNvPr>
          <p:cNvSpPr txBox="1"/>
          <p:nvPr/>
        </p:nvSpPr>
        <p:spPr>
          <a:xfrm>
            <a:off x="1905000" y="3136900"/>
            <a:ext cx="2286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핵심 메시지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E3E2B8-55FC-DC46-B500-C5DA1EFEDC23}"/>
              </a:ext>
            </a:extLst>
          </p:cNvPr>
          <p:cNvSpPr txBox="1"/>
          <p:nvPr/>
        </p:nvSpPr>
        <p:spPr>
          <a:xfrm>
            <a:off x="4318000" y="3098800"/>
            <a:ext cx="68580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가치 제안 형식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(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누구에게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무엇을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어떻게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)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으로 한 문장에 담는다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508DBFF8-3917-DF4A-A0AE-41B337F6EBAD}"/>
              </a:ext>
            </a:extLst>
          </p:cNvPr>
          <p:cNvSpPr/>
          <p:nvPr/>
        </p:nvSpPr>
        <p:spPr>
          <a:xfrm>
            <a:off x="825500" y="4013200"/>
            <a:ext cx="10541000" cy="9398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50B38C2-8EEA-2A49-949D-D788FAF4064D}"/>
              </a:ext>
            </a:extLst>
          </p:cNvPr>
          <p:cNvSpPr/>
          <p:nvPr/>
        </p:nvSpPr>
        <p:spPr>
          <a:xfrm>
            <a:off x="825500" y="40132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C4C76A6B-FF36-0D49-BF2D-377D8AA806DC}"/>
              </a:ext>
            </a:extLst>
          </p:cNvPr>
          <p:cNvSpPr/>
          <p:nvPr/>
        </p:nvSpPr>
        <p:spPr>
          <a:xfrm>
            <a:off x="1143000" y="42418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3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CEA1E7-F75C-8040-81D1-98E812255D0E}"/>
              </a:ext>
            </a:extLst>
          </p:cNvPr>
          <p:cNvSpPr txBox="1"/>
          <p:nvPr/>
        </p:nvSpPr>
        <p:spPr>
          <a:xfrm>
            <a:off x="1905000" y="4178300"/>
            <a:ext cx="2286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근거 </a:t>
            </a:r>
            <a:r>
              <a:rPr lang="en-US" altLang="ko-KR" sz="1600" b="1">
                <a:solidFill>
                  <a:srgbClr val="14213D"/>
                </a:solidFill>
                <a:latin typeface="Pretendard"/>
              </a:rPr>
              <a:t>3</a:t>
            </a:r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9290E9-4A5D-FC4D-8222-7FBA60E865B6}"/>
              </a:ext>
            </a:extLst>
          </p:cNvPr>
          <p:cNvSpPr txBox="1"/>
          <p:nvPr/>
        </p:nvSpPr>
        <p:spPr>
          <a:xfrm>
            <a:off x="4318000" y="4140200"/>
            <a:ext cx="68580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핵심 메시지를 떠받칠 근거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(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기둥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)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를 세 가지로 정리한다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A0582051-88CE-8044-913D-BB3B66815B36}"/>
              </a:ext>
            </a:extLst>
          </p:cNvPr>
          <p:cNvSpPr/>
          <p:nvPr/>
        </p:nvSpPr>
        <p:spPr>
          <a:xfrm>
            <a:off x="825500" y="5054600"/>
            <a:ext cx="10541000" cy="9398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9E28A7B-D328-E044-8A03-016A29F52938}"/>
              </a:ext>
            </a:extLst>
          </p:cNvPr>
          <p:cNvSpPr/>
          <p:nvPr/>
        </p:nvSpPr>
        <p:spPr>
          <a:xfrm>
            <a:off x="825500" y="50546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AE6BB367-5FC0-4B42-B2B4-E70B700DA413}"/>
              </a:ext>
            </a:extLst>
          </p:cNvPr>
          <p:cNvSpPr/>
          <p:nvPr/>
        </p:nvSpPr>
        <p:spPr>
          <a:xfrm>
            <a:off x="1143000" y="52832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4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571F65-3016-094D-A0C5-F7CB2954512F}"/>
              </a:ext>
            </a:extLst>
          </p:cNvPr>
          <p:cNvSpPr txBox="1"/>
          <p:nvPr/>
        </p:nvSpPr>
        <p:spPr>
          <a:xfrm>
            <a:off x="1905000" y="5219700"/>
            <a:ext cx="2286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14213D"/>
                </a:solidFill>
                <a:latin typeface="Pretendard"/>
              </a:rPr>
              <a:t>AI </a:t>
            </a:r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검토</a:t>
            </a:r>
            <a:r>
              <a:rPr lang="en-US" altLang="ko-KR" sz="1600" b="1">
                <a:solidFill>
                  <a:srgbClr val="14213D"/>
                </a:solidFill>
                <a:latin typeface="Pretendard"/>
              </a:rPr>
              <a:t>·</a:t>
            </a:r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보강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B325D1-E3ED-7A4A-BA63-EEC2A4A3DB33}"/>
              </a:ext>
            </a:extLst>
          </p:cNvPr>
          <p:cNvSpPr txBox="1"/>
          <p:nvPr/>
        </p:nvSpPr>
        <p:spPr>
          <a:xfrm>
            <a:off x="4318000" y="5181600"/>
            <a:ext cx="68580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완성한 메시지 하우스를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AI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에게 검토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보강하도록 요청한다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프롬프트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메시지 하우스 도출 프롬프트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32720" cy="4434840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502920" rIns="365760" bIns="32004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너는 브랜드 전략가야. 아래 정보를 바탕으로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핵심 메시지 1문장 + 이를 뒷받침하는 근거 3개(메시지 하우스)를 만들어줘.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 제품: (예) 무알콜 수제 맥주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 타깃: 30대 직장인, 건강은 챙기되 분위기는 즐기고 싶은 사람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 차별점: 진짜 맥주 맛, 칼로리 30%↓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2103120"/>
            <a:ext cx="109728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실제 입력 → 출력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실제 예시 — 메시지 하우스 산출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83080"/>
            <a:ext cx="10332720" cy="1874519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502920" rIns="320040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너는 브랜드 전략가야. 아래로 핵심 메시지 1문장 + 근거 3개(메시지 하우스)를 만들어줘.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 제품: 무알콜 수제 맥주 Night Off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 타깃: 건강 챙기되 분위기 즐기는 30대 직장인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 차별점: 진짜 맥주 맛, 칼로리 30%↓, 알코올 0.0%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83080"/>
            <a:ext cx="2011680" cy="329184"/>
          </a:xfrm>
          <a:prstGeom prst="rect">
            <a:avLst/>
          </a:prstGeom>
          <a:solidFill>
            <a:srgbClr val="24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2743200" cy="236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 dirty="0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▸ </a:t>
            </a:r>
            <a:r>
              <a:rPr sz="1400" b="0" dirty="0" err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입력</a:t>
            </a:r>
            <a:r>
              <a:rPr sz="1400" b="0" dirty="0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b="0" dirty="0" err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프롬프트</a:t>
            </a:r>
            <a:endParaRPr sz="1400" b="0" dirty="0">
              <a:solidFill>
                <a:srgbClr val="E8A33D"/>
              </a:solidFill>
              <a:latin typeface="JetBrains Mono"/>
              <a:ea typeface="JetBrains Mono"/>
              <a:cs typeface="JetBrains Mono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4400" y="3794760"/>
            <a:ext cx="10332720" cy="2514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9EC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502920" rIns="32004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[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핵심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메시지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]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"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내일을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망치지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않고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오늘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밤을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제대로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즐긴다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."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[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근거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3]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①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진짜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발효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공법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—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무알콜인데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맥주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본연의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풍미</a:t>
            </a:r>
            <a:endParaRPr sz="1400" dirty="0">
              <a:solidFill>
                <a:srgbClr val="14213D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②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칼로리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30%↓ —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죄책감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없는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한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캔</a:t>
            </a:r>
            <a:endParaRPr sz="1400" dirty="0">
              <a:solidFill>
                <a:srgbClr val="14213D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③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알코올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0.0% —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운전·내일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출근도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문제없음</a:t>
            </a:r>
            <a:endParaRPr sz="1400" dirty="0">
              <a:solidFill>
                <a:srgbClr val="14213D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400" y="3794760"/>
            <a:ext cx="1828800" cy="329184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2743200" cy="236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 dirty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▸ </a:t>
            </a:r>
            <a:r>
              <a:rPr sz="1400" b="0" dirty="0" err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나온</a:t>
            </a:r>
            <a:r>
              <a:rPr sz="1400" b="0" dirty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b="0" dirty="0" err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결과</a:t>
            </a:r>
            <a:r>
              <a:rPr sz="1400" b="0" dirty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 b="0" dirty="0" err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예</a:t>
            </a:r>
            <a:r>
              <a:rPr sz="1400" b="0" dirty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정리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홍보 목적 → 타깃고객 → 핵심 메시지 도출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10332720" cy="1636776"/>
          </a:xfrm>
          <a:prstGeom prst="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28600" rIns="365760" bIns="18288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57A1A"/>
                </a:solidFill>
                <a:latin typeface="JetBrains Mono"/>
                <a:ea typeface="JetBrains Mono"/>
                <a:cs typeface="JetBrains Mono"/>
              </a:rPr>
              <a:t>⚠  흔한 실수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핵심 메시지가 2개 이상이면 흐려진다. 지붕은 반드시 하나.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기능 나열("효모 무첨가")만 하면 안 된다 → 고객 이득("부담 없이 즐기는")으로 번역.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739896"/>
            <a:ext cx="10332720" cy="100584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01168" rIns="365760" bIns="182880" rtlCol="0" anchor="t"/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📦  결과물 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메시지 하우스 1장(핵심 메시지 + 근거 3) · 타깃 페르소나 1명.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30AC465D-217F-354C-BE44-4E30913597CF}"/>
              </a:ext>
            </a:extLst>
          </p:cNvPr>
          <p:cNvSpPr/>
          <p:nvPr/>
        </p:nvSpPr>
        <p:spPr>
          <a:xfrm>
            <a:off x="914400" y="2387600"/>
            <a:ext cx="165100" cy="3810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E7BEFA-873D-4544-8B83-A63222BA7BA7}"/>
              </a:ext>
            </a:extLst>
          </p:cNvPr>
          <p:cNvSpPr txBox="1"/>
          <p:nvPr/>
        </p:nvSpPr>
        <p:spPr>
          <a:xfrm>
            <a:off x="1219200" y="24257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E8A33D"/>
                </a:solidFill>
                <a:latin typeface="JetBrains Mono"/>
              </a:rPr>
              <a:t>SESSION 2</a:t>
            </a:r>
            <a:endParaRPr lang="ko-KR" altLang="en-US" sz="15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2E7BD6-66AD-234D-ACC9-F236BE7ADECA}"/>
              </a:ext>
            </a:extLst>
          </p:cNvPr>
          <p:cNvSpPr txBox="1"/>
          <p:nvPr/>
        </p:nvSpPr>
        <p:spPr>
          <a:xfrm>
            <a:off x="889000" y="28448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3200" b="1">
                <a:solidFill>
                  <a:srgbClr val="FFFFFF"/>
                </a:solidFill>
                <a:latin typeface="Noto Serif KR"/>
              </a:rPr>
              <a:t>프롬프트로 결과 품질을 통제한다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27FED9-674B-F24E-B609-3DC56722F9F0}"/>
              </a:ext>
            </a:extLst>
          </p:cNvPr>
          <p:cNvSpPr txBox="1"/>
          <p:nvPr/>
        </p:nvSpPr>
        <p:spPr>
          <a:xfrm>
            <a:off x="914400" y="3657600"/>
            <a:ext cx="101600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00">
                <a:solidFill>
                  <a:srgbClr val="DCE6F2"/>
                </a:solidFill>
                <a:latin typeface="Pretendard"/>
              </a:rPr>
              <a:t>같은 요청도 프롬프트 구조에 따라 결과가 갈린다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. R-C-T-F + </a:t>
            </a:r>
            <a:r>
              <a:rPr lang="ko-KR" altLang="en-US" sz="1600">
                <a:solidFill>
                  <a:srgbClr val="DCE6F2"/>
                </a:solidFill>
                <a:latin typeface="Pretendard"/>
              </a:rPr>
              <a:t>예시로 품질을 통제한다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.</a:t>
            </a:r>
            <a:endParaRPr lang="ko-KR" altLang="en-US" sz="1600">
              <a:solidFill>
                <a:srgbClr val="DCE6F2"/>
              </a:solidFill>
              <a:latin typeface="Pretendard"/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6BC1EEAC-CD5C-4C45-BA83-346E67C21208}"/>
              </a:ext>
            </a:extLst>
          </p:cNvPr>
          <p:cNvSpPr/>
          <p:nvPr/>
        </p:nvSpPr>
        <p:spPr>
          <a:xfrm>
            <a:off x="914400" y="4724400"/>
            <a:ext cx="2616200" cy="8636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FFFFFF"/>
                </a:solidFill>
                <a:latin typeface="Pretendard"/>
              </a:rPr>
              <a:t>막연한 요청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0325B8-2989-D742-A103-8FC88FE6B85F}"/>
              </a:ext>
            </a:extLst>
          </p:cNvPr>
          <p:cNvSpPr txBox="1"/>
          <p:nvPr/>
        </p:nvSpPr>
        <p:spPr>
          <a:xfrm>
            <a:off x="3530600" y="4724400"/>
            <a:ext cx="558800" cy="863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2400" b="1">
                <a:solidFill>
                  <a:srgbClr val="9FB3CE"/>
                </a:solidFill>
                <a:latin typeface="Pretendard"/>
              </a:rPr>
              <a:t>→</a:t>
            </a: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CC89D3D7-B027-F040-B3B4-4D235590CADA}"/>
              </a:ext>
            </a:extLst>
          </p:cNvPr>
          <p:cNvSpPr/>
          <p:nvPr/>
        </p:nvSpPr>
        <p:spPr>
          <a:xfrm>
            <a:off x="4089400" y="4724400"/>
            <a:ext cx="2616200" cy="8636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Pretendard"/>
              </a:rPr>
              <a:t>R-C-T-F + </a:t>
            </a:r>
            <a:r>
              <a:rPr lang="ko-KR" altLang="en-US" sz="1600" b="1">
                <a:solidFill>
                  <a:srgbClr val="FFFFFF"/>
                </a:solidFill>
                <a:latin typeface="Pretendard"/>
              </a:rPr>
              <a:t>예시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91E3D7-ACCB-6043-B5F2-13307510B0BE}"/>
              </a:ext>
            </a:extLst>
          </p:cNvPr>
          <p:cNvSpPr txBox="1"/>
          <p:nvPr/>
        </p:nvSpPr>
        <p:spPr>
          <a:xfrm>
            <a:off x="6705600" y="4724400"/>
            <a:ext cx="558800" cy="863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2400" b="1">
                <a:solidFill>
                  <a:srgbClr val="9FB3CE"/>
                </a:solidFill>
                <a:latin typeface="Pretendard"/>
              </a:rPr>
              <a:t>→</a:t>
            </a: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1B555406-BF5F-8042-AD00-692D473611D0}"/>
              </a:ext>
            </a:extLst>
          </p:cNvPr>
          <p:cNvSpPr/>
          <p:nvPr/>
        </p:nvSpPr>
        <p:spPr>
          <a:xfrm>
            <a:off x="7264400" y="4724400"/>
            <a:ext cx="2616200" cy="863600"/>
          </a:xfrm>
          <a:prstGeom prst="round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통제된 결과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핵심 개념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핵심 개념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E46FBD25-2820-9446-93FF-A1410BCB1091}"/>
              </a:ext>
            </a:extLst>
          </p:cNvPr>
          <p:cNvSpPr/>
          <p:nvPr/>
        </p:nvSpPr>
        <p:spPr>
          <a:xfrm>
            <a:off x="825500" y="1905000"/>
            <a:ext cx="33401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011061B-C631-414E-91E9-C7C6909950A4}"/>
              </a:ext>
            </a:extLst>
          </p:cNvPr>
          <p:cNvSpPr/>
          <p:nvPr/>
        </p:nvSpPr>
        <p:spPr>
          <a:xfrm>
            <a:off x="825500" y="1905000"/>
            <a:ext cx="3340100" cy="88900"/>
          </a:xfrm>
          <a:prstGeom prst="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EF08AB08-9F22-8A47-BED3-C0BE339B24F6}"/>
              </a:ext>
            </a:extLst>
          </p:cNvPr>
          <p:cNvSpPr/>
          <p:nvPr/>
        </p:nvSpPr>
        <p:spPr>
          <a:xfrm>
            <a:off x="1130300" y="2311400"/>
            <a:ext cx="939800" cy="4318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JetBrains Mono"/>
              </a:rPr>
              <a:t>R·C·T·F</a:t>
            </a:r>
            <a:endParaRPr lang="ko-KR" altLang="en-US" sz="13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63ABBA-602F-CA4C-B6EC-F57857AA59DA}"/>
              </a:ext>
            </a:extLst>
          </p:cNvPr>
          <p:cNvSpPr txBox="1"/>
          <p:nvPr/>
        </p:nvSpPr>
        <p:spPr>
          <a:xfrm>
            <a:off x="1130300" y="2895600"/>
            <a:ext cx="27305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b="1">
                <a:solidFill>
                  <a:srgbClr val="14213D"/>
                </a:solidFill>
                <a:latin typeface="Pretendard"/>
              </a:rPr>
              <a:t>R-C-T-F</a:t>
            </a:r>
            <a:endParaRPr lang="ko-KR" altLang="en-US" b="1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52E27C8-F983-7340-A4FE-D45FD0F141F2}"/>
              </a:ext>
            </a:extLst>
          </p:cNvPr>
          <p:cNvSpPr/>
          <p:nvPr/>
        </p:nvSpPr>
        <p:spPr>
          <a:xfrm>
            <a:off x="1130300" y="3378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CC83FC-6717-5B49-BF55-67F83FA6D835}"/>
              </a:ext>
            </a:extLst>
          </p:cNvPr>
          <p:cNvSpPr txBox="1"/>
          <p:nvPr/>
        </p:nvSpPr>
        <p:spPr>
          <a:xfrm>
            <a:off x="1130300" y="3581400"/>
            <a:ext cx="2730500" cy="190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>
                <a:solidFill>
                  <a:srgbClr val="576176"/>
                </a:solidFill>
                <a:latin typeface="Pretendard"/>
              </a:rPr>
              <a:t>Role·Context·Task·Format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을 명시하면 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범위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형태가 안정된다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BE21BD43-DB1B-B842-BD64-9AC9AF4D04B7}"/>
              </a:ext>
            </a:extLst>
          </p:cNvPr>
          <p:cNvSpPr/>
          <p:nvPr/>
        </p:nvSpPr>
        <p:spPr>
          <a:xfrm>
            <a:off x="1130300" y="5562600"/>
            <a:ext cx="2730500" cy="457200"/>
          </a:xfrm>
          <a:prstGeom prst="roundRect">
            <a:avLst/>
          </a:prstGeom>
          <a:solidFill>
            <a:srgbClr val="E7ECF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45EC2C-4F49-0B42-823F-0F9E5934DAB0}"/>
              </a:ext>
            </a:extLst>
          </p:cNvPr>
          <p:cNvSpPr txBox="1"/>
          <p:nvPr/>
        </p:nvSpPr>
        <p:spPr>
          <a:xfrm>
            <a:off x="11303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1350" b="1">
                <a:solidFill>
                  <a:srgbClr val="14213D"/>
                </a:solidFill>
                <a:latin typeface="Pretendard"/>
              </a:rPr>
              <a:t>4</a:t>
            </a:r>
            <a:r>
              <a:rPr lang="ko-KR" altLang="en-US" sz="1350" b="1">
                <a:solidFill>
                  <a:srgbClr val="14213D"/>
                </a:solidFill>
                <a:latin typeface="Pretendard"/>
              </a:rPr>
              <a:t>칸을 채운다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63F4C276-662A-E340-BCBD-C9446D61F426}"/>
              </a:ext>
            </a:extLst>
          </p:cNvPr>
          <p:cNvSpPr/>
          <p:nvPr/>
        </p:nvSpPr>
        <p:spPr>
          <a:xfrm>
            <a:off x="4419600" y="1905000"/>
            <a:ext cx="33401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EEB198F-E280-434A-88E6-4A6048A1CECF}"/>
              </a:ext>
            </a:extLst>
          </p:cNvPr>
          <p:cNvSpPr/>
          <p:nvPr/>
        </p:nvSpPr>
        <p:spPr>
          <a:xfrm>
            <a:off x="4419600" y="1905000"/>
            <a:ext cx="3340100" cy="88900"/>
          </a:xfrm>
          <a:prstGeom prst="rect">
            <a:avLst/>
          </a:prstGeom>
          <a:solidFill>
            <a:srgbClr val="1D4E8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4A7BBBA3-6648-2B4E-9024-0AD12C46EA91}"/>
              </a:ext>
            </a:extLst>
          </p:cNvPr>
          <p:cNvSpPr/>
          <p:nvPr/>
        </p:nvSpPr>
        <p:spPr>
          <a:xfrm>
            <a:off x="4724400" y="2311400"/>
            <a:ext cx="939800" cy="4318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JetBrains Mono"/>
              </a:rPr>
              <a:t>Few</a:t>
            </a:r>
            <a:endParaRPr lang="ko-KR" altLang="en-US" sz="13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043EC9-B24E-4749-A89F-BD15A8D498C6}"/>
              </a:ext>
            </a:extLst>
          </p:cNvPr>
          <p:cNvSpPr txBox="1"/>
          <p:nvPr/>
        </p:nvSpPr>
        <p:spPr>
          <a:xfrm>
            <a:off x="4724400" y="2895600"/>
            <a:ext cx="27305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b="1">
                <a:solidFill>
                  <a:srgbClr val="14213D"/>
                </a:solidFill>
                <a:latin typeface="Pretendard"/>
              </a:rPr>
              <a:t>Few-shot</a:t>
            </a:r>
            <a:endParaRPr lang="ko-KR" altLang="en-US" b="1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F23AD4B-39E1-BE47-B4F0-8FEE0FA94F58}"/>
              </a:ext>
            </a:extLst>
          </p:cNvPr>
          <p:cNvSpPr/>
          <p:nvPr/>
        </p:nvSpPr>
        <p:spPr>
          <a:xfrm>
            <a:off x="4724400" y="3378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BD5812-219E-BF4D-9EB6-D483A5935FF1}"/>
              </a:ext>
            </a:extLst>
          </p:cNvPr>
          <p:cNvSpPr txBox="1"/>
          <p:nvPr/>
        </p:nvSpPr>
        <p:spPr>
          <a:xfrm>
            <a:off x="4724400" y="3581400"/>
            <a:ext cx="2730500" cy="190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예시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1~3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개를 주면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AI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가 스타일을 모방한다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톤을 통일하는 강력한 장치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26BF14B3-E048-9746-B1D5-C9622E7BBE1B}"/>
              </a:ext>
            </a:extLst>
          </p:cNvPr>
          <p:cNvSpPr/>
          <p:nvPr/>
        </p:nvSpPr>
        <p:spPr>
          <a:xfrm>
            <a:off x="4724400" y="5562600"/>
            <a:ext cx="2730500" cy="457200"/>
          </a:xfrm>
          <a:prstGeom prst="roundRect">
            <a:avLst/>
          </a:prstGeom>
          <a:solidFill>
            <a:srgbClr val="E4EC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9B291E-CE37-AC4F-A7BA-F5DB3C1235BD}"/>
              </a:ext>
            </a:extLst>
          </p:cNvPr>
          <p:cNvSpPr txBox="1"/>
          <p:nvPr/>
        </p:nvSpPr>
        <p:spPr>
          <a:xfrm>
            <a:off x="47244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350" b="1">
                <a:solidFill>
                  <a:srgbClr val="1D4E89"/>
                </a:solidFill>
                <a:latin typeface="Pretendard"/>
              </a:rPr>
              <a:t>예시로 톤 학습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5115EF7D-428B-D344-8A7B-32AC025B7A56}"/>
              </a:ext>
            </a:extLst>
          </p:cNvPr>
          <p:cNvSpPr/>
          <p:nvPr/>
        </p:nvSpPr>
        <p:spPr>
          <a:xfrm>
            <a:off x="8013700" y="1905000"/>
            <a:ext cx="33401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1781386-2CB3-734E-A2F3-91206E77D35B}"/>
              </a:ext>
            </a:extLst>
          </p:cNvPr>
          <p:cNvSpPr/>
          <p:nvPr/>
        </p:nvSpPr>
        <p:spPr>
          <a:xfrm>
            <a:off x="8013700" y="1905000"/>
            <a:ext cx="3340100" cy="889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70BB1BE7-642A-BF4C-8D59-E22CF8674298}"/>
              </a:ext>
            </a:extLst>
          </p:cNvPr>
          <p:cNvSpPr/>
          <p:nvPr/>
        </p:nvSpPr>
        <p:spPr>
          <a:xfrm>
            <a:off x="8318500" y="2311400"/>
            <a:ext cx="939800" cy="4318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JetBrains Mono"/>
              </a:rPr>
              <a:t>Lim</a:t>
            </a:r>
            <a:endParaRPr lang="ko-KR" altLang="en-US" sz="13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F231F2-2EB0-4041-A239-D2CCEC1F57AB}"/>
              </a:ext>
            </a:extLst>
          </p:cNvPr>
          <p:cNvSpPr txBox="1"/>
          <p:nvPr/>
        </p:nvSpPr>
        <p:spPr>
          <a:xfrm>
            <a:off x="8318500" y="2895600"/>
            <a:ext cx="27305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14213D"/>
                </a:solidFill>
                <a:latin typeface="Pretendard"/>
              </a:rPr>
              <a:t>제약 조건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D0F1195-E2F4-244D-97FA-60CF2BB4BDA8}"/>
              </a:ext>
            </a:extLst>
          </p:cNvPr>
          <p:cNvSpPr/>
          <p:nvPr/>
        </p:nvSpPr>
        <p:spPr>
          <a:xfrm>
            <a:off x="8318500" y="3378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009446-99F7-6643-A9E4-10FAEF60B6F6}"/>
              </a:ext>
            </a:extLst>
          </p:cNvPr>
          <p:cNvSpPr txBox="1"/>
          <p:nvPr/>
        </p:nvSpPr>
        <p:spPr>
          <a:xfrm>
            <a:off x="8318500" y="3581400"/>
            <a:ext cx="2730500" cy="190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글자수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금지어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필수 키워드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말투를 명시한다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빈칸을 남기면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AI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가 임의로 채운다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C49F3649-50A4-574B-8A0B-59D0525289DF}"/>
              </a:ext>
            </a:extLst>
          </p:cNvPr>
          <p:cNvSpPr/>
          <p:nvPr/>
        </p:nvSpPr>
        <p:spPr>
          <a:xfrm>
            <a:off x="8318500" y="5562600"/>
            <a:ext cx="2730500" cy="457200"/>
          </a:xfrm>
          <a:prstGeom prst="roundRect">
            <a:avLst/>
          </a:prstGeom>
          <a:solidFill>
            <a:srgbClr val="FBEF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0709CB-A922-D148-8F45-E09479395DFC}"/>
              </a:ext>
            </a:extLst>
          </p:cNvPr>
          <p:cNvSpPr txBox="1"/>
          <p:nvPr/>
        </p:nvSpPr>
        <p:spPr>
          <a:xfrm>
            <a:off x="83185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350" b="1">
                <a:solidFill>
                  <a:srgbClr val="9A6B12"/>
                </a:solidFill>
                <a:latin typeface="Pretendard"/>
              </a:rPr>
              <a:t>빈칸을 남기지 마라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개념 깊이 보기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개념을 예시로 — 우리 케이스에 적용하면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4DB00536-9337-4049-901B-916F5938922D}"/>
              </a:ext>
            </a:extLst>
          </p:cNvPr>
          <p:cNvSpPr/>
          <p:nvPr/>
        </p:nvSpPr>
        <p:spPr>
          <a:xfrm>
            <a:off x="825500" y="1905000"/>
            <a:ext cx="5461000" cy="4381500"/>
          </a:xfrm>
          <a:prstGeom prst="roundRect">
            <a:avLst>
              <a:gd name="adj" fmla="val 6415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83D8DF-F30A-D149-BCDF-A7F56EBEE794}"/>
              </a:ext>
            </a:extLst>
          </p:cNvPr>
          <p:cNvSpPr txBox="1"/>
          <p:nvPr/>
        </p:nvSpPr>
        <p:spPr>
          <a:xfrm>
            <a:off x="1168400" y="2133600"/>
            <a:ext cx="4826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900" b="1">
                <a:solidFill>
                  <a:srgbClr val="14213D"/>
                </a:solidFill>
                <a:latin typeface="Pretendard"/>
              </a:rPr>
              <a:t>R-C-T-F</a:t>
            </a:r>
            <a:endParaRPr lang="ko-KR" altLang="en-US" sz="1900" b="1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C29508-D7E9-5D41-9E72-C7A1BC769037}"/>
              </a:ext>
            </a:extLst>
          </p:cNvPr>
          <p:cNvSpPr txBox="1"/>
          <p:nvPr/>
        </p:nvSpPr>
        <p:spPr>
          <a:xfrm>
            <a:off x="1168400" y="2552700"/>
            <a:ext cx="4826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250">
                <a:solidFill>
                  <a:srgbClr val="576176"/>
                </a:solidFill>
                <a:latin typeface="Pretendard"/>
              </a:rPr>
              <a:t>프롬프트를 채우는 </a:t>
            </a:r>
            <a:r>
              <a:rPr lang="en-US" altLang="ko-KR" sz="1250">
                <a:solidFill>
                  <a:srgbClr val="576176"/>
                </a:solidFill>
                <a:latin typeface="Pretendard"/>
              </a:rPr>
              <a:t>4</a:t>
            </a:r>
            <a:r>
              <a:rPr lang="ko-KR" altLang="en-US" sz="1250">
                <a:solidFill>
                  <a:srgbClr val="576176"/>
                </a:solidFill>
                <a:latin typeface="Pretendard"/>
              </a:rPr>
              <a:t>개의 칸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C5F35DC-1E9F-CF4C-ACD3-7F086B5A5AFD}"/>
              </a:ext>
            </a:extLst>
          </p:cNvPr>
          <p:cNvSpPr/>
          <p:nvPr/>
        </p:nvSpPr>
        <p:spPr>
          <a:xfrm>
            <a:off x="1168400" y="29972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R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E3CB7D-BC29-2C4B-B3A9-EDCA33996E8A}"/>
              </a:ext>
            </a:extLst>
          </p:cNvPr>
          <p:cNvSpPr txBox="1"/>
          <p:nvPr/>
        </p:nvSpPr>
        <p:spPr>
          <a:xfrm>
            <a:off x="1854200" y="2971800"/>
            <a:ext cx="9906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500" b="1">
                <a:solidFill>
                  <a:srgbClr val="14213D"/>
                </a:solidFill>
                <a:latin typeface="Pretendard"/>
              </a:rPr>
              <a:t>역할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8547C5-7E49-5A4B-8E10-899CEC52E62C}"/>
              </a:ext>
            </a:extLst>
          </p:cNvPr>
          <p:cNvSpPr txBox="1"/>
          <p:nvPr/>
        </p:nvSpPr>
        <p:spPr>
          <a:xfrm>
            <a:off x="2870200" y="2971800"/>
            <a:ext cx="31750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350">
                <a:solidFill>
                  <a:srgbClr val="576176"/>
                </a:solidFill>
                <a:latin typeface="Pretendard"/>
              </a:rPr>
              <a:t>15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년차 카피라이터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96817B43-4DEB-F246-A4E3-D461C9F9B98E}"/>
              </a:ext>
            </a:extLst>
          </p:cNvPr>
          <p:cNvSpPr/>
          <p:nvPr/>
        </p:nvSpPr>
        <p:spPr>
          <a:xfrm>
            <a:off x="1168400" y="3784600"/>
            <a:ext cx="508000" cy="508000"/>
          </a:xfrm>
          <a:prstGeom prst="ellipse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C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53BF36-3406-604A-BE61-FD6158DBACEA}"/>
              </a:ext>
            </a:extLst>
          </p:cNvPr>
          <p:cNvSpPr txBox="1"/>
          <p:nvPr/>
        </p:nvSpPr>
        <p:spPr>
          <a:xfrm>
            <a:off x="1854200" y="3759200"/>
            <a:ext cx="9906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500" b="1">
                <a:solidFill>
                  <a:srgbClr val="14213D"/>
                </a:solidFill>
                <a:latin typeface="Pretendard"/>
              </a:rPr>
              <a:t>맥락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E6C61A-F2DC-D349-8877-50221CCE519A}"/>
              </a:ext>
            </a:extLst>
          </p:cNvPr>
          <p:cNvSpPr txBox="1"/>
          <p:nvPr/>
        </p:nvSpPr>
        <p:spPr>
          <a:xfrm>
            <a:off x="2870200" y="3759200"/>
            <a:ext cx="31750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350">
                <a:solidFill>
                  <a:srgbClr val="576176"/>
                </a:solidFill>
                <a:latin typeface="Pretendard"/>
              </a:rPr>
              <a:t>30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대 타깃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, 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위트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BC210F9D-7756-FF49-AFF6-935DF0BA484D}"/>
              </a:ext>
            </a:extLst>
          </p:cNvPr>
          <p:cNvSpPr/>
          <p:nvPr/>
        </p:nvSpPr>
        <p:spPr>
          <a:xfrm>
            <a:off x="1168400" y="4572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T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A5D6AE-9ED8-5849-8FFA-65A54EFDEED6}"/>
              </a:ext>
            </a:extLst>
          </p:cNvPr>
          <p:cNvSpPr txBox="1"/>
          <p:nvPr/>
        </p:nvSpPr>
        <p:spPr>
          <a:xfrm>
            <a:off x="1854200" y="4546600"/>
            <a:ext cx="9906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500" b="1">
                <a:solidFill>
                  <a:srgbClr val="14213D"/>
                </a:solidFill>
                <a:latin typeface="Pretendard"/>
              </a:rPr>
              <a:t>작업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850E47-B70C-704C-B2B0-A4CCA228F962}"/>
              </a:ext>
            </a:extLst>
          </p:cNvPr>
          <p:cNvSpPr txBox="1"/>
          <p:nvPr/>
        </p:nvSpPr>
        <p:spPr>
          <a:xfrm>
            <a:off x="2870200" y="4546600"/>
            <a:ext cx="31750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350">
                <a:solidFill>
                  <a:srgbClr val="576176"/>
                </a:solidFill>
                <a:latin typeface="Pretendard"/>
              </a:rPr>
              <a:t>헤드라인 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5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개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605CC879-ABB9-4C4A-91C2-C7C2BD222247}"/>
              </a:ext>
            </a:extLst>
          </p:cNvPr>
          <p:cNvSpPr/>
          <p:nvPr/>
        </p:nvSpPr>
        <p:spPr>
          <a:xfrm>
            <a:off x="1168400" y="5359400"/>
            <a:ext cx="508000" cy="508000"/>
          </a:xfrm>
          <a:prstGeom prst="ellipse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F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EBE9B5-354D-8E47-BD3C-23370611103B}"/>
              </a:ext>
            </a:extLst>
          </p:cNvPr>
          <p:cNvSpPr txBox="1"/>
          <p:nvPr/>
        </p:nvSpPr>
        <p:spPr>
          <a:xfrm>
            <a:off x="1854200" y="5334000"/>
            <a:ext cx="9906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500" b="1">
                <a:solidFill>
                  <a:srgbClr val="14213D"/>
                </a:solidFill>
                <a:latin typeface="Pretendard"/>
              </a:rPr>
              <a:t>형식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DED580-201F-514F-BFA4-2FDD4F4B48DA}"/>
              </a:ext>
            </a:extLst>
          </p:cNvPr>
          <p:cNvSpPr txBox="1"/>
          <p:nvPr/>
        </p:nvSpPr>
        <p:spPr>
          <a:xfrm>
            <a:off x="2870200" y="5334000"/>
            <a:ext cx="31750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350">
                <a:solidFill>
                  <a:srgbClr val="576176"/>
                </a:solidFill>
                <a:latin typeface="Pretendard"/>
              </a:rPr>
              <a:t>25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자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, 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이모지 금지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BDE9DC-A40B-AB4A-BF28-E3239D93FD70}"/>
              </a:ext>
            </a:extLst>
          </p:cNvPr>
          <p:cNvSpPr txBox="1"/>
          <p:nvPr/>
        </p:nvSpPr>
        <p:spPr>
          <a:xfrm>
            <a:off x="1168400" y="59182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250" i="1">
                <a:solidFill>
                  <a:srgbClr val="1D4E89"/>
                </a:solidFill>
                <a:latin typeface="JetBrains Mono"/>
              </a:rPr>
              <a:t>→ </a:t>
            </a:r>
            <a:r>
              <a:rPr lang="en-US" altLang="ko-KR" sz="1250" i="1">
                <a:solidFill>
                  <a:srgbClr val="1D4E89"/>
                </a:solidFill>
                <a:latin typeface="JetBrains Mono"/>
              </a:rPr>
              <a:t>4</a:t>
            </a:r>
            <a:r>
              <a:rPr lang="ko-KR" altLang="en-US" sz="1250" i="1">
                <a:solidFill>
                  <a:srgbClr val="1D4E89"/>
                </a:solidFill>
                <a:latin typeface="JetBrains Mono"/>
              </a:rPr>
              <a:t>칸을 다 채울수록 결과가 정확해진다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CAE6A6AC-3B36-7C43-9210-8AB8566F748C}"/>
              </a:ext>
            </a:extLst>
          </p:cNvPr>
          <p:cNvSpPr/>
          <p:nvPr/>
        </p:nvSpPr>
        <p:spPr>
          <a:xfrm>
            <a:off x="6540500" y="1905000"/>
            <a:ext cx="4826000" cy="4381500"/>
          </a:xfrm>
          <a:prstGeom prst="roundRect">
            <a:avLst>
              <a:gd name="adj" fmla="val 3852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240AA5-1FCC-9147-9FA5-F973059B3DCD}"/>
              </a:ext>
            </a:extLst>
          </p:cNvPr>
          <p:cNvSpPr txBox="1"/>
          <p:nvPr/>
        </p:nvSpPr>
        <p:spPr>
          <a:xfrm>
            <a:off x="6896100" y="2184400"/>
            <a:ext cx="4064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900" b="1">
                <a:solidFill>
                  <a:srgbClr val="FFFFFF"/>
                </a:solidFill>
                <a:latin typeface="Pretendard"/>
              </a:rPr>
              <a:t>Few-shot</a:t>
            </a:r>
            <a:endParaRPr lang="ko-KR" altLang="en-US" sz="19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C76702-0151-C947-BC8C-2CD8DC1D92A0}"/>
              </a:ext>
            </a:extLst>
          </p:cNvPr>
          <p:cNvSpPr txBox="1"/>
          <p:nvPr/>
        </p:nvSpPr>
        <p:spPr>
          <a:xfrm>
            <a:off x="6896100" y="2578100"/>
            <a:ext cx="4064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250">
                <a:solidFill>
                  <a:srgbClr val="E8A33D"/>
                </a:solidFill>
                <a:latin typeface="Pretendard"/>
              </a:rPr>
              <a:t>예시 한 줄로 톤을 학습시킨다</a:t>
            </a: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3C0242EA-007D-0F4C-A63C-45E1576CDD18}"/>
              </a:ext>
            </a:extLst>
          </p:cNvPr>
          <p:cNvSpPr/>
          <p:nvPr/>
        </p:nvSpPr>
        <p:spPr>
          <a:xfrm>
            <a:off x="6896100" y="3175000"/>
            <a:ext cx="3962400" cy="1219200"/>
          </a:xfrm>
          <a:prstGeom prst="roundRect">
            <a:avLst/>
          </a:prstGeom>
          <a:solidFill>
            <a:srgbClr val="20314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E25DF6-5E2E-9D4D-A15C-8AE52B4474FF}"/>
              </a:ext>
            </a:extLst>
          </p:cNvPr>
          <p:cNvSpPr txBox="1"/>
          <p:nvPr/>
        </p:nvSpPr>
        <p:spPr>
          <a:xfrm>
            <a:off x="7048500" y="3175000"/>
            <a:ext cx="3657600" cy="1219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700" b="1" i="1">
                <a:solidFill>
                  <a:srgbClr val="E8A33D"/>
                </a:solidFill>
                <a:latin typeface="Pretendard"/>
              </a:rPr>
              <a:t>“퇴근 후 한 캔</a:t>
            </a:r>
            <a:r>
              <a:rPr lang="en-US" altLang="ko-KR" sz="1700" b="1" i="1">
                <a:solidFill>
                  <a:srgbClr val="E8A33D"/>
                </a:solidFill>
                <a:latin typeface="Pretendard"/>
              </a:rPr>
              <a:t>, </a:t>
            </a:r>
            <a:r>
              <a:rPr lang="ko-KR" altLang="en-US" sz="1700" b="1" i="1">
                <a:solidFill>
                  <a:srgbClr val="E8A33D"/>
                </a:solidFill>
                <a:latin typeface="Pretendard"/>
              </a:rPr>
              <a:t>죄책감은 빼고”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5E1287-D8FB-714C-9CC0-34903CA1BCF8}"/>
              </a:ext>
            </a:extLst>
          </p:cNvPr>
          <p:cNvSpPr txBox="1"/>
          <p:nvPr/>
        </p:nvSpPr>
        <p:spPr>
          <a:xfrm>
            <a:off x="6896100" y="4572000"/>
            <a:ext cx="3962400" cy="889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C9D3E2"/>
                </a:solidFill>
                <a:latin typeface="Pretendard"/>
              </a:rPr>
              <a:t>예시 한 줄만 줘도</a:t>
            </a:r>
            <a:r>
              <a:rPr lang="en-US" altLang="ko-KR" sz="1400">
                <a:solidFill>
                  <a:srgbClr val="C9D3E2"/>
                </a:solidFill>
                <a:latin typeface="Pretendard"/>
              </a:rPr>
              <a:t>, </a:t>
            </a:r>
            <a:r>
              <a:rPr lang="ko-KR" altLang="en-US" sz="1400">
                <a:solidFill>
                  <a:srgbClr val="C9D3E2"/>
                </a:solidFill>
                <a:latin typeface="Pretendard"/>
              </a:rPr>
              <a:t>이후 카피의 톤이 그 결을 그대로 따라온다</a:t>
            </a:r>
            <a:r>
              <a:rPr lang="en-US" altLang="ko-KR" sz="1400">
                <a:solidFill>
                  <a:srgbClr val="C9D3E2"/>
                </a:solidFill>
                <a:latin typeface="Pretendard"/>
              </a:rPr>
              <a:t>.</a:t>
            </a:r>
            <a:endParaRPr lang="ko-KR" altLang="en-US" sz="1400">
              <a:solidFill>
                <a:srgbClr val="C9D3E2"/>
              </a:solidFill>
              <a:latin typeface="Pretendar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83362E-2D03-544F-B2CC-FBA9FA2AEF93}"/>
              </a:ext>
            </a:extLst>
          </p:cNvPr>
          <p:cNvSpPr txBox="1"/>
          <p:nvPr/>
        </p:nvSpPr>
        <p:spPr>
          <a:xfrm>
            <a:off x="6896100" y="5740400"/>
            <a:ext cx="3175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E8A33D"/>
                </a:solidFill>
                <a:latin typeface="JetBrains Mono"/>
              </a:rPr>
              <a:t>결과 톤 일관성 ↑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절차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실습 절차 — 직접 해봅니다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965C5D74-4A17-A34C-AE55-8C497B0BAF29}"/>
              </a:ext>
            </a:extLst>
          </p:cNvPr>
          <p:cNvSpPr/>
          <p:nvPr/>
        </p:nvSpPr>
        <p:spPr>
          <a:xfrm>
            <a:off x="825500" y="1930400"/>
            <a:ext cx="10541000" cy="9398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01FCD50-2B2E-1B43-9B45-2EA9BFC840AB}"/>
              </a:ext>
            </a:extLst>
          </p:cNvPr>
          <p:cNvSpPr/>
          <p:nvPr/>
        </p:nvSpPr>
        <p:spPr>
          <a:xfrm>
            <a:off x="825500" y="19304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C111519-9996-5F44-A4BC-31CAB2C29A86}"/>
              </a:ext>
            </a:extLst>
          </p:cNvPr>
          <p:cNvSpPr/>
          <p:nvPr/>
        </p:nvSpPr>
        <p:spPr>
          <a:xfrm>
            <a:off x="1143000" y="21590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1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FCB596-880C-6B46-B6E3-E83BFC741C6C}"/>
              </a:ext>
            </a:extLst>
          </p:cNvPr>
          <p:cNvSpPr txBox="1"/>
          <p:nvPr/>
        </p:nvSpPr>
        <p:spPr>
          <a:xfrm>
            <a:off x="1905000" y="2095500"/>
            <a:ext cx="2413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막연하게 </a:t>
            </a:r>
            <a:r>
              <a:rPr lang="en-US" altLang="ko-KR" sz="1600" b="1">
                <a:solidFill>
                  <a:srgbClr val="14213D"/>
                </a:solidFill>
                <a:latin typeface="Pretendard"/>
              </a:rPr>
              <a:t>1</a:t>
            </a:r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번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C96CAC-0C76-C34A-BB6B-D6AFC8C9F6D0}"/>
              </a:ext>
            </a:extLst>
          </p:cNvPr>
          <p:cNvSpPr txBox="1"/>
          <p:nvPr/>
        </p:nvSpPr>
        <p:spPr>
          <a:xfrm>
            <a:off x="4419600" y="2057400"/>
            <a:ext cx="6756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먼저 “카피 써줘”처럼 막연한 프롬프트로 한 번 생성해 본다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BA7CEC8F-BF1A-4D43-A0F4-82B0849C47BB}"/>
              </a:ext>
            </a:extLst>
          </p:cNvPr>
          <p:cNvSpPr/>
          <p:nvPr/>
        </p:nvSpPr>
        <p:spPr>
          <a:xfrm>
            <a:off x="825500" y="2971800"/>
            <a:ext cx="10541000" cy="9398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953EF51-900E-D343-B9F8-143E6C54DBCF}"/>
              </a:ext>
            </a:extLst>
          </p:cNvPr>
          <p:cNvSpPr/>
          <p:nvPr/>
        </p:nvSpPr>
        <p:spPr>
          <a:xfrm>
            <a:off x="825500" y="29718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B4A348A2-E1C0-9648-9913-DB14FC22C87E}"/>
              </a:ext>
            </a:extLst>
          </p:cNvPr>
          <p:cNvSpPr/>
          <p:nvPr/>
        </p:nvSpPr>
        <p:spPr>
          <a:xfrm>
            <a:off x="1143000" y="32004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2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33297D-3B87-1F49-8FFE-FFC4999E5571}"/>
              </a:ext>
            </a:extLst>
          </p:cNvPr>
          <p:cNvSpPr txBox="1"/>
          <p:nvPr/>
        </p:nvSpPr>
        <p:spPr>
          <a:xfrm>
            <a:off x="1905000" y="3136900"/>
            <a:ext cx="2413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구조 넣어 재생성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44F74E-CA22-D04C-8695-81B39A4D5C15}"/>
              </a:ext>
            </a:extLst>
          </p:cNvPr>
          <p:cNvSpPr txBox="1"/>
          <p:nvPr/>
        </p:nvSpPr>
        <p:spPr>
          <a:xfrm>
            <a:off x="4419600" y="3098800"/>
            <a:ext cx="6756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400">
                <a:solidFill>
                  <a:srgbClr val="576176"/>
                </a:solidFill>
                <a:latin typeface="Pretendard"/>
              </a:rPr>
              <a:t>R-C-T-F +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제약 조건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+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예시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1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개를 넣어 다시 생성한다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B2827204-0302-3F4E-BB83-C8644F09B873}"/>
              </a:ext>
            </a:extLst>
          </p:cNvPr>
          <p:cNvSpPr/>
          <p:nvPr/>
        </p:nvSpPr>
        <p:spPr>
          <a:xfrm>
            <a:off x="825500" y="4013200"/>
            <a:ext cx="10541000" cy="9398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AFB2195-27FB-3846-B645-703F1D5830AC}"/>
              </a:ext>
            </a:extLst>
          </p:cNvPr>
          <p:cNvSpPr/>
          <p:nvPr/>
        </p:nvSpPr>
        <p:spPr>
          <a:xfrm>
            <a:off x="825500" y="40132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844AD126-C642-4B4A-8E56-6C1EDD7326A1}"/>
              </a:ext>
            </a:extLst>
          </p:cNvPr>
          <p:cNvSpPr/>
          <p:nvPr/>
        </p:nvSpPr>
        <p:spPr>
          <a:xfrm>
            <a:off x="1143000" y="42418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3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367406-AF8D-1E43-9B53-4046A61484BE}"/>
              </a:ext>
            </a:extLst>
          </p:cNvPr>
          <p:cNvSpPr txBox="1"/>
          <p:nvPr/>
        </p:nvSpPr>
        <p:spPr>
          <a:xfrm>
            <a:off x="1905000" y="4178300"/>
            <a:ext cx="2413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나란히 비교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641EB6-97BE-D540-922F-AABDC63CCEFA}"/>
              </a:ext>
            </a:extLst>
          </p:cNvPr>
          <p:cNvSpPr txBox="1"/>
          <p:nvPr/>
        </p:nvSpPr>
        <p:spPr>
          <a:xfrm>
            <a:off x="4419600" y="4140200"/>
            <a:ext cx="6756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두 결과를 나란히 놓고 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구체성의 차이를 기록한다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2D37F606-9342-E443-B008-1992C070D855}"/>
              </a:ext>
            </a:extLst>
          </p:cNvPr>
          <p:cNvSpPr/>
          <p:nvPr/>
        </p:nvSpPr>
        <p:spPr>
          <a:xfrm>
            <a:off x="825500" y="5054600"/>
            <a:ext cx="10541000" cy="9398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B65AC88-6A9E-AD40-B16B-AE7D2EA6CEE1}"/>
              </a:ext>
            </a:extLst>
          </p:cNvPr>
          <p:cNvSpPr/>
          <p:nvPr/>
        </p:nvSpPr>
        <p:spPr>
          <a:xfrm>
            <a:off x="825500" y="50546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EF49BFF5-96BC-544D-936D-70F4166C3FFD}"/>
              </a:ext>
            </a:extLst>
          </p:cNvPr>
          <p:cNvSpPr/>
          <p:nvPr/>
        </p:nvSpPr>
        <p:spPr>
          <a:xfrm>
            <a:off x="1143000" y="52832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4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017E20-17D7-AB4A-82FC-6B60E4789762}"/>
              </a:ext>
            </a:extLst>
          </p:cNvPr>
          <p:cNvSpPr txBox="1"/>
          <p:nvPr/>
        </p:nvSpPr>
        <p:spPr>
          <a:xfrm>
            <a:off x="1905000" y="5219700"/>
            <a:ext cx="2413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템플릿으로 저장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D60F04-A4CD-4E42-A2E5-4FBA86872434}"/>
              </a:ext>
            </a:extLst>
          </p:cNvPr>
          <p:cNvSpPr txBox="1"/>
          <p:nvPr/>
        </p:nvSpPr>
        <p:spPr>
          <a:xfrm>
            <a:off x="4419600" y="5181600"/>
            <a:ext cx="6756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잘 나온 프롬프트를 ‘내 템플릿’으로 저장해 재사용한다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프롬프트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R-C-T-F 프롬프트 골격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32720" cy="4434840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502920" rIns="365760" bIns="320040" rtlCol="0" anchor="t"/>
          <a:lstStyle/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[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역할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]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너는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15년차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카피라이터야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.</a:t>
            </a:r>
          </a:p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[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맥락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]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타깃은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30대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직장인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톤은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위트있지만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과하지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않게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.</a:t>
            </a:r>
          </a:p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[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작업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]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아래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제품의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인스타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헤드라인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5개를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써줘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.</a:t>
            </a:r>
          </a:p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[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형식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]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각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줄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25자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이내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끝에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어울리는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이모지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금지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텍스트만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).</a:t>
            </a:r>
          </a:p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[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예시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] "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퇴근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후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한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캔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죄책감은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빼고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"</a:t>
            </a:r>
          </a:p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제품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: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무알콜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수제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맥주</a:t>
            </a:r>
            <a:endParaRPr sz="1600" dirty="0">
              <a:solidFill>
                <a:srgbClr val="E8EEFA"/>
              </a:solidFill>
              <a:latin typeface="JetBrains Mono"/>
              <a:ea typeface="JetBrains Mono"/>
              <a:cs typeface="JetBrains Mon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43000" y="2103120"/>
            <a:ext cx="109728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실제 입력 → 출력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실제 예시 — R-C-T-F로 나온 헤드라인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83080"/>
            <a:ext cx="10332720" cy="1874519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502920" rIns="320040" rtlCol="0" anchor="t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</a:pP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[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역할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] 15년차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카피라이터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[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맥락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] 30대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직장인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위트있지만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과하지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않게</a:t>
            </a:r>
            <a:endParaRPr sz="1600" dirty="0">
              <a:solidFill>
                <a:srgbClr val="E8EEFA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</a:pP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[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작업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]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인스타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헤드라인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5개 [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형식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]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각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25자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이내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이모지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금지</a:t>
            </a:r>
            <a:endParaRPr sz="1600" dirty="0">
              <a:solidFill>
                <a:srgbClr val="E8EEFA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</a:pP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[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예시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] "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퇴근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후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한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캔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죄책감은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빼고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" 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제품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: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무알콜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수제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맥주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Night 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83080"/>
            <a:ext cx="2011680" cy="329184"/>
          </a:xfrm>
          <a:prstGeom prst="rect">
            <a:avLst/>
          </a:prstGeom>
          <a:solidFill>
            <a:srgbClr val="24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2743200" cy="2700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▸ 입력 프롬프트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794760"/>
            <a:ext cx="10332720" cy="2514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9EC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502920" rIns="32004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60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1. 퇴근길 무게, 한 캔에 내려놓다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60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2. 오늘 밤은 즐기고, 내일은 멀쩡하게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60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3. 알코올 0.0, 분위기 100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60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4. 죄책감 빼고, 맥주 맛만 더하고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60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5. 한 잔의 여유, 숙취 없는 자유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794760"/>
            <a:ext cx="1828800" cy="329184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2743200" cy="2700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▸ 나온 결과(예)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좋은예 VS 나쁜예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비교 — 같은 요청, 프롬프트 차이가 결과를 가른다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5029200" cy="4114800"/>
          </a:xfrm>
          <a:prstGeom prst="rect">
            <a:avLst/>
          </a:prstGeom>
          <a:solidFill>
            <a:srgbClr val="F7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20040" rIns="32004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b="1">
                <a:solidFill>
                  <a:srgbClr val="A63333"/>
                </a:solidFill>
                <a:latin typeface="Noto Serif KR"/>
                <a:ea typeface="Noto Serif KR"/>
                <a:cs typeface="Noto Serif KR"/>
              </a:rPr>
              <a:t>🚫 막연한 프롬프트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1">
                <a:solidFill>
                  <a:srgbClr val="A6333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6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입력: "무알콜 맥주 카피 써줘"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1">
                <a:solidFill>
                  <a:srgbClr val="A6333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6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출력(예): "건강한 선택, 무알콜 맥주!"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1">
                <a:solidFill>
                  <a:srgbClr val="A6333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6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→ 누구에게? 톤은? 길이는? 매번 다르게 나옴</a:t>
            </a:r>
          </a:p>
        </p:txBody>
      </p:sp>
      <p:sp>
        <p:nvSpPr>
          <p:cNvPr id="5" name="Rectangle 4"/>
          <p:cNvSpPr/>
          <p:nvPr/>
        </p:nvSpPr>
        <p:spPr>
          <a:xfrm>
            <a:off x="6245352" y="1920240"/>
            <a:ext cx="5029200" cy="4114800"/>
          </a:xfrm>
          <a:prstGeom prst="rect">
            <a:avLst/>
          </a:prstGeom>
          <a:solidFill>
            <a:srgbClr val="E7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20040" rIns="32004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b="1" dirty="0">
                <a:solidFill>
                  <a:srgbClr val="2C6B44"/>
                </a:solidFill>
                <a:latin typeface="Noto Serif KR"/>
                <a:ea typeface="Noto Serif KR"/>
                <a:cs typeface="Noto Serif KR"/>
              </a:rPr>
              <a:t>✅ R-C-T-F + </a:t>
            </a:r>
            <a:r>
              <a:rPr b="1" dirty="0" err="1">
                <a:solidFill>
                  <a:srgbClr val="2C6B44"/>
                </a:solidFill>
                <a:latin typeface="Noto Serif KR"/>
                <a:ea typeface="Noto Serif KR"/>
                <a:cs typeface="Noto Serif KR"/>
              </a:rPr>
              <a:t>예시</a:t>
            </a:r>
            <a:endParaRPr b="1" dirty="0">
              <a:solidFill>
                <a:srgbClr val="2C6B44"/>
              </a:solidFill>
              <a:latin typeface="Noto Serif KR"/>
              <a:ea typeface="Noto Serif KR"/>
              <a:cs typeface="Noto Serif KR"/>
            </a:endParaRP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1" dirty="0">
                <a:solidFill>
                  <a:srgbClr val="2C6B44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6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입력</a:t>
            </a:r>
            <a:r>
              <a:rPr sz="16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: </a:t>
            </a:r>
            <a:r>
              <a:rPr sz="16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역할·맥락·작업·형식·예시</a:t>
            </a:r>
            <a:r>
              <a:rPr sz="16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모두</a:t>
            </a:r>
            <a:r>
              <a:rPr sz="16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명시</a:t>
            </a:r>
            <a:endParaRPr sz="1600" b="0" dirty="0">
              <a:solidFill>
                <a:srgbClr val="14213D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1" dirty="0">
                <a:solidFill>
                  <a:srgbClr val="2C6B44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6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출력</a:t>
            </a:r>
            <a:r>
              <a:rPr sz="16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sz="16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예</a:t>
            </a:r>
            <a:r>
              <a:rPr sz="16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)</a:t>
            </a:r>
            <a:br>
              <a:rPr lang="en-US" sz="16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</a:br>
            <a:r>
              <a:rPr lang="ko-KR" altLang="en-US" sz="16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 </a:t>
            </a:r>
            <a:r>
              <a:rPr sz="16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: "</a:t>
            </a:r>
            <a:r>
              <a:rPr sz="16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퇴근길</a:t>
            </a:r>
            <a:r>
              <a:rPr sz="16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무게</a:t>
            </a:r>
            <a:r>
              <a:rPr sz="16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6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한</a:t>
            </a:r>
            <a:r>
              <a:rPr sz="16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캔에</a:t>
            </a:r>
            <a:r>
              <a:rPr sz="16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내려놓다</a:t>
            </a:r>
            <a:r>
              <a:rPr sz="16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"(23자) </a:t>
            </a:r>
            <a:r>
              <a:rPr sz="16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외</a:t>
            </a:r>
            <a:r>
              <a:rPr sz="16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4개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1" dirty="0">
                <a:solidFill>
                  <a:srgbClr val="2C6B44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6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→ </a:t>
            </a:r>
            <a:r>
              <a:rPr sz="16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톤·길이·개수가</a:t>
            </a:r>
            <a:r>
              <a:rPr sz="16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의도대로</a:t>
            </a:r>
            <a:r>
              <a:rPr sz="16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6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재작업</a:t>
            </a:r>
            <a:r>
              <a:rPr sz="16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↓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정리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결과 품질을 높이는 프롬프트 작성 원리와 실습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10332720" cy="1636776"/>
          </a:xfrm>
          <a:prstGeom prst="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28600" rIns="365760" bIns="18288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57A1A"/>
                </a:solidFill>
                <a:latin typeface="JetBrains Mono"/>
                <a:ea typeface="JetBrains Mono"/>
                <a:cs typeface="JetBrains Mono"/>
              </a:rPr>
              <a:t>⚠  흔한 실수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형식(글자 수·금지어)을 안 주면 매번 길이·톤이 달라져 재작업이 는다.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예시를 안 주면 톤이 들쭉날쭉 → few-shot 1개만 넣어도 안정된다.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739896"/>
            <a:ext cx="10332720" cy="100584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01168" rIns="365760" bIns="182880" rtlCol="0" anchor="t"/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📦  결과물 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나만의 카피 프롬프트 템플릿 1개(R-C-T-F + 예시 슬롯).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도구 가이드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이 모듈에서 쓰는 도구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4DA0A97E-ED37-B745-8EB7-AA095F1358EC}"/>
              </a:ext>
            </a:extLst>
          </p:cNvPr>
          <p:cNvSpPr/>
          <p:nvPr/>
        </p:nvSpPr>
        <p:spPr>
          <a:xfrm>
            <a:off x="825500" y="1905000"/>
            <a:ext cx="50800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93437854-2AE2-1D4E-A5CF-BBA1044E10F8}"/>
              </a:ext>
            </a:extLst>
          </p:cNvPr>
          <p:cNvSpPr/>
          <p:nvPr/>
        </p:nvSpPr>
        <p:spPr>
          <a:xfrm>
            <a:off x="1130300" y="2209800"/>
            <a:ext cx="4470400" cy="7366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3869AD-32CC-BE48-9DDE-3E595993EEAD}"/>
              </a:ext>
            </a:extLst>
          </p:cNvPr>
          <p:cNvSpPr txBox="1"/>
          <p:nvPr/>
        </p:nvSpPr>
        <p:spPr>
          <a:xfrm>
            <a:off x="1130300" y="2209800"/>
            <a:ext cx="4470400" cy="736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2300" b="1">
                <a:solidFill>
                  <a:srgbClr val="FFFFFF"/>
                </a:solidFill>
                <a:latin typeface="Pretendard"/>
              </a:rPr>
              <a:t>ChatGPT</a:t>
            </a:r>
            <a:endParaRPr lang="ko-KR" altLang="en-US" sz="23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2D8837-D2DC-344A-ACED-C774E42B3F17}"/>
              </a:ext>
            </a:extLst>
          </p:cNvPr>
          <p:cNvSpPr txBox="1"/>
          <p:nvPr/>
        </p:nvSpPr>
        <p:spPr>
          <a:xfrm>
            <a:off x="1181100" y="3200400"/>
            <a:ext cx="43688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150" b="1">
                <a:solidFill>
                  <a:srgbClr val="576176"/>
                </a:solidFill>
                <a:latin typeface="JetBrains Mono"/>
              </a:rPr>
              <a:t>STRENGTH · </a:t>
            </a:r>
            <a:r>
              <a:rPr lang="ko-KR" altLang="en-US" sz="1150" b="1">
                <a:solidFill>
                  <a:srgbClr val="576176"/>
                </a:solidFill>
                <a:latin typeface="JetBrains Mono"/>
              </a:rPr>
              <a:t>강점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09B449-983C-9743-8A6B-29FF3FC0DAC9}"/>
              </a:ext>
            </a:extLst>
          </p:cNvPr>
          <p:cNvSpPr txBox="1"/>
          <p:nvPr/>
        </p:nvSpPr>
        <p:spPr>
          <a:xfrm>
            <a:off x="1181100" y="3530600"/>
            <a:ext cx="4368800" cy="1397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500">
                <a:solidFill>
                  <a:srgbClr val="2A3B57"/>
                </a:solidFill>
                <a:latin typeface="Pretendard"/>
              </a:rPr>
              <a:t>아이디어 발산과 변형이 빠르다</a:t>
            </a:r>
            <a:r>
              <a:rPr lang="en-US" altLang="ko-KR" sz="1500">
                <a:solidFill>
                  <a:srgbClr val="2A3B57"/>
                </a:solidFill>
                <a:latin typeface="Pretendard"/>
              </a:rPr>
              <a:t>. ‘10</a:t>
            </a:r>
            <a:r>
              <a:rPr lang="ko-KR" altLang="en-US" sz="1500">
                <a:solidFill>
                  <a:srgbClr val="2A3B57"/>
                </a:solidFill>
                <a:latin typeface="Pretendard"/>
              </a:rPr>
              <a:t>개 더’</a:t>
            </a:r>
            <a:r>
              <a:rPr lang="en-US" altLang="ko-KR" sz="1500">
                <a:solidFill>
                  <a:srgbClr val="2A3B57"/>
                </a:solidFill>
                <a:latin typeface="Pretendard"/>
              </a:rPr>
              <a:t>, ‘</a:t>
            </a:r>
            <a:r>
              <a:rPr lang="ko-KR" altLang="en-US" sz="1500">
                <a:solidFill>
                  <a:srgbClr val="2A3B57"/>
                </a:solidFill>
                <a:latin typeface="Pretendard"/>
              </a:rPr>
              <a:t>더 짧게’처럼 반복 지시로 후보를 좁혀간다</a:t>
            </a:r>
            <a:r>
              <a:rPr lang="en-US" altLang="ko-KR" sz="1500">
                <a:solidFill>
                  <a:srgbClr val="2A3B57"/>
                </a:solidFill>
                <a:latin typeface="Pretendard"/>
              </a:rPr>
              <a:t>.</a:t>
            </a:r>
            <a:endParaRPr lang="ko-KR" altLang="en-US" sz="1500">
              <a:solidFill>
                <a:srgbClr val="2A3B57"/>
              </a:solidFill>
              <a:latin typeface="Pretendar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8D6DC2-94E6-4641-82AF-B880ABC6C008}"/>
              </a:ext>
            </a:extLst>
          </p:cNvPr>
          <p:cNvSpPr txBox="1"/>
          <p:nvPr/>
        </p:nvSpPr>
        <p:spPr>
          <a:xfrm>
            <a:off x="1181100" y="5054600"/>
            <a:ext cx="43688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150" b="1">
                <a:solidFill>
                  <a:srgbClr val="14213D"/>
                </a:solidFill>
                <a:latin typeface="JetBrains Mono"/>
              </a:rPr>
              <a:t>이렇게 쓰세요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0AD110B3-A5E5-A341-9599-447E31E12608}"/>
              </a:ext>
            </a:extLst>
          </p:cNvPr>
          <p:cNvSpPr/>
          <p:nvPr/>
        </p:nvSpPr>
        <p:spPr>
          <a:xfrm>
            <a:off x="1181100" y="5334000"/>
            <a:ext cx="4368800" cy="685800"/>
          </a:xfrm>
          <a:prstGeom prst="roundRect">
            <a:avLst/>
          </a:prstGeom>
          <a:solidFill>
            <a:srgbClr val="E7ECF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061F5D-D02C-2748-9C92-7CED6CFECBE3}"/>
              </a:ext>
            </a:extLst>
          </p:cNvPr>
          <p:cNvSpPr txBox="1"/>
          <p:nvPr/>
        </p:nvSpPr>
        <p:spPr>
          <a:xfrm>
            <a:off x="1181100" y="5334000"/>
            <a:ext cx="43688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50" b="1">
                <a:solidFill>
                  <a:srgbClr val="14213D"/>
                </a:solidFill>
                <a:latin typeface="Pretendard"/>
              </a:rPr>
              <a:t>브레인스토밍 </a:t>
            </a:r>
            <a:r>
              <a:rPr lang="en-US" altLang="ko-KR" sz="1450" b="1">
                <a:solidFill>
                  <a:srgbClr val="14213D"/>
                </a:solidFill>
                <a:latin typeface="Pretendard"/>
              </a:rPr>
              <a:t>· </a:t>
            </a:r>
            <a:r>
              <a:rPr lang="ko-KR" altLang="en-US" sz="1450" b="1">
                <a:solidFill>
                  <a:srgbClr val="14213D"/>
                </a:solidFill>
                <a:latin typeface="Pretendard"/>
              </a:rPr>
              <a:t>대량 변형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3766B420-893F-0D46-8F73-8444C1ED8739}"/>
              </a:ext>
            </a:extLst>
          </p:cNvPr>
          <p:cNvSpPr/>
          <p:nvPr/>
        </p:nvSpPr>
        <p:spPr>
          <a:xfrm>
            <a:off x="6286500" y="1905000"/>
            <a:ext cx="50800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7CBFA8CA-9CD2-8A41-BD05-4095F82CBC26}"/>
              </a:ext>
            </a:extLst>
          </p:cNvPr>
          <p:cNvSpPr/>
          <p:nvPr/>
        </p:nvSpPr>
        <p:spPr>
          <a:xfrm>
            <a:off x="6591300" y="2209800"/>
            <a:ext cx="4470400" cy="736600"/>
          </a:xfrm>
          <a:prstGeom prst="roundRect">
            <a:avLst/>
          </a:prstGeom>
          <a:solidFill>
            <a:srgbClr val="1D4E8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65D001-1EF5-D640-BE8D-B45E36827E56}"/>
              </a:ext>
            </a:extLst>
          </p:cNvPr>
          <p:cNvSpPr txBox="1"/>
          <p:nvPr/>
        </p:nvSpPr>
        <p:spPr>
          <a:xfrm>
            <a:off x="6591300" y="2209800"/>
            <a:ext cx="4470400" cy="736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2300" b="1">
                <a:solidFill>
                  <a:srgbClr val="FFFFFF"/>
                </a:solidFill>
                <a:latin typeface="Pretendard"/>
              </a:rPr>
              <a:t>Claude</a:t>
            </a:r>
            <a:endParaRPr lang="ko-KR" altLang="en-US" sz="23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1633F2-9120-264A-A363-346B63B13862}"/>
              </a:ext>
            </a:extLst>
          </p:cNvPr>
          <p:cNvSpPr txBox="1"/>
          <p:nvPr/>
        </p:nvSpPr>
        <p:spPr>
          <a:xfrm>
            <a:off x="6642100" y="3200400"/>
            <a:ext cx="43688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150" b="1">
                <a:solidFill>
                  <a:srgbClr val="576176"/>
                </a:solidFill>
                <a:latin typeface="JetBrains Mono"/>
              </a:rPr>
              <a:t>STRENGTH · </a:t>
            </a:r>
            <a:r>
              <a:rPr lang="ko-KR" altLang="en-US" sz="1150" b="1">
                <a:solidFill>
                  <a:srgbClr val="576176"/>
                </a:solidFill>
                <a:latin typeface="JetBrains Mono"/>
              </a:rPr>
              <a:t>강점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086536-7E5D-8C4A-BF65-DCEAD0DA6440}"/>
              </a:ext>
            </a:extLst>
          </p:cNvPr>
          <p:cNvSpPr txBox="1"/>
          <p:nvPr/>
        </p:nvSpPr>
        <p:spPr>
          <a:xfrm>
            <a:off x="6642100" y="3530600"/>
            <a:ext cx="4368800" cy="1397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500">
                <a:solidFill>
                  <a:srgbClr val="2A3B57"/>
                </a:solidFill>
                <a:latin typeface="Pretendard"/>
              </a:rPr>
              <a:t>긴 맥락을 잘 유지하고 톤이 일관적이다</a:t>
            </a:r>
            <a:r>
              <a:rPr lang="en-US" altLang="ko-KR" sz="1500">
                <a:solidFill>
                  <a:srgbClr val="2A3B57"/>
                </a:solidFill>
                <a:latin typeface="Pretendard"/>
              </a:rPr>
              <a:t>. </a:t>
            </a:r>
            <a:r>
              <a:rPr lang="ko-KR" altLang="en-US" sz="1500">
                <a:solidFill>
                  <a:srgbClr val="2A3B57"/>
                </a:solidFill>
                <a:latin typeface="Pretendard"/>
              </a:rPr>
              <a:t>메시지 하우스처럼 구조를 지키는 작업에 유리하다</a:t>
            </a:r>
            <a:r>
              <a:rPr lang="en-US" altLang="ko-KR" sz="1500">
                <a:solidFill>
                  <a:srgbClr val="2A3B57"/>
                </a:solidFill>
                <a:latin typeface="Pretendard"/>
              </a:rPr>
              <a:t>.</a:t>
            </a:r>
            <a:endParaRPr lang="ko-KR" altLang="en-US" sz="1500">
              <a:solidFill>
                <a:srgbClr val="2A3B57"/>
              </a:solidFill>
              <a:latin typeface="Pretendar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CF940C-B4FA-5145-A49A-3A1A8B770630}"/>
              </a:ext>
            </a:extLst>
          </p:cNvPr>
          <p:cNvSpPr txBox="1"/>
          <p:nvPr/>
        </p:nvSpPr>
        <p:spPr>
          <a:xfrm>
            <a:off x="6642100" y="5054600"/>
            <a:ext cx="43688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150" b="1">
                <a:solidFill>
                  <a:srgbClr val="1D4E89"/>
                </a:solidFill>
                <a:latin typeface="JetBrains Mono"/>
              </a:rPr>
              <a:t>이렇게 쓰세요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54EE7D80-004A-7946-B4AE-7CDA7981A665}"/>
              </a:ext>
            </a:extLst>
          </p:cNvPr>
          <p:cNvSpPr/>
          <p:nvPr/>
        </p:nvSpPr>
        <p:spPr>
          <a:xfrm>
            <a:off x="6642100" y="5334000"/>
            <a:ext cx="4368800" cy="685800"/>
          </a:xfrm>
          <a:prstGeom prst="roundRect">
            <a:avLst/>
          </a:prstGeom>
          <a:solidFill>
            <a:srgbClr val="E4EC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6370C1-12F6-4F4D-8737-34D80DD71183}"/>
              </a:ext>
            </a:extLst>
          </p:cNvPr>
          <p:cNvSpPr txBox="1"/>
          <p:nvPr/>
        </p:nvSpPr>
        <p:spPr>
          <a:xfrm>
            <a:off x="6642100" y="5334000"/>
            <a:ext cx="43688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50" b="1">
                <a:solidFill>
                  <a:srgbClr val="1D4E89"/>
                </a:solidFill>
                <a:latin typeface="Pretendard"/>
              </a:rPr>
              <a:t>긴 문서 </a:t>
            </a:r>
            <a:r>
              <a:rPr lang="en-US" altLang="ko-KR" sz="1450" b="1">
                <a:solidFill>
                  <a:srgbClr val="1D4E89"/>
                </a:solidFill>
                <a:latin typeface="Pretendard"/>
              </a:rPr>
              <a:t>· </a:t>
            </a:r>
            <a:r>
              <a:rPr lang="ko-KR" altLang="en-US" sz="1450" b="1">
                <a:solidFill>
                  <a:srgbClr val="1D4E89"/>
                </a:solidFill>
                <a:latin typeface="Pretendard"/>
              </a:rPr>
              <a:t>톤 일관성 작업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CHECKLIST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모듈 체크리스트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42493D61-81B8-0445-93B8-BA0EBD6B96A2}"/>
              </a:ext>
            </a:extLst>
          </p:cNvPr>
          <p:cNvSpPr/>
          <p:nvPr/>
        </p:nvSpPr>
        <p:spPr>
          <a:xfrm>
            <a:off x="825500" y="2006600"/>
            <a:ext cx="10541000" cy="12192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9405E114-D535-CA4A-87C1-E757FBCE5AE4}"/>
              </a:ext>
            </a:extLst>
          </p:cNvPr>
          <p:cNvSpPr/>
          <p:nvPr/>
        </p:nvSpPr>
        <p:spPr>
          <a:xfrm>
            <a:off x="825500" y="2006600"/>
            <a:ext cx="76200" cy="1219200"/>
          </a:xfrm>
          <a:prstGeom prst="round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F4F56B71-FB4E-994A-9CCD-17E1B11664EB}"/>
              </a:ext>
            </a:extLst>
          </p:cNvPr>
          <p:cNvSpPr/>
          <p:nvPr/>
        </p:nvSpPr>
        <p:spPr>
          <a:xfrm>
            <a:off x="1270000" y="2362200"/>
            <a:ext cx="508000" cy="508000"/>
          </a:xfrm>
          <a:prstGeom prst="roundRect">
            <a:avLst/>
          </a:prstGeom>
          <a:solidFill>
            <a:srgbClr val="FFFFFF"/>
          </a:solidFill>
          <a:ln w="22225" cap="flat" cmpd="sng" algn="ctr">
            <a:solidFill>
              <a:srgbClr val="14213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2200" b="1">
                <a:solidFill>
                  <a:srgbClr val="E8A33D"/>
                </a:solidFill>
              </a:rPr>
              <a:t>✓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411C35-721E-8E42-9072-506D7CFC6B27}"/>
              </a:ext>
            </a:extLst>
          </p:cNvPr>
          <p:cNvSpPr txBox="1"/>
          <p:nvPr/>
        </p:nvSpPr>
        <p:spPr>
          <a:xfrm>
            <a:off x="2082800" y="2286000"/>
            <a:ext cx="8890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14213D"/>
                </a:solidFill>
                <a:latin typeface="Pretendard"/>
              </a:rPr>
              <a:t>타깃 페르소나 </a:t>
            </a:r>
            <a:r>
              <a:rPr lang="en-US" altLang="ko-KR" b="1">
                <a:solidFill>
                  <a:srgbClr val="14213D"/>
                </a:solidFill>
                <a:latin typeface="Pretendard"/>
              </a:rPr>
              <a:t>· </a:t>
            </a:r>
            <a:r>
              <a:rPr lang="ko-KR" altLang="en-US" b="1">
                <a:solidFill>
                  <a:srgbClr val="14213D"/>
                </a:solidFill>
                <a:latin typeface="Pretendard"/>
              </a:rPr>
              <a:t>메시지 하우스 완성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B2513E-2BDF-9C48-A2C4-158E35ABD4DF}"/>
              </a:ext>
            </a:extLst>
          </p:cNvPr>
          <p:cNvSpPr txBox="1"/>
          <p:nvPr/>
        </p:nvSpPr>
        <p:spPr>
          <a:xfrm>
            <a:off x="2082800" y="2667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50">
                <a:solidFill>
                  <a:srgbClr val="576176"/>
                </a:solidFill>
                <a:latin typeface="Pretendard"/>
              </a:rPr>
              <a:t>한 인물로 구체화 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+ 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지붕 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1 · 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기둥 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3</a:t>
            </a:r>
            <a:endParaRPr lang="ko-KR" altLang="en-US" sz="135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ED34A7DA-9BA4-224E-A2D8-F8C554DB1894}"/>
              </a:ext>
            </a:extLst>
          </p:cNvPr>
          <p:cNvSpPr/>
          <p:nvPr/>
        </p:nvSpPr>
        <p:spPr>
          <a:xfrm>
            <a:off x="825500" y="3403600"/>
            <a:ext cx="10541000" cy="12192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7623B597-C45D-AD4C-8912-DE43B835F621}"/>
              </a:ext>
            </a:extLst>
          </p:cNvPr>
          <p:cNvSpPr/>
          <p:nvPr/>
        </p:nvSpPr>
        <p:spPr>
          <a:xfrm>
            <a:off x="825500" y="3403600"/>
            <a:ext cx="76200" cy="1219200"/>
          </a:xfrm>
          <a:prstGeom prst="round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13E3F79A-F09B-1146-8C1E-2C015C4F6CEB}"/>
              </a:ext>
            </a:extLst>
          </p:cNvPr>
          <p:cNvSpPr/>
          <p:nvPr/>
        </p:nvSpPr>
        <p:spPr>
          <a:xfrm>
            <a:off x="1270000" y="3759200"/>
            <a:ext cx="508000" cy="508000"/>
          </a:xfrm>
          <a:prstGeom prst="roundRect">
            <a:avLst/>
          </a:prstGeom>
          <a:solidFill>
            <a:srgbClr val="FFFFFF"/>
          </a:solidFill>
          <a:ln w="22225" cap="flat" cmpd="sng" algn="ctr">
            <a:solidFill>
              <a:srgbClr val="14213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2200" b="1">
                <a:solidFill>
                  <a:srgbClr val="E8A33D"/>
                </a:solidFill>
              </a:rPr>
              <a:t>✓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F6C416-F4CA-2941-AED0-960FD2EC3134}"/>
              </a:ext>
            </a:extLst>
          </p:cNvPr>
          <p:cNvSpPr txBox="1"/>
          <p:nvPr/>
        </p:nvSpPr>
        <p:spPr>
          <a:xfrm>
            <a:off x="2082800" y="3683000"/>
            <a:ext cx="8890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b="1">
                <a:solidFill>
                  <a:srgbClr val="14213D"/>
                </a:solidFill>
                <a:latin typeface="Pretendard"/>
              </a:rPr>
              <a:t>R-C-T-F </a:t>
            </a:r>
            <a:r>
              <a:rPr lang="ko-KR" altLang="en-US" b="1">
                <a:solidFill>
                  <a:srgbClr val="14213D"/>
                </a:solidFill>
                <a:latin typeface="Pretendard"/>
              </a:rPr>
              <a:t>구조로 프롬프트 작성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DB575D-DB69-F64B-BB1D-8F006C87C067}"/>
              </a:ext>
            </a:extLst>
          </p:cNvPr>
          <p:cNvSpPr txBox="1"/>
          <p:nvPr/>
        </p:nvSpPr>
        <p:spPr>
          <a:xfrm>
            <a:off x="2082800" y="4064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50">
                <a:solidFill>
                  <a:srgbClr val="576176"/>
                </a:solidFill>
                <a:latin typeface="Pretendard"/>
              </a:rPr>
              <a:t>역할 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· 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맥락 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· 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작업 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· 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형식 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+ 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예시 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1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개</a:t>
            </a: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74D262BF-F002-DD42-8C11-C9353147C2A1}"/>
              </a:ext>
            </a:extLst>
          </p:cNvPr>
          <p:cNvSpPr/>
          <p:nvPr/>
        </p:nvSpPr>
        <p:spPr>
          <a:xfrm>
            <a:off x="825500" y="4800600"/>
            <a:ext cx="10541000" cy="12192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07C9D5FD-3DFE-3D4D-B955-6F81E37F6610}"/>
              </a:ext>
            </a:extLst>
          </p:cNvPr>
          <p:cNvSpPr/>
          <p:nvPr/>
        </p:nvSpPr>
        <p:spPr>
          <a:xfrm>
            <a:off x="825500" y="4800600"/>
            <a:ext cx="76200" cy="1219200"/>
          </a:xfrm>
          <a:prstGeom prst="round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CEB40E86-25DB-494C-ACB4-0185C0D9CFDE}"/>
              </a:ext>
            </a:extLst>
          </p:cNvPr>
          <p:cNvSpPr/>
          <p:nvPr/>
        </p:nvSpPr>
        <p:spPr>
          <a:xfrm>
            <a:off x="1270000" y="5156200"/>
            <a:ext cx="508000" cy="508000"/>
          </a:xfrm>
          <a:prstGeom prst="roundRect">
            <a:avLst/>
          </a:prstGeom>
          <a:solidFill>
            <a:srgbClr val="FFFFFF"/>
          </a:solidFill>
          <a:ln w="22225" cap="flat" cmpd="sng" algn="ctr">
            <a:solidFill>
              <a:srgbClr val="14213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2200" b="1">
                <a:solidFill>
                  <a:srgbClr val="E8A33D"/>
                </a:solidFill>
              </a:rPr>
              <a:t>✓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44BA06-2091-494D-A21D-3B630DCF8A13}"/>
              </a:ext>
            </a:extLst>
          </p:cNvPr>
          <p:cNvSpPr txBox="1"/>
          <p:nvPr/>
        </p:nvSpPr>
        <p:spPr>
          <a:xfrm>
            <a:off x="2082800" y="5080000"/>
            <a:ext cx="8890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14213D"/>
                </a:solidFill>
                <a:latin typeface="Pretendard"/>
              </a:rPr>
              <a:t>재사용 프롬프트 템플릿 저장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C240CF-C9FD-CA4C-8A05-542A11B5653A}"/>
              </a:ext>
            </a:extLst>
          </p:cNvPr>
          <p:cNvSpPr txBox="1"/>
          <p:nvPr/>
        </p:nvSpPr>
        <p:spPr>
          <a:xfrm>
            <a:off x="2082800" y="5461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50">
                <a:solidFill>
                  <a:srgbClr val="576176"/>
                </a:solidFill>
                <a:latin typeface="Pretendard"/>
              </a:rPr>
              <a:t>잘 나온 프롬프트를 ‘내 템플릿’으로 보관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539484BA-22FE-7748-A83C-9C0062D91DD1}"/>
              </a:ext>
            </a:extLst>
          </p:cNvPr>
          <p:cNvSpPr/>
          <p:nvPr/>
        </p:nvSpPr>
        <p:spPr>
          <a:xfrm>
            <a:off x="825500" y="1905000"/>
            <a:ext cx="10541000" cy="31750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39690883-043A-764B-BCF1-3C5266F87B45}"/>
              </a:ext>
            </a:extLst>
          </p:cNvPr>
          <p:cNvSpPr/>
          <p:nvPr/>
        </p:nvSpPr>
        <p:spPr>
          <a:xfrm>
            <a:off x="825500" y="1905000"/>
            <a:ext cx="101600" cy="3175000"/>
          </a:xfrm>
          <a:prstGeom prst="round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DB9300-4206-7B43-81F7-E45A81F659CD}"/>
              </a:ext>
            </a:extLst>
          </p:cNvPr>
          <p:cNvSpPr txBox="1"/>
          <p:nvPr/>
        </p:nvSpPr>
        <p:spPr>
          <a:xfrm>
            <a:off x="1333500" y="2286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E8A33D"/>
                </a:solidFill>
                <a:latin typeface="JetBrains Mono"/>
              </a:rPr>
              <a:t>MISSION 02 · </a:t>
            </a:r>
            <a:r>
              <a:rPr lang="ko-KR" altLang="en-US" sz="1500" b="1">
                <a:solidFill>
                  <a:srgbClr val="E8A33D"/>
                </a:solidFill>
                <a:latin typeface="JetBrains Mono"/>
              </a:rPr>
              <a:t>도장깨기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07DE77-A082-8741-BDDA-67184D6440B3}"/>
              </a:ext>
            </a:extLst>
          </p:cNvPr>
          <p:cNvSpPr txBox="1"/>
          <p:nvPr/>
        </p:nvSpPr>
        <p:spPr>
          <a:xfrm>
            <a:off x="1333500" y="2641600"/>
            <a:ext cx="88900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3000" b="1">
                <a:solidFill>
                  <a:srgbClr val="FFFFFF"/>
                </a:solidFill>
                <a:latin typeface="Noto Serif KR"/>
              </a:rPr>
              <a:t>홍보 메시지 정의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5125D7D7-A6C9-394F-A270-8652BDEF5DCD}"/>
              </a:ext>
            </a:extLst>
          </p:cNvPr>
          <p:cNvSpPr/>
          <p:nvPr/>
        </p:nvSpPr>
        <p:spPr>
          <a:xfrm>
            <a:off x="1333500" y="3454400"/>
            <a:ext cx="9525000" cy="1320800"/>
          </a:xfrm>
          <a:prstGeom prst="roundRect">
            <a:avLst/>
          </a:prstGeom>
          <a:solidFill>
            <a:srgbClr val="20314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12A33F-9032-B74A-AEFE-89B2F64554EF}"/>
              </a:ext>
            </a:extLst>
          </p:cNvPr>
          <p:cNvSpPr txBox="1"/>
          <p:nvPr/>
        </p:nvSpPr>
        <p:spPr>
          <a:xfrm>
            <a:off x="1587500" y="3657600"/>
            <a:ext cx="9017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FFFFFF"/>
                </a:solidFill>
                <a:latin typeface="Pretendard"/>
              </a:rPr>
              <a:t>“누구에게 </a:t>
            </a:r>
            <a:r>
              <a:rPr lang="en-US" altLang="ko-KR" b="1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b="1">
                <a:solidFill>
                  <a:srgbClr val="FFFFFF"/>
                </a:solidFill>
                <a:latin typeface="Pretendard"/>
              </a:rPr>
              <a:t>무엇을 </a:t>
            </a:r>
            <a:r>
              <a:rPr lang="en-US" altLang="ko-KR" b="1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b="1">
                <a:solidFill>
                  <a:srgbClr val="FFFFFF"/>
                </a:solidFill>
                <a:latin typeface="Pretendard"/>
              </a:rPr>
              <a:t>왜”를 한 줄로 정의한다</a:t>
            </a:r>
            <a:r>
              <a:rPr lang="en-US" altLang="ko-KR" b="1">
                <a:solidFill>
                  <a:srgbClr val="FFFFFF"/>
                </a:solidFill>
                <a:latin typeface="Pretendard"/>
              </a:rPr>
              <a:t>.</a:t>
            </a:r>
            <a:endParaRPr lang="ko-KR" altLang="en-US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D59A01-FA61-5043-93AF-4669ACF64AB3}"/>
              </a:ext>
            </a:extLst>
          </p:cNvPr>
          <p:cNvSpPr txBox="1"/>
          <p:nvPr/>
        </p:nvSpPr>
        <p:spPr>
          <a:xfrm>
            <a:off x="1587500" y="4140200"/>
            <a:ext cx="9017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50">
                <a:solidFill>
                  <a:srgbClr val="E8A33D"/>
                </a:solidFill>
                <a:latin typeface="Pretendard"/>
              </a:rPr>
              <a:t>→ 이 한 줄이 오늘 만드는 모든 프롬프트의 출발점이 된다</a:t>
            </a:r>
            <a:r>
              <a:rPr lang="en-US" altLang="ko-KR" sz="1450">
                <a:solidFill>
                  <a:srgbClr val="E8A33D"/>
                </a:solidFill>
                <a:latin typeface="Pretendard"/>
              </a:rPr>
              <a:t>.</a:t>
            </a:r>
            <a:endParaRPr lang="ko-KR" altLang="en-US" sz="1450">
              <a:solidFill>
                <a:srgbClr val="E8A33D"/>
              </a:solidFill>
              <a:latin typeface="Pretendard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F26B0976-4A6B-8B4F-A04E-F68F482242B6}"/>
              </a:ext>
            </a:extLst>
          </p:cNvPr>
          <p:cNvSpPr/>
          <p:nvPr/>
        </p:nvSpPr>
        <p:spPr>
          <a:xfrm>
            <a:off x="825500" y="5283200"/>
            <a:ext cx="10541000" cy="9398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40E382-C91A-774F-B91B-2E8A2F83BB93}"/>
              </a:ext>
            </a:extLst>
          </p:cNvPr>
          <p:cNvSpPr txBox="1"/>
          <p:nvPr/>
        </p:nvSpPr>
        <p:spPr>
          <a:xfrm>
            <a:off x="1206500" y="5486400"/>
            <a:ext cx="1778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E8A33D"/>
                </a:solidFill>
                <a:latin typeface="JetBrains Mono"/>
              </a:rPr>
              <a:t>▶  NEXT</a:t>
            </a:r>
            <a:endParaRPr lang="ko-KR" altLang="en-US" sz="13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FB5839-0C41-014C-A3D6-D2F89CB775C8}"/>
              </a:ext>
            </a:extLst>
          </p:cNvPr>
          <p:cNvSpPr txBox="1"/>
          <p:nvPr/>
        </p:nvSpPr>
        <p:spPr>
          <a:xfrm>
            <a:off x="1206500" y="5740400"/>
            <a:ext cx="96520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b="1">
                <a:solidFill>
                  <a:srgbClr val="14213D"/>
                </a:solidFill>
                <a:latin typeface="Pretendard"/>
              </a:rPr>
              <a:t>M3 · AI </a:t>
            </a:r>
            <a:r>
              <a:rPr lang="ko-KR" altLang="en-US" b="1">
                <a:solidFill>
                  <a:srgbClr val="14213D"/>
                </a:solidFill>
                <a:latin typeface="Pretendard"/>
              </a:rPr>
              <a:t>기반 콘텐츠 작성 실습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1554480"/>
            <a:ext cx="1005840" cy="12801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400" b="0">
                <a:solidFill>
                  <a:srgbClr val="BFD2EC"/>
                </a:solidFill>
                <a:latin typeface="JetBrains Mono"/>
                <a:ea typeface="JetBrains Mono"/>
                <a:cs typeface="JetBrains Mono"/>
              </a:rPr>
              <a:t>MODULE 3 · 3교시 · 11:00–11:50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</a:pPr>
            <a:r>
              <a:rPr sz="38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M3. AI 기반 콘텐츠 작성 실습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메시지 하우스를 출발점으로, 채널별(소개문·SNS·블로그·카드뉴스) 문안을 톤을 유지한 채 대량 생성·검수한다.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572000"/>
            <a:ext cx="10515600" cy="1691640"/>
          </a:xfrm>
          <a:prstGeom prst="rect">
            <a:avLst/>
          </a:prstGeom>
          <a:solidFill>
            <a:srgbClr val="184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64592" rtlCol="0" anchor="ctr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300"/>
              </a:spcAft>
            </a:pPr>
            <a:r>
              <a:rPr sz="1600" b="1">
                <a:solidFill>
                  <a:srgbClr val="9FC0E6"/>
                </a:solidFill>
                <a:latin typeface="JetBrains Mono"/>
                <a:ea typeface="JetBrains Mono"/>
                <a:cs typeface="JetBrains Mono"/>
              </a:rPr>
              <a:t>이전  </a:t>
            </a:r>
            <a:r>
              <a: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M2의 메시지 하우스를 손에 쥐었다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300"/>
              </a:spcAft>
            </a:pPr>
            <a:r>
              <a:rPr sz="16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이번  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그 메시지를 소개문·SNS·블로그·카드뉴스로 변주한다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9FC0E6"/>
                </a:solidFill>
                <a:latin typeface="JetBrains Mono"/>
                <a:ea typeface="JetBrains Mono"/>
                <a:cs typeface="JetBrains Mono"/>
              </a:rPr>
              <a:t>다음  </a:t>
            </a:r>
            <a:r>
              <a: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 문구에 어울리는 비주얼로 → M4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학습 목표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이 모듈에서 할 수 있게 되는 것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1DE23F43-ACD1-CD42-AB22-A5CD6AA494A9}"/>
              </a:ext>
            </a:extLst>
          </p:cNvPr>
          <p:cNvSpPr/>
          <p:nvPr/>
        </p:nvSpPr>
        <p:spPr>
          <a:xfrm>
            <a:off x="825500" y="1905000"/>
            <a:ext cx="50800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95E851-B8C0-B349-B5CB-66657768AF58}"/>
              </a:ext>
            </a:extLst>
          </p:cNvPr>
          <p:cNvSpPr txBox="1"/>
          <p:nvPr/>
        </p:nvSpPr>
        <p:spPr>
          <a:xfrm>
            <a:off x="1257300" y="2235200"/>
            <a:ext cx="15240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4000" b="1">
                <a:solidFill>
                  <a:srgbClr val="E8A33D"/>
                </a:solidFill>
                <a:latin typeface="JetBrains Mono"/>
              </a:rPr>
              <a:t>01</a:t>
            </a:r>
            <a:endParaRPr lang="ko-KR" altLang="en-US" sz="40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6150195-2D50-2145-ACC9-BCBE8D5B3CF8}"/>
              </a:ext>
            </a:extLst>
          </p:cNvPr>
          <p:cNvSpPr/>
          <p:nvPr/>
        </p:nvSpPr>
        <p:spPr>
          <a:xfrm>
            <a:off x="1282700" y="3124200"/>
            <a:ext cx="685800" cy="50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DB54CC-94ED-7B44-8183-ED843BCF51D7}"/>
              </a:ext>
            </a:extLst>
          </p:cNvPr>
          <p:cNvSpPr txBox="1"/>
          <p:nvPr/>
        </p:nvSpPr>
        <p:spPr>
          <a:xfrm>
            <a:off x="1282700" y="3479800"/>
            <a:ext cx="4165600" cy="165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2000" b="1">
                <a:solidFill>
                  <a:srgbClr val="14213D"/>
                </a:solidFill>
                <a:latin typeface="Pretendard"/>
              </a:rPr>
              <a:t>제품</a:t>
            </a:r>
            <a:r>
              <a:rPr lang="en-US" altLang="ko-KR" sz="2000" b="1">
                <a:solidFill>
                  <a:srgbClr val="14213D"/>
                </a:solidFill>
                <a:latin typeface="Pretendard"/>
              </a:rPr>
              <a:t>·</a:t>
            </a:r>
            <a:r>
              <a:rPr lang="ko-KR" altLang="en-US" sz="2000" b="1">
                <a:solidFill>
                  <a:srgbClr val="14213D"/>
                </a:solidFill>
                <a:latin typeface="Pretendard"/>
              </a:rPr>
              <a:t>서비스 소개문을 톤을 유지하며 작성할 수 있다</a:t>
            </a:r>
            <a:r>
              <a:rPr lang="en-US" altLang="ko-KR" sz="2000" b="1">
                <a:solidFill>
                  <a:srgbClr val="14213D"/>
                </a:solidFill>
                <a:latin typeface="Pretendard"/>
              </a:rPr>
              <a:t>.</a:t>
            </a:r>
            <a:endParaRPr lang="ko-KR" altLang="en-US" sz="2000" b="1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67417E-2AEF-FE4B-88B9-5A3B7B097CF3}"/>
              </a:ext>
            </a:extLst>
          </p:cNvPr>
          <p:cNvSpPr txBox="1"/>
          <p:nvPr/>
        </p:nvSpPr>
        <p:spPr>
          <a:xfrm>
            <a:off x="1282700" y="5613400"/>
            <a:ext cx="41656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>
                <a:solidFill>
                  <a:srgbClr val="1D4E89"/>
                </a:solidFill>
                <a:latin typeface="JetBrains Mono"/>
              </a:rPr>
              <a:t>→ PAS · </a:t>
            </a:r>
            <a:r>
              <a:rPr lang="ko-KR" altLang="en-US" sz="1400">
                <a:solidFill>
                  <a:srgbClr val="1D4E89"/>
                </a:solidFill>
                <a:latin typeface="JetBrains Mono"/>
              </a:rPr>
              <a:t>톤 가이드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BA259F48-45A9-754E-968D-4E703C70A1CF}"/>
              </a:ext>
            </a:extLst>
          </p:cNvPr>
          <p:cNvSpPr/>
          <p:nvPr/>
        </p:nvSpPr>
        <p:spPr>
          <a:xfrm>
            <a:off x="6286500" y="1905000"/>
            <a:ext cx="50800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A9B10D-CAB6-7645-AB48-95BE429CF40E}"/>
              </a:ext>
            </a:extLst>
          </p:cNvPr>
          <p:cNvSpPr txBox="1"/>
          <p:nvPr/>
        </p:nvSpPr>
        <p:spPr>
          <a:xfrm>
            <a:off x="6718300" y="2235200"/>
            <a:ext cx="15240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4000" b="1">
                <a:solidFill>
                  <a:srgbClr val="E8A33D"/>
                </a:solidFill>
                <a:latin typeface="JetBrains Mono"/>
              </a:rPr>
              <a:t>02</a:t>
            </a:r>
            <a:endParaRPr lang="ko-KR" altLang="en-US" sz="40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541B4EB-D2A4-7144-974C-C8D14A0A814E}"/>
              </a:ext>
            </a:extLst>
          </p:cNvPr>
          <p:cNvSpPr/>
          <p:nvPr/>
        </p:nvSpPr>
        <p:spPr>
          <a:xfrm>
            <a:off x="6743700" y="3124200"/>
            <a:ext cx="685800" cy="50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447E31-6FFF-C34F-B9DB-781328286E1F}"/>
              </a:ext>
            </a:extLst>
          </p:cNvPr>
          <p:cNvSpPr txBox="1"/>
          <p:nvPr/>
        </p:nvSpPr>
        <p:spPr>
          <a:xfrm>
            <a:off x="6743700" y="3479800"/>
            <a:ext cx="4165600" cy="165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2000" b="1">
                <a:solidFill>
                  <a:srgbClr val="14213D"/>
                </a:solidFill>
                <a:latin typeface="Pretendard"/>
              </a:rPr>
              <a:t>채널별 홍보 문안을 한 번에 생성할 수 있다</a:t>
            </a:r>
            <a:r>
              <a:rPr lang="en-US" altLang="ko-KR" sz="2000" b="1">
                <a:solidFill>
                  <a:srgbClr val="14213D"/>
                </a:solidFill>
                <a:latin typeface="Pretendard"/>
              </a:rPr>
              <a:t>.</a:t>
            </a:r>
            <a:endParaRPr lang="ko-KR" altLang="en-US" sz="2000" b="1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30C910-F500-F544-AFD5-E31D29CF7A57}"/>
              </a:ext>
            </a:extLst>
          </p:cNvPr>
          <p:cNvSpPr txBox="1"/>
          <p:nvPr/>
        </p:nvSpPr>
        <p:spPr>
          <a:xfrm>
            <a:off x="6743700" y="5613400"/>
            <a:ext cx="41656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1D4E89"/>
                </a:solidFill>
                <a:latin typeface="JetBrains Mono"/>
              </a:rPr>
              <a:t>→ 원소스 멀티유즈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680024D-055E-CD4F-B486-BCAE18054A47}"/>
              </a:ext>
            </a:extLst>
          </p:cNvPr>
          <p:cNvSpPr/>
          <p:nvPr/>
        </p:nvSpPr>
        <p:spPr>
          <a:xfrm>
            <a:off x="914400" y="2362200"/>
            <a:ext cx="431800" cy="762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4274DB-52A2-3545-807B-9F0E1E2EA570}"/>
              </a:ext>
            </a:extLst>
          </p:cNvPr>
          <p:cNvSpPr txBox="1"/>
          <p:nvPr/>
        </p:nvSpPr>
        <p:spPr>
          <a:xfrm>
            <a:off x="914400" y="2540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E8A33D"/>
                </a:solidFill>
                <a:latin typeface="JetBrains Mono"/>
              </a:rPr>
              <a:t>SESSION 1</a:t>
            </a:r>
            <a:endParaRPr lang="ko-KR" altLang="en-US" sz="15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50DB11-0891-4240-9DB7-D487F35F9789}"/>
              </a:ext>
            </a:extLst>
          </p:cNvPr>
          <p:cNvSpPr txBox="1"/>
          <p:nvPr/>
        </p:nvSpPr>
        <p:spPr>
          <a:xfrm>
            <a:off x="914400" y="2895600"/>
            <a:ext cx="103632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3200" b="1">
                <a:solidFill>
                  <a:srgbClr val="FFFFFF"/>
                </a:solidFill>
                <a:latin typeface="Noto Serif KR"/>
              </a:rPr>
              <a:t>제품</a:t>
            </a:r>
            <a:r>
              <a:rPr lang="en-US" altLang="ko-KR" sz="3200" b="1">
                <a:solidFill>
                  <a:srgbClr val="FFFFFF"/>
                </a:solidFill>
                <a:latin typeface="Noto Serif KR"/>
              </a:rPr>
              <a:t>·</a:t>
            </a:r>
            <a:r>
              <a:rPr lang="ko-KR" altLang="en-US" sz="3200" b="1">
                <a:solidFill>
                  <a:srgbClr val="FFFFFF"/>
                </a:solidFill>
                <a:latin typeface="Noto Serif KR"/>
              </a:rPr>
              <a:t>서비스 소개문 작성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1441AC-0580-A744-8540-0321A40AFE51}"/>
              </a:ext>
            </a:extLst>
          </p:cNvPr>
          <p:cNvSpPr txBox="1"/>
          <p:nvPr/>
        </p:nvSpPr>
        <p:spPr>
          <a:xfrm>
            <a:off x="914400" y="3657600"/>
            <a:ext cx="10033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00">
                <a:solidFill>
                  <a:srgbClr val="DCE6F2"/>
                </a:solidFill>
                <a:latin typeface="Pretendard"/>
              </a:rPr>
              <a:t>소개문은 ‘고객 문제 → 해결 → 근거 → 행동유도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(CTA)’</a:t>
            </a:r>
            <a:r>
              <a:rPr lang="ko-KR" altLang="en-US" sz="1600">
                <a:solidFill>
                  <a:srgbClr val="DCE6F2"/>
                </a:solidFill>
                <a:latin typeface="Pretendard"/>
              </a:rPr>
              <a:t>의 흐름으로 구조화한다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.</a:t>
            </a:r>
            <a:endParaRPr lang="ko-KR" altLang="en-US" sz="1600">
              <a:solidFill>
                <a:srgbClr val="DCE6F2"/>
              </a:solidFill>
              <a:latin typeface="Pretendard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1478F383-E20D-2C41-825C-87962E9805EE}"/>
              </a:ext>
            </a:extLst>
          </p:cNvPr>
          <p:cNvSpPr/>
          <p:nvPr/>
        </p:nvSpPr>
        <p:spPr>
          <a:xfrm>
            <a:off x="914400" y="4521200"/>
            <a:ext cx="2616200" cy="8890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FFFFFF"/>
                </a:solidFill>
                <a:latin typeface="Pretendard"/>
              </a:rPr>
              <a:t>고객 문제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F8508C-46A8-7B45-8098-6A27C943574D}"/>
              </a:ext>
            </a:extLst>
          </p:cNvPr>
          <p:cNvSpPr txBox="1"/>
          <p:nvPr/>
        </p:nvSpPr>
        <p:spPr>
          <a:xfrm>
            <a:off x="3530600" y="4521200"/>
            <a:ext cx="558800" cy="889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2400" b="1">
                <a:solidFill>
                  <a:srgbClr val="9FB3CE"/>
                </a:solidFill>
                <a:latin typeface="Pretendard"/>
              </a:rPr>
              <a:t>→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164D2D8C-FD3E-9B4B-BB34-656A8B2C8683}"/>
              </a:ext>
            </a:extLst>
          </p:cNvPr>
          <p:cNvSpPr/>
          <p:nvPr/>
        </p:nvSpPr>
        <p:spPr>
          <a:xfrm>
            <a:off x="4089400" y="4521200"/>
            <a:ext cx="2616200" cy="8890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FFFFFF"/>
                </a:solidFill>
                <a:latin typeface="Pretendard"/>
              </a:rPr>
              <a:t>해결 </a:t>
            </a:r>
            <a:r>
              <a:rPr lang="en-US" altLang="ko-KR" sz="1600" b="1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1600" b="1">
                <a:solidFill>
                  <a:srgbClr val="FFFFFF"/>
                </a:solidFill>
                <a:latin typeface="Pretendard"/>
              </a:rPr>
              <a:t>근거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996100-BE8B-7544-A3B8-8E7625607C7D}"/>
              </a:ext>
            </a:extLst>
          </p:cNvPr>
          <p:cNvSpPr txBox="1"/>
          <p:nvPr/>
        </p:nvSpPr>
        <p:spPr>
          <a:xfrm>
            <a:off x="6705600" y="4521200"/>
            <a:ext cx="558800" cy="889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2400" b="1">
                <a:solidFill>
                  <a:srgbClr val="9FB3CE"/>
                </a:solidFill>
                <a:latin typeface="Pretendard"/>
              </a:rPr>
              <a:t>→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B401B242-AAF1-DA46-93C2-0B7DA8198D90}"/>
              </a:ext>
            </a:extLst>
          </p:cNvPr>
          <p:cNvSpPr/>
          <p:nvPr/>
        </p:nvSpPr>
        <p:spPr>
          <a:xfrm>
            <a:off x="7264400" y="4521200"/>
            <a:ext cx="2616200" cy="889000"/>
          </a:xfrm>
          <a:prstGeom prst="round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행동유도</a:t>
            </a:r>
            <a:r>
              <a:rPr lang="en-US" altLang="ko-KR" sz="1600" b="1">
                <a:solidFill>
                  <a:srgbClr val="14213D"/>
                </a:solidFill>
                <a:latin typeface="Pretendard"/>
              </a:rPr>
              <a:t>(CTA)</a:t>
            </a:r>
            <a:endParaRPr lang="ko-KR" altLang="en-US" sz="1600" b="1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68F8C2-36F5-B749-A52D-55A5BA3A5968}"/>
              </a:ext>
            </a:extLst>
          </p:cNvPr>
          <p:cNvSpPr txBox="1"/>
          <p:nvPr/>
        </p:nvSpPr>
        <p:spPr>
          <a:xfrm>
            <a:off x="914400" y="5740400"/>
            <a:ext cx="103632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>
                <a:solidFill>
                  <a:srgbClr val="9FB3CE"/>
                </a:solidFill>
                <a:latin typeface="JetBrains Mono"/>
              </a:rPr>
              <a:t>→ PAS </a:t>
            </a:r>
            <a:r>
              <a:rPr lang="ko-KR" altLang="en-US" sz="1400">
                <a:solidFill>
                  <a:srgbClr val="9FB3CE"/>
                </a:solidFill>
                <a:latin typeface="JetBrains Mono"/>
              </a:rPr>
              <a:t>골격으로 짧고 강하게 쓴다</a:t>
            </a:r>
            <a:r>
              <a:rPr lang="en-US" altLang="ko-KR" sz="1400">
                <a:solidFill>
                  <a:srgbClr val="9FB3CE"/>
                </a:solidFill>
                <a:latin typeface="JetBrains Mono"/>
              </a:rPr>
              <a:t>.</a:t>
            </a:r>
            <a:endParaRPr lang="ko-KR" altLang="en-US" sz="1400">
              <a:solidFill>
                <a:srgbClr val="9FB3CE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핵심 개념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핵심 개념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E9FEDA84-6C31-C349-8DD7-669E344F5EE8}"/>
              </a:ext>
            </a:extLst>
          </p:cNvPr>
          <p:cNvSpPr/>
          <p:nvPr/>
        </p:nvSpPr>
        <p:spPr>
          <a:xfrm>
            <a:off x="825500" y="1905000"/>
            <a:ext cx="3340100" cy="4381500"/>
          </a:xfrm>
          <a:prstGeom prst="roundRect">
            <a:avLst>
              <a:gd name="adj" fmla="val 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3AB400A-ED97-3048-AB77-2CE3E5C34750}"/>
              </a:ext>
            </a:extLst>
          </p:cNvPr>
          <p:cNvSpPr/>
          <p:nvPr/>
        </p:nvSpPr>
        <p:spPr>
          <a:xfrm>
            <a:off x="825500" y="1905000"/>
            <a:ext cx="3340100" cy="88900"/>
          </a:xfrm>
          <a:prstGeom prst="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1A2994F3-0CA8-5E48-89BF-22D3646BF92A}"/>
              </a:ext>
            </a:extLst>
          </p:cNvPr>
          <p:cNvSpPr/>
          <p:nvPr/>
        </p:nvSpPr>
        <p:spPr>
          <a:xfrm>
            <a:off x="11303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1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46B2D7-D042-934A-B44E-A6AB1D944D6C}"/>
              </a:ext>
            </a:extLst>
          </p:cNvPr>
          <p:cNvSpPr txBox="1"/>
          <p:nvPr/>
        </p:nvSpPr>
        <p:spPr>
          <a:xfrm>
            <a:off x="11303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50" b="1">
                <a:solidFill>
                  <a:srgbClr val="14213D"/>
                </a:solidFill>
                <a:latin typeface="Pretendard"/>
              </a:rPr>
              <a:t>PAS </a:t>
            </a:r>
            <a:r>
              <a:rPr lang="ko-KR" altLang="en-US" sz="1650" b="1">
                <a:solidFill>
                  <a:srgbClr val="14213D"/>
                </a:solidFill>
                <a:latin typeface="Pretendard"/>
              </a:rPr>
              <a:t>구조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F1AC2D0-BCFE-ED4C-A2E8-F2020FFAA64C}"/>
              </a:ext>
            </a:extLst>
          </p:cNvPr>
          <p:cNvSpPr/>
          <p:nvPr/>
        </p:nvSpPr>
        <p:spPr>
          <a:xfrm>
            <a:off x="11303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D3B36E-E4A2-AF48-B78B-88B1E6171824}"/>
              </a:ext>
            </a:extLst>
          </p:cNvPr>
          <p:cNvSpPr txBox="1"/>
          <p:nvPr/>
        </p:nvSpPr>
        <p:spPr>
          <a:xfrm>
            <a:off x="11303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350">
                <a:solidFill>
                  <a:srgbClr val="576176"/>
                </a:solidFill>
                <a:latin typeface="Pretendard"/>
              </a:rPr>
              <a:t>Problem(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문제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)·Agitate(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공감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증폭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)·Solution(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해결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). 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짧은 홍보문에 가장 잘 먹히는 골격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35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03960527-CAD9-5C43-B8AA-197B8EBA564E}"/>
              </a:ext>
            </a:extLst>
          </p:cNvPr>
          <p:cNvSpPr/>
          <p:nvPr/>
        </p:nvSpPr>
        <p:spPr>
          <a:xfrm>
            <a:off x="1130300" y="5562600"/>
            <a:ext cx="2730500" cy="457200"/>
          </a:xfrm>
          <a:prstGeom prst="roundRect">
            <a:avLst/>
          </a:prstGeom>
          <a:solidFill>
            <a:srgbClr val="E7ECF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0D15F6-4B42-3140-9C5A-CF6718EF9F0E}"/>
              </a:ext>
            </a:extLst>
          </p:cNvPr>
          <p:cNvSpPr txBox="1"/>
          <p:nvPr/>
        </p:nvSpPr>
        <p:spPr>
          <a:xfrm>
            <a:off x="11303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14213D"/>
                </a:solidFill>
                <a:latin typeface="Pretendard"/>
              </a:rPr>
              <a:t>문제→증폭→해결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AAEA3AAA-E7A3-0F4C-B53C-D096E02476F2}"/>
              </a:ext>
            </a:extLst>
          </p:cNvPr>
          <p:cNvSpPr/>
          <p:nvPr/>
        </p:nvSpPr>
        <p:spPr>
          <a:xfrm>
            <a:off x="4419600" y="1905000"/>
            <a:ext cx="3340100" cy="4381500"/>
          </a:xfrm>
          <a:prstGeom prst="roundRect">
            <a:avLst>
              <a:gd name="adj" fmla="val 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FB21AF0-248A-DF43-9BBF-478CEF62E0CF}"/>
              </a:ext>
            </a:extLst>
          </p:cNvPr>
          <p:cNvSpPr/>
          <p:nvPr/>
        </p:nvSpPr>
        <p:spPr>
          <a:xfrm>
            <a:off x="4419600" y="1905000"/>
            <a:ext cx="3340100" cy="88900"/>
          </a:xfrm>
          <a:prstGeom prst="rect">
            <a:avLst/>
          </a:prstGeom>
          <a:solidFill>
            <a:srgbClr val="1D4E8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C1B60CA8-C347-3242-B4FD-70A16A261C40}"/>
              </a:ext>
            </a:extLst>
          </p:cNvPr>
          <p:cNvSpPr/>
          <p:nvPr/>
        </p:nvSpPr>
        <p:spPr>
          <a:xfrm>
            <a:off x="47244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2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E05102-8B51-F547-80C9-80B481D46531}"/>
              </a:ext>
            </a:extLst>
          </p:cNvPr>
          <p:cNvSpPr txBox="1"/>
          <p:nvPr/>
        </p:nvSpPr>
        <p:spPr>
          <a:xfrm>
            <a:off x="47244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50" b="1">
                <a:solidFill>
                  <a:srgbClr val="14213D"/>
                </a:solidFill>
                <a:latin typeface="Pretendard"/>
              </a:rPr>
              <a:t>특징 </a:t>
            </a:r>
            <a:r>
              <a:rPr lang="en-US" altLang="ko-KR" sz="1650" b="1">
                <a:solidFill>
                  <a:srgbClr val="14213D"/>
                </a:solidFill>
                <a:latin typeface="Pretendard"/>
              </a:rPr>
              <a:t>vs </a:t>
            </a:r>
            <a:r>
              <a:rPr lang="ko-KR" altLang="en-US" sz="1650" b="1">
                <a:solidFill>
                  <a:srgbClr val="14213D"/>
                </a:solidFill>
                <a:latin typeface="Pretendard"/>
              </a:rPr>
              <a:t>이득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DF6C6D3-DCB1-D943-83C9-B0E877C45EEB}"/>
              </a:ext>
            </a:extLst>
          </p:cNvPr>
          <p:cNvSpPr/>
          <p:nvPr/>
        </p:nvSpPr>
        <p:spPr>
          <a:xfrm>
            <a:off x="47244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3E1832-578A-604A-9B6A-BA7768EDC41E}"/>
              </a:ext>
            </a:extLst>
          </p:cNvPr>
          <p:cNvSpPr txBox="1"/>
          <p:nvPr/>
        </p:nvSpPr>
        <p:spPr>
          <a:xfrm>
            <a:off x="47244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50">
                <a:solidFill>
                  <a:srgbClr val="576176"/>
                </a:solidFill>
                <a:latin typeface="Pretendard"/>
              </a:rPr>
              <a:t>특징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(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무엇인가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)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을 이득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(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고객이 얻는 것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)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으로 번역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. ‘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용량 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2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배’→‘두 번 살 일 없다’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35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AB02110E-F9AC-C64A-B724-2997F94DF08C}"/>
              </a:ext>
            </a:extLst>
          </p:cNvPr>
          <p:cNvSpPr/>
          <p:nvPr/>
        </p:nvSpPr>
        <p:spPr>
          <a:xfrm>
            <a:off x="4724400" y="5562600"/>
            <a:ext cx="2730500" cy="457200"/>
          </a:xfrm>
          <a:prstGeom prst="roundRect">
            <a:avLst/>
          </a:prstGeom>
          <a:solidFill>
            <a:srgbClr val="E4EC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1FE24D-98B9-7545-B7CA-6F2B4C15DBD5}"/>
              </a:ext>
            </a:extLst>
          </p:cNvPr>
          <p:cNvSpPr txBox="1"/>
          <p:nvPr/>
        </p:nvSpPr>
        <p:spPr>
          <a:xfrm>
            <a:off x="47244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1D4E89"/>
                </a:solidFill>
                <a:latin typeface="Pretendard"/>
              </a:rPr>
              <a:t>이득으로 번역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CD80F526-472C-0D48-B83E-B1836E485145}"/>
              </a:ext>
            </a:extLst>
          </p:cNvPr>
          <p:cNvSpPr/>
          <p:nvPr/>
        </p:nvSpPr>
        <p:spPr>
          <a:xfrm>
            <a:off x="8013700" y="1905000"/>
            <a:ext cx="3340100" cy="4381500"/>
          </a:xfrm>
          <a:prstGeom prst="roundRect">
            <a:avLst>
              <a:gd name="adj" fmla="val 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E567EC3-557E-BD40-9ADB-B022295B6446}"/>
              </a:ext>
            </a:extLst>
          </p:cNvPr>
          <p:cNvSpPr/>
          <p:nvPr/>
        </p:nvSpPr>
        <p:spPr>
          <a:xfrm>
            <a:off x="8013700" y="1905000"/>
            <a:ext cx="3340100" cy="889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23BE4357-B627-7D4F-8699-0A4740CAF25D}"/>
              </a:ext>
            </a:extLst>
          </p:cNvPr>
          <p:cNvSpPr/>
          <p:nvPr/>
        </p:nvSpPr>
        <p:spPr>
          <a:xfrm>
            <a:off x="83185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3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47F215-9F22-8447-849B-32617329AABC}"/>
              </a:ext>
            </a:extLst>
          </p:cNvPr>
          <p:cNvSpPr txBox="1"/>
          <p:nvPr/>
        </p:nvSpPr>
        <p:spPr>
          <a:xfrm>
            <a:off x="83185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50" b="1">
                <a:solidFill>
                  <a:srgbClr val="14213D"/>
                </a:solidFill>
                <a:latin typeface="Pretendard"/>
              </a:rPr>
              <a:t>톤 가이드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38E64C9-50B4-CE4A-95D4-D9322AD23760}"/>
              </a:ext>
            </a:extLst>
          </p:cNvPr>
          <p:cNvSpPr/>
          <p:nvPr/>
        </p:nvSpPr>
        <p:spPr>
          <a:xfrm>
            <a:off x="83185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96F226-D2F8-AB4E-B065-DE1314D21565}"/>
              </a:ext>
            </a:extLst>
          </p:cNvPr>
          <p:cNvSpPr txBox="1"/>
          <p:nvPr/>
        </p:nvSpPr>
        <p:spPr>
          <a:xfrm>
            <a:off x="83185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50">
                <a:solidFill>
                  <a:srgbClr val="576176"/>
                </a:solidFill>
                <a:latin typeface="Pretendard"/>
              </a:rPr>
              <a:t>말투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존댓말 여부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금지 표현을 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1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줄로 고정해 프롬프트에 항상 포함한다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35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8EC920ED-5EF3-D848-ABCB-03080ECD0E02}"/>
              </a:ext>
            </a:extLst>
          </p:cNvPr>
          <p:cNvSpPr/>
          <p:nvPr/>
        </p:nvSpPr>
        <p:spPr>
          <a:xfrm>
            <a:off x="8318500" y="5562600"/>
            <a:ext cx="2730500" cy="457200"/>
          </a:xfrm>
          <a:prstGeom prst="roundRect">
            <a:avLst/>
          </a:prstGeom>
          <a:solidFill>
            <a:srgbClr val="FBEF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03DDA2-B11F-D642-8670-06CDA7E30CE8}"/>
              </a:ext>
            </a:extLst>
          </p:cNvPr>
          <p:cNvSpPr txBox="1"/>
          <p:nvPr/>
        </p:nvSpPr>
        <p:spPr>
          <a:xfrm>
            <a:off x="83185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9A6B12"/>
                </a:solidFill>
                <a:latin typeface="Pretendard"/>
              </a:rPr>
              <a:t>톤 </a:t>
            </a:r>
            <a:r>
              <a:rPr lang="en-US" altLang="ko-KR" sz="1300" b="1">
                <a:solidFill>
                  <a:srgbClr val="9A6B12"/>
                </a:solidFill>
                <a:latin typeface="Pretendard"/>
              </a:rPr>
              <a:t>1</a:t>
            </a:r>
            <a:r>
              <a:rPr lang="ko-KR" altLang="en-US" sz="1300" b="1">
                <a:solidFill>
                  <a:srgbClr val="9A6B12"/>
                </a:solidFill>
                <a:latin typeface="Pretendard"/>
              </a:rPr>
              <a:t>줄 고정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개념 깊이 보기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개념을 예시로 — 우리 케이스에 적용하면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FCFF4161-DC67-F24F-828B-9BCDCAE40443}"/>
              </a:ext>
            </a:extLst>
          </p:cNvPr>
          <p:cNvSpPr/>
          <p:nvPr/>
        </p:nvSpPr>
        <p:spPr>
          <a:xfrm>
            <a:off x="825500" y="1905000"/>
            <a:ext cx="5461000" cy="4381500"/>
          </a:xfrm>
          <a:prstGeom prst="roundRect">
            <a:avLst>
              <a:gd name="adj" fmla="val 4219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9C6AA5-F918-3F45-9273-19D2D467D124}"/>
              </a:ext>
            </a:extLst>
          </p:cNvPr>
          <p:cNvSpPr txBox="1"/>
          <p:nvPr/>
        </p:nvSpPr>
        <p:spPr>
          <a:xfrm>
            <a:off x="1181100" y="2159000"/>
            <a:ext cx="47498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b="1">
                <a:solidFill>
                  <a:srgbClr val="14213D"/>
                </a:solidFill>
                <a:latin typeface="Pretendard"/>
              </a:rPr>
              <a:t>PAS </a:t>
            </a:r>
            <a:r>
              <a:rPr lang="ko-KR" altLang="en-US" b="1">
                <a:solidFill>
                  <a:srgbClr val="14213D"/>
                </a:solidFill>
                <a:latin typeface="Pretendard"/>
              </a:rPr>
              <a:t>구조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59897A-0EAF-8D4F-B42C-6A09A6193A74}"/>
              </a:ext>
            </a:extLst>
          </p:cNvPr>
          <p:cNvSpPr txBox="1"/>
          <p:nvPr/>
        </p:nvSpPr>
        <p:spPr>
          <a:xfrm>
            <a:off x="1181100" y="2540000"/>
            <a:ext cx="47498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250">
                <a:solidFill>
                  <a:srgbClr val="576176"/>
                </a:solidFill>
                <a:latin typeface="Pretendard"/>
              </a:rPr>
              <a:t>문제 → 증폭 → 해결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EA29A91B-9CF4-9D48-87CD-C0339922F93B}"/>
              </a:ext>
            </a:extLst>
          </p:cNvPr>
          <p:cNvSpPr/>
          <p:nvPr/>
        </p:nvSpPr>
        <p:spPr>
          <a:xfrm>
            <a:off x="1181100" y="29464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P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880F37-A42A-144B-9CFD-F75D1C4D270C}"/>
              </a:ext>
            </a:extLst>
          </p:cNvPr>
          <p:cNvSpPr txBox="1"/>
          <p:nvPr/>
        </p:nvSpPr>
        <p:spPr>
          <a:xfrm>
            <a:off x="1841500" y="2921000"/>
            <a:ext cx="4064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14213D"/>
                </a:solidFill>
                <a:latin typeface="Pretendard"/>
              </a:rPr>
              <a:t>문제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8D4EE3-B036-2C49-9A9D-5DAA69FF1D12}"/>
              </a:ext>
            </a:extLst>
          </p:cNvPr>
          <p:cNvSpPr txBox="1"/>
          <p:nvPr/>
        </p:nvSpPr>
        <p:spPr>
          <a:xfrm>
            <a:off x="1841500" y="3200400"/>
            <a:ext cx="4064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50">
                <a:solidFill>
                  <a:srgbClr val="576176"/>
                </a:solidFill>
                <a:latin typeface="Pretendard"/>
              </a:rPr>
              <a:t>“혼술은 늘고 싶은데 내일이 걱정”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4F166B15-58E4-6F44-B448-D866AED1F777}"/>
              </a:ext>
            </a:extLst>
          </p:cNvPr>
          <p:cNvSpPr/>
          <p:nvPr/>
        </p:nvSpPr>
        <p:spPr>
          <a:xfrm>
            <a:off x="1181100" y="3937000"/>
            <a:ext cx="508000" cy="508000"/>
          </a:xfrm>
          <a:prstGeom prst="ellipse">
            <a:avLst/>
          </a:prstGeom>
          <a:solidFill>
            <a:srgbClr val="1D4E8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A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F3DE31-4CDF-9045-975E-387EAF316F9D}"/>
              </a:ext>
            </a:extLst>
          </p:cNvPr>
          <p:cNvSpPr txBox="1"/>
          <p:nvPr/>
        </p:nvSpPr>
        <p:spPr>
          <a:xfrm>
            <a:off x="1841500" y="3911600"/>
            <a:ext cx="4064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14213D"/>
                </a:solidFill>
                <a:latin typeface="Pretendard"/>
              </a:rPr>
              <a:t>증폭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5C87EB-8D7D-2949-A2C1-9D5CEF7BB615}"/>
              </a:ext>
            </a:extLst>
          </p:cNvPr>
          <p:cNvSpPr txBox="1"/>
          <p:nvPr/>
        </p:nvSpPr>
        <p:spPr>
          <a:xfrm>
            <a:off x="1841500" y="4191000"/>
            <a:ext cx="4064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50">
                <a:solidFill>
                  <a:srgbClr val="576176"/>
                </a:solidFill>
                <a:latin typeface="Pretendard"/>
              </a:rPr>
              <a:t>“숙취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칼로리 때문에 망설인다”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E5BEA390-CC88-F94B-9863-692ACAB1EAEE}"/>
              </a:ext>
            </a:extLst>
          </p:cNvPr>
          <p:cNvSpPr/>
          <p:nvPr/>
        </p:nvSpPr>
        <p:spPr>
          <a:xfrm>
            <a:off x="1079500" y="4876800"/>
            <a:ext cx="5029200" cy="838200"/>
          </a:xfrm>
          <a:prstGeom prst="roundRect">
            <a:avLst/>
          </a:prstGeom>
          <a:solidFill>
            <a:srgbClr val="FBEF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45D165B-E192-0B4E-A45B-43B36A68A3EF}"/>
              </a:ext>
            </a:extLst>
          </p:cNvPr>
          <p:cNvSpPr/>
          <p:nvPr/>
        </p:nvSpPr>
        <p:spPr>
          <a:xfrm>
            <a:off x="1181100" y="4927600"/>
            <a:ext cx="508000" cy="508000"/>
          </a:xfrm>
          <a:prstGeom prst="ellipse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S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A895D1-941D-5B41-BBDC-B813FFE83DB4}"/>
              </a:ext>
            </a:extLst>
          </p:cNvPr>
          <p:cNvSpPr txBox="1"/>
          <p:nvPr/>
        </p:nvSpPr>
        <p:spPr>
          <a:xfrm>
            <a:off x="1841500" y="4902200"/>
            <a:ext cx="4064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14213D"/>
                </a:solidFill>
                <a:latin typeface="Pretendard"/>
              </a:rPr>
              <a:t>해결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A043CE-A4DA-B648-8A5F-6C1B408C4A8A}"/>
              </a:ext>
            </a:extLst>
          </p:cNvPr>
          <p:cNvSpPr txBox="1"/>
          <p:nvPr/>
        </p:nvSpPr>
        <p:spPr>
          <a:xfrm>
            <a:off x="1841500" y="5181600"/>
            <a:ext cx="4064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350" b="1">
                <a:solidFill>
                  <a:srgbClr val="14213D"/>
                </a:solidFill>
                <a:latin typeface="Pretendard"/>
              </a:rPr>
              <a:t>“Night Off</a:t>
            </a:r>
            <a:r>
              <a:rPr lang="ko-KR" altLang="en-US" sz="1350" b="1">
                <a:solidFill>
                  <a:srgbClr val="14213D"/>
                </a:solidFill>
                <a:latin typeface="Pretendard"/>
              </a:rPr>
              <a:t>면 부담 없이 즐긴다”</a:t>
            </a: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5748236A-0729-134B-97D7-7DA5D772CD40}"/>
              </a:ext>
            </a:extLst>
          </p:cNvPr>
          <p:cNvSpPr/>
          <p:nvPr/>
        </p:nvSpPr>
        <p:spPr>
          <a:xfrm>
            <a:off x="6540500" y="1905000"/>
            <a:ext cx="4826000" cy="4381500"/>
          </a:xfrm>
          <a:prstGeom prst="roundRect">
            <a:avLst>
              <a:gd name="adj" fmla="val 3486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BC86B7-92A0-1F42-B0DE-4F07CDB9C862}"/>
              </a:ext>
            </a:extLst>
          </p:cNvPr>
          <p:cNvSpPr txBox="1"/>
          <p:nvPr/>
        </p:nvSpPr>
        <p:spPr>
          <a:xfrm>
            <a:off x="6845300" y="2159000"/>
            <a:ext cx="42164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FFFFFF"/>
                </a:solidFill>
                <a:latin typeface="Pretendard"/>
              </a:rPr>
              <a:t>특징 → 이득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C994A9-F8AA-3B4B-A945-3708BFEE43F4}"/>
              </a:ext>
            </a:extLst>
          </p:cNvPr>
          <p:cNvSpPr txBox="1"/>
          <p:nvPr/>
        </p:nvSpPr>
        <p:spPr>
          <a:xfrm>
            <a:off x="6845300" y="2540000"/>
            <a:ext cx="42164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250">
                <a:solidFill>
                  <a:srgbClr val="E8A33D"/>
                </a:solidFill>
                <a:latin typeface="Pretendard"/>
              </a:rPr>
              <a:t>고객이 얻는 것으로 번역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24D155-FEEC-D440-BEFD-DFA798AE015A}"/>
              </a:ext>
            </a:extLst>
          </p:cNvPr>
          <p:cNvSpPr txBox="1"/>
          <p:nvPr/>
        </p:nvSpPr>
        <p:spPr>
          <a:xfrm>
            <a:off x="6845300" y="2997200"/>
            <a:ext cx="42164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150" b="1">
                <a:solidFill>
                  <a:srgbClr val="9FB3CE"/>
                </a:solidFill>
                <a:latin typeface="JetBrains Mono"/>
              </a:rPr>
              <a:t>특징 </a:t>
            </a:r>
            <a:r>
              <a:rPr lang="en-US" altLang="ko-KR" sz="1150" b="1">
                <a:solidFill>
                  <a:srgbClr val="9FB3CE"/>
                </a:solidFill>
                <a:latin typeface="JetBrains Mono"/>
              </a:rPr>
              <a:t>(Feature)</a:t>
            </a:r>
            <a:endParaRPr lang="ko-KR" altLang="en-US" sz="1150" b="1">
              <a:solidFill>
                <a:srgbClr val="9FB3CE"/>
              </a:solidFill>
              <a:latin typeface="JetBrains Mono"/>
            </a:endParaRP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4C0ABD78-CA2E-D345-9652-FC195C8C9B81}"/>
              </a:ext>
            </a:extLst>
          </p:cNvPr>
          <p:cNvSpPr/>
          <p:nvPr/>
        </p:nvSpPr>
        <p:spPr>
          <a:xfrm>
            <a:off x="6845300" y="3251200"/>
            <a:ext cx="4216400" cy="711200"/>
          </a:xfrm>
          <a:prstGeom prst="roundRect">
            <a:avLst/>
          </a:prstGeom>
          <a:solidFill>
            <a:srgbClr val="20314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3A7C42-5273-1344-91E7-BD8F141FC458}"/>
              </a:ext>
            </a:extLst>
          </p:cNvPr>
          <p:cNvSpPr txBox="1"/>
          <p:nvPr/>
        </p:nvSpPr>
        <p:spPr>
          <a:xfrm>
            <a:off x="6845300" y="3251200"/>
            <a:ext cx="4216400" cy="711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700" b="1">
                <a:solidFill>
                  <a:srgbClr val="FFFFFF"/>
                </a:solidFill>
                <a:latin typeface="Pretendard"/>
              </a:rPr>
              <a:t>칼로리 </a:t>
            </a:r>
            <a:r>
              <a:rPr lang="en-US" altLang="ko-KR" sz="1700" b="1">
                <a:solidFill>
                  <a:srgbClr val="FFFFFF"/>
                </a:solidFill>
                <a:latin typeface="Pretendard"/>
              </a:rPr>
              <a:t>30% ↓</a:t>
            </a:r>
            <a:endParaRPr lang="ko-KR" altLang="en-US" sz="17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932E80-21C2-0F46-89C5-332BB4FC4D91}"/>
              </a:ext>
            </a:extLst>
          </p:cNvPr>
          <p:cNvSpPr txBox="1"/>
          <p:nvPr/>
        </p:nvSpPr>
        <p:spPr>
          <a:xfrm>
            <a:off x="6845300" y="4038600"/>
            <a:ext cx="42164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2200" b="1">
                <a:solidFill>
                  <a:srgbClr val="E8A33D"/>
                </a:solidFill>
                <a:latin typeface="Pretendard"/>
              </a:rPr>
              <a:t>↓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20189F-23F2-0544-BF8A-9E681BB9CF9B}"/>
              </a:ext>
            </a:extLst>
          </p:cNvPr>
          <p:cNvSpPr txBox="1"/>
          <p:nvPr/>
        </p:nvSpPr>
        <p:spPr>
          <a:xfrm>
            <a:off x="6845300" y="4445000"/>
            <a:ext cx="42164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150" b="1">
                <a:solidFill>
                  <a:srgbClr val="E8A33D"/>
                </a:solidFill>
                <a:latin typeface="JetBrains Mono"/>
              </a:rPr>
              <a:t>이득 </a:t>
            </a:r>
            <a:r>
              <a:rPr lang="en-US" altLang="ko-KR" sz="1150" b="1">
                <a:solidFill>
                  <a:srgbClr val="E8A33D"/>
                </a:solidFill>
                <a:latin typeface="JetBrains Mono"/>
              </a:rPr>
              <a:t>(Benefit)</a:t>
            </a:r>
            <a:endParaRPr lang="ko-KR" altLang="en-US" sz="115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D4194793-25BB-2C4F-A963-3F879EA4B0F9}"/>
              </a:ext>
            </a:extLst>
          </p:cNvPr>
          <p:cNvSpPr/>
          <p:nvPr/>
        </p:nvSpPr>
        <p:spPr>
          <a:xfrm>
            <a:off x="6845300" y="4699000"/>
            <a:ext cx="4216400" cy="838200"/>
          </a:xfrm>
          <a:prstGeom prst="round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C97337-8526-3145-BCEE-1F4FE2C659F6}"/>
              </a:ext>
            </a:extLst>
          </p:cNvPr>
          <p:cNvSpPr txBox="1"/>
          <p:nvPr/>
        </p:nvSpPr>
        <p:spPr>
          <a:xfrm>
            <a:off x="6845300" y="4699000"/>
            <a:ext cx="421640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550" b="1">
                <a:solidFill>
                  <a:srgbClr val="14213D"/>
                </a:solidFill>
                <a:latin typeface="Pretendard"/>
              </a:rPr>
              <a:t>“한 캔 더 마셔도 죄책감 없다”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절차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실습 절차 — 직접 해봅니다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EC573A62-F852-1441-9AA9-6A8161F2424D}"/>
              </a:ext>
            </a:extLst>
          </p:cNvPr>
          <p:cNvSpPr/>
          <p:nvPr/>
        </p:nvSpPr>
        <p:spPr>
          <a:xfrm>
            <a:off x="825500" y="1930400"/>
            <a:ext cx="10541000" cy="9398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AC3F05-726F-AE45-A648-7D5E7B2E7CF6}"/>
              </a:ext>
            </a:extLst>
          </p:cNvPr>
          <p:cNvSpPr/>
          <p:nvPr/>
        </p:nvSpPr>
        <p:spPr>
          <a:xfrm>
            <a:off x="825500" y="19304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93AD0A68-7AA4-154E-9716-F3CE5C70338F}"/>
              </a:ext>
            </a:extLst>
          </p:cNvPr>
          <p:cNvSpPr/>
          <p:nvPr/>
        </p:nvSpPr>
        <p:spPr>
          <a:xfrm>
            <a:off x="1143000" y="21590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1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8368CB-2A18-4147-A239-D15FD60686A5}"/>
              </a:ext>
            </a:extLst>
          </p:cNvPr>
          <p:cNvSpPr txBox="1"/>
          <p:nvPr/>
        </p:nvSpPr>
        <p:spPr>
          <a:xfrm>
            <a:off x="1905000" y="20955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톤</a:t>
            </a:r>
            <a:r>
              <a:rPr lang="en-US" altLang="ko-KR" sz="1600" b="1">
                <a:solidFill>
                  <a:srgbClr val="14213D"/>
                </a:solidFill>
                <a:latin typeface="Pretendard"/>
              </a:rPr>
              <a:t>·</a:t>
            </a:r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메시지 붙여넣기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2C80EA-1FC3-3647-8310-4C7CA72054E0}"/>
              </a:ext>
            </a:extLst>
          </p:cNvPr>
          <p:cNvSpPr txBox="1"/>
          <p:nvPr/>
        </p:nvSpPr>
        <p:spPr>
          <a:xfrm>
            <a:off x="4546600" y="20574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400">
                <a:solidFill>
                  <a:srgbClr val="576176"/>
                </a:solidFill>
                <a:latin typeface="Pretendard"/>
              </a:rPr>
              <a:t>M2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메시지 하우스와 톤 가이드를 프롬프트에 붙여 넣는다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11B6620F-F79B-B948-B3BF-3B18AB209E55}"/>
              </a:ext>
            </a:extLst>
          </p:cNvPr>
          <p:cNvSpPr/>
          <p:nvPr/>
        </p:nvSpPr>
        <p:spPr>
          <a:xfrm>
            <a:off x="825500" y="2971800"/>
            <a:ext cx="10541000" cy="9398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BA93EEE-CCA8-5F43-B3C4-5DE48E12CF11}"/>
              </a:ext>
            </a:extLst>
          </p:cNvPr>
          <p:cNvSpPr/>
          <p:nvPr/>
        </p:nvSpPr>
        <p:spPr>
          <a:xfrm>
            <a:off x="825500" y="29718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40A60535-EAA3-E54D-8D86-DF2D98D2D303}"/>
              </a:ext>
            </a:extLst>
          </p:cNvPr>
          <p:cNvSpPr/>
          <p:nvPr/>
        </p:nvSpPr>
        <p:spPr>
          <a:xfrm>
            <a:off x="1143000" y="32004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2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1F5E7F-5A56-F144-8E68-FDF7BF3ACB17}"/>
              </a:ext>
            </a:extLst>
          </p:cNvPr>
          <p:cNvSpPr txBox="1"/>
          <p:nvPr/>
        </p:nvSpPr>
        <p:spPr>
          <a:xfrm>
            <a:off x="1905000" y="31369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14213D"/>
                </a:solidFill>
                <a:latin typeface="Pretendard"/>
              </a:rPr>
              <a:t>PAS </a:t>
            </a:r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초안 생성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6D7739-4F91-0048-AF61-CA32A8B8AE4B}"/>
              </a:ext>
            </a:extLst>
          </p:cNvPr>
          <p:cNvSpPr txBox="1"/>
          <p:nvPr/>
        </p:nvSpPr>
        <p:spPr>
          <a:xfrm>
            <a:off x="4546600" y="30988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400">
                <a:solidFill>
                  <a:srgbClr val="576176"/>
                </a:solidFill>
                <a:latin typeface="Pretendard"/>
              </a:rPr>
              <a:t>PAS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구조로 제품 소개문 초안을 생성한다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B4A26599-40A9-E344-A076-5C61EB2BAD7D}"/>
              </a:ext>
            </a:extLst>
          </p:cNvPr>
          <p:cNvSpPr/>
          <p:nvPr/>
        </p:nvSpPr>
        <p:spPr>
          <a:xfrm>
            <a:off x="825500" y="4013200"/>
            <a:ext cx="10541000" cy="9398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9F8D733-BDD3-CA47-AC85-33C234630833}"/>
              </a:ext>
            </a:extLst>
          </p:cNvPr>
          <p:cNvSpPr/>
          <p:nvPr/>
        </p:nvSpPr>
        <p:spPr>
          <a:xfrm>
            <a:off x="825500" y="40132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312DF7D6-1898-1D42-B19E-FBCD5E1A68D3}"/>
              </a:ext>
            </a:extLst>
          </p:cNvPr>
          <p:cNvSpPr/>
          <p:nvPr/>
        </p:nvSpPr>
        <p:spPr>
          <a:xfrm>
            <a:off x="1143000" y="42418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3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12C6BE-346C-E743-A1C3-01E5AD1E88E9}"/>
              </a:ext>
            </a:extLst>
          </p:cNvPr>
          <p:cNvSpPr txBox="1"/>
          <p:nvPr/>
        </p:nvSpPr>
        <p:spPr>
          <a:xfrm>
            <a:off x="1905000" y="41783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이득으로 수정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46710E-F50E-2F47-B65B-F46CA98AA233}"/>
              </a:ext>
            </a:extLst>
          </p:cNvPr>
          <p:cNvSpPr txBox="1"/>
          <p:nvPr/>
        </p:nvSpPr>
        <p:spPr>
          <a:xfrm>
            <a:off x="4546600" y="41402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특징 표현을 이득 표현으로 바꾸도록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1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차 수정한다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FCFBF35F-74A0-3345-9A2E-D9C8F8B11FE1}"/>
              </a:ext>
            </a:extLst>
          </p:cNvPr>
          <p:cNvSpPr/>
          <p:nvPr/>
        </p:nvSpPr>
        <p:spPr>
          <a:xfrm>
            <a:off x="825500" y="5054600"/>
            <a:ext cx="10541000" cy="9398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4B3C0B5-5896-1346-A023-A10B35CDFC0A}"/>
              </a:ext>
            </a:extLst>
          </p:cNvPr>
          <p:cNvSpPr/>
          <p:nvPr/>
        </p:nvSpPr>
        <p:spPr>
          <a:xfrm>
            <a:off x="825500" y="50546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EE6551ED-A58F-5C4B-9E07-2EF9EAA0B932}"/>
              </a:ext>
            </a:extLst>
          </p:cNvPr>
          <p:cNvSpPr/>
          <p:nvPr/>
        </p:nvSpPr>
        <p:spPr>
          <a:xfrm>
            <a:off x="1143000" y="52832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4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EB99B3-75DC-3D45-A81E-2299AE7B1BE7}"/>
              </a:ext>
            </a:extLst>
          </p:cNvPr>
          <p:cNvSpPr txBox="1"/>
          <p:nvPr/>
        </p:nvSpPr>
        <p:spPr>
          <a:xfrm>
            <a:off x="1905000" y="52197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사실 검수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586C38-C4B8-8942-B24C-6CDF8C257278}"/>
              </a:ext>
            </a:extLst>
          </p:cNvPr>
          <p:cNvSpPr txBox="1"/>
          <p:nvPr/>
        </p:nvSpPr>
        <p:spPr>
          <a:xfrm>
            <a:off x="4546600" y="51816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수치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기능을 원본과 대조해 검수한다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프롬프트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제품 소개문 생성 프롬프트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32720" cy="4434840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502920" rIns="365760" bIns="320040" rtlCol="0" anchor="t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6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[톤] 친근한 반말 금지, 정중하지만 가벼운 존댓말.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6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[구조] PAS(문제→공감→해결)로, 280자 내외.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6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[필수] 핵심 메시지: "부담 없이 즐기는 진짜 맥주맛"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6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특징을 고객 이득으로 바꿔서 써줘.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6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제품 정보: 무알콜 수제 맥주, 칼로리 30%↓, 진짜 발효 공법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2103120"/>
            <a:ext cx="109728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실제 입력 → 출력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실제 예시 — PAS 소개문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83080"/>
            <a:ext cx="10332720" cy="1874519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502920" rIns="320040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[톤] 정중하지만 가벼운 존댓말 [구조] PAS, 280자 내외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[필수] 핵심 메시지 "부담 없이 즐기는 진짜 맥주맛", 특징을 이득으로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제품: 무알콜 수제 맥주 Night Off (칼로리 30%↓, 발효공법, 알코올 0.0%)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83080"/>
            <a:ext cx="2011680" cy="329184"/>
          </a:xfrm>
          <a:prstGeom prst="rect">
            <a:avLst/>
          </a:prstGeom>
          <a:solidFill>
            <a:srgbClr val="24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0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▸ 입력 프롬프트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794760"/>
            <a:ext cx="10332720" cy="2514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9EC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502920" rIns="32004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35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하루를 끝내고 한 잔이 간절한 밤, 그런데 내일 아침이 걱정이신가요?(P)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35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숙취도, 칼로리도, 운전 걱정도 매번 한 캔을 망설이게 합니다.(A)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35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Night Off는 진짜 발효 공법으로 맥주 본연의 맛은 살리고 알코올은 0.0%.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35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칼로리는 30% 낮춰, 오늘 밤을 제대로 즐기고도 내일을 멀쩡하게 시작합니다.(S)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794760"/>
            <a:ext cx="1828800" cy="329184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▸ 나온 결과(예)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정리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제품·서비스 소개문과 홍보 문안 작성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10332720" cy="1636776"/>
          </a:xfrm>
          <a:prstGeom prst="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28600" rIns="365760" bIns="18288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57A1A"/>
                </a:solidFill>
                <a:latin typeface="JetBrains Mono"/>
                <a:ea typeface="JetBrains Mono"/>
                <a:cs typeface="JetBrains Mono"/>
              </a:rPr>
              <a:t>⚠  흔한 실수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사실 검증 누락 → 칼로리·성분 수치는 반드시 원본 대조.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톤 가이드를 매번 안 넣으면 글마다 말투가 바뀐다.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739896"/>
            <a:ext cx="10332720" cy="100584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01168" rIns="365760" bIns="182880" rtlCol="0" anchor="t"/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📦  결과물 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제품·서비스 소개문 1편(PAS · 톤 일관 · 사실 검수 완료).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73F64A0-75B2-2847-B900-706A9251DBBB}"/>
              </a:ext>
            </a:extLst>
          </p:cNvPr>
          <p:cNvSpPr/>
          <p:nvPr/>
        </p:nvSpPr>
        <p:spPr>
          <a:xfrm>
            <a:off x="914400" y="2362200"/>
            <a:ext cx="431800" cy="762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936D1D-61F9-7D42-A8A2-7BC552E5C126}"/>
              </a:ext>
            </a:extLst>
          </p:cNvPr>
          <p:cNvSpPr txBox="1"/>
          <p:nvPr/>
        </p:nvSpPr>
        <p:spPr>
          <a:xfrm>
            <a:off x="914400" y="2540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E8A33D"/>
                </a:solidFill>
                <a:latin typeface="JetBrains Mono"/>
              </a:rPr>
              <a:t>SESSION 2</a:t>
            </a:r>
            <a:endParaRPr lang="ko-KR" altLang="en-US" sz="15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10FD3F-004D-2F4A-AF23-93708F51EDE8}"/>
              </a:ext>
            </a:extLst>
          </p:cNvPr>
          <p:cNvSpPr txBox="1"/>
          <p:nvPr/>
        </p:nvSpPr>
        <p:spPr>
          <a:xfrm>
            <a:off x="914400" y="2895600"/>
            <a:ext cx="103632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3200" b="1">
                <a:solidFill>
                  <a:srgbClr val="FFFFFF"/>
                </a:solidFill>
                <a:latin typeface="Noto Serif KR"/>
              </a:rPr>
              <a:t>한 메시지를 채널별로 변주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CFC4AE-3104-464E-B2B4-4DEF393D8AA6}"/>
              </a:ext>
            </a:extLst>
          </p:cNvPr>
          <p:cNvSpPr txBox="1"/>
          <p:nvPr/>
        </p:nvSpPr>
        <p:spPr>
          <a:xfrm>
            <a:off x="914400" y="3657600"/>
            <a:ext cx="10033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00">
                <a:solidFill>
                  <a:srgbClr val="DCE6F2"/>
                </a:solidFill>
                <a:latin typeface="Pretendard"/>
              </a:rPr>
              <a:t>같은 메시지를 채널 규격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(</a:t>
            </a:r>
            <a:r>
              <a:rPr lang="ko-KR" altLang="en-US" sz="1600">
                <a:solidFill>
                  <a:srgbClr val="DCE6F2"/>
                </a:solidFill>
                <a:latin typeface="Pretendard"/>
              </a:rPr>
              <a:t>글자 수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·</a:t>
            </a:r>
            <a:r>
              <a:rPr lang="ko-KR" altLang="en-US" sz="1600">
                <a:solidFill>
                  <a:srgbClr val="DCE6F2"/>
                </a:solidFill>
                <a:latin typeface="Pretendard"/>
              </a:rPr>
              <a:t>해시태그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·</a:t>
            </a:r>
            <a:r>
              <a:rPr lang="ko-KR" altLang="en-US" sz="1600">
                <a:solidFill>
                  <a:srgbClr val="DCE6F2"/>
                </a:solidFill>
                <a:latin typeface="Pretendard"/>
              </a:rPr>
              <a:t>말투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)</a:t>
            </a:r>
            <a:r>
              <a:rPr lang="ko-KR" altLang="en-US" sz="1600">
                <a:solidFill>
                  <a:srgbClr val="DCE6F2"/>
                </a:solidFill>
                <a:latin typeface="Pretendard"/>
              </a:rPr>
              <a:t>에 맞춰 한 번에 변주한다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.</a:t>
            </a:r>
            <a:endParaRPr lang="ko-KR" altLang="en-US" sz="1600">
              <a:solidFill>
                <a:srgbClr val="DCE6F2"/>
              </a:solidFill>
              <a:latin typeface="Pretendard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AECA01D3-3104-3441-B0DB-6F47E09756D3}"/>
              </a:ext>
            </a:extLst>
          </p:cNvPr>
          <p:cNvSpPr/>
          <p:nvPr/>
        </p:nvSpPr>
        <p:spPr>
          <a:xfrm>
            <a:off x="914400" y="4521200"/>
            <a:ext cx="2616200" cy="8890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FFFFFF"/>
                </a:solidFill>
                <a:latin typeface="Pretendard"/>
              </a:rPr>
              <a:t>인스타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9B3FFA-E887-8B4E-B6E4-330A8973A277}"/>
              </a:ext>
            </a:extLst>
          </p:cNvPr>
          <p:cNvSpPr txBox="1"/>
          <p:nvPr/>
        </p:nvSpPr>
        <p:spPr>
          <a:xfrm>
            <a:off x="3530600" y="4521200"/>
            <a:ext cx="558800" cy="889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2400" b="1">
                <a:solidFill>
                  <a:srgbClr val="9FB3CE"/>
                </a:solidFill>
                <a:latin typeface="Pretendard"/>
              </a:rPr>
              <a:t>→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7C45D6D5-A35B-074A-ABFD-4D3ABB81C45D}"/>
              </a:ext>
            </a:extLst>
          </p:cNvPr>
          <p:cNvSpPr/>
          <p:nvPr/>
        </p:nvSpPr>
        <p:spPr>
          <a:xfrm>
            <a:off x="4089400" y="4521200"/>
            <a:ext cx="2616200" cy="8890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FFFFFF"/>
                </a:solidFill>
                <a:latin typeface="Pretendard"/>
              </a:rPr>
              <a:t>블로그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1AF08E-266A-BF4E-9990-BDF7E2362565}"/>
              </a:ext>
            </a:extLst>
          </p:cNvPr>
          <p:cNvSpPr txBox="1"/>
          <p:nvPr/>
        </p:nvSpPr>
        <p:spPr>
          <a:xfrm>
            <a:off x="6705600" y="4521200"/>
            <a:ext cx="558800" cy="889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2400" b="1">
                <a:solidFill>
                  <a:srgbClr val="9FB3CE"/>
                </a:solidFill>
                <a:latin typeface="Pretendard"/>
              </a:rPr>
              <a:t>→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68F28E10-E34D-854F-839F-62522FE0DE8A}"/>
              </a:ext>
            </a:extLst>
          </p:cNvPr>
          <p:cNvSpPr/>
          <p:nvPr/>
        </p:nvSpPr>
        <p:spPr>
          <a:xfrm>
            <a:off x="7264400" y="4521200"/>
            <a:ext cx="2616200" cy="889000"/>
          </a:xfrm>
          <a:prstGeom prst="round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카드뉴스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010403-1A65-F149-8241-ECDEE7B2AD9F}"/>
              </a:ext>
            </a:extLst>
          </p:cNvPr>
          <p:cNvSpPr txBox="1"/>
          <p:nvPr/>
        </p:nvSpPr>
        <p:spPr>
          <a:xfrm>
            <a:off x="914400" y="5740400"/>
            <a:ext cx="103632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9FB3CE"/>
                </a:solidFill>
                <a:latin typeface="JetBrains Mono"/>
              </a:rPr>
              <a:t>→ 메시지 하우스 </a:t>
            </a:r>
            <a:r>
              <a:rPr lang="en-US" altLang="ko-KR" sz="1400">
                <a:solidFill>
                  <a:srgbClr val="9FB3CE"/>
                </a:solidFill>
                <a:latin typeface="JetBrains Mono"/>
              </a:rPr>
              <a:t>1</a:t>
            </a:r>
            <a:r>
              <a:rPr lang="ko-KR" altLang="en-US" sz="1400">
                <a:solidFill>
                  <a:srgbClr val="9FB3CE"/>
                </a:solidFill>
                <a:latin typeface="JetBrains Mono"/>
              </a:rPr>
              <a:t>개에서 모든 채널을 파생한다</a:t>
            </a:r>
            <a:r>
              <a:rPr lang="en-US" altLang="ko-KR" sz="1400">
                <a:solidFill>
                  <a:srgbClr val="9FB3CE"/>
                </a:solidFill>
                <a:latin typeface="JetBrains Mono"/>
              </a:rPr>
              <a:t>.</a:t>
            </a:r>
            <a:endParaRPr lang="ko-KR" altLang="en-US" sz="1400">
              <a:solidFill>
                <a:srgbClr val="9FB3CE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핵심 개념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핵심 개념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8DCED944-28BE-244A-B8FD-611CDE8CE510}"/>
              </a:ext>
            </a:extLst>
          </p:cNvPr>
          <p:cNvSpPr/>
          <p:nvPr/>
        </p:nvSpPr>
        <p:spPr>
          <a:xfrm>
            <a:off x="825500" y="1905000"/>
            <a:ext cx="33401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C35BECA-34CF-3D4D-A555-447026980247}"/>
              </a:ext>
            </a:extLst>
          </p:cNvPr>
          <p:cNvSpPr/>
          <p:nvPr/>
        </p:nvSpPr>
        <p:spPr>
          <a:xfrm>
            <a:off x="825500" y="1905000"/>
            <a:ext cx="3340100" cy="88900"/>
          </a:xfrm>
          <a:prstGeom prst="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7F4BF64-6ADB-894C-89C1-31E6E8193CD2}"/>
              </a:ext>
            </a:extLst>
          </p:cNvPr>
          <p:cNvSpPr/>
          <p:nvPr/>
        </p:nvSpPr>
        <p:spPr>
          <a:xfrm>
            <a:off x="11303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1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B023C4-518D-B04A-A0C0-3AF6454C45C7}"/>
              </a:ext>
            </a:extLst>
          </p:cNvPr>
          <p:cNvSpPr txBox="1"/>
          <p:nvPr/>
        </p:nvSpPr>
        <p:spPr>
          <a:xfrm>
            <a:off x="11303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50" b="1">
                <a:solidFill>
                  <a:srgbClr val="14213D"/>
                </a:solidFill>
                <a:latin typeface="Pretendard"/>
              </a:rPr>
              <a:t>채널 규격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287AD1B-5E1F-E849-B14D-D6B743D1C290}"/>
              </a:ext>
            </a:extLst>
          </p:cNvPr>
          <p:cNvSpPr/>
          <p:nvPr/>
        </p:nvSpPr>
        <p:spPr>
          <a:xfrm>
            <a:off x="11303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419053-B860-4142-B07E-84323602D38C}"/>
              </a:ext>
            </a:extLst>
          </p:cNvPr>
          <p:cNvSpPr txBox="1"/>
          <p:nvPr/>
        </p:nvSpPr>
        <p:spPr>
          <a:xfrm>
            <a:off x="11303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50">
                <a:solidFill>
                  <a:srgbClr val="576176"/>
                </a:solidFill>
                <a:latin typeface="Pretendard"/>
              </a:rPr>
              <a:t>인스타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(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짧고 빠르게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)·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블로그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(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키워드 길게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)·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카드뉴스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(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장당 한 문장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). 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채널마다 호흡이 다르다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35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30C6DB46-586B-3543-893E-E62950691235}"/>
              </a:ext>
            </a:extLst>
          </p:cNvPr>
          <p:cNvSpPr/>
          <p:nvPr/>
        </p:nvSpPr>
        <p:spPr>
          <a:xfrm>
            <a:off x="1130300" y="5562600"/>
            <a:ext cx="2730500" cy="457200"/>
          </a:xfrm>
          <a:prstGeom prst="roundRect">
            <a:avLst/>
          </a:prstGeom>
          <a:solidFill>
            <a:srgbClr val="E7ECF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38D82F-9F02-CC40-ABEA-F8A6AD355FFC}"/>
              </a:ext>
            </a:extLst>
          </p:cNvPr>
          <p:cNvSpPr txBox="1"/>
          <p:nvPr/>
        </p:nvSpPr>
        <p:spPr>
          <a:xfrm>
            <a:off x="11303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14213D"/>
                </a:solidFill>
                <a:latin typeface="Pretendard"/>
              </a:rPr>
              <a:t>채널마다 호흡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FE709CBB-B3C6-E74F-B836-6B950222D05E}"/>
              </a:ext>
            </a:extLst>
          </p:cNvPr>
          <p:cNvSpPr/>
          <p:nvPr/>
        </p:nvSpPr>
        <p:spPr>
          <a:xfrm>
            <a:off x="4419600" y="1905000"/>
            <a:ext cx="33401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64CFF8C-F224-7647-ACC5-A4FA03023ABE}"/>
              </a:ext>
            </a:extLst>
          </p:cNvPr>
          <p:cNvSpPr/>
          <p:nvPr/>
        </p:nvSpPr>
        <p:spPr>
          <a:xfrm>
            <a:off x="4419600" y="1905000"/>
            <a:ext cx="3340100" cy="88900"/>
          </a:xfrm>
          <a:prstGeom prst="rect">
            <a:avLst/>
          </a:prstGeom>
          <a:solidFill>
            <a:srgbClr val="1D4E8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95AC93E4-9B88-6A40-9549-AC6EE32FD514}"/>
              </a:ext>
            </a:extLst>
          </p:cNvPr>
          <p:cNvSpPr/>
          <p:nvPr/>
        </p:nvSpPr>
        <p:spPr>
          <a:xfrm>
            <a:off x="47244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2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BDBE73-4883-5840-984B-B5980E0D6A94}"/>
              </a:ext>
            </a:extLst>
          </p:cNvPr>
          <p:cNvSpPr txBox="1"/>
          <p:nvPr/>
        </p:nvSpPr>
        <p:spPr>
          <a:xfrm>
            <a:off x="47244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50" b="1">
                <a:solidFill>
                  <a:srgbClr val="14213D"/>
                </a:solidFill>
                <a:latin typeface="Pretendard"/>
              </a:rPr>
              <a:t>해시태그 믹스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BE90EBE-53C6-774B-8DAF-0BFDAC97AC06}"/>
              </a:ext>
            </a:extLst>
          </p:cNvPr>
          <p:cNvSpPr/>
          <p:nvPr/>
        </p:nvSpPr>
        <p:spPr>
          <a:xfrm>
            <a:off x="47244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BE4332-2B68-B041-8588-11D4ED4F3F1C}"/>
              </a:ext>
            </a:extLst>
          </p:cNvPr>
          <p:cNvSpPr txBox="1"/>
          <p:nvPr/>
        </p:nvSpPr>
        <p:spPr>
          <a:xfrm>
            <a:off x="47244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50">
                <a:solidFill>
                  <a:srgbClr val="576176"/>
                </a:solidFill>
                <a:latin typeface="Pretendard"/>
              </a:rPr>
              <a:t>대형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(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노출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)·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중형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(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관련성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)·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롱테일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(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전환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)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을 섞는다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. 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대형만 쓰면 묻힌다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35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7B270D19-1700-CC49-A64E-74041FA8808E}"/>
              </a:ext>
            </a:extLst>
          </p:cNvPr>
          <p:cNvSpPr/>
          <p:nvPr/>
        </p:nvSpPr>
        <p:spPr>
          <a:xfrm>
            <a:off x="4724400" y="5562600"/>
            <a:ext cx="2730500" cy="457200"/>
          </a:xfrm>
          <a:prstGeom prst="roundRect">
            <a:avLst/>
          </a:prstGeom>
          <a:solidFill>
            <a:srgbClr val="E4EC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72CCAA-70FF-174D-A68F-8A525490816A}"/>
              </a:ext>
            </a:extLst>
          </p:cNvPr>
          <p:cNvSpPr txBox="1"/>
          <p:nvPr/>
        </p:nvSpPr>
        <p:spPr>
          <a:xfrm>
            <a:off x="47244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1D4E89"/>
                </a:solidFill>
                <a:latin typeface="Pretendard"/>
              </a:rPr>
              <a:t>대 </a:t>
            </a:r>
            <a:r>
              <a:rPr lang="en-US" altLang="ko-KR" sz="1300" b="1">
                <a:solidFill>
                  <a:srgbClr val="1D4E89"/>
                </a:solidFill>
                <a:latin typeface="Pretendard"/>
              </a:rPr>
              <a:t>· </a:t>
            </a:r>
            <a:r>
              <a:rPr lang="ko-KR" altLang="en-US" sz="1300" b="1">
                <a:solidFill>
                  <a:srgbClr val="1D4E89"/>
                </a:solidFill>
                <a:latin typeface="Pretendard"/>
              </a:rPr>
              <a:t>중 </a:t>
            </a:r>
            <a:r>
              <a:rPr lang="en-US" altLang="ko-KR" sz="1300" b="1">
                <a:solidFill>
                  <a:srgbClr val="1D4E89"/>
                </a:solidFill>
                <a:latin typeface="Pretendard"/>
              </a:rPr>
              <a:t>· </a:t>
            </a:r>
            <a:r>
              <a:rPr lang="ko-KR" altLang="en-US" sz="1300" b="1">
                <a:solidFill>
                  <a:srgbClr val="1D4E89"/>
                </a:solidFill>
                <a:latin typeface="Pretendard"/>
              </a:rPr>
              <a:t>롱테일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F92A603B-74A4-D24D-AD81-C4753A6837C7}"/>
              </a:ext>
            </a:extLst>
          </p:cNvPr>
          <p:cNvSpPr/>
          <p:nvPr/>
        </p:nvSpPr>
        <p:spPr>
          <a:xfrm>
            <a:off x="8013700" y="1905000"/>
            <a:ext cx="33401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482C013-E5B7-E840-A2E3-0D236C959DDA}"/>
              </a:ext>
            </a:extLst>
          </p:cNvPr>
          <p:cNvSpPr/>
          <p:nvPr/>
        </p:nvSpPr>
        <p:spPr>
          <a:xfrm>
            <a:off x="8013700" y="1905000"/>
            <a:ext cx="3340100" cy="889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54154022-951B-2D48-8408-21844D508DC5}"/>
              </a:ext>
            </a:extLst>
          </p:cNvPr>
          <p:cNvSpPr/>
          <p:nvPr/>
        </p:nvSpPr>
        <p:spPr>
          <a:xfrm>
            <a:off x="83185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3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7877A6-86BA-E94F-96E4-9E351BFDA1C2}"/>
              </a:ext>
            </a:extLst>
          </p:cNvPr>
          <p:cNvSpPr txBox="1"/>
          <p:nvPr/>
        </p:nvSpPr>
        <p:spPr>
          <a:xfrm>
            <a:off x="83185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50" b="1">
                <a:solidFill>
                  <a:srgbClr val="14213D"/>
                </a:solidFill>
                <a:latin typeface="Pretendard"/>
              </a:rPr>
              <a:t>원소스 멀티유즈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91BA9F2-AD8D-854E-B98D-1A403B6C7E51}"/>
              </a:ext>
            </a:extLst>
          </p:cNvPr>
          <p:cNvSpPr/>
          <p:nvPr/>
        </p:nvSpPr>
        <p:spPr>
          <a:xfrm>
            <a:off x="83185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849F469-B87E-DC4E-BB18-2EDE3428EEBE}"/>
              </a:ext>
            </a:extLst>
          </p:cNvPr>
          <p:cNvSpPr txBox="1"/>
          <p:nvPr/>
        </p:nvSpPr>
        <p:spPr>
          <a:xfrm>
            <a:off x="83185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50">
                <a:solidFill>
                  <a:srgbClr val="576176"/>
                </a:solidFill>
                <a:latin typeface="Pretendard"/>
              </a:rPr>
              <a:t>메시지 하우스 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1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개에서 모든 채널을 파생 → 톤 일관 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+ 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제작 속도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35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B72594B8-E6A4-3042-9C06-6AEA693D6ED5}"/>
              </a:ext>
            </a:extLst>
          </p:cNvPr>
          <p:cNvSpPr/>
          <p:nvPr/>
        </p:nvSpPr>
        <p:spPr>
          <a:xfrm>
            <a:off x="8318500" y="5562600"/>
            <a:ext cx="2730500" cy="457200"/>
          </a:xfrm>
          <a:prstGeom prst="roundRect">
            <a:avLst/>
          </a:prstGeom>
          <a:solidFill>
            <a:srgbClr val="FBEF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00A083-8F0D-AC46-95A5-7AA64563D6BA}"/>
              </a:ext>
            </a:extLst>
          </p:cNvPr>
          <p:cNvSpPr txBox="1"/>
          <p:nvPr/>
        </p:nvSpPr>
        <p:spPr>
          <a:xfrm>
            <a:off x="83185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9A6B12"/>
                </a:solidFill>
                <a:latin typeface="Pretendard"/>
              </a:rPr>
              <a:t>1</a:t>
            </a:r>
            <a:r>
              <a:rPr lang="ko-KR" altLang="en-US" sz="1300" b="1">
                <a:solidFill>
                  <a:srgbClr val="9A6B12"/>
                </a:solidFill>
                <a:latin typeface="Pretendard"/>
              </a:rPr>
              <a:t>소스 → 멀티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개념 깊이 보기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개념을 예시로 — 우리 케이스에 적용하면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C1186980-45E4-D143-A182-3DE5B9C3FC79}"/>
              </a:ext>
            </a:extLst>
          </p:cNvPr>
          <p:cNvSpPr/>
          <p:nvPr/>
        </p:nvSpPr>
        <p:spPr>
          <a:xfrm>
            <a:off x="825500" y="1905000"/>
            <a:ext cx="54610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520328-7140-4A40-8EF0-6190741C4677}"/>
              </a:ext>
            </a:extLst>
          </p:cNvPr>
          <p:cNvSpPr txBox="1"/>
          <p:nvPr/>
        </p:nvSpPr>
        <p:spPr>
          <a:xfrm>
            <a:off x="1181100" y="2159000"/>
            <a:ext cx="47498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14213D"/>
                </a:solidFill>
                <a:latin typeface="Pretendard"/>
              </a:rPr>
              <a:t>해시태그 믹스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E9D2B7-A215-C14A-8122-21D43E14F9DE}"/>
              </a:ext>
            </a:extLst>
          </p:cNvPr>
          <p:cNvSpPr txBox="1"/>
          <p:nvPr/>
        </p:nvSpPr>
        <p:spPr>
          <a:xfrm>
            <a:off x="1181100" y="2540000"/>
            <a:ext cx="47498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250">
                <a:solidFill>
                  <a:srgbClr val="576176"/>
                </a:solidFill>
                <a:latin typeface="Pretendard"/>
              </a:rPr>
              <a:t>노출 </a:t>
            </a:r>
            <a:r>
              <a:rPr lang="en-US" altLang="ko-KR" sz="1250">
                <a:solidFill>
                  <a:srgbClr val="576176"/>
                </a:solidFill>
                <a:latin typeface="Pretendard"/>
              </a:rPr>
              <a:t>+ </a:t>
            </a:r>
            <a:r>
              <a:rPr lang="ko-KR" altLang="en-US" sz="1250">
                <a:solidFill>
                  <a:srgbClr val="576176"/>
                </a:solidFill>
                <a:latin typeface="Pretendard"/>
              </a:rPr>
              <a:t>관련성 </a:t>
            </a:r>
            <a:r>
              <a:rPr lang="en-US" altLang="ko-KR" sz="1250">
                <a:solidFill>
                  <a:srgbClr val="576176"/>
                </a:solidFill>
                <a:latin typeface="Pretendard"/>
              </a:rPr>
              <a:t>+ </a:t>
            </a:r>
            <a:r>
              <a:rPr lang="ko-KR" altLang="en-US" sz="1250">
                <a:solidFill>
                  <a:srgbClr val="576176"/>
                </a:solidFill>
                <a:latin typeface="Pretendard"/>
              </a:rPr>
              <a:t>전환을 섞는다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B162BFC2-C496-D648-919F-B8429490F6D9}"/>
              </a:ext>
            </a:extLst>
          </p:cNvPr>
          <p:cNvSpPr/>
          <p:nvPr/>
        </p:nvSpPr>
        <p:spPr>
          <a:xfrm>
            <a:off x="1181100" y="2997200"/>
            <a:ext cx="1219200" cy="4318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FFFFFF"/>
                </a:solidFill>
                <a:latin typeface="Pretendard"/>
              </a:rPr>
              <a:t>대형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3BDFAD-47BD-0B40-BF4B-7A59DDF7F552}"/>
              </a:ext>
            </a:extLst>
          </p:cNvPr>
          <p:cNvSpPr txBox="1"/>
          <p:nvPr/>
        </p:nvSpPr>
        <p:spPr>
          <a:xfrm>
            <a:off x="2552700" y="2971800"/>
            <a:ext cx="33782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200">
                <a:solidFill>
                  <a:srgbClr val="576176"/>
                </a:solidFill>
                <a:latin typeface="Pretendard"/>
              </a:rPr>
              <a:t>노출용 </a:t>
            </a:r>
            <a:r>
              <a:rPr lang="en-US" altLang="ko-KR" sz="1200">
                <a:solidFill>
                  <a:srgbClr val="576176"/>
                </a:solidFill>
                <a:latin typeface="Pretendard"/>
              </a:rPr>
              <a:t>· </a:t>
            </a:r>
            <a:r>
              <a:rPr lang="ko-KR" altLang="en-US" sz="1200">
                <a:solidFill>
                  <a:srgbClr val="576176"/>
                </a:solidFill>
                <a:latin typeface="Pretendard"/>
              </a:rPr>
              <a:t>검색량 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752B8A-3FB4-4342-B6CB-8E5AD32919CD}"/>
              </a:ext>
            </a:extLst>
          </p:cNvPr>
          <p:cNvSpPr txBox="1"/>
          <p:nvPr/>
        </p:nvSpPr>
        <p:spPr>
          <a:xfrm>
            <a:off x="2552700" y="3225800"/>
            <a:ext cx="33782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1D4E89"/>
                </a:solidFill>
                <a:latin typeface="JetBrains Mono"/>
              </a:rPr>
              <a:t>#</a:t>
            </a:r>
            <a:r>
              <a:rPr lang="ko-KR" altLang="en-US" sz="1500" b="1">
                <a:solidFill>
                  <a:srgbClr val="1D4E89"/>
                </a:solidFill>
                <a:latin typeface="JetBrains Mono"/>
              </a:rPr>
              <a:t>무알콜맥주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B75E7643-F27E-D94E-972A-B91E08440F49}"/>
              </a:ext>
            </a:extLst>
          </p:cNvPr>
          <p:cNvSpPr/>
          <p:nvPr/>
        </p:nvSpPr>
        <p:spPr>
          <a:xfrm>
            <a:off x="1181100" y="3987800"/>
            <a:ext cx="1219200" cy="431800"/>
          </a:xfrm>
          <a:prstGeom prst="roundRect">
            <a:avLst/>
          </a:prstGeom>
          <a:solidFill>
            <a:srgbClr val="1D4E8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FFFFFF"/>
                </a:solidFill>
                <a:latin typeface="Pretendard"/>
              </a:rPr>
              <a:t>중형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FCA4C7-1669-1048-A789-8B073E013D10}"/>
              </a:ext>
            </a:extLst>
          </p:cNvPr>
          <p:cNvSpPr txBox="1"/>
          <p:nvPr/>
        </p:nvSpPr>
        <p:spPr>
          <a:xfrm>
            <a:off x="2552700" y="3962400"/>
            <a:ext cx="33782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200">
                <a:solidFill>
                  <a:srgbClr val="576176"/>
                </a:solidFill>
                <a:latin typeface="Pretendard"/>
              </a:rPr>
              <a:t>관련성 </a:t>
            </a:r>
            <a:r>
              <a:rPr lang="en-US" altLang="ko-KR" sz="1200">
                <a:solidFill>
                  <a:srgbClr val="576176"/>
                </a:solidFill>
                <a:latin typeface="Pretendard"/>
              </a:rPr>
              <a:t>· </a:t>
            </a:r>
            <a:r>
              <a:rPr lang="ko-KR" altLang="en-US" sz="1200">
                <a:solidFill>
                  <a:srgbClr val="576176"/>
                </a:solidFill>
                <a:latin typeface="Pretendard"/>
              </a:rPr>
              <a:t>적정 경쟁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F500DA-847F-ED40-B6B9-4CAC67F5C7D1}"/>
              </a:ext>
            </a:extLst>
          </p:cNvPr>
          <p:cNvSpPr txBox="1"/>
          <p:nvPr/>
        </p:nvSpPr>
        <p:spPr>
          <a:xfrm>
            <a:off x="2552700" y="4216400"/>
            <a:ext cx="33782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1D4E89"/>
                </a:solidFill>
                <a:latin typeface="JetBrains Mono"/>
              </a:rPr>
              <a:t>#</a:t>
            </a:r>
            <a:r>
              <a:rPr lang="ko-KR" altLang="en-US" sz="1500" b="1">
                <a:solidFill>
                  <a:srgbClr val="1D4E89"/>
                </a:solidFill>
                <a:latin typeface="JetBrains Mono"/>
              </a:rPr>
              <a:t>혼술추천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61357864-B469-B046-98D1-9CE4013A4972}"/>
              </a:ext>
            </a:extLst>
          </p:cNvPr>
          <p:cNvSpPr/>
          <p:nvPr/>
        </p:nvSpPr>
        <p:spPr>
          <a:xfrm>
            <a:off x="1181100" y="4978400"/>
            <a:ext cx="1219200" cy="431800"/>
          </a:xfrm>
          <a:prstGeom prst="round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14213D"/>
                </a:solidFill>
                <a:latin typeface="Pretendard"/>
              </a:rPr>
              <a:t>롱테일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D9BADB-86FC-7947-A566-607BAEFA3E8D}"/>
              </a:ext>
            </a:extLst>
          </p:cNvPr>
          <p:cNvSpPr txBox="1"/>
          <p:nvPr/>
        </p:nvSpPr>
        <p:spPr>
          <a:xfrm>
            <a:off x="2552700" y="4953000"/>
            <a:ext cx="33782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200">
                <a:solidFill>
                  <a:srgbClr val="576176"/>
                </a:solidFill>
                <a:latin typeface="Pretendard"/>
              </a:rPr>
              <a:t>전환용 </a:t>
            </a:r>
            <a:r>
              <a:rPr lang="en-US" altLang="ko-KR" sz="1200">
                <a:solidFill>
                  <a:srgbClr val="576176"/>
                </a:solidFill>
                <a:latin typeface="Pretendard"/>
              </a:rPr>
              <a:t>· </a:t>
            </a:r>
            <a:r>
              <a:rPr lang="ko-KR" altLang="en-US" sz="1200">
                <a:solidFill>
                  <a:srgbClr val="576176"/>
                </a:solidFill>
                <a:latin typeface="Pretendard"/>
              </a:rPr>
              <a:t>의도 뚜렷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BFFCAB-EA7B-1747-8D30-0209C9B5EC52}"/>
              </a:ext>
            </a:extLst>
          </p:cNvPr>
          <p:cNvSpPr txBox="1"/>
          <p:nvPr/>
        </p:nvSpPr>
        <p:spPr>
          <a:xfrm>
            <a:off x="2552700" y="5207000"/>
            <a:ext cx="33782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9A6B12"/>
                </a:solidFill>
                <a:latin typeface="JetBrains Mono"/>
              </a:rPr>
              <a:t>#</a:t>
            </a:r>
            <a:r>
              <a:rPr lang="ko-KR" altLang="en-US" sz="1500" b="1">
                <a:solidFill>
                  <a:srgbClr val="9A6B12"/>
                </a:solidFill>
                <a:latin typeface="JetBrains Mono"/>
              </a:rPr>
              <a:t>내일출근혼술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DD13E53B-08F4-2F4C-81D5-E76B8B52C6D6}"/>
              </a:ext>
            </a:extLst>
          </p:cNvPr>
          <p:cNvSpPr/>
          <p:nvPr/>
        </p:nvSpPr>
        <p:spPr>
          <a:xfrm>
            <a:off x="6540500" y="1905000"/>
            <a:ext cx="4826000" cy="43815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68121D-D6BB-B048-B5F3-D93DF2C54CDC}"/>
              </a:ext>
            </a:extLst>
          </p:cNvPr>
          <p:cNvSpPr txBox="1"/>
          <p:nvPr/>
        </p:nvSpPr>
        <p:spPr>
          <a:xfrm>
            <a:off x="6845300" y="2159000"/>
            <a:ext cx="42164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FFFFFF"/>
                </a:solidFill>
                <a:latin typeface="Pretendard"/>
              </a:rPr>
              <a:t>원소스 멀티유즈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36F06B-83C2-C349-9A67-AD56779DDFC4}"/>
              </a:ext>
            </a:extLst>
          </p:cNvPr>
          <p:cNvSpPr txBox="1"/>
          <p:nvPr/>
        </p:nvSpPr>
        <p:spPr>
          <a:xfrm>
            <a:off x="6845300" y="2540000"/>
            <a:ext cx="42164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250">
                <a:solidFill>
                  <a:srgbClr val="E8A33D"/>
                </a:solidFill>
                <a:latin typeface="Pretendard"/>
              </a:rPr>
              <a:t>1</a:t>
            </a:r>
            <a:r>
              <a:rPr lang="ko-KR" altLang="en-US" sz="1250">
                <a:solidFill>
                  <a:srgbClr val="E8A33D"/>
                </a:solidFill>
                <a:latin typeface="Pretendard"/>
              </a:rPr>
              <a:t>개에서 모든 채널 파생</a:t>
            </a: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9626B85A-8A84-AF41-975F-5BD6B1E548C8}"/>
              </a:ext>
            </a:extLst>
          </p:cNvPr>
          <p:cNvSpPr/>
          <p:nvPr/>
        </p:nvSpPr>
        <p:spPr>
          <a:xfrm>
            <a:off x="7683500" y="3098800"/>
            <a:ext cx="2540000" cy="584200"/>
          </a:xfrm>
          <a:prstGeom prst="round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14213D"/>
                </a:solidFill>
                <a:latin typeface="Pretendard"/>
              </a:rPr>
              <a:t>메시지 하우스 </a:t>
            </a:r>
            <a:r>
              <a:rPr lang="en-US" altLang="ko-KR" sz="1400" b="1">
                <a:solidFill>
                  <a:srgbClr val="14213D"/>
                </a:solidFill>
                <a:latin typeface="Pretendard"/>
              </a:rPr>
              <a:t>①</a:t>
            </a:r>
            <a:endParaRPr lang="ko-KR" altLang="en-US" sz="1400" b="1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52ECC2-8979-8541-9078-9D58F239EEC3}"/>
              </a:ext>
            </a:extLst>
          </p:cNvPr>
          <p:cNvSpPr txBox="1"/>
          <p:nvPr/>
        </p:nvSpPr>
        <p:spPr>
          <a:xfrm>
            <a:off x="6845300" y="3733800"/>
            <a:ext cx="42164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2000" b="1">
                <a:solidFill>
                  <a:srgbClr val="E8A33D"/>
                </a:solidFill>
                <a:latin typeface="Pretendard"/>
              </a:rPr>
              <a:t>↓</a:t>
            </a: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163C875C-DDB5-A748-AC6C-12F150B5845C}"/>
              </a:ext>
            </a:extLst>
          </p:cNvPr>
          <p:cNvSpPr/>
          <p:nvPr/>
        </p:nvSpPr>
        <p:spPr>
          <a:xfrm>
            <a:off x="6845300" y="4191000"/>
            <a:ext cx="1320800" cy="1066800"/>
          </a:xfrm>
          <a:prstGeom prst="roundRect">
            <a:avLst/>
          </a:prstGeom>
          <a:solidFill>
            <a:srgbClr val="20314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FFFFFF"/>
                </a:solidFill>
                <a:latin typeface="Pretendard"/>
              </a:rPr>
              <a:t>인스타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FC2D7B55-6B4A-FB45-BAAA-3F4EDEDEA5D1}"/>
              </a:ext>
            </a:extLst>
          </p:cNvPr>
          <p:cNvSpPr/>
          <p:nvPr/>
        </p:nvSpPr>
        <p:spPr>
          <a:xfrm>
            <a:off x="8293100" y="4191000"/>
            <a:ext cx="1320800" cy="1066800"/>
          </a:xfrm>
          <a:prstGeom prst="roundRect">
            <a:avLst/>
          </a:prstGeom>
          <a:solidFill>
            <a:srgbClr val="20314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FFFFFF"/>
                </a:solidFill>
                <a:latin typeface="Pretendard"/>
              </a:rPr>
              <a:t>블로그</a:t>
            </a: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EC42D764-3371-A64F-8F0A-071DCE97C57D}"/>
              </a:ext>
            </a:extLst>
          </p:cNvPr>
          <p:cNvSpPr/>
          <p:nvPr/>
        </p:nvSpPr>
        <p:spPr>
          <a:xfrm>
            <a:off x="9740900" y="4191000"/>
            <a:ext cx="1320800" cy="1066800"/>
          </a:xfrm>
          <a:prstGeom prst="roundRect">
            <a:avLst/>
          </a:prstGeom>
          <a:solidFill>
            <a:srgbClr val="20314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FFFFFF"/>
                </a:solidFill>
                <a:latin typeface="Pretendard"/>
              </a:rPr>
              <a:t>카드뉴스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37D173-C8E7-5D43-9418-034FA493538C}"/>
              </a:ext>
            </a:extLst>
          </p:cNvPr>
          <p:cNvSpPr txBox="1"/>
          <p:nvPr/>
        </p:nvSpPr>
        <p:spPr>
          <a:xfrm>
            <a:off x="6845300" y="5461000"/>
            <a:ext cx="42164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50">
                <a:solidFill>
                  <a:srgbClr val="E8A33D"/>
                </a:solidFill>
                <a:latin typeface="JetBrains Mono"/>
              </a:rPr>
              <a:t>→ 톤 일관 </a:t>
            </a:r>
            <a:r>
              <a:rPr lang="en-US" altLang="ko-KR" sz="1350">
                <a:solidFill>
                  <a:srgbClr val="E8A33D"/>
                </a:solidFill>
                <a:latin typeface="JetBrains Mono"/>
              </a:rPr>
              <a:t>+ </a:t>
            </a:r>
            <a:r>
              <a:rPr lang="ko-KR" altLang="en-US" sz="1350">
                <a:solidFill>
                  <a:srgbClr val="E8A33D"/>
                </a:solidFill>
                <a:latin typeface="JetBrains Mono"/>
              </a:rPr>
              <a:t>제작 속도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절차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실습 절차 — 직접 해봅니다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D200C1B1-0056-624E-808F-7B6316F87FC3}"/>
              </a:ext>
            </a:extLst>
          </p:cNvPr>
          <p:cNvSpPr/>
          <p:nvPr/>
        </p:nvSpPr>
        <p:spPr>
          <a:xfrm>
            <a:off x="825500" y="1930400"/>
            <a:ext cx="10541000" cy="9398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1FF1108-22B0-F44F-9AA4-25BEA6010F00}"/>
              </a:ext>
            </a:extLst>
          </p:cNvPr>
          <p:cNvSpPr/>
          <p:nvPr/>
        </p:nvSpPr>
        <p:spPr>
          <a:xfrm>
            <a:off x="825500" y="19304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02B76D5-B47D-C749-AFD0-95BDCC23E217}"/>
              </a:ext>
            </a:extLst>
          </p:cNvPr>
          <p:cNvSpPr/>
          <p:nvPr/>
        </p:nvSpPr>
        <p:spPr>
          <a:xfrm>
            <a:off x="1143000" y="21590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1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517741-2802-874B-A727-E498EA4107D4}"/>
              </a:ext>
            </a:extLst>
          </p:cNvPr>
          <p:cNvSpPr txBox="1"/>
          <p:nvPr/>
        </p:nvSpPr>
        <p:spPr>
          <a:xfrm>
            <a:off x="1905000" y="20955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소개문 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A7BD2A-44C2-AB4B-B8DB-08B4A8729676}"/>
              </a:ext>
            </a:extLst>
          </p:cNvPr>
          <p:cNvSpPr txBox="1"/>
          <p:nvPr/>
        </p:nvSpPr>
        <p:spPr>
          <a:xfrm>
            <a:off x="4546600" y="20574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400">
                <a:solidFill>
                  <a:srgbClr val="576176"/>
                </a:solidFill>
                <a:latin typeface="Pretendard"/>
              </a:rPr>
              <a:t>M3-1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소개문을 입력으로 준다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47AD2A96-0E01-D74A-870A-EF8C5CBD13DB}"/>
              </a:ext>
            </a:extLst>
          </p:cNvPr>
          <p:cNvSpPr/>
          <p:nvPr/>
        </p:nvSpPr>
        <p:spPr>
          <a:xfrm>
            <a:off x="825500" y="2971800"/>
            <a:ext cx="10541000" cy="9398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5EA10F2-171E-3B4D-B5E7-79C6B1BC3799}"/>
              </a:ext>
            </a:extLst>
          </p:cNvPr>
          <p:cNvSpPr/>
          <p:nvPr/>
        </p:nvSpPr>
        <p:spPr>
          <a:xfrm>
            <a:off x="825500" y="29718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2F27850C-21DA-034C-84FD-7A1052718D9B}"/>
              </a:ext>
            </a:extLst>
          </p:cNvPr>
          <p:cNvSpPr/>
          <p:nvPr/>
        </p:nvSpPr>
        <p:spPr>
          <a:xfrm>
            <a:off x="1143000" y="32004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2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5C7EED-34EF-A14E-AC0B-B9A2E4127F9F}"/>
              </a:ext>
            </a:extLst>
          </p:cNvPr>
          <p:cNvSpPr txBox="1"/>
          <p:nvPr/>
        </p:nvSpPr>
        <p:spPr>
          <a:xfrm>
            <a:off x="1905000" y="31369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동시 변주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67491D-E675-CD4C-A37F-4EC7677EB86C}"/>
              </a:ext>
            </a:extLst>
          </p:cNvPr>
          <p:cNvSpPr txBox="1"/>
          <p:nvPr/>
        </p:nvSpPr>
        <p:spPr>
          <a:xfrm>
            <a:off x="4546600" y="30988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인스타 캡션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/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블로그 도입부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/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카드뉴스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5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장 문구로 변주한다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041A1835-30A5-1F4C-99A5-DF2D8C2F412F}"/>
              </a:ext>
            </a:extLst>
          </p:cNvPr>
          <p:cNvSpPr/>
          <p:nvPr/>
        </p:nvSpPr>
        <p:spPr>
          <a:xfrm>
            <a:off x="825500" y="4013200"/>
            <a:ext cx="10541000" cy="9398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567E610-6DBB-734D-894D-6CCA1F84EAD6}"/>
              </a:ext>
            </a:extLst>
          </p:cNvPr>
          <p:cNvSpPr/>
          <p:nvPr/>
        </p:nvSpPr>
        <p:spPr>
          <a:xfrm>
            <a:off x="825500" y="40132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EE9132B0-C364-2746-8F1C-C9E327FC90A3}"/>
              </a:ext>
            </a:extLst>
          </p:cNvPr>
          <p:cNvSpPr/>
          <p:nvPr/>
        </p:nvSpPr>
        <p:spPr>
          <a:xfrm>
            <a:off x="1143000" y="42418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3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A0E23C-2D1D-CC4F-B3C3-57312468F1A2}"/>
              </a:ext>
            </a:extLst>
          </p:cNvPr>
          <p:cNvSpPr txBox="1"/>
          <p:nvPr/>
        </p:nvSpPr>
        <p:spPr>
          <a:xfrm>
            <a:off x="1905000" y="41783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해시태그 분류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10323-06AD-D440-9B70-A177B259836B}"/>
              </a:ext>
            </a:extLst>
          </p:cNvPr>
          <p:cNvSpPr txBox="1"/>
          <p:nvPr/>
        </p:nvSpPr>
        <p:spPr>
          <a:xfrm>
            <a:off x="4546600" y="41402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대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중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롱테일로 분류해 해시태그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10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개를 받는다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88641C65-4A8C-E24A-A475-4F1C54A62807}"/>
              </a:ext>
            </a:extLst>
          </p:cNvPr>
          <p:cNvSpPr/>
          <p:nvPr/>
        </p:nvSpPr>
        <p:spPr>
          <a:xfrm>
            <a:off x="825500" y="5054600"/>
            <a:ext cx="10541000" cy="9398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56744FD-0B97-D744-8A1E-4644EF6D191E}"/>
              </a:ext>
            </a:extLst>
          </p:cNvPr>
          <p:cNvSpPr/>
          <p:nvPr/>
        </p:nvSpPr>
        <p:spPr>
          <a:xfrm>
            <a:off x="825500" y="50546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87A77123-EA53-A14B-8C28-62B6CCF350C6}"/>
              </a:ext>
            </a:extLst>
          </p:cNvPr>
          <p:cNvSpPr/>
          <p:nvPr/>
        </p:nvSpPr>
        <p:spPr>
          <a:xfrm>
            <a:off x="1143000" y="52832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4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261E11-FBA5-D14E-AAA2-AE1BD63F2F33}"/>
              </a:ext>
            </a:extLst>
          </p:cNvPr>
          <p:cNvSpPr txBox="1"/>
          <p:nvPr/>
        </p:nvSpPr>
        <p:spPr>
          <a:xfrm>
            <a:off x="1905000" y="52197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규격 검수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6F795A-1498-1F45-AB9C-6A6CBBA123E0}"/>
              </a:ext>
            </a:extLst>
          </p:cNvPr>
          <p:cNvSpPr txBox="1"/>
          <p:nvPr/>
        </p:nvSpPr>
        <p:spPr>
          <a:xfrm>
            <a:off x="4546600" y="51816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각 채널 규격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(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길이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금지어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)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에 맞는지 검수한다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프롬프트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채널 멀티유즈 변주 프롬프트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32720" cy="4434840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502920" rIns="365760" bIns="32004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아래 소개문을 3개 채널용으로 변주해줘. 톤은 동일하게 유지.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1) 인스타 캡션: 120자 이내 + 해시태그 10개(대형3·중형4·롱테일3)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2) 블로그 도입부: 검색 키워드 "무알콜 맥주" 포함, 3문단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3) 카드뉴스: 5장, 장당 한 문장(15자 내)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[소개문]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{여기에 M3-1 결과 붙여넣기}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2103120"/>
            <a:ext cx="109728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좋은예 VS 나쁜예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비교 — 해시태그, 대형만 쓰면?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5029200" cy="4114800"/>
          </a:xfrm>
          <a:prstGeom prst="rect">
            <a:avLst/>
          </a:prstGeom>
          <a:solidFill>
            <a:srgbClr val="F7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20040" rIns="32004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700" b="1">
                <a:solidFill>
                  <a:srgbClr val="A63333"/>
                </a:solidFill>
                <a:latin typeface="Noto Serif KR"/>
                <a:ea typeface="Noto Serif KR"/>
                <a:cs typeface="Noto Serif KR"/>
              </a:rPr>
              <a:t>🚫 대형 태그만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A6333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#맥주 #술 #혼술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A6333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경쟁 글 수십만 개에 묻힘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A6333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도달은 넓지만 전환은 거의 0</a:t>
            </a:r>
          </a:p>
        </p:txBody>
      </p:sp>
      <p:sp>
        <p:nvSpPr>
          <p:cNvPr id="5" name="Rectangle 4"/>
          <p:cNvSpPr/>
          <p:nvPr/>
        </p:nvSpPr>
        <p:spPr>
          <a:xfrm>
            <a:off x="6245352" y="1920240"/>
            <a:ext cx="5029200" cy="4114800"/>
          </a:xfrm>
          <a:prstGeom prst="rect">
            <a:avLst/>
          </a:prstGeom>
          <a:solidFill>
            <a:srgbClr val="E7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20040" rIns="32004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700" b="1">
                <a:solidFill>
                  <a:srgbClr val="2C6B44"/>
                </a:solidFill>
                <a:latin typeface="Noto Serif KR"/>
                <a:ea typeface="Noto Serif KR"/>
                <a:cs typeface="Noto Serif KR"/>
              </a:rPr>
              <a:t>✅ 대·중·롱테일 믹스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2C6B44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대형 #무알콜맥주 (노출)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2C6B44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중형 #혼술추천 #홈술 (관련성)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2C6B44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롱테일 #내일출근혼술 #숙취없는맥주 (전환)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정리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SNS 게시글·블로그 초안·행사 안내문·카드뉴스 문구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10332720" cy="1636776"/>
          </a:xfrm>
          <a:prstGeom prst="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28600" rIns="365760" bIns="18288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57A1A"/>
                </a:solidFill>
                <a:latin typeface="JetBrains Mono"/>
                <a:ea typeface="JetBrains Mono"/>
                <a:cs typeface="JetBrains Mono"/>
              </a:rPr>
              <a:t>⚠  흔한 실수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채널별 글자수 제약을 빼먹으면 규격 초과로 재작업.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해시태그를 대형만 넣으면 경쟁에 묻힌다 → 롱테일 필수.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739896"/>
            <a:ext cx="10332720" cy="100584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01168" rIns="365760" bIns="182880" rtlCol="0" anchor="t"/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📦  결과물 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SNS 캡션 + 해시태그 10개 + 블로그 도입부 + 카드뉴스 5장 문구 세트.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도구 가이드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이 모듈에서 쓰는 도구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C41D0094-1CF3-0A46-AEF8-97A64453C6B8}"/>
              </a:ext>
            </a:extLst>
          </p:cNvPr>
          <p:cNvSpPr/>
          <p:nvPr/>
        </p:nvSpPr>
        <p:spPr>
          <a:xfrm>
            <a:off x="825500" y="1905000"/>
            <a:ext cx="50800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51DA734A-85EB-EB40-8AA5-B79D22726707}"/>
              </a:ext>
            </a:extLst>
          </p:cNvPr>
          <p:cNvSpPr/>
          <p:nvPr/>
        </p:nvSpPr>
        <p:spPr>
          <a:xfrm>
            <a:off x="1130300" y="2209800"/>
            <a:ext cx="4470400" cy="7366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5D543A-F913-B744-BFF5-9EA88B8A1E42}"/>
              </a:ext>
            </a:extLst>
          </p:cNvPr>
          <p:cNvSpPr txBox="1"/>
          <p:nvPr/>
        </p:nvSpPr>
        <p:spPr>
          <a:xfrm>
            <a:off x="1130300" y="2209800"/>
            <a:ext cx="4470400" cy="736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2300" b="1">
                <a:solidFill>
                  <a:srgbClr val="FFFFFF"/>
                </a:solidFill>
                <a:latin typeface="Pretendard"/>
              </a:rPr>
              <a:t>ChatGPT</a:t>
            </a:r>
            <a:endParaRPr lang="ko-KR" altLang="en-US" sz="23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DADF8F-13BC-734E-99D3-76AADE6A75C0}"/>
              </a:ext>
            </a:extLst>
          </p:cNvPr>
          <p:cNvSpPr txBox="1"/>
          <p:nvPr/>
        </p:nvSpPr>
        <p:spPr>
          <a:xfrm>
            <a:off x="1181100" y="3200400"/>
            <a:ext cx="43688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150" b="1">
                <a:solidFill>
                  <a:srgbClr val="576176"/>
                </a:solidFill>
                <a:latin typeface="JetBrains Mono"/>
              </a:rPr>
              <a:t>STRENGTH · </a:t>
            </a:r>
            <a:r>
              <a:rPr lang="ko-KR" altLang="en-US" sz="1150" b="1">
                <a:solidFill>
                  <a:srgbClr val="576176"/>
                </a:solidFill>
                <a:latin typeface="JetBrains Mono"/>
              </a:rPr>
              <a:t>강점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BFF6A1-9822-6D4A-91AA-41954DC25C23}"/>
              </a:ext>
            </a:extLst>
          </p:cNvPr>
          <p:cNvSpPr txBox="1"/>
          <p:nvPr/>
        </p:nvSpPr>
        <p:spPr>
          <a:xfrm>
            <a:off x="1181100" y="3530600"/>
            <a:ext cx="4368800" cy="1397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500">
                <a:solidFill>
                  <a:srgbClr val="2A3B57"/>
                </a:solidFill>
                <a:latin typeface="Pretendard"/>
              </a:rPr>
              <a:t>변주</a:t>
            </a:r>
            <a:r>
              <a:rPr lang="en-US" altLang="ko-KR" sz="1500">
                <a:solidFill>
                  <a:srgbClr val="2A3B57"/>
                </a:solidFill>
                <a:latin typeface="Pretendard"/>
              </a:rPr>
              <a:t>·</a:t>
            </a:r>
            <a:r>
              <a:rPr lang="ko-KR" altLang="en-US" sz="1500">
                <a:solidFill>
                  <a:srgbClr val="2A3B57"/>
                </a:solidFill>
                <a:latin typeface="Pretendard"/>
              </a:rPr>
              <a:t>해시태그 생성이 빠르다</a:t>
            </a:r>
            <a:r>
              <a:rPr lang="en-US" altLang="ko-KR" sz="1500">
                <a:solidFill>
                  <a:srgbClr val="2A3B57"/>
                </a:solidFill>
                <a:latin typeface="Pretendard"/>
              </a:rPr>
              <a:t>. </a:t>
            </a:r>
            <a:r>
              <a:rPr lang="ko-KR" altLang="en-US" sz="1500">
                <a:solidFill>
                  <a:srgbClr val="2A3B57"/>
                </a:solidFill>
                <a:latin typeface="Pretendard"/>
              </a:rPr>
              <a:t>한 메시지를 여러 채널 버전으로 즉시 펼친다</a:t>
            </a:r>
            <a:r>
              <a:rPr lang="en-US" altLang="ko-KR" sz="1500">
                <a:solidFill>
                  <a:srgbClr val="2A3B57"/>
                </a:solidFill>
                <a:latin typeface="Pretendard"/>
              </a:rPr>
              <a:t>.</a:t>
            </a:r>
            <a:endParaRPr lang="ko-KR" altLang="en-US" sz="1500">
              <a:solidFill>
                <a:srgbClr val="2A3B57"/>
              </a:solidFill>
              <a:latin typeface="Pretendar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CC1E5A-0442-F040-91EC-E0FBCFFD2CC4}"/>
              </a:ext>
            </a:extLst>
          </p:cNvPr>
          <p:cNvSpPr txBox="1"/>
          <p:nvPr/>
        </p:nvSpPr>
        <p:spPr>
          <a:xfrm>
            <a:off x="1181100" y="5054600"/>
            <a:ext cx="43688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150" b="1">
                <a:solidFill>
                  <a:srgbClr val="14213D"/>
                </a:solidFill>
                <a:latin typeface="JetBrains Mono"/>
              </a:rPr>
              <a:t>이렇게 쓰세요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8EDECF23-FF49-2549-9578-4BB1B4B1C9CE}"/>
              </a:ext>
            </a:extLst>
          </p:cNvPr>
          <p:cNvSpPr/>
          <p:nvPr/>
        </p:nvSpPr>
        <p:spPr>
          <a:xfrm>
            <a:off x="1181100" y="5334000"/>
            <a:ext cx="4368800" cy="685800"/>
          </a:xfrm>
          <a:prstGeom prst="roundRect">
            <a:avLst/>
          </a:prstGeom>
          <a:solidFill>
            <a:srgbClr val="E7ECF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CCE025-BCC5-6D42-8E12-E3A1AB46ACFC}"/>
              </a:ext>
            </a:extLst>
          </p:cNvPr>
          <p:cNvSpPr txBox="1"/>
          <p:nvPr/>
        </p:nvSpPr>
        <p:spPr>
          <a:xfrm>
            <a:off x="1181100" y="5334000"/>
            <a:ext cx="43688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50" b="1">
                <a:solidFill>
                  <a:srgbClr val="14213D"/>
                </a:solidFill>
                <a:latin typeface="Pretendard"/>
              </a:rPr>
              <a:t>변주 </a:t>
            </a:r>
            <a:r>
              <a:rPr lang="en-US" altLang="ko-KR" sz="1450" b="1">
                <a:solidFill>
                  <a:srgbClr val="14213D"/>
                </a:solidFill>
                <a:latin typeface="Pretendard"/>
              </a:rPr>
              <a:t>· </a:t>
            </a:r>
            <a:r>
              <a:rPr lang="ko-KR" altLang="en-US" sz="1450" b="1">
                <a:solidFill>
                  <a:srgbClr val="14213D"/>
                </a:solidFill>
                <a:latin typeface="Pretendard"/>
              </a:rPr>
              <a:t>해시태그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7845EC22-3A7B-A24C-967F-7B4678221F74}"/>
              </a:ext>
            </a:extLst>
          </p:cNvPr>
          <p:cNvSpPr/>
          <p:nvPr/>
        </p:nvSpPr>
        <p:spPr>
          <a:xfrm>
            <a:off x="6286500" y="1905000"/>
            <a:ext cx="50800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51F2C082-3867-A942-8872-C6C73C37BB24}"/>
              </a:ext>
            </a:extLst>
          </p:cNvPr>
          <p:cNvSpPr/>
          <p:nvPr/>
        </p:nvSpPr>
        <p:spPr>
          <a:xfrm>
            <a:off x="6591300" y="2209800"/>
            <a:ext cx="4470400" cy="736600"/>
          </a:xfrm>
          <a:prstGeom prst="roundRect">
            <a:avLst/>
          </a:prstGeom>
          <a:solidFill>
            <a:srgbClr val="1D4E8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34085B-429E-894C-A46D-0C70ECE4FE6A}"/>
              </a:ext>
            </a:extLst>
          </p:cNvPr>
          <p:cNvSpPr txBox="1"/>
          <p:nvPr/>
        </p:nvSpPr>
        <p:spPr>
          <a:xfrm>
            <a:off x="6591300" y="2209800"/>
            <a:ext cx="4470400" cy="736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2300" b="1">
                <a:solidFill>
                  <a:srgbClr val="FFFFFF"/>
                </a:solidFill>
                <a:latin typeface="Pretendard"/>
              </a:rPr>
              <a:t>Claude</a:t>
            </a:r>
            <a:endParaRPr lang="ko-KR" altLang="en-US" sz="23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8B82E8-ABBE-754D-BEBD-4823AF561E1B}"/>
              </a:ext>
            </a:extLst>
          </p:cNvPr>
          <p:cNvSpPr txBox="1"/>
          <p:nvPr/>
        </p:nvSpPr>
        <p:spPr>
          <a:xfrm>
            <a:off x="6642100" y="3200400"/>
            <a:ext cx="43688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150" b="1">
                <a:solidFill>
                  <a:srgbClr val="576176"/>
                </a:solidFill>
                <a:latin typeface="JetBrains Mono"/>
              </a:rPr>
              <a:t>STRENGTH · </a:t>
            </a:r>
            <a:r>
              <a:rPr lang="ko-KR" altLang="en-US" sz="1150" b="1">
                <a:solidFill>
                  <a:srgbClr val="576176"/>
                </a:solidFill>
                <a:latin typeface="JetBrains Mono"/>
              </a:rPr>
              <a:t>강점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740479-1ED5-824B-AC6F-FC956D49B454}"/>
              </a:ext>
            </a:extLst>
          </p:cNvPr>
          <p:cNvSpPr txBox="1"/>
          <p:nvPr/>
        </p:nvSpPr>
        <p:spPr>
          <a:xfrm>
            <a:off x="6642100" y="3530600"/>
            <a:ext cx="4368800" cy="1397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500">
                <a:solidFill>
                  <a:srgbClr val="2A3B57"/>
                </a:solidFill>
                <a:latin typeface="Pretendard"/>
              </a:rPr>
              <a:t>길고 구조적인 글에서 톤을 일관되게 유지한다</a:t>
            </a:r>
            <a:r>
              <a:rPr lang="en-US" altLang="ko-KR" sz="1500">
                <a:solidFill>
                  <a:srgbClr val="2A3B57"/>
                </a:solidFill>
                <a:latin typeface="Pretendard"/>
              </a:rPr>
              <a:t>. </a:t>
            </a:r>
            <a:r>
              <a:rPr lang="ko-KR" altLang="en-US" sz="1500">
                <a:solidFill>
                  <a:srgbClr val="2A3B57"/>
                </a:solidFill>
                <a:latin typeface="Pretendard"/>
              </a:rPr>
              <a:t>소개문</a:t>
            </a:r>
            <a:r>
              <a:rPr lang="en-US" altLang="ko-KR" sz="1500">
                <a:solidFill>
                  <a:srgbClr val="2A3B57"/>
                </a:solidFill>
                <a:latin typeface="Pretendard"/>
              </a:rPr>
              <a:t>·</a:t>
            </a:r>
            <a:r>
              <a:rPr lang="ko-KR" altLang="en-US" sz="1500">
                <a:solidFill>
                  <a:srgbClr val="2A3B57"/>
                </a:solidFill>
                <a:latin typeface="Pretendard"/>
              </a:rPr>
              <a:t>블로그에 강하다</a:t>
            </a:r>
            <a:r>
              <a:rPr lang="en-US" altLang="ko-KR" sz="1500">
                <a:solidFill>
                  <a:srgbClr val="2A3B57"/>
                </a:solidFill>
                <a:latin typeface="Pretendard"/>
              </a:rPr>
              <a:t>.</a:t>
            </a:r>
            <a:endParaRPr lang="ko-KR" altLang="en-US" sz="1500">
              <a:solidFill>
                <a:srgbClr val="2A3B57"/>
              </a:solidFill>
              <a:latin typeface="Pretendar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3F4F23-B5E5-E34F-9449-7B57A2D63CA6}"/>
              </a:ext>
            </a:extLst>
          </p:cNvPr>
          <p:cNvSpPr txBox="1"/>
          <p:nvPr/>
        </p:nvSpPr>
        <p:spPr>
          <a:xfrm>
            <a:off x="6642100" y="5054600"/>
            <a:ext cx="43688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150" b="1">
                <a:solidFill>
                  <a:srgbClr val="1D4E89"/>
                </a:solidFill>
                <a:latin typeface="JetBrains Mono"/>
              </a:rPr>
              <a:t>이렇게 쓰세요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6F60AE5E-AA02-A242-8969-BE1A584ACAAE}"/>
              </a:ext>
            </a:extLst>
          </p:cNvPr>
          <p:cNvSpPr/>
          <p:nvPr/>
        </p:nvSpPr>
        <p:spPr>
          <a:xfrm>
            <a:off x="6642100" y="5334000"/>
            <a:ext cx="4368800" cy="685800"/>
          </a:xfrm>
          <a:prstGeom prst="roundRect">
            <a:avLst/>
          </a:prstGeom>
          <a:solidFill>
            <a:srgbClr val="E4EC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7A989B-8CF5-AB4A-91E9-F5844C330428}"/>
              </a:ext>
            </a:extLst>
          </p:cNvPr>
          <p:cNvSpPr txBox="1"/>
          <p:nvPr/>
        </p:nvSpPr>
        <p:spPr>
          <a:xfrm>
            <a:off x="6642100" y="5334000"/>
            <a:ext cx="43688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50" b="1">
                <a:solidFill>
                  <a:srgbClr val="1D4E89"/>
                </a:solidFill>
                <a:latin typeface="Pretendard"/>
              </a:rPr>
              <a:t>긴 글 </a:t>
            </a:r>
            <a:r>
              <a:rPr lang="en-US" altLang="ko-KR" sz="1450" b="1">
                <a:solidFill>
                  <a:srgbClr val="1D4E89"/>
                </a:solidFill>
                <a:latin typeface="Pretendard"/>
              </a:rPr>
              <a:t>· </a:t>
            </a:r>
            <a:r>
              <a:rPr lang="ko-KR" altLang="en-US" sz="1450" b="1">
                <a:solidFill>
                  <a:srgbClr val="1D4E89"/>
                </a:solidFill>
                <a:latin typeface="Pretendard"/>
              </a:rPr>
              <a:t>톤 유지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CHECKLIST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모듈 체크리스트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E50D44B2-9622-3648-B9D7-B07E89B05232}"/>
              </a:ext>
            </a:extLst>
          </p:cNvPr>
          <p:cNvSpPr/>
          <p:nvPr/>
        </p:nvSpPr>
        <p:spPr>
          <a:xfrm>
            <a:off x="825500" y="2006600"/>
            <a:ext cx="10541000" cy="12192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471A2087-CCDA-2D40-8855-AB85A5945F78}"/>
              </a:ext>
            </a:extLst>
          </p:cNvPr>
          <p:cNvSpPr/>
          <p:nvPr/>
        </p:nvSpPr>
        <p:spPr>
          <a:xfrm>
            <a:off x="825500" y="2006600"/>
            <a:ext cx="76200" cy="1219200"/>
          </a:xfrm>
          <a:prstGeom prst="round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AA815423-597E-E54E-8A71-4503F1464654}"/>
              </a:ext>
            </a:extLst>
          </p:cNvPr>
          <p:cNvSpPr/>
          <p:nvPr/>
        </p:nvSpPr>
        <p:spPr>
          <a:xfrm>
            <a:off x="1270000" y="2362200"/>
            <a:ext cx="508000" cy="508000"/>
          </a:xfrm>
          <a:prstGeom prst="roundRect">
            <a:avLst/>
          </a:prstGeom>
          <a:solidFill>
            <a:srgbClr val="FFFFFF"/>
          </a:solidFill>
          <a:ln w="22225" cap="flat" cmpd="sng" algn="ctr">
            <a:solidFill>
              <a:srgbClr val="14213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2200" b="1">
                <a:solidFill>
                  <a:srgbClr val="E8A33D"/>
                </a:solidFill>
              </a:rPr>
              <a:t>✓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C30E71-98AB-2D4C-92C8-A0E364C80805}"/>
              </a:ext>
            </a:extLst>
          </p:cNvPr>
          <p:cNvSpPr txBox="1"/>
          <p:nvPr/>
        </p:nvSpPr>
        <p:spPr>
          <a:xfrm>
            <a:off x="2082800" y="2286000"/>
            <a:ext cx="8890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14213D"/>
                </a:solidFill>
                <a:latin typeface="Pretendard"/>
              </a:rPr>
              <a:t>톤 가이드 고정해 소개문 작성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E82B44-8D52-A34A-BD37-83E7D072FAC1}"/>
              </a:ext>
            </a:extLst>
          </p:cNvPr>
          <p:cNvSpPr txBox="1"/>
          <p:nvPr/>
        </p:nvSpPr>
        <p:spPr>
          <a:xfrm>
            <a:off x="2082800" y="2667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50">
                <a:solidFill>
                  <a:srgbClr val="576176"/>
                </a:solidFill>
                <a:latin typeface="Pretendard"/>
              </a:rPr>
              <a:t>말투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금지 표현 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1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줄 고정 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+ PAS 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골격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F4A0DA1D-5AC6-4A47-BA17-5F7F1A34B17F}"/>
              </a:ext>
            </a:extLst>
          </p:cNvPr>
          <p:cNvSpPr/>
          <p:nvPr/>
        </p:nvSpPr>
        <p:spPr>
          <a:xfrm>
            <a:off x="825500" y="3403600"/>
            <a:ext cx="10541000" cy="12192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63B891A0-714E-CC45-98A1-D8553B1A01F4}"/>
              </a:ext>
            </a:extLst>
          </p:cNvPr>
          <p:cNvSpPr/>
          <p:nvPr/>
        </p:nvSpPr>
        <p:spPr>
          <a:xfrm>
            <a:off x="825500" y="3403600"/>
            <a:ext cx="76200" cy="1219200"/>
          </a:xfrm>
          <a:prstGeom prst="round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25A018D3-AD26-E94F-95A4-777309844539}"/>
              </a:ext>
            </a:extLst>
          </p:cNvPr>
          <p:cNvSpPr/>
          <p:nvPr/>
        </p:nvSpPr>
        <p:spPr>
          <a:xfrm>
            <a:off x="1270000" y="3759200"/>
            <a:ext cx="508000" cy="508000"/>
          </a:xfrm>
          <a:prstGeom prst="roundRect">
            <a:avLst/>
          </a:prstGeom>
          <a:solidFill>
            <a:srgbClr val="FFFFFF"/>
          </a:solidFill>
          <a:ln w="22225" cap="flat" cmpd="sng" algn="ctr">
            <a:solidFill>
              <a:srgbClr val="14213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2200" b="1">
                <a:solidFill>
                  <a:srgbClr val="E8A33D"/>
                </a:solidFill>
              </a:rPr>
              <a:t>✓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52468E-0640-7A45-8E86-E23E2AC1C013}"/>
              </a:ext>
            </a:extLst>
          </p:cNvPr>
          <p:cNvSpPr txBox="1"/>
          <p:nvPr/>
        </p:nvSpPr>
        <p:spPr>
          <a:xfrm>
            <a:off x="2082800" y="3683000"/>
            <a:ext cx="8890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14213D"/>
                </a:solidFill>
                <a:latin typeface="Pretendard"/>
              </a:rPr>
              <a:t>한 메시지를 </a:t>
            </a:r>
            <a:r>
              <a:rPr lang="en-US" altLang="ko-KR" b="1">
                <a:solidFill>
                  <a:srgbClr val="14213D"/>
                </a:solidFill>
                <a:latin typeface="Pretendard"/>
              </a:rPr>
              <a:t>3</a:t>
            </a:r>
            <a:r>
              <a:rPr lang="ko-KR" altLang="en-US" b="1">
                <a:solidFill>
                  <a:srgbClr val="14213D"/>
                </a:solidFill>
                <a:latin typeface="Pretendard"/>
              </a:rPr>
              <a:t>채널로 변주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1525E1-B5BC-994D-85BD-CBE948A5D63C}"/>
              </a:ext>
            </a:extLst>
          </p:cNvPr>
          <p:cNvSpPr txBox="1"/>
          <p:nvPr/>
        </p:nvSpPr>
        <p:spPr>
          <a:xfrm>
            <a:off x="2082800" y="4064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50">
                <a:solidFill>
                  <a:srgbClr val="576176"/>
                </a:solidFill>
                <a:latin typeface="Pretendard"/>
              </a:rPr>
              <a:t>인스타 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· 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블로그 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· 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카드뉴스</a:t>
            </a: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AA2A93F9-E2A6-E94A-B675-A9F10A06C3EA}"/>
              </a:ext>
            </a:extLst>
          </p:cNvPr>
          <p:cNvSpPr/>
          <p:nvPr/>
        </p:nvSpPr>
        <p:spPr>
          <a:xfrm>
            <a:off x="825500" y="4800600"/>
            <a:ext cx="10541000" cy="12192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D5E97ED5-FFE8-F34D-ABB3-E65E26147FA7}"/>
              </a:ext>
            </a:extLst>
          </p:cNvPr>
          <p:cNvSpPr/>
          <p:nvPr/>
        </p:nvSpPr>
        <p:spPr>
          <a:xfrm>
            <a:off x="825500" y="4800600"/>
            <a:ext cx="76200" cy="1219200"/>
          </a:xfrm>
          <a:prstGeom prst="round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ACC334F3-D8FC-EB49-BE98-F485F76160E9}"/>
              </a:ext>
            </a:extLst>
          </p:cNvPr>
          <p:cNvSpPr/>
          <p:nvPr/>
        </p:nvSpPr>
        <p:spPr>
          <a:xfrm>
            <a:off x="1270000" y="5156200"/>
            <a:ext cx="508000" cy="508000"/>
          </a:xfrm>
          <a:prstGeom prst="roundRect">
            <a:avLst/>
          </a:prstGeom>
          <a:solidFill>
            <a:srgbClr val="FFFFFF"/>
          </a:solidFill>
          <a:ln w="22225" cap="flat" cmpd="sng" algn="ctr">
            <a:solidFill>
              <a:srgbClr val="14213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2200" b="1">
                <a:solidFill>
                  <a:srgbClr val="E8A33D"/>
                </a:solidFill>
              </a:rPr>
              <a:t>✓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1D9697-6A9C-DD44-A072-1E290FAE961E}"/>
              </a:ext>
            </a:extLst>
          </p:cNvPr>
          <p:cNvSpPr txBox="1"/>
          <p:nvPr/>
        </p:nvSpPr>
        <p:spPr>
          <a:xfrm>
            <a:off x="2082800" y="5080000"/>
            <a:ext cx="8890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14213D"/>
                </a:solidFill>
                <a:latin typeface="Pretendard"/>
              </a:rPr>
              <a:t>해시태그 대</a:t>
            </a:r>
            <a:r>
              <a:rPr lang="en-US" altLang="ko-KR" b="1">
                <a:solidFill>
                  <a:srgbClr val="14213D"/>
                </a:solidFill>
                <a:latin typeface="Pretendard"/>
              </a:rPr>
              <a:t>·</a:t>
            </a:r>
            <a:r>
              <a:rPr lang="ko-KR" altLang="en-US" b="1">
                <a:solidFill>
                  <a:srgbClr val="14213D"/>
                </a:solidFill>
                <a:latin typeface="Pretendard"/>
              </a:rPr>
              <a:t>중</a:t>
            </a:r>
            <a:r>
              <a:rPr lang="en-US" altLang="ko-KR" b="1">
                <a:solidFill>
                  <a:srgbClr val="14213D"/>
                </a:solidFill>
                <a:latin typeface="Pretendard"/>
              </a:rPr>
              <a:t>·</a:t>
            </a:r>
            <a:r>
              <a:rPr lang="ko-KR" altLang="en-US" b="1">
                <a:solidFill>
                  <a:srgbClr val="14213D"/>
                </a:solidFill>
                <a:latin typeface="Pretendard"/>
              </a:rPr>
              <a:t>롱테일 분류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41DDE0-8177-EA4A-9CD2-A765FE6CA8F7}"/>
              </a:ext>
            </a:extLst>
          </p:cNvPr>
          <p:cNvSpPr txBox="1"/>
          <p:nvPr/>
        </p:nvSpPr>
        <p:spPr>
          <a:xfrm>
            <a:off x="2082800" y="5461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50">
                <a:solidFill>
                  <a:srgbClr val="576176"/>
                </a:solidFill>
                <a:latin typeface="Pretendard"/>
              </a:rPr>
              <a:t>노출 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+ 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관련성 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+ 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전환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1CB4642B-F1DC-2E43-B71F-D134DACA3949}"/>
              </a:ext>
            </a:extLst>
          </p:cNvPr>
          <p:cNvSpPr/>
          <p:nvPr/>
        </p:nvSpPr>
        <p:spPr>
          <a:xfrm>
            <a:off x="825500" y="1905000"/>
            <a:ext cx="10541000" cy="31750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FC558AF7-CCDF-004E-965A-BE7966ACE2E2}"/>
              </a:ext>
            </a:extLst>
          </p:cNvPr>
          <p:cNvSpPr/>
          <p:nvPr/>
        </p:nvSpPr>
        <p:spPr>
          <a:xfrm>
            <a:off x="825500" y="1905000"/>
            <a:ext cx="101600" cy="3175000"/>
          </a:xfrm>
          <a:prstGeom prst="round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4BC04D-2807-924A-A31E-908AB8CBACC0}"/>
              </a:ext>
            </a:extLst>
          </p:cNvPr>
          <p:cNvSpPr txBox="1"/>
          <p:nvPr/>
        </p:nvSpPr>
        <p:spPr>
          <a:xfrm>
            <a:off x="1333500" y="2286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E8A33D"/>
                </a:solidFill>
                <a:latin typeface="JetBrains Mono"/>
              </a:rPr>
              <a:t>MISSION 03 · </a:t>
            </a:r>
            <a:r>
              <a:rPr lang="ko-KR" altLang="en-US" sz="1500" b="1">
                <a:solidFill>
                  <a:srgbClr val="E8A33D"/>
                </a:solidFill>
                <a:latin typeface="JetBrains Mono"/>
              </a:rPr>
              <a:t>도장깨기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8ACC77-772B-AA4C-B7A4-F0CED0833404}"/>
              </a:ext>
            </a:extLst>
          </p:cNvPr>
          <p:cNvSpPr txBox="1"/>
          <p:nvPr/>
        </p:nvSpPr>
        <p:spPr>
          <a:xfrm>
            <a:off x="1333500" y="2641600"/>
            <a:ext cx="88900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3000" b="1">
                <a:solidFill>
                  <a:srgbClr val="FFFFFF"/>
                </a:solidFill>
                <a:latin typeface="Noto Serif KR"/>
              </a:rPr>
              <a:t>홍보 콘텐츠 작성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026E2520-FD17-434B-8539-AC254C158D2E}"/>
              </a:ext>
            </a:extLst>
          </p:cNvPr>
          <p:cNvSpPr/>
          <p:nvPr/>
        </p:nvSpPr>
        <p:spPr>
          <a:xfrm>
            <a:off x="1333500" y="3454400"/>
            <a:ext cx="9525000" cy="1320800"/>
          </a:xfrm>
          <a:prstGeom prst="roundRect">
            <a:avLst/>
          </a:prstGeom>
          <a:solidFill>
            <a:srgbClr val="20314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405902-BC46-C04F-9CBE-8D55E4419D0B}"/>
              </a:ext>
            </a:extLst>
          </p:cNvPr>
          <p:cNvSpPr txBox="1"/>
          <p:nvPr/>
        </p:nvSpPr>
        <p:spPr>
          <a:xfrm>
            <a:off x="1587500" y="3657600"/>
            <a:ext cx="9017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FFFFFF"/>
                </a:solidFill>
                <a:latin typeface="Pretendard"/>
              </a:rPr>
              <a:t>톤앤매너 키워드를 고정해 콘텐츠 세트를 만든다</a:t>
            </a:r>
            <a:r>
              <a:rPr lang="en-US" altLang="ko-KR" b="1">
                <a:solidFill>
                  <a:srgbClr val="FFFFFF"/>
                </a:solidFill>
                <a:latin typeface="Pretendard"/>
              </a:rPr>
              <a:t>.</a:t>
            </a:r>
            <a:endParaRPr lang="ko-KR" altLang="en-US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F80BBC-44C4-4F44-A4B2-A882FECAE8CA}"/>
              </a:ext>
            </a:extLst>
          </p:cNvPr>
          <p:cNvSpPr txBox="1"/>
          <p:nvPr/>
        </p:nvSpPr>
        <p:spPr>
          <a:xfrm>
            <a:off x="1587500" y="4140200"/>
            <a:ext cx="9017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50">
                <a:solidFill>
                  <a:srgbClr val="E8A33D"/>
                </a:solidFill>
                <a:latin typeface="Pretendard"/>
              </a:rPr>
              <a:t>→ 채널이 달라도 톤이 유지되는 한 세트로 묶는다</a:t>
            </a:r>
            <a:r>
              <a:rPr lang="en-US" altLang="ko-KR" sz="1450">
                <a:solidFill>
                  <a:srgbClr val="E8A33D"/>
                </a:solidFill>
                <a:latin typeface="Pretendard"/>
              </a:rPr>
              <a:t>.</a:t>
            </a:r>
            <a:endParaRPr lang="ko-KR" altLang="en-US" sz="1450">
              <a:solidFill>
                <a:srgbClr val="E8A33D"/>
              </a:solidFill>
              <a:latin typeface="Pretendard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8FA9F683-8320-8E41-A0B8-ABC39D0E2124}"/>
              </a:ext>
            </a:extLst>
          </p:cNvPr>
          <p:cNvSpPr/>
          <p:nvPr/>
        </p:nvSpPr>
        <p:spPr>
          <a:xfrm>
            <a:off x="825500" y="5283200"/>
            <a:ext cx="10541000" cy="9398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56D3F0-8E2B-7D42-A5E1-2B2DEA9272D4}"/>
              </a:ext>
            </a:extLst>
          </p:cNvPr>
          <p:cNvSpPr txBox="1"/>
          <p:nvPr/>
        </p:nvSpPr>
        <p:spPr>
          <a:xfrm>
            <a:off x="1206500" y="5486400"/>
            <a:ext cx="1778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E8A33D"/>
                </a:solidFill>
                <a:latin typeface="JetBrains Mono"/>
              </a:rPr>
              <a:t>▶  NEXT</a:t>
            </a:r>
            <a:endParaRPr lang="ko-KR" altLang="en-US" sz="13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3CE307-2C67-0543-A35A-13B4E4E27E5B}"/>
              </a:ext>
            </a:extLst>
          </p:cNvPr>
          <p:cNvSpPr txBox="1"/>
          <p:nvPr/>
        </p:nvSpPr>
        <p:spPr>
          <a:xfrm>
            <a:off x="1206500" y="5740400"/>
            <a:ext cx="96520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b="1">
                <a:solidFill>
                  <a:srgbClr val="14213D"/>
                </a:solidFill>
                <a:latin typeface="Pretendard"/>
              </a:rPr>
              <a:t>M4 · AI </a:t>
            </a:r>
            <a:r>
              <a:rPr lang="ko-KR" altLang="en-US" b="1">
                <a:solidFill>
                  <a:srgbClr val="14213D"/>
                </a:solidFill>
                <a:latin typeface="Pretendard"/>
              </a:rPr>
              <a:t>기반 시각자료 제작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1554480"/>
            <a:ext cx="1005840" cy="12801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400" b="0">
                <a:solidFill>
                  <a:srgbClr val="BFD2EC"/>
                </a:solidFill>
                <a:latin typeface="JetBrains Mono"/>
                <a:ea typeface="JetBrains Mono"/>
                <a:cs typeface="JetBrains Mono"/>
              </a:rPr>
              <a:t>MODULE 4 · 4교시 · 13:00–13:50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</a:pPr>
            <a:r>
              <a:rPr sz="38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M4. AI 기반 시각자료 제작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이미지 생성 AI의 프롬프트 구조(피사체·스타일·구도·색·금지)를 이해하고, 문구와 톤이 일치하는 홍보 시각자료를 만든다.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5212080"/>
            <a:ext cx="10515600" cy="1051560"/>
          </a:xfrm>
          <a:prstGeom prst="rect">
            <a:avLst/>
          </a:prstGeom>
          <a:solidFill>
            <a:srgbClr val="184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64592" rtlCol="0" anchor="ctr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300"/>
              </a:spcAft>
            </a:pPr>
            <a:r>
              <a:rPr sz="1200" b="1">
                <a:solidFill>
                  <a:srgbClr val="9FC0E6"/>
                </a:solidFill>
                <a:latin typeface="JetBrains Mono"/>
                <a:ea typeface="JetBrains Mono"/>
                <a:cs typeface="JetBrains Mono"/>
              </a:rPr>
              <a:t>이전  </a:t>
            </a:r>
            <a:r>
              <a:rPr sz="1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M3의 카드뉴스 문구가 준비됐다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300"/>
              </a:spcAft>
            </a:pPr>
            <a:r>
              <a:rPr sz="12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이번  </a:t>
            </a: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문구와 톤이 맞는 시각자료를 만든다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1">
                <a:solidFill>
                  <a:srgbClr val="9FC0E6"/>
                </a:solidFill>
                <a:latin typeface="JetBrains Mono"/>
                <a:ea typeface="JetBrains Mono"/>
                <a:cs typeface="JetBrains Mono"/>
              </a:rPr>
              <a:t>다음  </a:t>
            </a:r>
            <a:r>
              <a:rPr sz="1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콘텐츠·비주얼을 담을 화면을 설계하러 → M5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학습 목표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이 모듈에서 할 수 있게 되는 것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985F074A-2048-4F43-BFAE-A01C86FFB3F7}"/>
              </a:ext>
            </a:extLst>
          </p:cNvPr>
          <p:cNvSpPr/>
          <p:nvPr/>
        </p:nvSpPr>
        <p:spPr>
          <a:xfrm>
            <a:off x="825500" y="1905000"/>
            <a:ext cx="50800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F2A02C-E572-3B48-A0B2-9EE82D561A68}"/>
              </a:ext>
            </a:extLst>
          </p:cNvPr>
          <p:cNvSpPr txBox="1"/>
          <p:nvPr/>
        </p:nvSpPr>
        <p:spPr>
          <a:xfrm>
            <a:off x="1257300" y="2235200"/>
            <a:ext cx="15240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4000" b="1">
                <a:solidFill>
                  <a:srgbClr val="E8A33D"/>
                </a:solidFill>
                <a:latin typeface="JetBrains Mono"/>
              </a:rPr>
              <a:t>01</a:t>
            </a:r>
            <a:endParaRPr lang="ko-KR" altLang="en-US" sz="40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17DE485-911B-024E-92C7-8E231D6A282D}"/>
              </a:ext>
            </a:extLst>
          </p:cNvPr>
          <p:cNvSpPr/>
          <p:nvPr/>
        </p:nvSpPr>
        <p:spPr>
          <a:xfrm>
            <a:off x="1282700" y="3124200"/>
            <a:ext cx="685800" cy="50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D590F8-396C-4643-8BCE-2AB8473AC4BA}"/>
              </a:ext>
            </a:extLst>
          </p:cNvPr>
          <p:cNvSpPr txBox="1"/>
          <p:nvPr/>
        </p:nvSpPr>
        <p:spPr>
          <a:xfrm>
            <a:off x="1282700" y="3479800"/>
            <a:ext cx="4165600" cy="165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2000" b="1">
                <a:solidFill>
                  <a:srgbClr val="14213D"/>
                </a:solidFill>
                <a:latin typeface="Pretendard"/>
              </a:rPr>
              <a:t>이미지 생성 </a:t>
            </a:r>
            <a:r>
              <a:rPr lang="en-US" altLang="ko-KR" sz="2000" b="1">
                <a:solidFill>
                  <a:srgbClr val="14213D"/>
                </a:solidFill>
                <a:latin typeface="Pretendard"/>
              </a:rPr>
              <a:t>AI</a:t>
            </a:r>
            <a:r>
              <a:rPr lang="ko-KR" altLang="en-US" sz="2000" b="1">
                <a:solidFill>
                  <a:srgbClr val="14213D"/>
                </a:solidFill>
                <a:latin typeface="Pretendard"/>
              </a:rPr>
              <a:t>로 홍보용 시각자료 초안을 만들 수 있다</a:t>
            </a:r>
            <a:r>
              <a:rPr lang="en-US" altLang="ko-KR" sz="2000" b="1">
                <a:solidFill>
                  <a:srgbClr val="14213D"/>
                </a:solidFill>
                <a:latin typeface="Pretendard"/>
              </a:rPr>
              <a:t>.</a:t>
            </a:r>
            <a:endParaRPr lang="ko-KR" altLang="en-US" sz="2000" b="1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55EE6E-AC8F-6644-8108-075857B1E219}"/>
              </a:ext>
            </a:extLst>
          </p:cNvPr>
          <p:cNvSpPr txBox="1"/>
          <p:nvPr/>
        </p:nvSpPr>
        <p:spPr>
          <a:xfrm>
            <a:off x="1282700" y="5613400"/>
            <a:ext cx="41656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1D4E89"/>
                </a:solidFill>
                <a:latin typeface="JetBrains Mono"/>
              </a:rPr>
              <a:t>→ 배너 </a:t>
            </a:r>
            <a:r>
              <a:rPr lang="en-US" altLang="ko-KR" sz="1400">
                <a:solidFill>
                  <a:srgbClr val="1D4E89"/>
                </a:solidFill>
                <a:latin typeface="JetBrains Mono"/>
              </a:rPr>
              <a:t>· </a:t>
            </a:r>
            <a:r>
              <a:rPr lang="ko-KR" altLang="en-US" sz="1400">
                <a:solidFill>
                  <a:srgbClr val="1D4E89"/>
                </a:solidFill>
                <a:latin typeface="JetBrains Mono"/>
              </a:rPr>
              <a:t>카드뉴스 </a:t>
            </a:r>
            <a:r>
              <a:rPr lang="en-US" altLang="ko-KR" sz="1400">
                <a:solidFill>
                  <a:srgbClr val="1D4E89"/>
                </a:solidFill>
                <a:latin typeface="JetBrains Mono"/>
              </a:rPr>
              <a:t>· </a:t>
            </a:r>
            <a:r>
              <a:rPr lang="ko-KR" altLang="en-US" sz="1400">
                <a:solidFill>
                  <a:srgbClr val="1D4E89"/>
                </a:solidFill>
                <a:latin typeface="JetBrains Mono"/>
              </a:rPr>
              <a:t>썸네일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BAF7631F-F384-AB4D-AF39-621C9B9BCDB4}"/>
              </a:ext>
            </a:extLst>
          </p:cNvPr>
          <p:cNvSpPr/>
          <p:nvPr/>
        </p:nvSpPr>
        <p:spPr>
          <a:xfrm>
            <a:off x="6286500" y="1905000"/>
            <a:ext cx="50800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26FDC4-43C8-9649-88B6-CF63AFDC8DC4}"/>
              </a:ext>
            </a:extLst>
          </p:cNvPr>
          <p:cNvSpPr txBox="1"/>
          <p:nvPr/>
        </p:nvSpPr>
        <p:spPr>
          <a:xfrm>
            <a:off x="6718300" y="2235200"/>
            <a:ext cx="15240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4000" b="1">
                <a:solidFill>
                  <a:srgbClr val="E8A33D"/>
                </a:solidFill>
                <a:latin typeface="JetBrains Mono"/>
              </a:rPr>
              <a:t>02</a:t>
            </a:r>
            <a:endParaRPr lang="ko-KR" altLang="en-US" sz="40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3DC3AD5-247B-9A49-8A8A-F3FA6E543209}"/>
              </a:ext>
            </a:extLst>
          </p:cNvPr>
          <p:cNvSpPr/>
          <p:nvPr/>
        </p:nvSpPr>
        <p:spPr>
          <a:xfrm>
            <a:off x="6743700" y="3124200"/>
            <a:ext cx="685800" cy="50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B3DE43-ED5F-3A46-8A55-6D8A147602A0}"/>
              </a:ext>
            </a:extLst>
          </p:cNvPr>
          <p:cNvSpPr txBox="1"/>
          <p:nvPr/>
        </p:nvSpPr>
        <p:spPr>
          <a:xfrm>
            <a:off x="6743700" y="3479800"/>
            <a:ext cx="4165600" cy="165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2000" b="1">
                <a:solidFill>
                  <a:srgbClr val="14213D"/>
                </a:solidFill>
                <a:latin typeface="Pretendard"/>
              </a:rPr>
              <a:t>이미지와 카피의 톤을 일치시킬 수 있다</a:t>
            </a:r>
            <a:r>
              <a:rPr lang="en-US" altLang="ko-KR" sz="2000" b="1">
                <a:solidFill>
                  <a:srgbClr val="14213D"/>
                </a:solidFill>
                <a:latin typeface="Pretendard"/>
              </a:rPr>
              <a:t>.</a:t>
            </a:r>
            <a:endParaRPr lang="ko-KR" altLang="en-US" sz="2000" b="1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0D3D4C-2F49-8C47-B949-FFA5694CEEA8}"/>
              </a:ext>
            </a:extLst>
          </p:cNvPr>
          <p:cNvSpPr txBox="1"/>
          <p:nvPr/>
        </p:nvSpPr>
        <p:spPr>
          <a:xfrm>
            <a:off x="6743700" y="5613400"/>
            <a:ext cx="41656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1D4E89"/>
                </a:solidFill>
                <a:latin typeface="JetBrains Mono"/>
              </a:rPr>
              <a:t>→ 스타일 </a:t>
            </a:r>
            <a:r>
              <a:rPr lang="en-US" altLang="ko-KR" sz="1400">
                <a:solidFill>
                  <a:srgbClr val="1D4E89"/>
                </a:solidFill>
                <a:latin typeface="JetBrains Mono"/>
              </a:rPr>
              <a:t>· </a:t>
            </a:r>
            <a:r>
              <a:rPr lang="ko-KR" altLang="en-US" sz="1400">
                <a:solidFill>
                  <a:srgbClr val="1D4E89"/>
                </a:solidFill>
                <a:latin typeface="JetBrains Mono"/>
              </a:rPr>
              <a:t>레이아웃 통일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10E3DE7-B1B2-4241-A2CF-087B50FCE6F4}"/>
              </a:ext>
            </a:extLst>
          </p:cNvPr>
          <p:cNvSpPr/>
          <p:nvPr/>
        </p:nvSpPr>
        <p:spPr>
          <a:xfrm>
            <a:off x="914400" y="2336800"/>
            <a:ext cx="431800" cy="762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29B5C8-6B15-654E-B425-62194896A505}"/>
              </a:ext>
            </a:extLst>
          </p:cNvPr>
          <p:cNvSpPr txBox="1"/>
          <p:nvPr/>
        </p:nvSpPr>
        <p:spPr>
          <a:xfrm>
            <a:off x="914400" y="25146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E8A33D"/>
                </a:solidFill>
                <a:latin typeface="JetBrains Mono"/>
              </a:rPr>
              <a:t>SESSION 1</a:t>
            </a:r>
            <a:endParaRPr lang="ko-KR" altLang="en-US" sz="15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FCC110-D39F-214D-AF91-20907A0F9B96}"/>
              </a:ext>
            </a:extLst>
          </p:cNvPr>
          <p:cNvSpPr txBox="1"/>
          <p:nvPr/>
        </p:nvSpPr>
        <p:spPr>
          <a:xfrm>
            <a:off x="914400" y="2870200"/>
            <a:ext cx="104140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3200" b="1">
                <a:solidFill>
                  <a:srgbClr val="FFFFFF"/>
                </a:solidFill>
                <a:latin typeface="Noto Serif KR"/>
              </a:rPr>
              <a:t>배너</a:t>
            </a:r>
            <a:r>
              <a:rPr lang="en-US" altLang="ko-KR" sz="3200" b="1">
                <a:solidFill>
                  <a:srgbClr val="FFFFFF"/>
                </a:solidFill>
                <a:latin typeface="Noto Serif KR"/>
              </a:rPr>
              <a:t>·</a:t>
            </a:r>
            <a:r>
              <a:rPr lang="ko-KR" altLang="en-US" sz="3200" b="1">
                <a:solidFill>
                  <a:srgbClr val="FFFFFF"/>
                </a:solidFill>
                <a:latin typeface="Noto Serif KR"/>
              </a:rPr>
              <a:t>카드뉴스</a:t>
            </a:r>
            <a:r>
              <a:rPr lang="en-US" altLang="ko-KR" sz="3200" b="1">
                <a:solidFill>
                  <a:srgbClr val="FFFFFF"/>
                </a:solidFill>
                <a:latin typeface="Noto Serif KR"/>
              </a:rPr>
              <a:t>·</a:t>
            </a:r>
            <a:r>
              <a:rPr lang="ko-KR" altLang="en-US" sz="3200" b="1">
                <a:solidFill>
                  <a:srgbClr val="FFFFFF"/>
                </a:solidFill>
                <a:latin typeface="Noto Serif KR"/>
              </a:rPr>
              <a:t>썸네일 초안 제작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CC65E7-D48C-A64B-8DF4-B4D7BC859CB7}"/>
              </a:ext>
            </a:extLst>
          </p:cNvPr>
          <p:cNvSpPr txBox="1"/>
          <p:nvPr/>
        </p:nvSpPr>
        <p:spPr>
          <a:xfrm>
            <a:off x="914400" y="3632200"/>
            <a:ext cx="101600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00">
                <a:solidFill>
                  <a:srgbClr val="DCE6F2"/>
                </a:solidFill>
                <a:latin typeface="Pretendard"/>
              </a:rPr>
              <a:t>이미지 프롬프트는 ‘무엇을 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+ </a:t>
            </a:r>
            <a:r>
              <a:rPr lang="ko-KR" altLang="en-US" sz="1600">
                <a:solidFill>
                  <a:srgbClr val="DCE6F2"/>
                </a:solidFill>
                <a:latin typeface="Pretendard"/>
              </a:rPr>
              <a:t>스타일 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+ </a:t>
            </a:r>
            <a:r>
              <a:rPr lang="ko-KR" altLang="en-US" sz="1600">
                <a:solidFill>
                  <a:srgbClr val="DCE6F2"/>
                </a:solidFill>
                <a:latin typeface="Pretendard"/>
              </a:rPr>
              <a:t>구도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·</a:t>
            </a:r>
            <a:r>
              <a:rPr lang="ko-KR" altLang="en-US" sz="1600">
                <a:solidFill>
                  <a:srgbClr val="DCE6F2"/>
                </a:solidFill>
                <a:latin typeface="Pretendard"/>
              </a:rPr>
              <a:t>조명 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+ </a:t>
            </a:r>
            <a:r>
              <a:rPr lang="ko-KR" altLang="en-US" sz="1600">
                <a:solidFill>
                  <a:srgbClr val="DCE6F2"/>
                </a:solidFill>
                <a:latin typeface="Pretendard"/>
              </a:rPr>
              <a:t>색 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+ </a:t>
            </a:r>
            <a:r>
              <a:rPr lang="ko-KR" altLang="en-US" sz="1600">
                <a:solidFill>
                  <a:srgbClr val="DCE6F2"/>
                </a:solidFill>
                <a:latin typeface="Pretendard"/>
              </a:rPr>
              <a:t>금지요소’ 순서로 쓴다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.</a:t>
            </a:r>
            <a:endParaRPr lang="ko-KR" altLang="en-US" sz="1600">
              <a:solidFill>
                <a:srgbClr val="DCE6F2"/>
              </a:solidFill>
              <a:latin typeface="Pretendard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ECF05995-626C-7440-9057-3DDD5A46F0F4}"/>
              </a:ext>
            </a:extLst>
          </p:cNvPr>
          <p:cNvSpPr/>
          <p:nvPr/>
        </p:nvSpPr>
        <p:spPr>
          <a:xfrm>
            <a:off x="914400" y="4572000"/>
            <a:ext cx="2616200" cy="8382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550" b="1">
                <a:solidFill>
                  <a:srgbClr val="FFFFFF"/>
                </a:solidFill>
                <a:latin typeface="Pretendard"/>
              </a:rPr>
              <a:t>규격 정하기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BA3897-FB55-F94B-8398-C2CF5754DD90}"/>
              </a:ext>
            </a:extLst>
          </p:cNvPr>
          <p:cNvSpPr txBox="1"/>
          <p:nvPr/>
        </p:nvSpPr>
        <p:spPr>
          <a:xfrm>
            <a:off x="3530600" y="4572000"/>
            <a:ext cx="55880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2400" b="1">
                <a:solidFill>
                  <a:srgbClr val="9FB3CE"/>
                </a:solidFill>
                <a:latin typeface="Pretendard"/>
              </a:rPr>
              <a:t>→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43C1CF8F-D494-E34A-BFC0-A4DBA5E886FC}"/>
              </a:ext>
            </a:extLst>
          </p:cNvPr>
          <p:cNvSpPr/>
          <p:nvPr/>
        </p:nvSpPr>
        <p:spPr>
          <a:xfrm>
            <a:off x="4089400" y="4572000"/>
            <a:ext cx="2616200" cy="8382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550" b="1">
                <a:solidFill>
                  <a:srgbClr val="FFFFFF"/>
                </a:solidFill>
                <a:latin typeface="Pretendard"/>
              </a:rPr>
              <a:t>프롬프트 </a:t>
            </a:r>
            <a:r>
              <a:rPr lang="en-US" altLang="ko-KR" sz="1550" b="1">
                <a:solidFill>
                  <a:srgbClr val="FFFFFF"/>
                </a:solidFill>
                <a:latin typeface="Pretendard"/>
              </a:rPr>
              <a:t>5</a:t>
            </a:r>
            <a:r>
              <a:rPr lang="ko-KR" altLang="en-US" sz="1550" b="1">
                <a:solidFill>
                  <a:srgbClr val="FFFFFF"/>
                </a:solidFill>
                <a:latin typeface="Pretendard"/>
              </a:rPr>
              <a:t>요소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175F88-07F8-684A-A08E-30A5D0E517BB}"/>
              </a:ext>
            </a:extLst>
          </p:cNvPr>
          <p:cNvSpPr txBox="1"/>
          <p:nvPr/>
        </p:nvSpPr>
        <p:spPr>
          <a:xfrm>
            <a:off x="6705600" y="4572000"/>
            <a:ext cx="55880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2400" b="1">
                <a:solidFill>
                  <a:srgbClr val="9FB3CE"/>
                </a:solidFill>
                <a:latin typeface="Pretendard"/>
              </a:rPr>
              <a:t>→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7E68E950-12B7-A84E-9C0C-C2DF8BE0C221}"/>
              </a:ext>
            </a:extLst>
          </p:cNvPr>
          <p:cNvSpPr/>
          <p:nvPr/>
        </p:nvSpPr>
        <p:spPr>
          <a:xfrm>
            <a:off x="7264400" y="4572000"/>
            <a:ext cx="2616200" cy="838200"/>
          </a:xfrm>
          <a:prstGeom prst="round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550" b="1">
                <a:solidFill>
                  <a:srgbClr val="14213D"/>
                </a:solidFill>
                <a:latin typeface="Pretendard"/>
              </a:rPr>
              <a:t>변형 → 선택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핵심 개념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핵심 개념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94DD80E2-AD6C-124A-88C8-0CB7A965ABDA}"/>
              </a:ext>
            </a:extLst>
          </p:cNvPr>
          <p:cNvSpPr/>
          <p:nvPr/>
        </p:nvSpPr>
        <p:spPr>
          <a:xfrm>
            <a:off x="825500" y="1905000"/>
            <a:ext cx="33401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F2AC7B0-0556-C447-85D3-410822304FD2}"/>
              </a:ext>
            </a:extLst>
          </p:cNvPr>
          <p:cNvSpPr/>
          <p:nvPr/>
        </p:nvSpPr>
        <p:spPr>
          <a:xfrm>
            <a:off x="825500" y="1905000"/>
            <a:ext cx="3340100" cy="88900"/>
          </a:xfrm>
          <a:prstGeom prst="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66F047F-A0EC-1440-8A96-086DD7A947E1}"/>
              </a:ext>
            </a:extLst>
          </p:cNvPr>
          <p:cNvSpPr/>
          <p:nvPr/>
        </p:nvSpPr>
        <p:spPr>
          <a:xfrm>
            <a:off x="11303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1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4740B1-529B-1347-BF26-C2445DE4F93D}"/>
              </a:ext>
            </a:extLst>
          </p:cNvPr>
          <p:cNvSpPr txBox="1"/>
          <p:nvPr/>
        </p:nvSpPr>
        <p:spPr>
          <a:xfrm>
            <a:off x="11303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50" b="1">
                <a:solidFill>
                  <a:srgbClr val="14213D"/>
                </a:solidFill>
                <a:latin typeface="Pretendard"/>
              </a:rPr>
              <a:t>프롬프트 구조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0B72136-B4DA-3B43-902A-DD1F7A0BDD59}"/>
              </a:ext>
            </a:extLst>
          </p:cNvPr>
          <p:cNvSpPr/>
          <p:nvPr/>
        </p:nvSpPr>
        <p:spPr>
          <a:xfrm>
            <a:off x="11303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1B96C4-FD00-314B-8E5F-B778565C7CBB}"/>
              </a:ext>
            </a:extLst>
          </p:cNvPr>
          <p:cNvSpPr txBox="1"/>
          <p:nvPr/>
        </p:nvSpPr>
        <p:spPr>
          <a:xfrm>
            <a:off x="11303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350">
                <a:solidFill>
                  <a:srgbClr val="576176"/>
                </a:solidFill>
                <a:latin typeface="Pretendard"/>
              </a:rPr>
              <a:t>[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피사체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]+[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스타일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/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매체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]+[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구도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조명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]+[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색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]+[--no 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금지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]. 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디테일은 영어가 유리할 때가 많다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35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BC88199F-EE75-6745-8C3D-3DFA2D54F9BA}"/>
              </a:ext>
            </a:extLst>
          </p:cNvPr>
          <p:cNvSpPr/>
          <p:nvPr/>
        </p:nvSpPr>
        <p:spPr>
          <a:xfrm>
            <a:off x="1130300" y="5562600"/>
            <a:ext cx="2730500" cy="457200"/>
          </a:xfrm>
          <a:prstGeom prst="roundRect">
            <a:avLst/>
          </a:prstGeom>
          <a:solidFill>
            <a:srgbClr val="E7ECF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9B4030-321C-0C4C-8FC1-0A79FF92476D}"/>
              </a:ext>
            </a:extLst>
          </p:cNvPr>
          <p:cNvSpPr txBox="1"/>
          <p:nvPr/>
        </p:nvSpPr>
        <p:spPr>
          <a:xfrm>
            <a:off x="11303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14213D"/>
                </a:solidFill>
                <a:latin typeface="Pretendard"/>
              </a:rPr>
              <a:t>5</a:t>
            </a:r>
            <a:r>
              <a:rPr lang="ko-KR" altLang="en-US" sz="1300" b="1">
                <a:solidFill>
                  <a:srgbClr val="14213D"/>
                </a:solidFill>
                <a:latin typeface="Pretendard"/>
              </a:rPr>
              <a:t>요소로 쓴다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67724CCC-9609-E74A-BEE2-E8E25F6771FE}"/>
              </a:ext>
            </a:extLst>
          </p:cNvPr>
          <p:cNvSpPr/>
          <p:nvPr/>
        </p:nvSpPr>
        <p:spPr>
          <a:xfrm>
            <a:off x="4419600" y="1905000"/>
            <a:ext cx="33401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2DFD4D0-A311-3B4A-8463-9C21E54A7F23}"/>
              </a:ext>
            </a:extLst>
          </p:cNvPr>
          <p:cNvSpPr/>
          <p:nvPr/>
        </p:nvSpPr>
        <p:spPr>
          <a:xfrm>
            <a:off x="4419600" y="1905000"/>
            <a:ext cx="3340100" cy="88900"/>
          </a:xfrm>
          <a:prstGeom prst="rect">
            <a:avLst/>
          </a:prstGeom>
          <a:solidFill>
            <a:srgbClr val="1D4E8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E11F7D5D-443C-9E4C-A554-713FD4CDC0C5}"/>
              </a:ext>
            </a:extLst>
          </p:cNvPr>
          <p:cNvSpPr/>
          <p:nvPr/>
        </p:nvSpPr>
        <p:spPr>
          <a:xfrm>
            <a:off x="47244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2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3C7238-36B5-5441-8FC4-E526F00BE15E}"/>
              </a:ext>
            </a:extLst>
          </p:cNvPr>
          <p:cNvSpPr txBox="1"/>
          <p:nvPr/>
        </p:nvSpPr>
        <p:spPr>
          <a:xfrm>
            <a:off x="47244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50" b="1">
                <a:solidFill>
                  <a:srgbClr val="14213D"/>
                </a:solidFill>
                <a:latin typeface="Pretendard"/>
              </a:rPr>
              <a:t>종횡비 </a:t>
            </a:r>
            <a:r>
              <a:rPr lang="en-US" altLang="ko-KR" sz="1650" b="1">
                <a:solidFill>
                  <a:srgbClr val="14213D"/>
                </a:solidFill>
                <a:latin typeface="Pretendard"/>
              </a:rPr>
              <a:t>(Aspect Ratio)</a:t>
            </a:r>
            <a:endParaRPr lang="ko-KR" altLang="en-US" sz="1650" b="1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E730805-028C-EF45-829E-4EF3A4F12637}"/>
              </a:ext>
            </a:extLst>
          </p:cNvPr>
          <p:cNvSpPr/>
          <p:nvPr/>
        </p:nvSpPr>
        <p:spPr>
          <a:xfrm>
            <a:off x="47244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72F6EB-5A4C-AB48-B094-EF0F7FD27585}"/>
              </a:ext>
            </a:extLst>
          </p:cNvPr>
          <p:cNvSpPr txBox="1"/>
          <p:nvPr/>
        </p:nvSpPr>
        <p:spPr>
          <a:xfrm>
            <a:off x="47244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50">
                <a:solidFill>
                  <a:srgbClr val="576176"/>
                </a:solidFill>
                <a:latin typeface="Pretendard"/>
              </a:rPr>
              <a:t>인스타 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1:1, 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스토리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릴스 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9:16, 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썸네일 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16:9, 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배너 가로형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. 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채널 규격을 먼저 정한다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35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C8F10374-F9B1-814D-A056-D4D8CD9FBDA2}"/>
              </a:ext>
            </a:extLst>
          </p:cNvPr>
          <p:cNvSpPr/>
          <p:nvPr/>
        </p:nvSpPr>
        <p:spPr>
          <a:xfrm>
            <a:off x="4724400" y="5562600"/>
            <a:ext cx="2730500" cy="457200"/>
          </a:xfrm>
          <a:prstGeom prst="roundRect">
            <a:avLst/>
          </a:prstGeom>
          <a:solidFill>
            <a:srgbClr val="E4EC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BE3F9B-1BF5-9441-9885-8592EF958415}"/>
              </a:ext>
            </a:extLst>
          </p:cNvPr>
          <p:cNvSpPr txBox="1"/>
          <p:nvPr/>
        </p:nvSpPr>
        <p:spPr>
          <a:xfrm>
            <a:off x="47244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1D4E89"/>
                </a:solidFill>
                <a:latin typeface="Pretendard"/>
              </a:rPr>
              <a:t>규격 먼저 정하기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D99428C4-1339-A943-93A8-5ACCD81DE8CE}"/>
              </a:ext>
            </a:extLst>
          </p:cNvPr>
          <p:cNvSpPr/>
          <p:nvPr/>
        </p:nvSpPr>
        <p:spPr>
          <a:xfrm>
            <a:off x="8013700" y="1905000"/>
            <a:ext cx="33401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AD4CF7B-EAE4-E740-A226-7B7629A8ABC9}"/>
              </a:ext>
            </a:extLst>
          </p:cNvPr>
          <p:cNvSpPr/>
          <p:nvPr/>
        </p:nvSpPr>
        <p:spPr>
          <a:xfrm>
            <a:off x="8013700" y="1905000"/>
            <a:ext cx="3340100" cy="889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D86F3467-4188-CC4E-A7F7-0362B737BE55}"/>
              </a:ext>
            </a:extLst>
          </p:cNvPr>
          <p:cNvSpPr/>
          <p:nvPr/>
        </p:nvSpPr>
        <p:spPr>
          <a:xfrm>
            <a:off x="83185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3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A2E535-7ED9-484C-8CBF-41BF7DC0BB9A}"/>
              </a:ext>
            </a:extLst>
          </p:cNvPr>
          <p:cNvSpPr txBox="1"/>
          <p:nvPr/>
        </p:nvSpPr>
        <p:spPr>
          <a:xfrm>
            <a:off x="83185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50" b="1">
                <a:solidFill>
                  <a:srgbClr val="14213D"/>
                </a:solidFill>
                <a:latin typeface="Pretendard"/>
              </a:rPr>
              <a:t>저작권</a:t>
            </a:r>
            <a:r>
              <a:rPr lang="en-US" altLang="ko-KR" sz="1650" b="1">
                <a:solidFill>
                  <a:srgbClr val="14213D"/>
                </a:solidFill>
                <a:latin typeface="Pretendard"/>
              </a:rPr>
              <a:t>·</a:t>
            </a:r>
            <a:r>
              <a:rPr lang="ko-KR" altLang="en-US" sz="1650" b="1">
                <a:solidFill>
                  <a:srgbClr val="14213D"/>
                </a:solidFill>
                <a:latin typeface="Pretendard"/>
              </a:rPr>
              <a:t>상업적 이용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2764DFC-493E-934D-BF78-4C158D7A855F}"/>
              </a:ext>
            </a:extLst>
          </p:cNvPr>
          <p:cNvSpPr/>
          <p:nvPr/>
        </p:nvSpPr>
        <p:spPr>
          <a:xfrm>
            <a:off x="83185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50BAD7-6149-F147-919B-016F94B45026}"/>
              </a:ext>
            </a:extLst>
          </p:cNvPr>
          <p:cNvSpPr txBox="1"/>
          <p:nvPr/>
        </p:nvSpPr>
        <p:spPr>
          <a:xfrm>
            <a:off x="83185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50">
                <a:solidFill>
                  <a:srgbClr val="576176"/>
                </a:solidFill>
                <a:latin typeface="Pretendard"/>
              </a:rPr>
              <a:t>도구별 약관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초상권을 확인한다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. 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로고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실제 인물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타사 상표는 생성에 넣지 않는다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35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837D096F-03B9-D64A-BCF9-6AAF244CCEF8}"/>
              </a:ext>
            </a:extLst>
          </p:cNvPr>
          <p:cNvSpPr/>
          <p:nvPr/>
        </p:nvSpPr>
        <p:spPr>
          <a:xfrm>
            <a:off x="8318500" y="5562600"/>
            <a:ext cx="2730500" cy="457200"/>
          </a:xfrm>
          <a:prstGeom prst="roundRect">
            <a:avLst/>
          </a:prstGeom>
          <a:solidFill>
            <a:srgbClr val="FBEF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EDA36D9-BBDB-AA47-8DE2-3B80863AFD8C}"/>
              </a:ext>
            </a:extLst>
          </p:cNvPr>
          <p:cNvSpPr txBox="1"/>
          <p:nvPr/>
        </p:nvSpPr>
        <p:spPr>
          <a:xfrm>
            <a:off x="83185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9A6B12"/>
                </a:solidFill>
                <a:latin typeface="Pretendard"/>
              </a:rPr>
              <a:t>약관</a:t>
            </a:r>
            <a:r>
              <a:rPr lang="en-US" altLang="ko-KR" sz="1300" b="1">
                <a:solidFill>
                  <a:srgbClr val="9A6B12"/>
                </a:solidFill>
                <a:latin typeface="Pretendard"/>
              </a:rPr>
              <a:t>·</a:t>
            </a:r>
            <a:r>
              <a:rPr lang="ko-KR" altLang="en-US" sz="1300" b="1">
                <a:solidFill>
                  <a:srgbClr val="9A6B12"/>
                </a:solidFill>
                <a:latin typeface="Pretendard"/>
              </a:rPr>
              <a:t>초상권 확인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개념 깊이 보기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개념을 예시로 — 우리 케이스에 적용하면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4AD16234-8E23-2840-8196-04CB007D4FFC}"/>
              </a:ext>
            </a:extLst>
          </p:cNvPr>
          <p:cNvSpPr/>
          <p:nvPr/>
        </p:nvSpPr>
        <p:spPr>
          <a:xfrm>
            <a:off x="825500" y="1905000"/>
            <a:ext cx="54610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C252E7-7D0B-DD46-99FD-25E87B356079}"/>
              </a:ext>
            </a:extLst>
          </p:cNvPr>
          <p:cNvSpPr txBox="1"/>
          <p:nvPr/>
        </p:nvSpPr>
        <p:spPr>
          <a:xfrm>
            <a:off x="1181100" y="2184400"/>
            <a:ext cx="47498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14213D"/>
                </a:solidFill>
                <a:latin typeface="Pretendard"/>
              </a:rPr>
              <a:t>이미지 프롬프트 </a:t>
            </a:r>
            <a:r>
              <a:rPr lang="en-US" altLang="ko-KR" b="1">
                <a:solidFill>
                  <a:srgbClr val="14213D"/>
                </a:solidFill>
                <a:latin typeface="Pretendard"/>
              </a:rPr>
              <a:t>5</a:t>
            </a:r>
            <a:r>
              <a:rPr lang="ko-KR" altLang="en-US" b="1">
                <a:solidFill>
                  <a:srgbClr val="14213D"/>
                </a:solidFill>
                <a:latin typeface="Pretendard"/>
              </a:rPr>
              <a:t>요소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0E39AE-767F-3F4D-8CB2-D317F482C6DA}"/>
              </a:ext>
            </a:extLst>
          </p:cNvPr>
          <p:cNvSpPr txBox="1"/>
          <p:nvPr/>
        </p:nvSpPr>
        <p:spPr>
          <a:xfrm>
            <a:off x="1181100" y="2565400"/>
            <a:ext cx="47498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250">
                <a:solidFill>
                  <a:srgbClr val="576176"/>
                </a:solidFill>
                <a:latin typeface="JetBrains Mono"/>
              </a:rPr>
              <a:t>예</a:t>
            </a:r>
            <a:r>
              <a:rPr lang="en-US" altLang="ko-KR" sz="1250">
                <a:solidFill>
                  <a:srgbClr val="576176"/>
                </a:solidFill>
                <a:latin typeface="JetBrains Mono"/>
              </a:rPr>
              <a:t>) </a:t>
            </a:r>
            <a:r>
              <a:rPr lang="ko-KR" altLang="en-US" sz="1250">
                <a:solidFill>
                  <a:srgbClr val="576176"/>
                </a:solidFill>
                <a:latin typeface="JetBrains Mono"/>
              </a:rPr>
              <a:t>무알콜 맥주 캔 컷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6CFA0CF9-D5A6-644D-9094-80FF6615B031}"/>
              </a:ext>
            </a:extLst>
          </p:cNvPr>
          <p:cNvSpPr/>
          <p:nvPr/>
        </p:nvSpPr>
        <p:spPr>
          <a:xfrm>
            <a:off x="1181100" y="2946400"/>
            <a:ext cx="1092200" cy="3810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JetBrains Mono"/>
              </a:rPr>
              <a:t>피사체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841F6C-8A5D-9347-B960-E61C8E331439}"/>
              </a:ext>
            </a:extLst>
          </p:cNvPr>
          <p:cNvSpPr txBox="1"/>
          <p:nvPr/>
        </p:nvSpPr>
        <p:spPr>
          <a:xfrm>
            <a:off x="2425700" y="2946400"/>
            <a:ext cx="35052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50" b="1">
                <a:solidFill>
                  <a:srgbClr val="2A3B57"/>
                </a:solidFill>
                <a:latin typeface="Pretendard"/>
              </a:rPr>
              <a:t>무알콜 맥주 캔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84124945-08D4-0247-9881-857ABCE726FE}"/>
              </a:ext>
            </a:extLst>
          </p:cNvPr>
          <p:cNvSpPr/>
          <p:nvPr/>
        </p:nvSpPr>
        <p:spPr>
          <a:xfrm>
            <a:off x="1181100" y="3581400"/>
            <a:ext cx="1092200" cy="3810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JetBrains Mono"/>
              </a:rPr>
              <a:t>스타일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5850F4-EB7F-CA42-8901-8F84D9BB01B7}"/>
              </a:ext>
            </a:extLst>
          </p:cNvPr>
          <p:cNvSpPr txBox="1"/>
          <p:nvPr/>
        </p:nvSpPr>
        <p:spPr>
          <a:xfrm>
            <a:off x="2425700" y="3581400"/>
            <a:ext cx="35052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50" b="1">
                <a:solidFill>
                  <a:srgbClr val="2A3B57"/>
                </a:solidFill>
                <a:latin typeface="Pretendard"/>
              </a:rPr>
              <a:t>미니멀 스튜디오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200E9420-1B47-1D4F-A615-64ECF7112A0B}"/>
              </a:ext>
            </a:extLst>
          </p:cNvPr>
          <p:cNvSpPr/>
          <p:nvPr/>
        </p:nvSpPr>
        <p:spPr>
          <a:xfrm>
            <a:off x="1181100" y="4216400"/>
            <a:ext cx="1092200" cy="3810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JetBrains Mono"/>
              </a:rPr>
              <a:t>조명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881C44-BBB2-1B42-A50D-02DAA9CE8511}"/>
              </a:ext>
            </a:extLst>
          </p:cNvPr>
          <p:cNvSpPr txBox="1"/>
          <p:nvPr/>
        </p:nvSpPr>
        <p:spPr>
          <a:xfrm>
            <a:off x="2425700" y="4216400"/>
            <a:ext cx="35052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50" b="1">
                <a:solidFill>
                  <a:srgbClr val="2A3B57"/>
                </a:solidFill>
                <a:latin typeface="Pretendard"/>
              </a:rPr>
              <a:t>부드러운 측광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E6E1D018-14AE-104B-9FA7-39F662F069BC}"/>
              </a:ext>
            </a:extLst>
          </p:cNvPr>
          <p:cNvSpPr/>
          <p:nvPr/>
        </p:nvSpPr>
        <p:spPr>
          <a:xfrm>
            <a:off x="1181100" y="4851400"/>
            <a:ext cx="1092200" cy="3810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  <a:latin typeface="JetBrains Mono"/>
              </a:rPr>
              <a:t>색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82F3C6-3504-3943-BA5F-1A64264BD2FE}"/>
              </a:ext>
            </a:extLst>
          </p:cNvPr>
          <p:cNvSpPr txBox="1"/>
          <p:nvPr/>
        </p:nvSpPr>
        <p:spPr>
          <a:xfrm>
            <a:off x="2425700" y="4851400"/>
            <a:ext cx="35052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450" b="1">
                <a:solidFill>
                  <a:srgbClr val="2A3B57"/>
                </a:solidFill>
                <a:latin typeface="Pretendard"/>
              </a:rPr>
              <a:t>amber + navy</a:t>
            </a:r>
            <a:endParaRPr lang="ko-KR" altLang="en-US" sz="1450" b="1">
              <a:solidFill>
                <a:srgbClr val="2A3B57"/>
              </a:solidFill>
              <a:latin typeface="Pretendard"/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0571195D-72E4-6443-903E-720CA7B33314}"/>
              </a:ext>
            </a:extLst>
          </p:cNvPr>
          <p:cNvSpPr/>
          <p:nvPr/>
        </p:nvSpPr>
        <p:spPr>
          <a:xfrm>
            <a:off x="1181100" y="5486400"/>
            <a:ext cx="1092200" cy="381000"/>
          </a:xfrm>
          <a:prstGeom prst="round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  <a:latin typeface="JetBrains Mono"/>
              </a:rPr>
              <a:t>--no</a:t>
            </a:r>
            <a:endParaRPr lang="ko-KR" altLang="en-US" sz="12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847F9A-FA57-8741-9059-C2D1477A35AB}"/>
              </a:ext>
            </a:extLst>
          </p:cNvPr>
          <p:cNvSpPr txBox="1"/>
          <p:nvPr/>
        </p:nvSpPr>
        <p:spPr>
          <a:xfrm>
            <a:off x="2425700" y="5486400"/>
            <a:ext cx="35052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50" b="1">
                <a:solidFill>
                  <a:srgbClr val="2A3B57"/>
                </a:solidFill>
                <a:latin typeface="Pretendard"/>
              </a:rPr>
              <a:t>글자 </a:t>
            </a:r>
            <a:r>
              <a:rPr lang="en-US" altLang="ko-KR" sz="1450" b="1">
                <a:solidFill>
                  <a:srgbClr val="2A3B57"/>
                </a:solidFill>
                <a:latin typeface="Pretendard"/>
              </a:rPr>
              <a:t>· </a:t>
            </a:r>
            <a:r>
              <a:rPr lang="ko-KR" altLang="en-US" sz="1450" b="1">
                <a:solidFill>
                  <a:srgbClr val="2A3B57"/>
                </a:solidFill>
                <a:latin typeface="Pretendard"/>
              </a:rPr>
              <a:t>로고</a:t>
            </a: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3CDE6D11-1D76-CF45-A6CA-57F8C9BF3E2B}"/>
              </a:ext>
            </a:extLst>
          </p:cNvPr>
          <p:cNvSpPr/>
          <p:nvPr/>
        </p:nvSpPr>
        <p:spPr>
          <a:xfrm>
            <a:off x="6540500" y="1905000"/>
            <a:ext cx="4826000" cy="43815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CE03A3-4080-E143-BE87-0A434D52E54F}"/>
              </a:ext>
            </a:extLst>
          </p:cNvPr>
          <p:cNvSpPr txBox="1"/>
          <p:nvPr/>
        </p:nvSpPr>
        <p:spPr>
          <a:xfrm>
            <a:off x="6845300" y="2184400"/>
            <a:ext cx="42164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FFFFFF"/>
                </a:solidFill>
                <a:latin typeface="Pretendard"/>
              </a:rPr>
              <a:t>종횡비 </a:t>
            </a:r>
            <a:r>
              <a:rPr lang="en-US" altLang="ko-KR" b="1">
                <a:solidFill>
                  <a:srgbClr val="FFFFFF"/>
                </a:solidFill>
                <a:latin typeface="Pretendard"/>
              </a:rPr>
              <a:t>(Aspect Ratio)</a:t>
            </a:r>
            <a:endParaRPr lang="ko-KR" altLang="en-US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A87367-5EEA-DF46-94B4-DB6D51A28DDC}"/>
              </a:ext>
            </a:extLst>
          </p:cNvPr>
          <p:cNvSpPr txBox="1"/>
          <p:nvPr/>
        </p:nvSpPr>
        <p:spPr>
          <a:xfrm>
            <a:off x="6845300" y="2565400"/>
            <a:ext cx="42164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250">
                <a:solidFill>
                  <a:srgbClr val="E8A33D"/>
                </a:solidFill>
                <a:latin typeface="Pretendard"/>
              </a:rPr>
              <a:t>채널별 규격을 먼저 정한다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9D0DEF3E-044B-B44A-9CF1-ADAA8176EC90}"/>
              </a:ext>
            </a:extLst>
          </p:cNvPr>
          <p:cNvSpPr/>
          <p:nvPr/>
        </p:nvSpPr>
        <p:spPr>
          <a:xfrm>
            <a:off x="7289800" y="3683000"/>
            <a:ext cx="889000" cy="889000"/>
          </a:xfrm>
          <a:prstGeom prst="roundRect">
            <a:avLst/>
          </a:prstGeom>
          <a:solidFill>
            <a:srgbClr val="20314F"/>
          </a:solidFill>
          <a:ln w="19050" cap="flat" cmpd="sng" algn="ctr">
            <a:solidFill>
              <a:srgbClr val="E8A33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C734CCE6-CF9B-1749-A4F2-F107F71AC19E}"/>
              </a:ext>
            </a:extLst>
          </p:cNvPr>
          <p:cNvSpPr/>
          <p:nvPr/>
        </p:nvSpPr>
        <p:spPr>
          <a:xfrm>
            <a:off x="8382000" y="3454400"/>
            <a:ext cx="635000" cy="1117600"/>
          </a:xfrm>
          <a:prstGeom prst="roundRect">
            <a:avLst/>
          </a:prstGeom>
          <a:solidFill>
            <a:srgbClr val="20314F"/>
          </a:solidFill>
          <a:ln w="19050" cap="flat" cmpd="sng" algn="ctr">
            <a:solidFill>
              <a:srgbClr val="E8A33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B85C72FA-84DF-8A46-A1F0-6C20AE7BF201}"/>
              </a:ext>
            </a:extLst>
          </p:cNvPr>
          <p:cNvSpPr/>
          <p:nvPr/>
        </p:nvSpPr>
        <p:spPr>
          <a:xfrm>
            <a:off x="9220200" y="3784600"/>
            <a:ext cx="1397000" cy="787400"/>
          </a:xfrm>
          <a:prstGeom prst="roundRect">
            <a:avLst/>
          </a:prstGeom>
          <a:solidFill>
            <a:srgbClr val="20314F"/>
          </a:solidFill>
          <a:ln w="19050" cap="flat" cmpd="sng" algn="ctr">
            <a:solidFill>
              <a:srgbClr val="E8A33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22B2BA-4B62-8A4E-9727-211194C02765}"/>
              </a:ext>
            </a:extLst>
          </p:cNvPr>
          <p:cNvSpPr txBox="1"/>
          <p:nvPr/>
        </p:nvSpPr>
        <p:spPr>
          <a:xfrm>
            <a:off x="7289800" y="4648200"/>
            <a:ext cx="889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E8A33D"/>
                </a:solidFill>
                <a:latin typeface="JetBrains Mono"/>
              </a:rPr>
              <a:t>1:1</a:t>
            </a:r>
            <a:endParaRPr lang="ko-KR" altLang="en-US" sz="12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36A3FA-C478-604E-A6E5-D647A91EB367}"/>
              </a:ext>
            </a:extLst>
          </p:cNvPr>
          <p:cNvSpPr txBox="1"/>
          <p:nvPr/>
        </p:nvSpPr>
        <p:spPr>
          <a:xfrm>
            <a:off x="8229600" y="4648200"/>
            <a:ext cx="9398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E8A33D"/>
                </a:solidFill>
                <a:latin typeface="JetBrains Mono"/>
              </a:rPr>
              <a:t>9:16</a:t>
            </a:r>
            <a:endParaRPr lang="ko-KR" altLang="en-US" sz="12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E0015F-925D-3246-989E-3289766C70D7}"/>
              </a:ext>
            </a:extLst>
          </p:cNvPr>
          <p:cNvSpPr txBox="1"/>
          <p:nvPr/>
        </p:nvSpPr>
        <p:spPr>
          <a:xfrm>
            <a:off x="9220200" y="4648200"/>
            <a:ext cx="1397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E8A33D"/>
                </a:solidFill>
                <a:latin typeface="JetBrains Mono"/>
              </a:rPr>
              <a:t>16:9</a:t>
            </a:r>
            <a:endParaRPr lang="ko-KR" altLang="en-US" sz="12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5C844D3-21CC-A946-97D1-B0591A26737F}"/>
              </a:ext>
            </a:extLst>
          </p:cNvPr>
          <p:cNvSpPr txBox="1"/>
          <p:nvPr/>
        </p:nvSpPr>
        <p:spPr>
          <a:xfrm>
            <a:off x="6845300" y="5080000"/>
            <a:ext cx="42164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00">
                <a:solidFill>
                  <a:srgbClr val="DCE6F2"/>
                </a:solidFill>
                <a:latin typeface="Pretendard"/>
              </a:rPr>
              <a:t>인스타 </a:t>
            </a:r>
            <a:r>
              <a:rPr lang="en-US" altLang="ko-KR" sz="1300">
                <a:solidFill>
                  <a:srgbClr val="DCE6F2"/>
                </a:solidFill>
                <a:latin typeface="Pretendard"/>
              </a:rPr>
              <a:t>1:1 · </a:t>
            </a:r>
            <a:r>
              <a:rPr lang="ko-KR" altLang="en-US" sz="1300">
                <a:solidFill>
                  <a:srgbClr val="DCE6F2"/>
                </a:solidFill>
                <a:latin typeface="Pretendard"/>
              </a:rPr>
              <a:t>릴스 </a:t>
            </a:r>
            <a:r>
              <a:rPr lang="en-US" altLang="ko-KR" sz="1300">
                <a:solidFill>
                  <a:srgbClr val="DCE6F2"/>
                </a:solidFill>
                <a:latin typeface="Pretendard"/>
              </a:rPr>
              <a:t>9:16 · </a:t>
            </a:r>
            <a:r>
              <a:rPr lang="ko-KR" altLang="en-US" sz="1300">
                <a:solidFill>
                  <a:srgbClr val="DCE6F2"/>
                </a:solidFill>
                <a:latin typeface="Pretendard"/>
              </a:rPr>
              <a:t>썸네일 </a:t>
            </a:r>
            <a:r>
              <a:rPr lang="en-US" altLang="ko-KR" sz="1300">
                <a:solidFill>
                  <a:srgbClr val="DCE6F2"/>
                </a:solidFill>
                <a:latin typeface="Pretendard"/>
              </a:rPr>
              <a:t>16:9</a:t>
            </a:r>
            <a:endParaRPr lang="ko-KR" altLang="en-US" sz="1300">
              <a:solidFill>
                <a:srgbClr val="DCE6F2"/>
              </a:solidFill>
              <a:latin typeface="Pretendard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2241D7-3753-064D-A8D3-32611BF30131}"/>
              </a:ext>
            </a:extLst>
          </p:cNvPr>
          <p:cNvSpPr txBox="1"/>
          <p:nvPr/>
        </p:nvSpPr>
        <p:spPr>
          <a:xfrm>
            <a:off x="6845300" y="5511800"/>
            <a:ext cx="42164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00">
                <a:solidFill>
                  <a:srgbClr val="E8A33D"/>
                </a:solidFill>
                <a:latin typeface="JetBrains Mono"/>
              </a:rPr>
              <a:t>→ 규격을 정하고 생성해야 잘리지 않는다</a:t>
            </a:r>
            <a:r>
              <a:rPr lang="en-US" altLang="ko-KR" sz="1300">
                <a:solidFill>
                  <a:srgbClr val="E8A33D"/>
                </a:solidFill>
                <a:latin typeface="JetBrains Mono"/>
              </a:rPr>
              <a:t>.</a:t>
            </a:r>
            <a:endParaRPr lang="ko-KR" altLang="en-US" sz="1300">
              <a:solidFill>
                <a:srgbClr val="E8A33D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절차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실습 절차 — 직접 해봅니다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8C9F8EA3-D339-1F4D-B212-36CC0DFD7E25}"/>
              </a:ext>
            </a:extLst>
          </p:cNvPr>
          <p:cNvSpPr/>
          <p:nvPr/>
        </p:nvSpPr>
        <p:spPr>
          <a:xfrm>
            <a:off x="825500" y="1930400"/>
            <a:ext cx="10541000" cy="9398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2F19DCE-0945-1F41-9AF3-220EE39346D4}"/>
              </a:ext>
            </a:extLst>
          </p:cNvPr>
          <p:cNvSpPr/>
          <p:nvPr/>
        </p:nvSpPr>
        <p:spPr>
          <a:xfrm>
            <a:off x="825500" y="19304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79A93FEF-BF1E-E545-9224-A2913669ED68}"/>
              </a:ext>
            </a:extLst>
          </p:cNvPr>
          <p:cNvSpPr/>
          <p:nvPr/>
        </p:nvSpPr>
        <p:spPr>
          <a:xfrm>
            <a:off x="1143000" y="21590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1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79A850-78DC-B942-ACB0-5858ACDDB6CC}"/>
              </a:ext>
            </a:extLst>
          </p:cNvPr>
          <p:cNvSpPr txBox="1"/>
          <p:nvPr/>
        </p:nvSpPr>
        <p:spPr>
          <a:xfrm>
            <a:off x="1905000" y="2095500"/>
            <a:ext cx="2667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용도</a:t>
            </a:r>
            <a:r>
              <a:rPr lang="en-US" altLang="ko-KR" sz="1600" b="1">
                <a:solidFill>
                  <a:srgbClr val="14213D"/>
                </a:solidFill>
                <a:latin typeface="Pretendard"/>
              </a:rPr>
              <a:t>·</a:t>
            </a:r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종횡비 정하기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004E7B-FFD3-A443-9F86-B76157188CE7}"/>
              </a:ext>
            </a:extLst>
          </p:cNvPr>
          <p:cNvSpPr txBox="1"/>
          <p:nvPr/>
        </p:nvSpPr>
        <p:spPr>
          <a:xfrm>
            <a:off x="4699000" y="2057400"/>
            <a:ext cx="64770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배너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/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카드뉴스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/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썸네일 용도와 채널 규격을 먼저 정한다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EC7BD6D1-E29D-0045-9BCD-B15654A26A7C}"/>
              </a:ext>
            </a:extLst>
          </p:cNvPr>
          <p:cNvSpPr/>
          <p:nvPr/>
        </p:nvSpPr>
        <p:spPr>
          <a:xfrm>
            <a:off x="825500" y="2971800"/>
            <a:ext cx="10541000" cy="9398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E161FA4-5016-094A-B23E-43BA4FF9B556}"/>
              </a:ext>
            </a:extLst>
          </p:cNvPr>
          <p:cNvSpPr/>
          <p:nvPr/>
        </p:nvSpPr>
        <p:spPr>
          <a:xfrm>
            <a:off x="825500" y="29718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A54AD09E-6C7C-4A43-9AF7-04385B41A3A9}"/>
              </a:ext>
            </a:extLst>
          </p:cNvPr>
          <p:cNvSpPr/>
          <p:nvPr/>
        </p:nvSpPr>
        <p:spPr>
          <a:xfrm>
            <a:off x="1143000" y="32004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2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216ED9-5E87-0E43-A2D5-36816E2CD89B}"/>
              </a:ext>
            </a:extLst>
          </p:cNvPr>
          <p:cNvSpPr txBox="1"/>
          <p:nvPr/>
        </p:nvSpPr>
        <p:spPr>
          <a:xfrm>
            <a:off x="1905000" y="3136900"/>
            <a:ext cx="2667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14213D"/>
                </a:solidFill>
                <a:latin typeface="Pretendard"/>
              </a:rPr>
              <a:t>5</a:t>
            </a:r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요소 프롬프트 작성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B22B6D-58D5-8145-A972-4CA0FFC09EFA}"/>
              </a:ext>
            </a:extLst>
          </p:cNvPr>
          <p:cNvSpPr txBox="1"/>
          <p:nvPr/>
        </p:nvSpPr>
        <p:spPr>
          <a:xfrm>
            <a:off x="4699000" y="3098800"/>
            <a:ext cx="64770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피사체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+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스타일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+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구도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조명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+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색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+--no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로 작성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(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글자는 편집 도구에서 얹기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).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80292B67-02EF-AF4F-B782-C6BBC616F458}"/>
              </a:ext>
            </a:extLst>
          </p:cNvPr>
          <p:cNvSpPr/>
          <p:nvPr/>
        </p:nvSpPr>
        <p:spPr>
          <a:xfrm>
            <a:off x="825500" y="4013200"/>
            <a:ext cx="10541000" cy="9398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FAC04D6-14E1-7248-8603-09F62AB41488}"/>
              </a:ext>
            </a:extLst>
          </p:cNvPr>
          <p:cNvSpPr/>
          <p:nvPr/>
        </p:nvSpPr>
        <p:spPr>
          <a:xfrm>
            <a:off x="825500" y="40132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DFD760CF-5929-034C-BC6A-E254666A34D8}"/>
              </a:ext>
            </a:extLst>
          </p:cNvPr>
          <p:cNvSpPr/>
          <p:nvPr/>
        </p:nvSpPr>
        <p:spPr>
          <a:xfrm>
            <a:off x="1143000" y="42418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3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29FE98-2289-5F45-8BB1-1F91E4550189}"/>
              </a:ext>
            </a:extLst>
          </p:cNvPr>
          <p:cNvSpPr txBox="1"/>
          <p:nvPr/>
        </p:nvSpPr>
        <p:spPr>
          <a:xfrm>
            <a:off x="1905000" y="4178300"/>
            <a:ext cx="2667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14213D"/>
                </a:solidFill>
                <a:latin typeface="Pretendard"/>
              </a:rPr>
              <a:t>2~3</a:t>
            </a:r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장 변형 후 선택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4A0194-B3DA-2747-9929-A1741E3F5A09}"/>
              </a:ext>
            </a:extLst>
          </p:cNvPr>
          <p:cNvSpPr txBox="1"/>
          <p:nvPr/>
        </p:nvSpPr>
        <p:spPr>
          <a:xfrm>
            <a:off x="4699000" y="4140200"/>
            <a:ext cx="64770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여러 장 생성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변형하고 가장 맞는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1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장을 고른다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AF53FA47-B011-054B-80E6-4005629EC8D0}"/>
              </a:ext>
            </a:extLst>
          </p:cNvPr>
          <p:cNvSpPr/>
          <p:nvPr/>
        </p:nvSpPr>
        <p:spPr>
          <a:xfrm>
            <a:off x="825500" y="5054600"/>
            <a:ext cx="10541000" cy="9398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28B1B49-69BB-804E-A1E2-1246DD2F0E20}"/>
              </a:ext>
            </a:extLst>
          </p:cNvPr>
          <p:cNvSpPr/>
          <p:nvPr/>
        </p:nvSpPr>
        <p:spPr>
          <a:xfrm>
            <a:off x="825500" y="50546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552E1180-E972-0143-BC05-F67CA3943CFC}"/>
              </a:ext>
            </a:extLst>
          </p:cNvPr>
          <p:cNvSpPr/>
          <p:nvPr/>
        </p:nvSpPr>
        <p:spPr>
          <a:xfrm>
            <a:off x="1143000" y="52832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4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969E42-8815-C747-9FD9-F0BB994BF78A}"/>
              </a:ext>
            </a:extLst>
          </p:cNvPr>
          <p:cNvSpPr txBox="1"/>
          <p:nvPr/>
        </p:nvSpPr>
        <p:spPr>
          <a:xfrm>
            <a:off x="1905000" y="5219700"/>
            <a:ext cx="2667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상업적 이용 확인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E6A230-31B1-A34F-B2FD-03088D66EAB5}"/>
              </a:ext>
            </a:extLst>
          </p:cNvPr>
          <p:cNvSpPr txBox="1"/>
          <p:nvPr/>
        </p:nvSpPr>
        <p:spPr>
          <a:xfrm>
            <a:off x="4699000" y="5181600"/>
            <a:ext cx="64770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도구 약관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초상권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상표를 확인하고 사용한다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프롬프트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홍보 배너 이미지 프롬프트(영문 예시)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32720" cy="4434840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502920" rIns="365760" bIns="32004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minimal product banner background for a craft non-alcoholic beer,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soft studio side-light, warm amber + deep navy palette,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clean negative space on the left for text, 16:9,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--no text, logo, real people, neon, watermark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2103120"/>
            <a:ext cx="109728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실제 입력 → 출력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실제 예시 — 배너 이미지 프롬프트(영문)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83080"/>
            <a:ext cx="10332720" cy="1874519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502920" rIns="320040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minimal product banner for a craft non-alcoholic beer "Night Off",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soft studio side-light, warm amber + deep navy palette,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clean negative space on the left for text, 16:9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--no text, logo, real people, neon, watermark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83080"/>
            <a:ext cx="2011680" cy="329184"/>
          </a:xfrm>
          <a:prstGeom prst="rect">
            <a:avLst/>
          </a:prstGeom>
          <a:solidFill>
            <a:srgbClr val="24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0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▸ 입력 프롬프트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794760"/>
            <a:ext cx="10332720" cy="2514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9EC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502920" rIns="32004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35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결과(기대): 좌측 1/3이 비어 헤드라인 얹기 좋은 배너.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35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호박빛 조명 아래 캔이 중앙, 짙은 남색 배경, 글자·로고 없이 깔끔.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350">
                <a:solidFill>
                  <a:srgbClr val="1D4E89"/>
                </a:solidFill>
                <a:latin typeface="Pretendard"/>
                <a:ea typeface="Pretendard"/>
                <a:cs typeface="Pretendard"/>
              </a:rPr>
              <a:t>→ Canva로 가져가 M2 헤드라인 "오늘 밤은 즐기고, 내일은 멀쩡하게"를 좌측에 얹는다.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794760"/>
            <a:ext cx="1828800" cy="329184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▸ 나온 결과(예)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좋은예 VS 나쁜예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비교 — 이미지 프롬프트, 디테일이 결과를 만든다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5029200" cy="4114800"/>
          </a:xfrm>
          <a:prstGeom prst="rect">
            <a:avLst/>
          </a:prstGeom>
          <a:solidFill>
            <a:srgbClr val="F7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20040" rIns="32004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700" b="1">
                <a:solidFill>
                  <a:srgbClr val="A63333"/>
                </a:solidFill>
                <a:latin typeface="Noto Serif KR"/>
                <a:ea typeface="Noto Serif KR"/>
                <a:cs typeface="Noto Serif KR"/>
              </a:rPr>
              <a:t>🚫 막연한 프롬프트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A6333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"맥주 광고 이미지 만들어줘"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A6333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글자가 박힌 깨진 이미지, 랜덤 색감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A6333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워터마크·이상한 손이 섞임</a:t>
            </a:r>
          </a:p>
        </p:txBody>
      </p:sp>
      <p:sp>
        <p:nvSpPr>
          <p:cNvPr id="5" name="Rectangle 4"/>
          <p:cNvSpPr/>
          <p:nvPr/>
        </p:nvSpPr>
        <p:spPr>
          <a:xfrm>
            <a:off x="6245352" y="1920240"/>
            <a:ext cx="5029200" cy="4114800"/>
          </a:xfrm>
          <a:prstGeom prst="rect">
            <a:avLst/>
          </a:prstGeom>
          <a:solidFill>
            <a:srgbClr val="E7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20040" rIns="32004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700" b="1">
                <a:solidFill>
                  <a:srgbClr val="2C6B44"/>
                </a:solidFill>
                <a:latin typeface="Noto Serif KR"/>
                <a:ea typeface="Noto Serif KR"/>
                <a:cs typeface="Noto Serif KR"/>
              </a:rPr>
              <a:t>✅ 5요소 구조 + 금지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2C6B44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피사체·스타일·조명·색·종횡비 명시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2C6B44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warm amber + deep navy, 16:9, 좌측 여백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2C6B44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--no text, logo, watermark 로 노이즈 제거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정리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배너·카드뉴스·썸네일 등 시각자료 초안 제작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10332720" cy="1636776"/>
          </a:xfrm>
          <a:prstGeom prst="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28600" rIns="365760" bIns="18288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57A1A"/>
                </a:solidFill>
                <a:latin typeface="JetBrains Mono"/>
                <a:ea typeface="JetBrains Mono"/>
                <a:cs typeface="JetBrains Mono"/>
              </a:rPr>
              <a:t>⚠  흔한 실수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이미지에 글자를 생성시키면 깨진 글자가 나온다 → 텍스트는 Canva 등에서 얹는다.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금지요소(--no)를 안 주면 워터마크·이상한 손·로고가 섞인다.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739896"/>
            <a:ext cx="10332720" cy="100584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01168" rIns="365760" bIns="182880" rtlCol="0" anchor="t"/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📦  결과물 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배너 또는 썸네일 1종(채널 규격 · 상업적 이용 확인).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B667612-9CEA-4249-B326-FFA4ACBFAEF9}"/>
              </a:ext>
            </a:extLst>
          </p:cNvPr>
          <p:cNvSpPr/>
          <p:nvPr/>
        </p:nvSpPr>
        <p:spPr>
          <a:xfrm>
            <a:off x="914400" y="2336800"/>
            <a:ext cx="431800" cy="762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18DBCF-1F5C-1C41-AF68-ADFD422C1209}"/>
              </a:ext>
            </a:extLst>
          </p:cNvPr>
          <p:cNvSpPr txBox="1"/>
          <p:nvPr/>
        </p:nvSpPr>
        <p:spPr>
          <a:xfrm>
            <a:off x="914400" y="25146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E8A33D"/>
                </a:solidFill>
                <a:latin typeface="JetBrains Mono"/>
              </a:rPr>
              <a:t>SESSION 2</a:t>
            </a:r>
            <a:endParaRPr lang="ko-KR" altLang="en-US" sz="15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341FF8-3B48-EB49-840C-239BD11E3200}"/>
              </a:ext>
            </a:extLst>
          </p:cNvPr>
          <p:cNvSpPr txBox="1"/>
          <p:nvPr/>
        </p:nvSpPr>
        <p:spPr>
          <a:xfrm>
            <a:off x="914400" y="2870200"/>
            <a:ext cx="104140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3200" b="1">
                <a:solidFill>
                  <a:srgbClr val="FFFFFF"/>
                </a:solidFill>
                <a:latin typeface="Noto Serif KR"/>
              </a:rPr>
              <a:t>이미지와 문구의 일관성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048579-E6A9-0149-969B-243380926BD4}"/>
              </a:ext>
            </a:extLst>
          </p:cNvPr>
          <p:cNvSpPr txBox="1"/>
          <p:nvPr/>
        </p:nvSpPr>
        <p:spPr>
          <a:xfrm>
            <a:off x="914400" y="3632200"/>
            <a:ext cx="101600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00">
                <a:solidFill>
                  <a:srgbClr val="DCE6F2"/>
                </a:solidFill>
                <a:latin typeface="Pretendard"/>
              </a:rPr>
              <a:t>같은 스타일 키워드를 재사용하고 동일 레이아웃을 유지해 시리즈의 톤을 통일한다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.</a:t>
            </a:r>
            <a:endParaRPr lang="ko-KR" altLang="en-US" sz="1600">
              <a:solidFill>
                <a:srgbClr val="DCE6F2"/>
              </a:solidFill>
              <a:latin typeface="Pretendard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78CE0EEF-4CE7-5542-9037-5544AC5844AA}"/>
              </a:ext>
            </a:extLst>
          </p:cNvPr>
          <p:cNvSpPr/>
          <p:nvPr/>
        </p:nvSpPr>
        <p:spPr>
          <a:xfrm>
            <a:off x="914400" y="4572000"/>
            <a:ext cx="2616200" cy="8382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550" b="1">
                <a:solidFill>
                  <a:srgbClr val="FFFFFF"/>
                </a:solidFill>
                <a:latin typeface="Pretendard"/>
              </a:rPr>
              <a:t>스타일 키워드 고정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060717-6A6C-1C4B-91FA-494279172655}"/>
              </a:ext>
            </a:extLst>
          </p:cNvPr>
          <p:cNvSpPr txBox="1"/>
          <p:nvPr/>
        </p:nvSpPr>
        <p:spPr>
          <a:xfrm>
            <a:off x="3530600" y="4572000"/>
            <a:ext cx="55880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2400" b="1">
                <a:solidFill>
                  <a:srgbClr val="9FB3CE"/>
                </a:solidFill>
                <a:latin typeface="Pretendard"/>
              </a:rPr>
              <a:t>→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7C228DBF-3F0D-7F4B-95CB-CD4B70849242}"/>
              </a:ext>
            </a:extLst>
          </p:cNvPr>
          <p:cNvSpPr/>
          <p:nvPr/>
        </p:nvSpPr>
        <p:spPr>
          <a:xfrm>
            <a:off x="4089400" y="4572000"/>
            <a:ext cx="2616200" cy="8382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550" b="1">
                <a:solidFill>
                  <a:srgbClr val="FFFFFF"/>
                </a:solidFill>
                <a:latin typeface="Pretendard"/>
              </a:rPr>
              <a:t>동일 레이아웃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5A1EE2-F9AB-2846-A880-37ABDB7C0135}"/>
              </a:ext>
            </a:extLst>
          </p:cNvPr>
          <p:cNvSpPr txBox="1"/>
          <p:nvPr/>
        </p:nvSpPr>
        <p:spPr>
          <a:xfrm>
            <a:off x="6705600" y="4572000"/>
            <a:ext cx="55880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2400" b="1">
                <a:solidFill>
                  <a:srgbClr val="9FB3CE"/>
                </a:solidFill>
                <a:latin typeface="Pretendard"/>
              </a:rPr>
              <a:t>→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506815BA-6678-F44F-A556-1960B058CBA3}"/>
              </a:ext>
            </a:extLst>
          </p:cNvPr>
          <p:cNvSpPr/>
          <p:nvPr/>
        </p:nvSpPr>
        <p:spPr>
          <a:xfrm>
            <a:off x="7264400" y="4572000"/>
            <a:ext cx="2616200" cy="838200"/>
          </a:xfrm>
          <a:prstGeom prst="round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550" b="1">
                <a:solidFill>
                  <a:srgbClr val="14213D"/>
                </a:solidFill>
                <a:latin typeface="Pretendard"/>
              </a:rPr>
              <a:t>톤 통일 세트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핵심 개념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핵심 개념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6DB58C66-F64A-E246-9B0D-303D3D4C5DE4}"/>
              </a:ext>
            </a:extLst>
          </p:cNvPr>
          <p:cNvSpPr/>
          <p:nvPr/>
        </p:nvSpPr>
        <p:spPr>
          <a:xfrm>
            <a:off x="825500" y="1905000"/>
            <a:ext cx="33401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45D737E-249F-6645-8F7C-8A314D51D2B6}"/>
              </a:ext>
            </a:extLst>
          </p:cNvPr>
          <p:cNvSpPr/>
          <p:nvPr/>
        </p:nvSpPr>
        <p:spPr>
          <a:xfrm>
            <a:off x="825500" y="1905000"/>
            <a:ext cx="3340100" cy="88900"/>
          </a:xfrm>
          <a:prstGeom prst="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08AE67E-60EC-8E40-9E47-D44AC667032F}"/>
              </a:ext>
            </a:extLst>
          </p:cNvPr>
          <p:cNvSpPr/>
          <p:nvPr/>
        </p:nvSpPr>
        <p:spPr>
          <a:xfrm>
            <a:off x="11303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1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04E41B-5724-344B-9ABF-8AB4A0435823}"/>
              </a:ext>
            </a:extLst>
          </p:cNvPr>
          <p:cNvSpPr txBox="1"/>
          <p:nvPr/>
        </p:nvSpPr>
        <p:spPr>
          <a:xfrm>
            <a:off x="11303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50" b="1">
                <a:solidFill>
                  <a:srgbClr val="14213D"/>
                </a:solidFill>
                <a:latin typeface="Pretendard"/>
              </a:rPr>
              <a:t>스타일 시드 고정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FD93884-9A35-2B41-8D39-7541DD5F0B3D}"/>
              </a:ext>
            </a:extLst>
          </p:cNvPr>
          <p:cNvSpPr/>
          <p:nvPr/>
        </p:nvSpPr>
        <p:spPr>
          <a:xfrm>
            <a:off x="11303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EDAF33-267B-1A44-935D-348786AC79CC}"/>
              </a:ext>
            </a:extLst>
          </p:cNvPr>
          <p:cNvSpPr txBox="1"/>
          <p:nvPr/>
        </p:nvSpPr>
        <p:spPr>
          <a:xfrm>
            <a:off x="11303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50">
                <a:solidFill>
                  <a:srgbClr val="576176"/>
                </a:solidFill>
                <a:latin typeface="Pretendard"/>
              </a:rPr>
              <a:t>같은 스타일 키워드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(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또는 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seed)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를 재사용하면 여러 장의 톤이 일관된다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35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89BD960A-D4B3-484B-AE0C-912650EFC591}"/>
              </a:ext>
            </a:extLst>
          </p:cNvPr>
          <p:cNvSpPr/>
          <p:nvPr/>
        </p:nvSpPr>
        <p:spPr>
          <a:xfrm>
            <a:off x="1130300" y="5562600"/>
            <a:ext cx="2730500" cy="457200"/>
          </a:xfrm>
          <a:prstGeom prst="roundRect">
            <a:avLst/>
          </a:prstGeom>
          <a:solidFill>
            <a:srgbClr val="E7ECF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ECF7A4-3DF4-0344-936D-8F14A74BBCB3}"/>
              </a:ext>
            </a:extLst>
          </p:cNvPr>
          <p:cNvSpPr txBox="1"/>
          <p:nvPr/>
        </p:nvSpPr>
        <p:spPr>
          <a:xfrm>
            <a:off x="11303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14213D"/>
                </a:solidFill>
                <a:latin typeface="Pretendard"/>
              </a:rPr>
              <a:t>키워드 재사용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4930C769-B480-B942-9E05-F2F18D1FF9D1}"/>
              </a:ext>
            </a:extLst>
          </p:cNvPr>
          <p:cNvSpPr/>
          <p:nvPr/>
        </p:nvSpPr>
        <p:spPr>
          <a:xfrm>
            <a:off x="4419600" y="1905000"/>
            <a:ext cx="33401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64138E5-9360-CF4D-BE50-B29542484CAA}"/>
              </a:ext>
            </a:extLst>
          </p:cNvPr>
          <p:cNvSpPr/>
          <p:nvPr/>
        </p:nvSpPr>
        <p:spPr>
          <a:xfrm>
            <a:off x="4419600" y="1905000"/>
            <a:ext cx="3340100" cy="88900"/>
          </a:xfrm>
          <a:prstGeom prst="rect">
            <a:avLst/>
          </a:prstGeom>
          <a:solidFill>
            <a:srgbClr val="1D4E8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95954590-055D-8240-92F7-64F43A0FC1C3}"/>
              </a:ext>
            </a:extLst>
          </p:cNvPr>
          <p:cNvSpPr/>
          <p:nvPr/>
        </p:nvSpPr>
        <p:spPr>
          <a:xfrm>
            <a:off x="47244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2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93A8D1-B777-8B47-B519-72DE4DA6BCA1}"/>
              </a:ext>
            </a:extLst>
          </p:cNvPr>
          <p:cNvSpPr txBox="1"/>
          <p:nvPr/>
        </p:nvSpPr>
        <p:spPr>
          <a:xfrm>
            <a:off x="47244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50" b="1">
                <a:solidFill>
                  <a:srgbClr val="14213D"/>
                </a:solidFill>
                <a:latin typeface="Pretendard"/>
              </a:rPr>
              <a:t>그리드</a:t>
            </a:r>
            <a:r>
              <a:rPr lang="en-US" altLang="ko-KR" sz="1650" b="1">
                <a:solidFill>
                  <a:srgbClr val="14213D"/>
                </a:solidFill>
                <a:latin typeface="Pretendard"/>
              </a:rPr>
              <a:t>·</a:t>
            </a:r>
            <a:r>
              <a:rPr lang="ko-KR" altLang="en-US" sz="1650" b="1">
                <a:solidFill>
                  <a:srgbClr val="14213D"/>
                </a:solidFill>
                <a:latin typeface="Pretendard"/>
              </a:rPr>
              <a:t>여백 시스템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0E7A936-75DB-BC4C-94EC-114DF344A309}"/>
              </a:ext>
            </a:extLst>
          </p:cNvPr>
          <p:cNvSpPr/>
          <p:nvPr/>
        </p:nvSpPr>
        <p:spPr>
          <a:xfrm>
            <a:off x="47244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EE012F-185B-1F4A-8E61-8C47EEC7802A}"/>
              </a:ext>
            </a:extLst>
          </p:cNvPr>
          <p:cNvSpPr txBox="1"/>
          <p:nvPr/>
        </p:nvSpPr>
        <p:spPr>
          <a:xfrm>
            <a:off x="47244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50">
                <a:solidFill>
                  <a:srgbClr val="576176"/>
                </a:solidFill>
                <a:latin typeface="Pretendard"/>
              </a:rPr>
              <a:t>카드마다 제목 위치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여백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폰트를 고정해 한 시리즈처럼 보이게 한다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35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5889187B-21E7-5041-8CEA-E07837965481}"/>
              </a:ext>
            </a:extLst>
          </p:cNvPr>
          <p:cNvSpPr/>
          <p:nvPr/>
        </p:nvSpPr>
        <p:spPr>
          <a:xfrm>
            <a:off x="4724400" y="5562600"/>
            <a:ext cx="2730500" cy="457200"/>
          </a:xfrm>
          <a:prstGeom prst="roundRect">
            <a:avLst/>
          </a:prstGeom>
          <a:solidFill>
            <a:srgbClr val="E4EC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D8CF74-145F-C944-8CB0-ECFB7F75862E}"/>
              </a:ext>
            </a:extLst>
          </p:cNvPr>
          <p:cNvSpPr txBox="1"/>
          <p:nvPr/>
        </p:nvSpPr>
        <p:spPr>
          <a:xfrm>
            <a:off x="47244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1D4E89"/>
                </a:solidFill>
                <a:latin typeface="Pretendard"/>
              </a:rPr>
              <a:t>레이아웃 고정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312C8EA6-1432-554D-8236-90995406FB9A}"/>
              </a:ext>
            </a:extLst>
          </p:cNvPr>
          <p:cNvSpPr/>
          <p:nvPr/>
        </p:nvSpPr>
        <p:spPr>
          <a:xfrm>
            <a:off x="8013700" y="1905000"/>
            <a:ext cx="33401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E1E3695-DA2E-F94B-9FA3-FDBD0AB9F972}"/>
              </a:ext>
            </a:extLst>
          </p:cNvPr>
          <p:cNvSpPr/>
          <p:nvPr/>
        </p:nvSpPr>
        <p:spPr>
          <a:xfrm>
            <a:off x="8013700" y="1905000"/>
            <a:ext cx="3340100" cy="889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E0BE696E-BFF6-464E-AA2C-BA290B8135D7}"/>
              </a:ext>
            </a:extLst>
          </p:cNvPr>
          <p:cNvSpPr/>
          <p:nvPr/>
        </p:nvSpPr>
        <p:spPr>
          <a:xfrm>
            <a:off x="83185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3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BA15A8-D8BA-974E-8C4B-95F4021AB2B8}"/>
              </a:ext>
            </a:extLst>
          </p:cNvPr>
          <p:cNvSpPr txBox="1"/>
          <p:nvPr/>
        </p:nvSpPr>
        <p:spPr>
          <a:xfrm>
            <a:off x="83185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50" b="1">
                <a:solidFill>
                  <a:srgbClr val="14213D"/>
                </a:solidFill>
                <a:latin typeface="Pretendard"/>
              </a:rPr>
              <a:t>문구</a:t>
            </a:r>
            <a:r>
              <a:rPr lang="en-US" altLang="ko-KR" sz="1650" b="1">
                <a:solidFill>
                  <a:srgbClr val="14213D"/>
                </a:solidFill>
                <a:latin typeface="Pretendard"/>
              </a:rPr>
              <a:t>–</a:t>
            </a:r>
            <a:r>
              <a:rPr lang="ko-KR" altLang="en-US" sz="1650" b="1">
                <a:solidFill>
                  <a:srgbClr val="14213D"/>
                </a:solidFill>
                <a:latin typeface="Pretendard"/>
              </a:rPr>
              <a:t>비주얼 정합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743D9B7-0A08-4E40-96BC-7EC8DD283D7F}"/>
              </a:ext>
            </a:extLst>
          </p:cNvPr>
          <p:cNvSpPr/>
          <p:nvPr/>
        </p:nvSpPr>
        <p:spPr>
          <a:xfrm>
            <a:off x="83185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611E5D-3655-1841-9334-A91BC2D043E7}"/>
              </a:ext>
            </a:extLst>
          </p:cNvPr>
          <p:cNvSpPr txBox="1"/>
          <p:nvPr/>
        </p:nvSpPr>
        <p:spPr>
          <a:xfrm>
            <a:off x="83185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350">
                <a:solidFill>
                  <a:srgbClr val="576176"/>
                </a:solidFill>
                <a:latin typeface="Pretendard"/>
              </a:rPr>
              <a:t>M3 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카드뉴스 문구를 그대로 얹어 메시지와 이미지가 따로 놀지 않게 한다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35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63776182-1896-364C-861D-B103E7324093}"/>
              </a:ext>
            </a:extLst>
          </p:cNvPr>
          <p:cNvSpPr/>
          <p:nvPr/>
        </p:nvSpPr>
        <p:spPr>
          <a:xfrm>
            <a:off x="8318500" y="5562600"/>
            <a:ext cx="2730500" cy="457200"/>
          </a:xfrm>
          <a:prstGeom prst="roundRect">
            <a:avLst/>
          </a:prstGeom>
          <a:solidFill>
            <a:srgbClr val="FBEF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A4F85A9-A24F-484A-9E32-4C39BBAD7D22}"/>
              </a:ext>
            </a:extLst>
          </p:cNvPr>
          <p:cNvSpPr txBox="1"/>
          <p:nvPr/>
        </p:nvSpPr>
        <p:spPr>
          <a:xfrm>
            <a:off x="83185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9A6B12"/>
                </a:solidFill>
                <a:latin typeface="Pretendard"/>
              </a:rPr>
              <a:t>문구 </a:t>
            </a:r>
            <a:r>
              <a:rPr lang="en-US" altLang="ko-KR" sz="1300" b="1">
                <a:solidFill>
                  <a:srgbClr val="9A6B12"/>
                </a:solidFill>
                <a:latin typeface="Pretendard"/>
              </a:rPr>
              <a:t>= </a:t>
            </a:r>
            <a:r>
              <a:rPr lang="ko-KR" altLang="en-US" sz="1300" b="1">
                <a:solidFill>
                  <a:srgbClr val="9A6B12"/>
                </a:solidFill>
                <a:latin typeface="Pretendard"/>
              </a:rPr>
              <a:t>비주얼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개념 깊이 보기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개념을 예시로 — 우리 케이스에 적용하면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456E4D69-542B-A54B-81CE-FFB0A2B51A8E}"/>
              </a:ext>
            </a:extLst>
          </p:cNvPr>
          <p:cNvSpPr/>
          <p:nvPr/>
        </p:nvSpPr>
        <p:spPr>
          <a:xfrm>
            <a:off x="825500" y="1905000"/>
            <a:ext cx="10541000" cy="14478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714F34-07A3-C349-90E8-8D59D9BE0173}"/>
              </a:ext>
            </a:extLst>
          </p:cNvPr>
          <p:cNvSpPr txBox="1"/>
          <p:nvPr/>
        </p:nvSpPr>
        <p:spPr>
          <a:xfrm>
            <a:off x="1181100" y="2159000"/>
            <a:ext cx="5461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14213D"/>
                </a:solidFill>
                <a:latin typeface="Pretendard"/>
              </a:rPr>
              <a:t>스타일 시드 고정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17CC8F-493C-6843-929D-EEC6D04980EE}"/>
              </a:ext>
            </a:extLst>
          </p:cNvPr>
          <p:cNvSpPr txBox="1"/>
          <p:nvPr/>
        </p:nvSpPr>
        <p:spPr>
          <a:xfrm>
            <a:off x="1181100" y="2590800"/>
            <a:ext cx="5461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카드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1~5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장에 같은 스타일 키워드를 재사용하면 톤이 하나로 묶인다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E5FBCE-0AA4-BC4B-9F15-9BB4F9AA8E96}"/>
              </a:ext>
            </a:extLst>
          </p:cNvPr>
          <p:cNvSpPr txBox="1"/>
          <p:nvPr/>
        </p:nvSpPr>
        <p:spPr>
          <a:xfrm>
            <a:off x="7112000" y="2159000"/>
            <a:ext cx="39624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150" b="1">
                <a:solidFill>
                  <a:srgbClr val="E8A33D"/>
                </a:solidFill>
                <a:latin typeface="JetBrains Mono"/>
              </a:rPr>
              <a:t>SEED · </a:t>
            </a:r>
            <a:r>
              <a:rPr lang="ko-KR" altLang="en-US" sz="1150" b="1">
                <a:solidFill>
                  <a:srgbClr val="E8A33D"/>
                </a:solidFill>
                <a:latin typeface="JetBrains Mono"/>
              </a:rPr>
              <a:t>재사용 키워드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C3237181-A8B5-DD4F-AE45-5082B83466F0}"/>
              </a:ext>
            </a:extLst>
          </p:cNvPr>
          <p:cNvSpPr/>
          <p:nvPr/>
        </p:nvSpPr>
        <p:spPr>
          <a:xfrm>
            <a:off x="7112000" y="2463800"/>
            <a:ext cx="3962400" cy="660400"/>
          </a:xfrm>
          <a:prstGeom prst="roundRect">
            <a:avLst/>
          </a:prstGeom>
          <a:solidFill>
            <a:srgbClr val="E7ECF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A7220F-2B7F-3F45-948E-F5AE1B38E16D}"/>
              </a:ext>
            </a:extLst>
          </p:cNvPr>
          <p:cNvSpPr txBox="1"/>
          <p:nvPr/>
        </p:nvSpPr>
        <p:spPr>
          <a:xfrm>
            <a:off x="7264400" y="2463800"/>
            <a:ext cx="3657600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14213D"/>
                </a:solidFill>
                <a:latin typeface="JetBrains Mono"/>
              </a:rPr>
              <a:t>warm amber + navy, flat minimal, studio light</a:t>
            </a:r>
            <a:endParaRPr lang="ko-KR" altLang="en-US" sz="1300" b="1">
              <a:solidFill>
                <a:srgbClr val="14213D"/>
              </a:solidFill>
              <a:latin typeface="JetBrains Mono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F2784FC5-5D07-034E-9EC2-A8E148D022BD}"/>
              </a:ext>
            </a:extLst>
          </p:cNvPr>
          <p:cNvSpPr/>
          <p:nvPr/>
        </p:nvSpPr>
        <p:spPr>
          <a:xfrm>
            <a:off x="977900" y="3657600"/>
            <a:ext cx="1905000" cy="20066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D91707C-E106-EF4A-8958-6BD5A981ACEC}"/>
              </a:ext>
            </a:extLst>
          </p:cNvPr>
          <p:cNvSpPr/>
          <p:nvPr/>
        </p:nvSpPr>
        <p:spPr>
          <a:xfrm>
            <a:off x="977900" y="3657600"/>
            <a:ext cx="1905000" cy="889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15844239-0A82-BD46-9EDD-1E37FA78E14C}"/>
              </a:ext>
            </a:extLst>
          </p:cNvPr>
          <p:cNvSpPr/>
          <p:nvPr/>
        </p:nvSpPr>
        <p:spPr>
          <a:xfrm>
            <a:off x="1714500" y="4064000"/>
            <a:ext cx="431800" cy="431800"/>
          </a:xfrm>
          <a:prstGeom prst="ellipse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5E62F5-3902-3649-B1FF-5E18858BBD02}"/>
              </a:ext>
            </a:extLst>
          </p:cNvPr>
          <p:cNvSpPr txBox="1"/>
          <p:nvPr/>
        </p:nvSpPr>
        <p:spPr>
          <a:xfrm>
            <a:off x="1104900" y="46482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Pretendard"/>
              </a:rPr>
              <a:t>Night Off</a:t>
            </a:r>
            <a:endParaRPr lang="ko-KR" altLang="en-US" sz="13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2A7EA3-E5A6-A644-87BD-A661650772F8}"/>
              </a:ext>
            </a:extLst>
          </p:cNvPr>
          <p:cNvSpPr txBox="1"/>
          <p:nvPr/>
        </p:nvSpPr>
        <p:spPr>
          <a:xfrm>
            <a:off x="1104900" y="4927600"/>
            <a:ext cx="16510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950">
                <a:solidFill>
                  <a:srgbClr val="C9D3E2"/>
                </a:solidFill>
                <a:latin typeface="Pretendard"/>
              </a:rPr>
              <a:t>무알콜 수제맥주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5E5E67-BC8B-BE4E-8C7A-1BF692D21E32}"/>
              </a:ext>
            </a:extLst>
          </p:cNvPr>
          <p:cNvSpPr txBox="1"/>
          <p:nvPr/>
        </p:nvSpPr>
        <p:spPr>
          <a:xfrm>
            <a:off x="1104900" y="5308600"/>
            <a:ext cx="16510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E8A33D"/>
                </a:solidFill>
                <a:latin typeface="JetBrains Mono"/>
              </a:rPr>
              <a:t>CARD #1</a:t>
            </a:r>
            <a:endParaRPr lang="ko-KR" altLang="en-US" sz="11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EFF08502-B511-8F4C-96E2-BFE5C9C12099}"/>
              </a:ext>
            </a:extLst>
          </p:cNvPr>
          <p:cNvSpPr/>
          <p:nvPr/>
        </p:nvSpPr>
        <p:spPr>
          <a:xfrm>
            <a:off x="3060700" y="3657600"/>
            <a:ext cx="1905000" cy="20066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50361D2-5CC6-104E-B18A-575D1C19E34D}"/>
              </a:ext>
            </a:extLst>
          </p:cNvPr>
          <p:cNvSpPr/>
          <p:nvPr/>
        </p:nvSpPr>
        <p:spPr>
          <a:xfrm>
            <a:off x="3060700" y="3657600"/>
            <a:ext cx="1905000" cy="889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4063C544-4EEA-B54E-A638-4B465723696A}"/>
              </a:ext>
            </a:extLst>
          </p:cNvPr>
          <p:cNvSpPr/>
          <p:nvPr/>
        </p:nvSpPr>
        <p:spPr>
          <a:xfrm>
            <a:off x="3797300" y="4064000"/>
            <a:ext cx="431800" cy="431800"/>
          </a:xfrm>
          <a:prstGeom prst="ellipse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1CC0DA-0308-B347-8FF5-179111BA238F}"/>
              </a:ext>
            </a:extLst>
          </p:cNvPr>
          <p:cNvSpPr txBox="1"/>
          <p:nvPr/>
        </p:nvSpPr>
        <p:spPr>
          <a:xfrm>
            <a:off x="3187700" y="46482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Pretendard"/>
              </a:rPr>
              <a:t>Night Off</a:t>
            </a:r>
            <a:endParaRPr lang="ko-KR" altLang="en-US" sz="13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D69547-1F19-6946-BB42-EC46AD818C46}"/>
              </a:ext>
            </a:extLst>
          </p:cNvPr>
          <p:cNvSpPr txBox="1"/>
          <p:nvPr/>
        </p:nvSpPr>
        <p:spPr>
          <a:xfrm>
            <a:off x="3187700" y="4927600"/>
            <a:ext cx="16510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950">
                <a:solidFill>
                  <a:srgbClr val="C9D3E2"/>
                </a:solidFill>
                <a:latin typeface="Pretendard"/>
              </a:rPr>
              <a:t>무알콜 수제맥주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3201F0-5A0B-314E-905B-1E3FEA766D30}"/>
              </a:ext>
            </a:extLst>
          </p:cNvPr>
          <p:cNvSpPr txBox="1"/>
          <p:nvPr/>
        </p:nvSpPr>
        <p:spPr>
          <a:xfrm>
            <a:off x="3187700" y="5308600"/>
            <a:ext cx="16510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E8A33D"/>
                </a:solidFill>
                <a:latin typeface="JetBrains Mono"/>
              </a:rPr>
              <a:t>CARD #2</a:t>
            </a:r>
            <a:endParaRPr lang="ko-KR" altLang="en-US" sz="11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299CB203-23CD-444E-93B4-C88EF46A53DE}"/>
              </a:ext>
            </a:extLst>
          </p:cNvPr>
          <p:cNvSpPr/>
          <p:nvPr/>
        </p:nvSpPr>
        <p:spPr>
          <a:xfrm>
            <a:off x="5143500" y="3657600"/>
            <a:ext cx="1905000" cy="20066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504CCBD-9C9A-6D49-9D4A-0B5174EEE385}"/>
              </a:ext>
            </a:extLst>
          </p:cNvPr>
          <p:cNvSpPr/>
          <p:nvPr/>
        </p:nvSpPr>
        <p:spPr>
          <a:xfrm>
            <a:off x="5143500" y="3657600"/>
            <a:ext cx="1905000" cy="889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9386B663-AB25-4D48-B86F-F1547493D6CC}"/>
              </a:ext>
            </a:extLst>
          </p:cNvPr>
          <p:cNvSpPr/>
          <p:nvPr/>
        </p:nvSpPr>
        <p:spPr>
          <a:xfrm>
            <a:off x="5880100" y="4064000"/>
            <a:ext cx="431800" cy="431800"/>
          </a:xfrm>
          <a:prstGeom prst="ellipse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575A59-FEDE-C940-8404-204E0107A6E1}"/>
              </a:ext>
            </a:extLst>
          </p:cNvPr>
          <p:cNvSpPr txBox="1"/>
          <p:nvPr/>
        </p:nvSpPr>
        <p:spPr>
          <a:xfrm>
            <a:off x="5270500" y="46482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Pretendard"/>
              </a:rPr>
              <a:t>Night Off</a:t>
            </a:r>
            <a:endParaRPr lang="ko-KR" altLang="en-US" sz="13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69C1AC-2BD4-B643-9FB3-9A6E5D052252}"/>
              </a:ext>
            </a:extLst>
          </p:cNvPr>
          <p:cNvSpPr txBox="1"/>
          <p:nvPr/>
        </p:nvSpPr>
        <p:spPr>
          <a:xfrm>
            <a:off x="5270500" y="4927600"/>
            <a:ext cx="16510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950">
                <a:solidFill>
                  <a:srgbClr val="C9D3E2"/>
                </a:solidFill>
                <a:latin typeface="Pretendard"/>
              </a:rPr>
              <a:t>무알콜 수제맥주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87AFD2-F658-B64E-B51C-D25A3FE690A3}"/>
              </a:ext>
            </a:extLst>
          </p:cNvPr>
          <p:cNvSpPr txBox="1"/>
          <p:nvPr/>
        </p:nvSpPr>
        <p:spPr>
          <a:xfrm>
            <a:off x="5270500" y="5308600"/>
            <a:ext cx="16510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E8A33D"/>
                </a:solidFill>
                <a:latin typeface="JetBrains Mono"/>
              </a:rPr>
              <a:t>CARD #3</a:t>
            </a:r>
            <a:endParaRPr lang="ko-KR" altLang="en-US" sz="11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3505A7C7-C11B-634F-8CD2-8DCCC3801491}"/>
              </a:ext>
            </a:extLst>
          </p:cNvPr>
          <p:cNvSpPr/>
          <p:nvPr/>
        </p:nvSpPr>
        <p:spPr>
          <a:xfrm>
            <a:off x="7226300" y="3657600"/>
            <a:ext cx="1905000" cy="20066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9AC252E-BE30-A840-A1D4-70331019A73D}"/>
              </a:ext>
            </a:extLst>
          </p:cNvPr>
          <p:cNvSpPr/>
          <p:nvPr/>
        </p:nvSpPr>
        <p:spPr>
          <a:xfrm>
            <a:off x="7226300" y="3657600"/>
            <a:ext cx="1905000" cy="889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5D26F5F9-4A06-1D4C-B671-F4045653104C}"/>
              </a:ext>
            </a:extLst>
          </p:cNvPr>
          <p:cNvSpPr/>
          <p:nvPr/>
        </p:nvSpPr>
        <p:spPr>
          <a:xfrm>
            <a:off x="7962900" y="4064000"/>
            <a:ext cx="431800" cy="431800"/>
          </a:xfrm>
          <a:prstGeom prst="ellipse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1AA3C07-B49B-384D-BB87-D5B553024049}"/>
              </a:ext>
            </a:extLst>
          </p:cNvPr>
          <p:cNvSpPr txBox="1"/>
          <p:nvPr/>
        </p:nvSpPr>
        <p:spPr>
          <a:xfrm>
            <a:off x="7353300" y="46482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Pretendard"/>
              </a:rPr>
              <a:t>Night Off</a:t>
            </a:r>
            <a:endParaRPr lang="ko-KR" altLang="en-US" sz="13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A17EA0-9BFA-AA4D-97F3-F368CBC1CD23}"/>
              </a:ext>
            </a:extLst>
          </p:cNvPr>
          <p:cNvSpPr txBox="1"/>
          <p:nvPr/>
        </p:nvSpPr>
        <p:spPr>
          <a:xfrm>
            <a:off x="7353300" y="4927600"/>
            <a:ext cx="16510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950">
                <a:solidFill>
                  <a:srgbClr val="C9D3E2"/>
                </a:solidFill>
                <a:latin typeface="Pretendard"/>
              </a:rPr>
              <a:t>무알콜 수제맥주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4ED077B-6C35-BF42-A6D3-2502D148AF36}"/>
              </a:ext>
            </a:extLst>
          </p:cNvPr>
          <p:cNvSpPr txBox="1"/>
          <p:nvPr/>
        </p:nvSpPr>
        <p:spPr>
          <a:xfrm>
            <a:off x="7353300" y="5308600"/>
            <a:ext cx="16510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E8A33D"/>
                </a:solidFill>
                <a:latin typeface="JetBrains Mono"/>
              </a:rPr>
              <a:t>CARD #4</a:t>
            </a:r>
            <a:endParaRPr lang="ko-KR" altLang="en-US" sz="11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F2F3C009-81E6-7246-A2B9-C8B062C9F2F9}"/>
              </a:ext>
            </a:extLst>
          </p:cNvPr>
          <p:cNvSpPr/>
          <p:nvPr/>
        </p:nvSpPr>
        <p:spPr>
          <a:xfrm>
            <a:off x="9309100" y="3657600"/>
            <a:ext cx="1905000" cy="20066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F4D3AAB-9E15-4D41-A3E5-D60A8BC53DC9}"/>
              </a:ext>
            </a:extLst>
          </p:cNvPr>
          <p:cNvSpPr/>
          <p:nvPr/>
        </p:nvSpPr>
        <p:spPr>
          <a:xfrm>
            <a:off x="9309100" y="3657600"/>
            <a:ext cx="1905000" cy="889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53147301-75A6-874B-8B5E-D5D0D84FFAAC}"/>
              </a:ext>
            </a:extLst>
          </p:cNvPr>
          <p:cNvSpPr/>
          <p:nvPr/>
        </p:nvSpPr>
        <p:spPr>
          <a:xfrm>
            <a:off x="10045700" y="4064000"/>
            <a:ext cx="431800" cy="431800"/>
          </a:xfrm>
          <a:prstGeom prst="ellipse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2AB83D6-0006-DD49-90A8-38DD82E7B71C}"/>
              </a:ext>
            </a:extLst>
          </p:cNvPr>
          <p:cNvSpPr txBox="1"/>
          <p:nvPr/>
        </p:nvSpPr>
        <p:spPr>
          <a:xfrm>
            <a:off x="9436100" y="46482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Pretendard"/>
              </a:rPr>
              <a:t>Night Off</a:t>
            </a:r>
            <a:endParaRPr lang="ko-KR" altLang="en-US" sz="13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1937F02-4931-1640-B3A9-ADA0E42E74CA}"/>
              </a:ext>
            </a:extLst>
          </p:cNvPr>
          <p:cNvSpPr txBox="1"/>
          <p:nvPr/>
        </p:nvSpPr>
        <p:spPr>
          <a:xfrm>
            <a:off x="9436100" y="4927600"/>
            <a:ext cx="16510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950">
                <a:solidFill>
                  <a:srgbClr val="C9D3E2"/>
                </a:solidFill>
                <a:latin typeface="Pretendard"/>
              </a:rPr>
              <a:t>무알콜 수제맥주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CB4CD9-E9DD-CF4A-8671-67D2351E49B5}"/>
              </a:ext>
            </a:extLst>
          </p:cNvPr>
          <p:cNvSpPr txBox="1"/>
          <p:nvPr/>
        </p:nvSpPr>
        <p:spPr>
          <a:xfrm>
            <a:off x="9436100" y="5308600"/>
            <a:ext cx="16510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E8A33D"/>
                </a:solidFill>
                <a:latin typeface="JetBrains Mono"/>
              </a:rPr>
              <a:t>CARD #5</a:t>
            </a:r>
            <a:endParaRPr lang="ko-KR" altLang="en-US" sz="11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0794CD0-5046-A145-A3A7-537880E4F3CF}"/>
              </a:ext>
            </a:extLst>
          </p:cNvPr>
          <p:cNvSpPr txBox="1"/>
          <p:nvPr/>
        </p:nvSpPr>
        <p:spPr>
          <a:xfrm>
            <a:off x="825500" y="5816600"/>
            <a:ext cx="10541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1D4E89"/>
                </a:solidFill>
                <a:latin typeface="JetBrains Mono"/>
              </a:rPr>
              <a:t>→ 같은 스타일 시드를 재사용 </a:t>
            </a:r>
            <a:r>
              <a:rPr lang="en-US" altLang="ko-KR" sz="1400">
                <a:solidFill>
                  <a:srgbClr val="1D4E89"/>
                </a:solidFill>
                <a:latin typeface="JetBrains Mono"/>
              </a:rPr>
              <a:t>= 5</a:t>
            </a:r>
            <a:r>
              <a:rPr lang="ko-KR" altLang="en-US" sz="1400">
                <a:solidFill>
                  <a:srgbClr val="1D4E89"/>
                </a:solidFill>
                <a:latin typeface="JetBrains Mono"/>
              </a:rPr>
              <a:t>장이 한 시리즈처럼 보인다</a:t>
            </a:r>
            <a:r>
              <a:rPr lang="en-US" altLang="ko-KR" sz="1400">
                <a:solidFill>
                  <a:srgbClr val="1D4E89"/>
                </a:solidFill>
                <a:latin typeface="JetBrains Mono"/>
              </a:rPr>
              <a:t>.</a:t>
            </a:r>
            <a:endParaRPr lang="ko-KR" altLang="en-US" sz="1400">
              <a:solidFill>
                <a:srgbClr val="1D4E89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절차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실습 절차 — 직접 해봅니다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8A59B815-2B94-F047-9964-D29DDFC81463}"/>
              </a:ext>
            </a:extLst>
          </p:cNvPr>
          <p:cNvSpPr/>
          <p:nvPr/>
        </p:nvSpPr>
        <p:spPr>
          <a:xfrm>
            <a:off x="825500" y="1930400"/>
            <a:ext cx="10541000" cy="9398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5A04409-8166-1F41-A97D-C77F0F645E27}"/>
              </a:ext>
            </a:extLst>
          </p:cNvPr>
          <p:cNvSpPr/>
          <p:nvPr/>
        </p:nvSpPr>
        <p:spPr>
          <a:xfrm>
            <a:off x="825500" y="19304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7799C31D-4CAA-C04A-B2BD-210C6B655A0B}"/>
              </a:ext>
            </a:extLst>
          </p:cNvPr>
          <p:cNvSpPr/>
          <p:nvPr/>
        </p:nvSpPr>
        <p:spPr>
          <a:xfrm>
            <a:off x="1143000" y="21590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1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3A6CB3-1A2E-064D-8192-50EB3D2F3559}"/>
              </a:ext>
            </a:extLst>
          </p:cNvPr>
          <p:cNvSpPr txBox="1"/>
          <p:nvPr/>
        </p:nvSpPr>
        <p:spPr>
          <a:xfrm>
            <a:off x="1905000" y="2095500"/>
            <a:ext cx="2667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스타일 키워드 재사용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095E24-5536-144F-B143-517D6D9DB1DC}"/>
              </a:ext>
            </a:extLst>
          </p:cNvPr>
          <p:cNvSpPr txBox="1"/>
          <p:nvPr/>
        </p:nvSpPr>
        <p:spPr>
          <a:xfrm>
            <a:off x="4699000" y="2057400"/>
            <a:ext cx="64770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400">
                <a:solidFill>
                  <a:srgbClr val="576176"/>
                </a:solidFill>
                <a:latin typeface="Pretendard"/>
              </a:rPr>
              <a:t>M4-1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에서 정한 키워드로 배경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2~3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장을 생성한다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09384427-0177-B94C-8951-C5ACFEE02871}"/>
              </a:ext>
            </a:extLst>
          </p:cNvPr>
          <p:cNvSpPr/>
          <p:nvPr/>
        </p:nvSpPr>
        <p:spPr>
          <a:xfrm>
            <a:off x="825500" y="2971800"/>
            <a:ext cx="10541000" cy="9398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1AFCD8D-D0C3-154C-B56A-EA3AF3BC5CEF}"/>
              </a:ext>
            </a:extLst>
          </p:cNvPr>
          <p:cNvSpPr/>
          <p:nvPr/>
        </p:nvSpPr>
        <p:spPr>
          <a:xfrm>
            <a:off x="825500" y="29718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CA7F3C5-3661-9842-8DB7-92F08FB10CDF}"/>
              </a:ext>
            </a:extLst>
          </p:cNvPr>
          <p:cNvSpPr/>
          <p:nvPr/>
        </p:nvSpPr>
        <p:spPr>
          <a:xfrm>
            <a:off x="1143000" y="32004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2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C73836-08EE-3A42-AB69-7A2AC4FB649A}"/>
              </a:ext>
            </a:extLst>
          </p:cNvPr>
          <p:cNvSpPr txBox="1"/>
          <p:nvPr/>
        </p:nvSpPr>
        <p:spPr>
          <a:xfrm>
            <a:off x="1905000" y="3136900"/>
            <a:ext cx="2667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14213D"/>
                </a:solidFill>
                <a:latin typeface="Pretendard"/>
              </a:rPr>
              <a:t>Canva </a:t>
            </a:r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동일 템플릿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C7C748-310C-C942-A347-F0BA422DD346}"/>
              </a:ext>
            </a:extLst>
          </p:cNvPr>
          <p:cNvSpPr txBox="1"/>
          <p:nvPr/>
        </p:nvSpPr>
        <p:spPr>
          <a:xfrm>
            <a:off x="4699000" y="3098800"/>
            <a:ext cx="64770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같은 템플릿에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M3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카드뉴스 문구를 얹는다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D19464FE-5723-FB48-8458-43DC9ABE4351}"/>
              </a:ext>
            </a:extLst>
          </p:cNvPr>
          <p:cNvSpPr/>
          <p:nvPr/>
        </p:nvSpPr>
        <p:spPr>
          <a:xfrm>
            <a:off x="825500" y="4013200"/>
            <a:ext cx="10541000" cy="9398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262CCE2-9973-4E4D-B4DB-31F35CBD03F9}"/>
              </a:ext>
            </a:extLst>
          </p:cNvPr>
          <p:cNvSpPr/>
          <p:nvPr/>
        </p:nvSpPr>
        <p:spPr>
          <a:xfrm>
            <a:off x="825500" y="40132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7939808F-0E39-5041-B530-8BE038E023C5}"/>
              </a:ext>
            </a:extLst>
          </p:cNvPr>
          <p:cNvSpPr/>
          <p:nvPr/>
        </p:nvSpPr>
        <p:spPr>
          <a:xfrm>
            <a:off x="1143000" y="42418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3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124EF3-49BA-C940-8AAC-1E7E8E957F06}"/>
              </a:ext>
            </a:extLst>
          </p:cNvPr>
          <p:cNvSpPr txBox="1"/>
          <p:nvPr/>
        </p:nvSpPr>
        <p:spPr>
          <a:xfrm>
            <a:off x="1905000" y="4178300"/>
            <a:ext cx="2667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제목</a:t>
            </a:r>
            <a:r>
              <a:rPr lang="en-US" altLang="ko-KR" sz="1600" b="1">
                <a:solidFill>
                  <a:srgbClr val="14213D"/>
                </a:solidFill>
                <a:latin typeface="Pretendard"/>
              </a:rPr>
              <a:t>·</a:t>
            </a:r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폰트</a:t>
            </a:r>
            <a:r>
              <a:rPr lang="en-US" altLang="ko-KR" sz="1600" b="1">
                <a:solidFill>
                  <a:srgbClr val="14213D"/>
                </a:solidFill>
                <a:latin typeface="Pretendard"/>
              </a:rPr>
              <a:t>·</a:t>
            </a:r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색 통일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0C026E-B6D5-954F-9ED3-B3E868C3DA71}"/>
              </a:ext>
            </a:extLst>
          </p:cNvPr>
          <p:cNvSpPr txBox="1"/>
          <p:nvPr/>
        </p:nvSpPr>
        <p:spPr>
          <a:xfrm>
            <a:off x="4699000" y="4140200"/>
            <a:ext cx="64770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카드 전체의 제목 위치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폰트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색을 하나로 맞춘다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22D9D1D9-6AED-704B-B042-AF262C180B05}"/>
              </a:ext>
            </a:extLst>
          </p:cNvPr>
          <p:cNvSpPr/>
          <p:nvPr/>
        </p:nvSpPr>
        <p:spPr>
          <a:xfrm>
            <a:off x="825500" y="5054600"/>
            <a:ext cx="10541000" cy="9398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897D9BE-B1B4-424B-976B-8C9DAA278985}"/>
              </a:ext>
            </a:extLst>
          </p:cNvPr>
          <p:cNvSpPr/>
          <p:nvPr/>
        </p:nvSpPr>
        <p:spPr>
          <a:xfrm>
            <a:off x="825500" y="50546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9ABBC1C6-F9C1-094A-916D-8DAD184AF01C}"/>
              </a:ext>
            </a:extLst>
          </p:cNvPr>
          <p:cNvSpPr/>
          <p:nvPr/>
        </p:nvSpPr>
        <p:spPr>
          <a:xfrm>
            <a:off x="1143000" y="52832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4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302F99-EAB3-8846-A14F-E10CBC31BC6C}"/>
              </a:ext>
            </a:extLst>
          </p:cNvPr>
          <p:cNvSpPr txBox="1"/>
          <p:nvPr/>
        </p:nvSpPr>
        <p:spPr>
          <a:xfrm>
            <a:off x="1905000" y="5219700"/>
            <a:ext cx="2667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채널 규격 일괄 내보내기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47224F-0ECD-BE4E-BF4B-611E558AC1E7}"/>
              </a:ext>
            </a:extLst>
          </p:cNvPr>
          <p:cNvSpPr txBox="1"/>
          <p:nvPr/>
        </p:nvSpPr>
        <p:spPr>
          <a:xfrm>
            <a:off x="4699000" y="5181600"/>
            <a:ext cx="64770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채널별 종횡비로 세트를 한 번에 내보낸다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프롬프트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카드뉴스 배경 일관성 프롬프트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32720" cy="4434840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502920" rIns="365760" bIns="32004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same visual style as before: warm amber + navy, flat minimal,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soft grain, generous top margin for a one-line title, 1:1,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make 3 variations keeping identical mood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--no text, busy 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2103120"/>
            <a:ext cx="109728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좋은예 VS 나쁜예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비교 — 카드뉴스 5장, 톤이 따로 노는 이유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5029200" cy="4114800"/>
          </a:xfrm>
          <a:prstGeom prst="rect">
            <a:avLst/>
          </a:prstGeom>
          <a:solidFill>
            <a:srgbClr val="F7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20040" rIns="32004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700" b="1">
                <a:solidFill>
                  <a:srgbClr val="A63333"/>
                </a:solidFill>
                <a:latin typeface="Noto Serif KR"/>
                <a:ea typeface="Noto Serif KR"/>
                <a:cs typeface="Noto Serif KR"/>
              </a:rPr>
              <a:t>🚫 매번 새 스타일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A6333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장마다 다른 색·질감으로 생성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A6333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5장이 제각각, 시리즈 느낌 X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A6333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문구 가독성 낮은 화려한 배경</a:t>
            </a:r>
          </a:p>
        </p:txBody>
      </p:sp>
      <p:sp>
        <p:nvSpPr>
          <p:cNvPr id="5" name="Rectangle 4"/>
          <p:cNvSpPr/>
          <p:nvPr/>
        </p:nvSpPr>
        <p:spPr>
          <a:xfrm>
            <a:off x="6245352" y="1920240"/>
            <a:ext cx="5029200" cy="4114800"/>
          </a:xfrm>
          <a:prstGeom prst="rect">
            <a:avLst/>
          </a:prstGeom>
          <a:solidFill>
            <a:srgbClr val="E7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20040" rIns="32004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700" b="1">
                <a:solidFill>
                  <a:srgbClr val="2C6B44"/>
                </a:solidFill>
                <a:latin typeface="Noto Serif KR"/>
                <a:ea typeface="Noto Serif KR"/>
                <a:cs typeface="Noto Serif KR"/>
              </a:rPr>
              <a:t>✅ 키워드 재사용 + 여백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2C6B44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동일 스타일 키워드로 3변형 생성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2C6B44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제목 위치·폰트·색 카드 간 통일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2C6B44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상단 여백 확보로 한 줄 문구 또렷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정리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이미지와 문구의 일관성 확보 방법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10332720" cy="1636776"/>
          </a:xfrm>
          <a:prstGeom prst="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28600" rIns="365760" bIns="18288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57A1A"/>
                </a:solidFill>
                <a:latin typeface="JetBrains Mono"/>
                <a:ea typeface="JetBrains Mono"/>
                <a:cs typeface="JetBrains Mono"/>
              </a:rPr>
              <a:t>⚠  흔한 실수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카드마다 스타일을 새로 지정하면 시리즈가 따로 논다 → 키워드 재사용.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배경이 너무 화려하면 문구 가독성이 떨어진다 → 여백 확보.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739896"/>
            <a:ext cx="10332720" cy="100584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01168" rIns="365760" bIns="182880" rtlCol="0" anchor="t"/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📦  결과물 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문구·톤이 일치하는 카드뉴스 1세트(2~3장).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도구 가이드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이 모듈에서 쓰는 도구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8224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ImageFX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Google의 무료 이미지 생성. 한글 프롬프트도 가능, 빠른 시안에 적합.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Midjourney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사진급 퀄리티와 일관된 무드의 강자(유료). --ar 비율·--no 제외 파라미터로 디테일을 정교하게 제어.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DALL·E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ChatGPT 내장. 구도·컨셉 잡기에 편리. 텍스트 렌더는 여전히 약함.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Canva AI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생성+편집+규격 내보내기를 한 곳에서. 문구 얹기·배경 제거·리사이즈에 강하다.</a:t>
            </a:r>
          </a:p>
        </p:txBody>
      </p:sp>
    </p:spTree>
    <p:extLst>
      <p:ext uri="{BB962C8B-B14F-4D97-AF65-F5344CB8AC3E}">
        <p14:creationId xmlns:p14="http://schemas.microsoft.com/office/powerpoint/2010/main" val="120999190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CHECKLIST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모듈 체크리스트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22DD94C3-7B80-134F-9DCB-4B27F13917C3}"/>
              </a:ext>
            </a:extLst>
          </p:cNvPr>
          <p:cNvSpPr/>
          <p:nvPr/>
        </p:nvSpPr>
        <p:spPr>
          <a:xfrm>
            <a:off x="825500" y="2006600"/>
            <a:ext cx="10541000" cy="12192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9B2C164B-864D-2048-90DC-9E06ED68E508}"/>
              </a:ext>
            </a:extLst>
          </p:cNvPr>
          <p:cNvSpPr/>
          <p:nvPr/>
        </p:nvSpPr>
        <p:spPr>
          <a:xfrm>
            <a:off x="825500" y="2006600"/>
            <a:ext cx="76200" cy="1219200"/>
          </a:xfrm>
          <a:prstGeom prst="round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26539CED-C29D-E347-984B-EF5A6335BC4C}"/>
              </a:ext>
            </a:extLst>
          </p:cNvPr>
          <p:cNvSpPr/>
          <p:nvPr/>
        </p:nvSpPr>
        <p:spPr>
          <a:xfrm>
            <a:off x="1270000" y="2362200"/>
            <a:ext cx="508000" cy="508000"/>
          </a:xfrm>
          <a:prstGeom prst="roundRect">
            <a:avLst/>
          </a:prstGeom>
          <a:solidFill>
            <a:srgbClr val="FFFFFF"/>
          </a:solidFill>
          <a:ln w="22225" cap="flat" cmpd="sng" algn="ctr">
            <a:solidFill>
              <a:srgbClr val="14213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2200" b="1">
                <a:solidFill>
                  <a:srgbClr val="E8A33D"/>
                </a:solidFill>
              </a:rPr>
              <a:t>✓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BD51D6-B1B3-3147-A8B4-7176EFE28CD2}"/>
              </a:ext>
            </a:extLst>
          </p:cNvPr>
          <p:cNvSpPr txBox="1"/>
          <p:nvPr/>
        </p:nvSpPr>
        <p:spPr>
          <a:xfrm>
            <a:off x="2082800" y="2286000"/>
            <a:ext cx="8890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14213D"/>
                </a:solidFill>
                <a:latin typeface="Pretendard"/>
              </a:rPr>
              <a:t>채널 종횡비에 맞춰 제작했다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516CF5-81B5-9644-A78B-E845C1F4C564}"/>
              </a:ext>
            </a:extLst>
          </p:cNvPr>
          <p:cNvSpPr txBox="1"/>
          <p:nvPr/>
        </p:nvSpPr>
        <p:spPr>
          <a:xfrm>
            <a:off x="2082800" y="2667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50">
                <a:solidFill>
                  <a:srgbClr val="576176"/>
                </a:solidFill>
                <a:latin typeface="Pretendard"/>
              </a:rPr>
              <a:t>배너 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· 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썸네일 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· 1:1 · 9:16 · 16:9 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규격 확인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0E07EB61-BE13-7640-A96F-124EEA8A08D6}"/>
              </a:ext>
            </a:extLst>
          </p:cNvPr>
          <p:cNvSpPr/>
          <p:nvPr/>
        </p:nvSpPr>
        <p:spPr>
          <a:xfrm>
            <a:off x="825500" y="3403600"/>
            <a:ext cx="10541000" cy="12192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4D3ABC26-A246-6145-8DFF-6EFB6E61121B}"/>
              </a:ext>
            </a:extLst>
          </p:cNvPr>
          <p:cNvSpPr/>
          <p:nvPr/>
        </p:nvSpPr>
        <p:spPr>
          <a:xfrm>
            <a:off x="825500" y="3403600"/>
            <a:ext cx="76200" cy="1219200"/>
          </a:xfrm>
          <a:prstGeom prst="round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8EC0E1B3-8AAC-824C-89B7-148DB34D64B6}"/>
              </a:ext>
            </a:extLst>
          </p:cNvPr>
          <p:cNvSpPr/>
          <p:nvPr/>
        </p:nvSpPr>
        <p:spPr>
          <a:xfrm>
            <a:off x="1270000" y="3759200"/>
            <a:ext cx="508000" cy="508000"/>
          </a:xfrm>
          <a:prstGeom prst="roundRect">
            <a:avLst/>
          </a:prstGeom>
          <a:solidFill>
            <a:srgbClr val="FFFFFF"/>
          </a:solidFill>
          <a:ln w="22225" cap="flat" cmpd="sng" algn="ctr">
            <a:solidFill>
              <a:srgbClr val="14213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2200" b="1">
                <a:solidFill>
                  <a:srgbClr val="E8A33D"/>
                </a:solidFill>
              </a:rPr>
              <a:t>✓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04A98B-EF49-D54B-BA3E-D54F8C780DDF}"/>
              </a:ext>
            </a:extLst>
          </p:cNvPr>
          <p:cNvSpPr txBox="1"/>
          <p:nvPr/>
        </p:nvSpPr>
        <p:spPr>
          <a:xfrm>
            <a:off x="2082800" y="3683000"/>
            <a:ext cx="8890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14213D"/>
                </a:solidFill>
                <a:latin typeface="Pretendard"/>
              </a:rPr>
              <a:t>카드뉴스 세트의 스타일을 통일했다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CFBD0F-F7A5-3849-8B67-41BD74BB41D8}"/>
              </a:ext>
            </a:extLst>
          </p:cNvPr>
          <p:cNvSpPr txBox="1"/>
          <p:nvPr/>
        </p:nvSpPr>
        <p:spPr>
          <a:xfrm>
            <a:off x="2082800" y="4064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50">
                <a:solidFill>
                  <a:srgbClr val="576176"/>
                </a:solidFill>
                <a:latin typeface="Pretendard"/>
              </a:rPr>
              <a:t>스타일 키워드 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· 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레이아웃 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· 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폰트 고정</a:t>
            </a: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403DD7FA-7A60-0C48-A9FE-9A8A8220EBDC}"/>
              </a:ext>
            </a:extLst>
          </p:cNvPr>
          <p:cNvSpPr/>
          <p:nvPr/>
        </p:nvSpPr>
        <p:spPr>
          <a:xfrm>
            <a:off x="825500" y="4800600"/>
            <a:ext cx="10541000" cy="12192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DF8685AB-B0BD-C249-AB76-E8351FA2E823}"/>
              </a:ext>
            </a:extLst>
          </p:cNvPr>
          <p:cNvSpPr/>
          <p:nvPr/>
        </p:nvSpPr>
        <p:spPr>
          <a:xfrm>
            <a:off x="825500" y="4800600"/>
            <a:ext cx="76200" cy="1219200"/>
          </a:xfrm>
          <a:prstGeom prst="round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9792C59E-FB3F-B84D-8E33-9550CAB6E7FE}"/>
              </a:ext>
            </a:extLst>
          </p:cNvPr>
          <p:cNvSpPr/>
          <p:nvPr/>
        </p:nvSpPr>
        <p:spPr>
          <a:xfrm>
            <a:off x="1270000" y="5156200"/>
            <a:ext cx="508000" cy="508000"/>
          </a:xfrm>
          <a:prstGeom prst="roundRect">
            <a:avLst/>
          </a:prstGeom>
          <a:solidFill>
            <a:srgbClr val="FFFFFF"/>
          </a:solidFill>
          <a:ln w="22225" cap="flat" cmpd="sng" algn="ctr">
            <a:solidFill>
              <a:srgbClr val="14213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2200" b="1">
                <a:solidFill>
                  <a:srgbClr val="E8A33D"/>
                </a:solidFill>
              </a:rPr>
              <a:t>✓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155ED6-4D43-6F41-A2E7-21A2F735BFCB}"/>
              </a:ext>
            </a:extLst>
          </p:cNvPr>
          <p:cNvSpPr txBox="1"/>
          <p:nvPr/>
        </p:nvSpPr>
        <p:spPr>
          <a:xfrm>
            <a:off x="2082800" y="5080000"/>
            <a:ext cx="8890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14213D"/>
                </a:solidFill>
                <a:latin typeface="Pretendard"/>
              </a:rPr>
              <a:t>상업적 이용 가능 여부를 확인했다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3B985F-8BA0-014D-A079-8B61F699EC08}"/>
              </a:ext>
            </a:extLst>
          </p:cNvPr>
          <p:cNvSpPr txBox="1"/>
          <p:nvPr/>
        </p:nvSpPr>
        <p:spPr>
          <a:xfrm>
            <a:off x="2082800" y="5461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50">
                <a:solidFill>
                  <a:srgbClr val="576176"/>
                </a:solidFill>
                <a:latin typeface="Pretendard"/>
              </a:rPr>
              <a:t>도구 약관 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· 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초상권 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· 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타사 상표 점검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95BCA84E-0293-1A4B-B052-DFC42E3D32B6}"/>
              </a:ext>
            </a:extLst>
          </p:cNvPr>
          <p:cNvSpPr/>
          <p:nvPr/>
        </p:nvSpPr>
        <p:spPr>
          <a:xfrm>
            <a:off x="825500" y="1905000"/>
            <a:ext cx="10541000" cy="31750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E0E3D281-5BB0-C84A-8844-99138E55C331}"/>
              </a:ext>
            </a:extLst>
          </p:cNvPr>
          <p:cNvSpPr/>
          <p:nvPr/>
        </p:nvSpPr>
        <p:spPr>
          <a:xfrm>
            <a:off x="825500" y="1905000"/>
            <a:ext cx="101600" cy="3175000"/>
          </a:xfrm>
          <a:prstGeom prst="round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9F2D36-B457-6A44-ABE3-EFE9B23153E2}"/>
              </a:ext>
            </a:extLst>
          </p:cNvPr>
          <p:cNvSpPr txBox="1"/>
          <p:nvPr/>
        </p:nvSpPr>
        <p:spPr>
          <a:xfrm>
            <a:off x="1333500" y="2286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E8A33D"/>
                </a:solidFill>
                <a:latin typeface="JetBrains Mono"/>
              </a:rPr>
              <a:t>MISSION 04 · </a:t>
            </a:r>
            <a:r>
              <a:rPr lang="ko-KR" altLang="en-US" sz="1500" b="1">
                <a:solidFill>
                  <a:srgbClr val="E8A33D"/>
                </a:solidFill>
                <a:latin typeface="JetBrains Mono"/>
              </a:rPr>
              <a:t>도장깨기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85614D-F6DC-F642-B9C9-5DBF5FDA07A5}"/>
              </a:ext>
            </a:extLst>
          </p:cNvPr>
          <p:cNvSpPr txBox="1"/>
          <p:nvPr/>
        </p:nvSpPr>
        <p:spPr>
          <a:xfrm>
            <a:off x="1333500" y="2641600"/>
            <a:ext cx="88900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3000" b="1">
                <a:solidFill>
                  <a:srgbClr val="FFFFFF"/>
                </a:solidFill>
                <a:latin typeface="Noto Serif KR"/>
              </a:rPr>
              <a:t>홍보 시각자료 만들기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A329270C-2B44-994A-88DC-2CB5389933CA}"/>
              </a:ext>
            </a:extLst>
          </p:cNvPr>
          <p:cNvSpPr/>
          <p:nvPr/>
        </p:nvSpPr>
        <p:spPr>
          <a:xfrm>
            <a:off x="1333500" y="3454400"/>
            <a:ext cx="9525000" cy="1320800"/>
          </a:xfrm>
          <a:prstGeom prst="roundRect">
            <a:avLst/>
          </a:prstGeom>
          <a:solidFill>
            <a:srgbClr val="20314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5E1221-915A-D548-8191-5DC568D793BD}"/>
              </a:ext>
            </a:extLst>
          </p:cNvPr>
          <p:cNvSpPr txBox="1"/>
          <p:nvPr/>
        </p:nvSpPr>
        <p:spPr>
          <a:xfrm>
            <a:off x="1587500" y="3657600"/>
            <a:ext cx="9017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FFFFFF"/>
                </a:solidFill>
                <a:latin typeface="Pretendard"/>
              </a:rPr>
              <a:t>같은 스타일 키워드를 재사용해 한 세트로 보이는 시각자료를 만든다</a:t>
            </a:r>
            <a:r>
              <a:rPr lang="en-US" altLang="ko-KR" b="1">
                <a:solidFill>
                  <a:srgbClr val="FFFFFF"/>
                </a:solidFill>
                <a:latin typeface="Pretendard"/>
              </a:rPr>
              <a:t>.</a:t>
            </a:r>
            <a:endParaRPr lang="ko-KR" altLang="en-US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F337DD-C0D9-2845-AB88-DD3E385F7037}"/>
              </a:ext>
            </a:extLst>
          </p:cNvPr>
          <p:cNvSpPr txBox="1"/>
          <p:nvPr/>
        </p:nvSpPr>
        <p:spPr>
          <a:xfrm>
            <a:off x="1587500" y="4140200"/>
            <a:ext cx="9017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50">
                <a:solidFill>
                  <a:srgbClr val="E8A33D"/>
                </a:solidFill>
                <a:latin typeface="Pretendard"/>
              </a:rPr>
              <a:t>→ 배너</a:t>
            </a:r>
            <a:r>
              <a:rPr lang="en-US" altLang="ko-KR" sz="1450">
                <a:solidFill>
                  <a:srgbClr val="E8A33D"/>
                </a:solidFill>
                <a:latin typeface="Pretendard"/>
              </a:rPr>
              <a:t>·</a:t>
            </a:r>
            <a:r>
              <a:rPr lang="ko-KR" altLang="en-US" sz="1450">
                <a:solidFill>
                  <a:srgbClr val="E8A33D"/>
                </a:solidFill>
                <a:latin typeface="Pretendard"/>
              </a:rPr>
              <a:t>카드뉴스</a:t>
            </a:r>
            <a:r>
              <a:rPr lang="en-US" altLang="ko-KR" sz="1450">
                <a:solidFill>
                  <a:srgbClr val="E8A33D"/>
                </a:solidFill>
                <a:latin typeface="Pretendard"/>
              </a:rPr>
              <a:t>·</a:t>
            </a:r>
            <a:r>
              <a:rPr lang="ko-KR" altLang="en-US" sz="1450">
                <a:solidFill>
                  <a:srgbClr val="E8A33D"/>
                </a:solidFill>
                <a:latin typeface="Pretendard"/>
              </a:rPr>
              <a:t>썸네일이 ‘한 브랜드’처럼 보이게</a:t>
            </a:r>
            <a:r>
              <a:rPr lang="en-US" altLang="ko-KR" sz="1450">
                <a:solidFill>
                  <a:srgbClr val="E8A33D"/>
                </a:solidFill>
                <a:latin typeface="Pretendard"/>
              </a:rPr>
              <a:t>.</a:t>
            </a:r>
            <a:endParaRPr lang="ko-KR" altLang="en-US" sz="1450">
              <a:solidFill>
                <a:srgbClr val="E8A33D"/>
              </a:solidFill>
              <a:latin typeface="Pretendard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44E4053B-47A5-0740-A2FE-1232DBAE74E4}"/>
              </a:ext>
            </a:extLst>
          </p:cNvPr>
          <p:cNvSpPr/>
          <p:nvPr/>
        </p:nvSpPr>
        <p:spPr>
          <a:xfrm>
            <a:off x="825500" y="5283200"/>
            <a:ext cx="10541000" cy="9398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1F7BF1-D298-AC43-8240-BC091663738F}"/>
              </a:ext>
            </a:extLst>
          </p:cNvPr>
          <p:cNvSpPr txBox="1"/>
          <p:nvPr/>
        </p:nvSpPr>
        <p:spPr>
          <a:xfrm>
            <a:off x="1206500" y="5486400"/>
            <a:ext cx="1778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E8A33D"/>
                </a:solidFill>
                <a:latin typeface="JetBrains Mono"/>
              </a:rPr>
              <a:t>▶  NEXT</a:t>
            </a:r>
            <a:endParaRPr lang="ko-KR" altLang="en-US" sz="13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A79527-D59C-A54B-91D4-222D4B8BA3E1}"/>
              </a:ext>
            </a:extLst>
          </p:cNvPr>
          <p:cNvSpPr txBox="1"/>
          <p:nvPr/>
        </p:nvSpPr>
        <p:spPr>
          <a:xfrm>
            <a:off x="1206500" y="5740400"/>
            <a:ext cx="96520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b="1">
                <a:solidFill>
                  <a:srgbClr val="14213D"/>
                </a:solidFill>
                <a:latin typeface="Pretendard"/>
              </a:rPr>
              <a:t>M5 · AI </a:t>
            </a:r>
            <a:r>
              <a:rPr lang="ko-KR" altLang="en-US" b="1">
                <a:solidFill>
                  <a:srgbClr val="14213D"/>
                </a:solidFill>
                <a:latin typeface="Pretendard"/>
              </a:rPr>
              <a:t>기반 </a:t>
            </a:r>
            <a:r>
              <a:rPr lang="en-US" altLang="ko-KR" b="1">
                <a:solidFill>
                  <a:srgbClr val="14213D"/>
                </a:solidFill>
                <a:latin typeface="Pretendard"/>
              </a:rPr>
              <a:t>UI </a:t>
            </a:r>
            <a:r>
              <a:rPr lang="ko-KR" altLang="en-US" b="1">
                <a:solidFill>
                  <a:srgbClr val="14213D"/>
                </a:solidFill>
                <a:latin typeface="Pretendard"/>
              </a:rPr>
              <a:t>시안 제작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1554480"/>
            <a:ext cx="1005840" cy="12801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400" b="0">
                <a:solidFill>
                  <a:srgbClr val="BFD2EC"/>
                </a:solidFill>
                <a:latin typeface="JetBrains Mono"/>
                <a:ea typeface="JetBrains Mono"/>
                <a:cs typeface="JetBrains Mono"/>
              </a:rPr>
              <a:t>MODULE 5 · 5교시 · 14:00–14:50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</a:pPr>
            <a:r>
              <a:rPr sz="38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M5. AI 기반 UI 시안 제작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Google Stitch로 자연어 설명만으로 홍보용 UI 시안을 생성하고, 랜딩/이벤트 페이지의 화면 구조와 흐름을 설계한다.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5212080"/>
            <a:ext cx="10515600" cy="1051560"/>
          </a:xfrm>
          <a:prstGeom prst="rect">
            <a:avLst/>
          </a:prstGeom>
          <a:solidFill>
            <a:srgbClr val="184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64592" rtlCol="0" anchor="ctr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300"/>
              </a:spcAft>
            </a:pPr>
            <a:r>
              <a:rPr sz="1200" b="1">
                <a:solidFill>
                  <a:srgbClr val="9FC0E6"/>
                </a:solidFill>
                <a:latin typeface="JetBrains Mono"/>
                <a:ea typeface="JetBrains Mono"/>
                <a:cs typeface="JetBrains Mono"/>
              </a:rPr>
              <a:t>이전  </a:t>
            </a:r>
            <a:r>
              <a:rPr sz="1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M3·M4의 콘텐츠·비주얼이 모였다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300"/>
              </a:spcAft>
            </a:pPr>
            <a:r>
              <a:rPr sz="12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이번  </a:t>
            </a: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이것들을 담을 홍보 페이지 UI 시안을 만든다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1">
                <a:solidFill>
                  <a:srgbClr val="9FC0E6"/>
                </a:solidFill>
                <a:latin typeface="JetBrains Mono"/>
                <a:ea typeface="JetBrains Mono"/>
                <a:cs typeface="JetBrains Mono"/>
              </a:rPr>
              <a:t>다음  </a:t>
            </a:r>
            <a:r>
              <a:rPr sz="1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시안에 카피·이미지를 채워 실제 페이지로 → M6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학습 목표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이 모듈에서 할 수 있게 되는 것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32312353-19CD-C745-8F03-0D3A7F1AB085}"/>
              </a:ext>
            </a:extLst>
          </p:cNvPr>
          <p:cNvSpPr/>
          <p:nvPr/>
        </p:nvSpPr>
        <p:spPr>
          <a:xfrm>
            <a:off x="825500" y="1905000"/>
            <a:ext cx="50800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FCE8A0-62AC-1E4D-9B18-2518AC1CF3A9}"/>
              </a:ext>
            </a:extLst>
          </p:cNvPr>
          <p:cNvSpPr txBox="1"/>
          <p:nvPr/>
        </p:nvSpPr>
        <p:spPr>
          <a:xfrm>
            <a:off x="1257300" y="2235200"/>
            <a:ext cx="15240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4000" b="1">
                <a:solidFill>
                  <a:srgbClr val="E8A33D"/>
                </a:solidFill>
                <a:latin typeface="JetBrains Mono"/>
              </a:rPr>
              <a:t>01</a:t>
            </a:r>
            <a:endParaRPr lang="ko-KR" altLang="en-US" sz="40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23BDE64-DD68-2546-A00F-00BD5843828B}"/>
              </a:ext>
            </a:extLst>
          </p:cNvPr>
          <p:cNvSpPr/>
          <p:nvPr/>
        </p:nvSpPr>
        <p:spPr>
          <a:xfrm>
            <a:off x="1282700" y="3124200"/>
            <a:ext cx="685800" cy="50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022B02-F633-AB43-8C92-C4D8D88CE2AF}"/>
              </a:ext>
            </a:extLst>
          </p:cNvPr>
          <p:cNvSpPr txBox="1"/>
          <p:nvPr/>
        </p:nvSpPr>
        <p:spPr>
          <a:xfrm>
            <a:off x="1282700" y="3479800"/>
            <a:ext cx="4165600" cy="165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2000" b="1">
                <a:solidFill>
                  <a:srgbClr val="14213D"/>
                </a:solidFill>
                <a:latin typeface="Pretendard"/>
              </a:rPr>
              <a:t>자연어 설명으로 홍보용 </a:t>
            </a:r>
            <a:r>
              <a:rPr lang="en-US" altLang="ko-KR" sz="2000" b="1">
                <a:solidFill>
                  <a:srgbClr val="14213D"/>
                </a:solidFill>
                <a:latin typeface="Pretendard"/>
                <a:ea typeface="Pretendard"/>
              </a:rPr>
              <a:t>UI </a:t>
            </a:r>
            <a:r>
              <a:rPr lang="ko-KR" altLang="en-US" sz="2000" b="1">
                <a:solidFill>
                  <a:srgbClr val="14213D"/>
                </a:solidFill>
                <a:latin typeface="Pretendard"/>
              </a:rPr>
              <a:t>시안을 생성할 수 있다</a:t>
            </a:r>
            <a:r>
              <a:rPr lang="en-US" altLang="ko-KR" sz="2000" b="1">
                <a:solidFill>
                  <a:srgbClr val="14213D"/>
                </a:solidFill>
                <a:latin typeface="Pretendard"/>
                <a:ea typeface="Pretendard"/>
              </a:rPr>
              <a:t>.</a:t>
            </a:r>
            <a:endParaRPr lang="ko-KR" altLang="en-US" sz="2000" b="1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81009A-28F2-5841-951D-EE5B73284298}"/>
              </a:ext>
            </a:extLst>
          </p:cNvPr>
          <p:cNvSpPr txBox="1"/>
          <p:nvPr/>
        </p:nvSpPr>
        <p:spPr>
          <a:xfrm>
            <a:off x="1282700" y="5613400"/>
            <a:ext cx="41656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>
                <a:solidFill>
                  <a:srgbClr val="1D4E89"/>
                </a:solidFill>
                <a:latin typeface="JetBrains Mono"/>
              </a:rPr>
              <a:t>→ Google Stitch </a:t>
            </a:r>
            <a:r>
              <a:rPr lang="ko-KR" altLang="en-US" sz="1400">
                <a:solidFill>
                  <a:srgbClr val="1D4E89"/>
                </a:solidFill>
                <a:latin typeface="JetBrains Mono"/>
              </a:rPr>
              <a:t>활용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B0AC69EB-6A4D-194C-A087-5D41343677FB}"/>
              </a:ext>
            </a:extLst>
          </p:cNvPr>
          <p:cNvSpPr/>
          <p:nvPr/>
        </p:nvSpPr>
        <p:spPr>
          <a:xfrm>
            <a:off x="6286500" y="1905000"/>
            <a:ext cx="50800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DD172A-CE38-FF48-950A-9ABBA190A1F9}"/>
              </a:ext>
            </a:extLst>
          </p:cNvPr>
          <p:cNvSpPr txBox="1"/>
          <p:nvPr/>
        </p:nvSpPr>
        <p:spPr>
          <a:xfrm>
            <a:off x="6718300" y="2235200"/>
            <a:ext cx="15240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4000" b="1">
                <a:solidFill>
                  <a:srgbClr val="E8A33D"/>
                </a:solidFill>
                <a:latin typeface="JetBrains Mono"/>
              </a:rPr>
              <a:t>02</a:t>
            </a:r>
            <a:endParaRPr lang="ko-KR" altLang="en-US" sz="40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2C45294-6260-3C47-855B-62D9DD84B2A0}"/>
              </a:ext>
            </a:extLst>
          </p:cNvPr>
          <p:cNvSpPr/>
          <p:nvPr/>
        </p:nvSpPr>
        <p:spPr>
          <a:xfrm>
            <a:off x="6743700" y="3124200"/>
            <a:ext cx="685800" cy="50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8CAA33-A9AF-5B48-8765-4FF97AB0D168}"/>
              </a:ext>
            </a:extLst>
          </p:cNvPr>
          <p:cNvSpPr txBox="1"/>
          <p:nvPr/>
        </p:nvSpPr>
        <p:spPr>
          <a:xfrm>
            <a:off x="6743700" y="3479800"/>
            <a:ext cx="4165600" cy="165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2000" b="1">
                <a:solidFill>
                  <a:srgbClr val="14213D"/>
                </a:solidFill>
                <a:latin typeface="Pretendard"/>
              </a:rPr>
              <a:t>홍보 페이지의 화면 구조와 흐름을 설계할 수 있다</a:t>
            </a:r>
            <a:r>
              <a:rPr lang="en-US" altLang="ko-KR" sz="2000" b="1">
                <a:solidFill>
                  <a:srgbClr val="14213D"/>
                </a:solidFill>
                <a:latin typeface="Pretendard"/>
                <a:ea typeface="Pretendard"/>
              </a:rPr>
              <a:t>.</a:t>
            </a:r>
            <a:endParaRPr lang="ko-KR" altLang="en-US" sz="2000" b="1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D1B18A-8AB7-1B46-8694-C5086FE54F70}"/>
              </a:ext>
            </a:extLst>
          </p:cNvPr>
          <p:cNvSpPr txBox="1"/>
          <p:nvPr/>
        </p:nvSpPr>
        <p:spPr>
          <a:xfrm>
            <a:off x="6743700" y="5613400"/>
            <a:ext cx="41656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1D4E89"/>
                </a:solidFill>
                <a:latin typeface="JetBrains Mono"/>
              </a:rPr>
              <a:t>→ 랜딩</a:t>
            </a:r>
            <a:r>
              <a:rPr lang="en-US" altLang="ko-KR" sz="1400">
                <a:solidFill>
                  <a:srgbClr val="1D4E89"/>
                </a:solidFill>
                <a:latin typeface="JetBrains Mono"/>
              </a:rPr>
              <a:t>·</a:t>
            </a:r>
            <a:r>
              <a:rPr lang="ko-KR" altLang="en-US" sz="1400">
                <a:solidFill>
                  <a:srgbClr val="1D4E89"/>
                </a:solidFill>
                <a:latin typeface="JetBrains Mono"/>
              </a:rPr>
              <a:t>이벤트 페이지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0C3955A-4E31-694A-A4EB-89E3D255E47B}"/>
              </a:ext>
            </a:extLst>
          </p:cNvPr>
          <p:cNvSpPr/>
          <p:nvPr/>
        </p:nvSpPr>
        <p:spPr>
          <a:xfrm>
            <a:off x="914400" y="2362200"/>
            <a:ext cx="431800" cy="762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68DF6F-C234-D44E-A280-635E917830E9}"/>
              </a:ext>
            </a:extLst>
          </p:cNvPr>
          <p:cNvSpPr txBox="1"/>
          <p:nvPr/>
        </p:nvSpPr>
        <p:spPr>
          <a:xfrm>
            <a:off x="914400" y="2540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E8A33D"/>
                </a:solidFill>
                <a:latin typeface="JetBrains Mono"/>
              </a:rPr>
              <a:t>SESSION 1</a:t>
            </a:r>
            <a:endParaRPr lang="ko-KR" altLang="en-US" sz="15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711E67-3624-DC49-943D-D1CC4C497C55}"/>
              </a:ext>
            </a:extLst>
          </p:cNvPr>
          <p:cNvSpPr txBox="1"/>
          <p:nvPr/>
        </p:nvSpPr>
        <p:spPr>
          <a:xfrm>
            <a:off x="914400" y="2895600"/>
            <a:ext cx="103632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3200" b="1">
                <a:solidFill>
                  <a:srgbClr val="FFFFFF"/>
                </a:solidFill>
                <a:latin typeface="Noto Serif KR"/>
              </a:rPr>
              <a:t>자연어로 </a:t>
            </a:r>
            <a:r>
              <a:rPr lang="en-US" altLang="ko-KR" sz="3200" b="1">
                <a:solidFill>
                  <a:srgbClr val="FFFFFF"/>
                </a:solidFill>
                <a:latin typeface="Noto Serif KR"/>
              </a:rPr>
              <a:t>UI </a:t>
            </a:r>
            <a:r>
              <a:rPr lang="ko-KR" altLang="en-US" sz="3200" b="1">
                <a:solidFill>
                  <a:srgbClr val="FFFFFF"/>
                </a:solidFill>
                <a:latin typeface="Noto Serif KR"/>
              </a:rPr>
              <a:t>시안 만들기 </a:t>
            </a:r>
            <a:r>
              <a:rPr lang="en-US" altLang="ko-KR" sz="3200" b="1">
                <a:solidFill>
                  <a:srgbClr val="FFFFFF"/>
                </a:solidFill>
                <a:latin typeface="Noto Serif KR"/>
              </a:rPr>
              <a:t>(Google Stitch)</a:t>
            </a:r>
            <a:endParaRPr lang="ko-KR" altLang="en-US" sz="3200" b="1">
              <a:solidFill>
                <a:srgbClr val="FFFFFF"/>
              </a:solidFill>
              <a:latin typeface="Noto Serif KR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F393E3-6EEF-F945-A8CA-EA4D672C6215}"/>
              </a:ext>
            </a:extLst>
          </p:cNvPr>
          <p:cNvSpPr txBox="1"/>
          <p:nvPr/>
        </p:nvSpPr>
        <p:spPr>
          <a:xfrm>
            <a:off x="914400" y="3657600"/>
            <a:ext cx="10033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00">
                <a:solidFill>
                  <a:srgbClr val="DCE6F2"/>
                </a:solidFill>
                <a:latin typeface="Pretendard"/>
              </a:rPr>
              <a:t>Stitch</a:t>
            </a:r>
            <a:r>
              <a:rPr lang="ko-KR" altLang="en-US" sz="1600">
                <a:solidFill>
                  <a:srgbClr val="DCE6F2"/>
                </a:solidFill>
                <a:latin typeface="Pretendard"/>
              </a:rPr>
              <a:t>는 자연어 프롬프트를 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UI </a:t>
            </a:r>
            <a:r>
              <a:rPr lang="ko-KR" altLang="en-US" sz="1600">
                <a:solidFill>
                  <a:srgbClr val="DCE6F2"/>
                </a:solidFill>
                <a:latin typeface="Pretendard"/>
              </a:rPr>
              <a:t>시안으로 바꾼다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. ‘</a:t>
            </a:r>
            <a:r>
              <a:rPr lang="ko-KR" altLang="en-US" sz="1600">
                <a:solidFill>
                  <a:srgbClr val="DCE6F2"/>
                </a:solidFill>
                <a:latin typeface="Pretendard"/>
              </a:rPr>
              <a:t>무엇을 위한 화면인지’를 명확히 적는 게 핵심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.</a:t>
            </a:r>
            <a:endParaRPr lang="ko-KR" altLang="en-US" sz="1600">
              <a:solidFill>
                <a:srgbClr val="DCE6F2"/>
              </a:solidFill>
              <a:latin typeface="Pretendard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B349B10A-62E3-EF4E-A0D0-B802FF002B21}"/>
              </a:ext>
            </a:extLst>
          </p:cNvPr>
          <p:cNvSpPr/>
          <p:nvPr/>
        </p:nvSpPr>
        <p:spPr>
          <a:xfrm>
            <a:off x="914400" y="4521200"/>
            <a:ext cx="2616200" cy="8890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FFFFFF"/>
                </a:solidFill>
                <a:latin typeface="Pretendard"/>
              </a:rPr>
              <a:t>디자인 브리프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FE56BC-5D0F-964F-A985-D49DE7071720}"/>
              </a:ext>
            </a:extLst>
          </p:cNvPr>
          <p:cNvSpPr txBox="1"/>
          <p:nvPr/>
        </p:nvSpPr>
        <p:spPr>
          <a:xfrm>
            <a:off x="3530600" y="4521200"/>
            <a:ext cx="558800" cy="889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2400" b="1">
                <a:solidFill>
                  <a:srgbClr val="9FB3CE"/>
                </a:solidFill>
                <a:latin typeface="Pretendard"/>
              </a:rPr>
              <a:t>→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211A8D03-3EF4-8A4C-B882-F08CF0BBC7A8}"/>
              </a:ext>
            </a:extLst>
          </p:cNvPr>
          <p:cNvSpPr/>
          <p:nvPr/>
        </p:nvSpPr>
        <p:spPr>
          <a:xfrm>
            <a:off x="4089400" y="4521200"/>
            <a:ext cx="2616200" cy="8890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Pretendard"/>
              </a:rPr>
              <a:t>Stitch </a:t>
            </a:r>
            <a:r>
              <a:rPr lang="ko-KR" altLang="en-US" sz="1600" b="1">
                <a:solidFill>
                  <a:srgbClr val="FFFFFF"/>
                </a:solidFill>
                <a:latin typeface="Pretendard"/>
              </a:rPr>
              <a:t>생성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56C6E6-59B3-1642-946B-3510168E9AE7}"/>
              </a:ext>
            </a:extLst>
          </p:cNvPr>
          <p:cNvSpPr txBox="1"/>
          <p:nvPr/>
        </p:nvSpPr>
        <p:spPr>
          <a:xfrm>
            <a:off x="6705600" y="4521200"/>
            <a:ext cx="558800" cy="889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2400" b="1">
                <a:solidFill>
                  <a:srgbClr val="9FB3CE"/>
                </a:solidFill>
                <a:latin typeface="Pretendard"/>
              </a:rPr>
              <a:t>→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7DEE01AD-F543-2D4B-A8E1-FC495243CF37}"/>
              </a:ext>
            </a:extLst>
          </p:cNvPr>
          <p:cNvSpPr/>
          <p:nvPr/>
        </p:nvSpPr>
        <p:spPr>
          <a:xfrm>
            <a:off x="7264400" y="4521200"/>
            <a:ext cx="2616200" cy="889000"/>
          </a:xfrm>
          <a:prstGeom prst="round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반복 수정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F041F7-1FDB-354F-B195-DAD4AF081A13}"/>
              </a:ext>
            </a:extLst>
          </p:cNvPr>
          <p:cNvSpPr txBox="1"/>
          <p:nvPr/>
        </p:nvSpPr>
        <p:spPr>
          <a:xfrm>
            <a:off x="914400" y="5740400"/>
            <a:ext cx="103632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9FB3CE"/>
                </a:solidFill>
                <a:latin typeface="JetBrains Mono"/>
              </a:rPr>
              <a:t>→ 화면의 목적을 한 문장으로 적는 것에서 시작한다</a:t>
            </a:r>
            <a:r>
              <a:rPr lang="en-US" altLang="ko-KR" sz="1400">
                <a:solidFill>
                  <a:srgbClr val="9FB3CE"/>
                </a:solidFill>
                <a:latin typeface="JetBrains Mono"/>
              </a:rPr>
              <a:t>.</a:t>
            </a:r>
            <a:endParaRPr lang="ko-KR" altLang="en-US" sz="1400">
              <a:solidFill>
                <a:srgbClr val="9FB3CE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핵심 개념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핵심 개념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E8B01244-2C7B-994A-88DE-1EED66F7FE74}"/>
              </a:ext>
            </a:extLst>
          </p:cNvPr>
          <p:cNvSpPr/>
          <p:nvPr/>
        </p:nvSpPr>
        <p:spPr>
          <a:xfrm>
            <a:off x="825500" y="1905000"/>
            <a:ext cx="33401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07CBB5C-AA9B-4246-BA09-E367EC033511}"/>
              </a:ext>
            </a:extLst>
          </p:cNvPr>
          <p:cNvSpPr/>
          <p:nvPr/>
        </p:nvSpPr>
        <p:spPr>
          <a:xfrm>
            <a:off x="825500" y="1905000"/>
            <a:ext cx="3340100" cy="88900"/>
          </a:xfrm>
          <a:prstGeom prst="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14048E96-7BD6-234C-AE79-F62A3CFBE26A}"/>
              </a:ext>
            </a:extLst>
          </p:cNvPr>
          <p:cNvSpPr/>
          <p:nvPr/>
        </p:nvSpPr>
        <p:spPr>
          <a:xfrm>
            <a:off x="11303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1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40E5CF-F399-B040-A6BB-874759728631}"/>
              </a:ext>
            </a:extLst>
          </p:cNvPr>
          <p:cNvSpPr txBox="1"/>
          <p:nvPr/>
        </p:nvSpPr>
        <p:spPr>
          <a:xfrm>
            <a:off x="11303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50" b="1">
                <a:solidFill>
                  <a:srgbClr val="14213D"/>
                </a:solidFill>
                <a:latin typeface="Pretendard"/>
              </a:rPr>
              <a:t>Google Stitch</a:t>
            </a:r>
            <a:endParaRPr lang="ko-KR" altLang="en-US" sz="1650" b="1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941A366-8721-4C4E-AED5-649739A62627}"/>
              </a:ext>
            </a:extLst>
          </p:cNvPr>
          <p:cNvSpPr/>
          <p:nvPr/>
        </p:nvSpPr>
        <p:spPr>
          <a:xfrm>
            <a:off x="11303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DA6948-CCE1-7B4F-9EBB-685703709F5F}"/>
              </a:ext>
            </a:extLst>
          </p:cNvPr>
          <p:cNvSpPr txBox="1"/>
          <p:nvPr/>
        </p:nvSpPr>
        <p:spPr>
          <a:xfrm>
            <a:off x="11303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50">
                <a:solidFill>
                  <a:srgbClr val="576176"/>
                </a:solidFill>
                <a:latin typeface="Pretendard"/>
              </a:rPr>
              <a:t>자연어로 앱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웹 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UI 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시안을 생성하는 구글 도구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. 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화면 목적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섹션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톤을 주면 레이아웃을 만든다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35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435EEA90-7AEA-DA43-AC7E-822069896C6E}"/>
              </a:ext>
            </a:extLst>
          </p:cNvPr>
          <p:cNvSpPr/>
          <p:nvPr/>
        </p:nvSpPr>
        <p:spPr>
          <a:xfrm>
            <a:off x="1130300" y="5562600"/>
            <a:ext cx="2730500" cy="457200"/>
          </a:xfrm>
          <a:prstGeom prst="roundRect">
            <a:avLst/>
          </a:prstGeom>
          <a:solidFill>
            <a:srgbClr val="E7ECF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F20711-1C09-864F-8665-628D7024EE06}"/>
              </a:ext>
            </a:extLst>
          </p:cNvPr>
          <p:cNvSpPr txBox="1"/>
          <p:nvPr/>
        </p:nvSpPr>
        <p:spPr>
          <a:xfrm>
            <a:off x="11303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14213D"/>
                </a:solidFill>
                <a:latin typeface="Pretendard"/>
              </a:rPr>
              <a:t>자연어 → </a:t>
            </a:r>
            <a:r>
              <a:rPr lang="en-US" altLang="ko-KR" sz="1300" b="1">
                <a:solidFill>
                  <a:srgbClr val="14213D"/>
                </a:solidFill>
                <a:latin typeface="Pretendard"/>
              </a:rPr>
              <a:t>UI </a:t>
            </a:r>
            <a:r>
              <a:rPr lang="ko-KR" altLang="en-US" sz="1300" b="1">
                <a:solidFill>
                  <a:srgbClr val="14213D"/>
                </a:solidFill>
                <a:latin typeface="Pretendard"/>
              </a:rPr>
              <a:t>시안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BBD0320E-16C2-D64D-828A-5DE8A4607544}"/>
              </a:ext>
            </a:extLst>
          </p:cNvPr>
          <p:cNvSpPr/>
          <p:nvPr/>
        </p:nvSpPr>
        <p:spPr>
          <a:xfrm>
            <a:off x="4419600" y="1905000"/>
            <a:ext cx="33401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DB9DCBC-D27A-4245-BBB7-08E033F3C3D8}"/>
              </a:ext>
            </a:extLst>
          </p:cNvPr>
          <p:cNvSpPr/>
          <p:nvPr/>
        </p:nvSpPr>
        <p:spPr>
          <a:xfrm>
            <a:off x="4419600" y="1905000"/>
            <a:ext cx="3340100" cy="88900"/>
          </a:xfrm>
          <a:prstGeom prst="rect">
            <a:avLst/>
          </a:prstGeom>
          <a:solidFill>
            <a:srgbClr val="1D4E8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8D166824-7A72-0A42-88CA-ED92BA1F9847}"/>
              </a:ext>
            </a:extLst>
          </p:cNvPr>
          <p:cNvSpPr/>
          <p:nvPr/>
        </p:nvSpPr>
        <p:spPr>
          <a:xfrm>
            <a:off x="47244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2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5484E9-4693-1144-BF39-A807B8DDC065}"/>
              </a:ext>
            </a:extLst>
          </p:cNvPr>
          <p:cNvSpPr txBox="1"/>
          <p:nvPr/>
        </p:nvSpPr>
        <p:spPr>
          <a:xfrm>
            <a:off x="47244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50" b="1">
                <a:solidFill>
                  <a:srgbClr val="14213D"/>
                </a:solidFill>
                <a:latin typeface="Pretendard"/>
              </a:rPr>
              <a:t>디자인 브리프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CABE8FD-FE59-DB47-BA09-53F947D2FD74}"/>
              </a:ext>
            </a:extLst>
          </p:cNvPr>
          <p:cNvSpPr/>
          <p:nvPr/>
        </p:nvSpPr>
        <p:spPr>
          <a:xfrm>
            <a:off x="47244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939001-32F4-A049-8BAC-2B427982C338}"/>
              </a:ext>
            </a:extLst>
          </p:cNvPr>
          <p:cNvSpPr txBox="1"/>
          <p:nvPr/>
        </p:nvSpPr>
        <p:spPr>
          <a:xfrm>
            <a:off x="47244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50">
                <a:solidFill>
                  <a:srgbClr val="576176"/>
                </a:solidFill>
                <a:latin typeface="Pretendard"/>
              </a:rPr>
              <a:t>목적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타깃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·CTA·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톤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필수 섹션을 한 문단으로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. 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시안 품질은 브리프 품질에 비례한다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35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AD6464B7-BA00-6C4E-B74A-5DF507991FA4}"/>
              </a:ext>
            </a:extLst>
          </p:cNvPr>
          <p:cNvSpPr/>
          <p:nvPr/>
        </p:nvSpPr>
        <p:spPr>
          <a:xfrm>
            <a:off x="4724400" y="5562600"/>
            <a:ext cx="2730500" cy="457200"/>
          </a:xfrm>
          <a:prstGeom prst="roundRect">
            <a:avLst/>
          </a:prstGeom>
          <a:solidFill>
            <a:srgbClr val="E4EC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DCB60B-8C66-BD49-80A5-C5CC8D51DA3F}"/>
              </a:ext>
            </a:extLst>
          </p:cNvPr>
          <p:cNvSpPr txBox="1"/>
          <p:nvPr/>
        </p:nvSpPr>
        <p:spPr>
          <a:xfrm>
            <a:off x="47244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1D4E89"/>
                </a:solidFill>
                <a:latin typeface="Pretendard"/>
              </a:rPr>
              <a:t>브리프가 품질을 결정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2DB42C44-DEDB-8943-A07B-B650FBEFA266}"/>
              </a:ext>
            </a:extLst>
          </p:cNvPr>
          <p:cNvSpPr/>
          <p:nvPr/>
        </p:nvSpPr>
        <p:spPr>
          <a:xfrm>
            <a:off x="8013700" y="1905000"/>
            <a:ext cx="33401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2ED774B-E0C2-BA4E-87B1-6BE7852E36D4}"/>
              </a:ext>
            </a:extLst>
          </p:cNvPr>
          <p:cNvSpPr/>
          <p:nvPr/>
        </p:nvSpPr>
        <p:spPr>
          <a:xfrm>
            <a:off x="8013700" y="1905000"/>
            <a:ext cx="3340100" cy="889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835F6CE3-C8CA-7A4A-B13F-29545E0A2B14}"/>
              </a:ext>
            </a:extLst>
          </p:cNvPr>
          <p:cNvSpPr/>
          <p:nvPr/>
        </p:nvSpPr>
        <p:spPr>
          <a:xfrm>
            <a:off x="83185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3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6E1F8A-C3BA-E244-90C7-9FE096EA2585}"/>
              </a:ext>
            </a:extLst>
          </p:cNvPr>
          <p:cNvSpPr txBox="1"/>
          <p:nvPr/>
        </p:nvSpPr>
        <p:spPr>
          <a:xfrm>
            <a:off x="83185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50" b="1">
                <a:solidFill>
                  <a:srgbClr val="14213D"/>
                </a:solidFill>
                <a:latin typeface="Pretendard"/>
              </a:rPr>
              <a:t>반복 </a:t>
            </a:r>
            <a:r>
              <a:rPr lang="en-US" altLang="ko-KR" sz="1650" b="1">
                <a:solidFill>
                  <a:srgbClr val="14213D"/>
                </a:solidFill>
                <a:latin typeface="Pretendard"/>
              </a:rPr>
              <a:t>(Iteration)</a:t>
            </a:r>
            <a:endParaRPr lang="ko-KR" altLang="en-US" sz="1650" b="1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DB13D1C-9C82-7E4C-8852-41021F328FAE}"/>
              </a:ext>
            </a:extLst>
          </p:cNvPr>
          <p:cNvSpPr/>
          <p:nvPr/>
        </p:nvSpPr>
        <p:spPr>
          <a:xfrm>
            <a:off x="83185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1ABC34-6526-744C-ACD2-A29C516FD20E}"/>
              </a:ext>
            </a:extLst>
          </p:cNvPr>
          <p:cNvSpPr txBox="1"/>
          <p:nvPr/>
        </p:nvSpPr>
        <p:spPr>
          <a:xfrm>
            <a:off x="83185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50">
                <a:solidFill>
                  <a:srgbClr val="576176"/>
                </a:solidFill>
                <a:latin typeface="Pretendard"/>
              </a:rPr>
              <a:t>한 번에 완성하지 않는다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. ‘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히어로 더 크게’처럼 부분 수정으로 다듬는다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35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1C00FE91-944E-3C49-95AB-E0C95700282E}"/>
              </a:ext>
            </a:extLst>
          </p:cNvPr>
          <p:cNvSpPr/>
          <p:nvPr/>
        </p:nvSpPr>
        <p:spPr>
          <a:xfrm>
            <a:off x="8318500" y="5562600"/>
            <a:ext cx="2730500" cy="457200"/>
          </a:xfrm>
          <a:prstGeom prst="roundRect">
            <a:avLst/>
          </a:prstGeom>
          <a:solidFill>
            <a:srgbClr val="FBEF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61EFA7-715B-1745-8373-EBE52F9BB279}"/>
              </a:ext>
            </a:extLst>
          </p:cNvPr>
          <p:cNvSpPr txBox="1"/>
          <p:nvPr/>
        </p:nvSpPr>
        <p:spPr>
          <a:xfrm>
            <a:off x="83185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9A6B12"/>
                </a:solidFill>
                <a:latin typeface="Pretendard"/>
              </a:rPr>
              <a:t>부분 수정 반복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개념 깊이 보기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개념을 예시로 — 우리 케이스에 적용하면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08D41C25-A6FC-6047-9936-DF9EEE1E8F7A}"/>
              </a:ext>
            </a:extLst>
          </p:cNvPr>
          <p:cNvSpPr/>
          <p:nvPr/>
        </p:nvSpPr>
        <p:spPr>
          <a:xfrm>
            <a:off x="825500" y="1905000"/>
            <a:ext cx="54610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F92796-C73C-0543-BCA0-576AD75ABD1D}"/>
              </a:ext>
            </a:extLst>
          </p:cNvPr>
          <p:cNvSpPr txBox="1"/>
          <p:nvPr/>
        </p:nvSpPr>
        <p:spPr>
          <a:xfrm>
            <a:off x="1181100" y="2159000"/>
            <a:ext cx="47498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14213D"/>
                </a:solidFill>
              </a:rPr>
              <a:t>디자인 브리프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827B79-8B84-FA43-862A-CA71285D55ED}"/>
              </a:ext>
            </a:extLst>
          </p:cNvPr>
          <p:cNvSpPr txBox="1"/>
          <p:nvPr/>
        </p:nvSpPr>
        <p:spPr>
          <a:xfrm>
            <a:off x="1181100" y="2540000"/>
            <a:ext cx="47498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250">
                <a:solidFill>
                  <a:srgbClr val="576176"/>
                </a:solidFill>
              </a:rPr>
              <a:t>한 문단으로 정리한다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45C766-1460-1848-B460-38E0E0EF90EE}"/>
              </a:ext>
            </a:extLst>
          </p:cNvPr>
          <p:cNvSpPr txBox="1"/>
          <p:nvPr/>
        </p:nvSpPr>
        <p:spPr>
          <a:xfrm>
            <a:off x="1181100" y="2946400"/>
            <a:ext cx="8128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1D4E89"/>
                </a:solidFill>
                <a:latin typeface="JetBrains Mono"/>
              </a:rPr>
              <a:t>목적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6778DF-9CD9-124D-BE60-1D77A4E7295A}"/>
              </a:ext>
            </a:extLst>
          </p:cNvPr>
          <p:cNvSpPr txBox="1"/>
          <p:nvPr/>
        </p:nvSpPr>
        <p:spPr>
          <a:xfrm>
            <a:off x="2095500" y="2946400"/>
            <a:ext cx="38354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350">
                <a:solidFill>
                  <a:srgbClr val="14213D"/>
                </a:solidFill>
              </a:rPr>
              <a:t>사전예약 전환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5316F1-A675-D24C-85A7-66DCD38B90E5}"/>
              </a:ext>
            </a:extLst>
          </p:cNvPr>
          <p:cNvSpPr txBox="1"/>
          <p:nvPr/>
        </p:nvSpPr>
        <p:spPr>
          <a:xfrm>
            <a:off x="1181100" y="3530600"/>
            <a:ext cx="8128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1D4E89"/>
                </a:solidFill>
                <a:latin typeface="JetBrains Mono"/>
              </a:rPr>
              <a:t>타깃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E8243E-9308-9F49-BEBE-A18ED6B1CB99}"/>
              </a:ext>
            </a:extLst>
          </p:cNvPr>
          <p:cNvSpPr txBox="1"/>
          <p:nvPr/>
        </p:nvSpPr>
        <p:spPr>
          <a:xfrm>
            <a:off x="2095500" y="3530600"/>
            <a:ext cx="38354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1350">
                <a:solidFill>
                  <a:srgbClr val="14213D"/>
                </a:solidFill>
                <a:ea typeface="Pretendard"/>
              </a:rPr>
              <a:t>30</a:t>
            </a:r>
            <a:r>
              <a:rPr lang="ko-KR" altLang="en-US" sz="1350">
                <a:solidFill>
                  <a:srgbClr val="14213D"/>
                </a:solidFill>
              </a:rPr>
              <a:t>대 직장인 ‘지현’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A76509-FAB7-3F4A-8DAB-ED22949EDEDE}"/>
              </a:ext>
            </a:extLst>
          </p:cNvPr>
          <p:cNvSpPr txBox="1"/>
          <p:nvPr/>
        </p:nvSpPr>
        <p:spPr>
          <a:xfrm>
            <a:off x="1181100" y="4114800"/>
            <a:ext cx="8128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1D4E89"/>
                </a:solidFill>
                <a:latin typeface="JetBrains Mono"/>
              </a:rPr>
              <a:t>톤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67540F-4319-2943-9231-3D2A56077C13}"/>
              </a:ext>
            </a:extLst>
          </p:cNvPr>
          <p:cNvSpPr txBox="1"/>
          <p:nvPr/>
        </p:nvSpPr>
        <p:spPr>
          <a:xfrm>
            <a:off x="2095500" y="4114800"/>
            <a:ext cx="38354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1350">
                <a:solidFill>
                  <a:srgbClr val="14213D"/>
                </a:solidFill>
                <a:ea typeface="Pretendard"/>
              </a:rPr>
              <a:t>warm · premium</a:t>
            </a:r>
            <a:endParaRPr lang="ko-KR" altLang="en-US" sz="1350">
              <a:solidFill>
                <a:srgbClr val="14213D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236F6B-0295-DD4F-A7D8-D36FD858E886}"/>
              </a:ext>
            </a:extLst>
          </p:cNvPr>
          <p:cNvSpPr txBox="1"/>
          <p:nvPr/>
        </p:nvSpPr>
        <p:spPr>
          <a:xfrm>
            <a:off x="1181100" y="4699000"/>
            <a:ext cx="8128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1D4E89"/>
                </a:solidFill>
                <a:latin typeface="JetBrains Mono"/>
              </a:rPr>
              <a:t>섹션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C05FAA-D1A8-714D-8390-7F416FA5192E}"/>
              </a:ext>
            </a:extLst>
          </p:cNvPr>
          <p:cNvSpPr txBox="1"/>
          <p:nvPr/>
        </p:nvSpPr>
        <p:spPr>
          <a:xfrm>
            <a:off x="2095500" y="4699000"/>
            <a:ext cx="38354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350">
                <a:solidFill>
                  <a:srgbClr val="14213D"/>
                </a:solidFill>
              </a:rPr>
              <a:t>히어로</a:t>
            </a:r>
            <a:r>
              <a:rPr lang="en-US" altLang="ko-KR" sz="1350">
                <a:solidFill>
                  <a:srgbClr val="14213D"/>
                </a:solidFill>
                <a:ea typeface="Pretendard"/>
              </a:rPr>
              <a:t>·</a:t>
            </a:r>
            <a:r>
              <a:rPr lang="ko-KR" altLang="en-US" sz="1350">
                <a:solidFill>
                  <a:srgbClr val="14213D"/>
                </a:solidFill>
              </a:rPr>
              <a:t>특징</a:t>
            </a:r>
            <a:r>
              <a:rPr lang="en-US" altLang="ko-KR" sz="1350">
                <a:solidFill>
                  <a:srgbClr val="14213D"/>
                </a:solidFill>
                <a:ea typeface="Pretendard"/>
              </a:rPr>
              <a:t>·</a:t>
            </a:r>
            <a:r>
              <a:rPr lang="ko-KR" altLang="en-US" sz="1350">
                <a:solidFill>
                  <a:srgbClr val="14213D"/>
                </a:solidFill>
              </a:rPr>
              <a:t>후기</a:t>
            </a:r>
            <a:r>
              <a:rPr lang="en-US" altLang="ko-KR" sz="1350">
                <a:solidFill>
                  <a:srgbClr val="14213D"/>
                </a:solidFill>
                <a:ea typeface="Pretendard"/>
              </a:rPr>
              <a:t>·FAQ·CTA</a:t>
            </a:r>
            <a:endParaRPr lang="ko-KR" altLang="en-US" sz="1350">
              <a:solidFill>
                <a:srgbClr val="14213D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29E9DA-57B1-214C-8B9B-E17C66581A23}"/>
              </a:ext>
            </a:extLst>
          </p:cNvPr>
          <p:cNvSpPr txBox="1"/>
          <p:nvPr/>
        </p:nvSpPr>
        <p:spPr>
          <a:xfrm>
            <a:off x="1181100" y="5283200"/>
            <a:ext cx="8128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1D4E89"/>
                </a:solidFill>
                <a:latin typeface="JetBrains Mono"/>
              </a:rPr>
              <a:t>CTA</a:t>
            </a:r>
            <a:endParaRPr lang="ko-KR" altLang="en-US" sz="1300" b="1">
              <a:solidFill>
                <a:srgbClr val="1D4E89"/>
              </a:solidFill>
              <a:latin typeface="JetBrains Mono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F73DD0-B627-A643-A08C-BC7539FB0164}"/>
              </a:ext>
            </a:extLst>
          </p:cNvPr>
          <p:cNvSpPr txBox="1"/>
          <p:nvPr/>
        </p:nvSpPr>
        <p:spPr>
          <a:xfrm>
            <a:off x="2095500" y="5283200"/>
            <a:ext cx="38354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350">
                <a:solidFill>
                  <a:srgbClr val="14213D"/>
                </a:solidFill>
              </a:rPr>
              <a:t>“사전예약하고 </a:t>
            </a:r>
            <a:r>
              <a:rPr lang="en-US" altLang="ko-KR" sz="1350">
                <a:solidFill>
                  <a:srgbClr val="14213D"/>
                </a:solidFill>
                <a:ea typeface="Pretendard"/>
              </a:rPr>
              <a:t>20% </a:t>
            </a:r>
            <a:r>
              <a:rPr lang="ko-KR" altLang="en-US" sz="1350">
                <a:solidFill>
                  <a:srgbClr val="14213D"/>
                </a:solidFill>
              </a:rPr>
              <a:t>받기”</a:t>
            </a: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28DF073A-3C95-F144-8357-CB63CECD7F7C}"/>
              </a:ext>
            </a:extLst>
          </p:cNvPr>
          <p:cNvSpPr/>
          <p:nvPr/>
        </p:nvSpPr>
        <p:spPr>
          <a:xfrm>
            <a:off x="6540500" y="1905000"/>
            <a:ext cx="4826000" cy="43815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2D38FB-4D58-BC4B-907D-92F643DCBE80}"/>
              </a:ext>
            </a:extLst>
          </p:cNvPr>
          <p:cNvSpPr txBox="1"/>
          <p:nvPr/>
        </p:nvSpPr>
        <p:spPr>
          <a:xfrm>
            <a:off x="6845300" y="2159000"/>
            <a:ext cx="42164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FFFFFF"/>
                </a:solidFill>
              </a:rPr>
              <a:t>반복 </a:t>
            </a:r>
            <a:r>
              <a:rPr lang="en-US" altLang="ko-KR" b="1">
                <a:solidFill>
                  <a:srgbClr val="FFFFFF"/>
                </a:solidFill>
                <a:ea typeface="Pretendard"/>
              </a:rPr>
              <a:t>(Iteration)</a:t>
            </a:r>
            <a:endParaRPr lang="ko-KR" altLang="en-US" b="1">
              <a:solidFill>
                <a:srgbClr val="FFFFFF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7F9268-A7FE-0345-BBB2-479BE164CDDD}"/>
              </a:ext>
            </a:extLst>
          </p:cNvPr>
          <p:cNvSpPr txBox="1"/>
          <p:nvPr/>
        </p:nvSpPr>
        <p:spPr>
          <a:xfrm>
            <a:off x="6845300" y="2540000"/>
            <a:ext cx="42164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250">
                <a:solidFill>
                  <a:srgbClr val="E8A33D"/>
                </a:solidFill>
              </a:rPr>
              <a:t>부분 수정으로 다듬기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8A756121-C57C-D74F-BD74-1EE79CFBF6F7}"/>
              </a:ext>
            </a:extLst>
          </p:cNvPr>
          <p:cNvSpPr/>
          <p:nvPr/>
        </p:nvSpPr>
        <p:spPr>
          <a:xfrm>
            <a:off x="6845300" y="3022600"/>
            <a:ext cx="4216400" cy="584200"/>
          </a:xfrm>
          <a:prstGeom prst="roundRect">
            <a:avLst/>
          </a:prstGeom>
          <a:solidFill>
            <a:srgbClr val="20314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DA454A-81B6-A848-8F21-18FB92BB428F}"/>
              </a:ext>
            </a:extLst>
          </p:cNvPr>
          <p:cNvSpPr txBox="1"/>
          <p:nvPr/>
        </p:nvSpPr>
        <p:spPr>
          <a:xfrm>
            <a:off x="6997700" y="3022600"/>
            <a:ext cx="4318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E8A33D"/>
                </a:solidFill>
                <a:latin typeface="JetBrains Mono"/>
              </a:rPr>
              <a:t>v1</a:t>
            </a:r>
            <a:endParaRPr lang="ko-KR" altLang="en-US" sz="12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C7232D-9362-4F4F-9109-0C870825C960}"/>
              </a:ext>
            </a:extLst>
          </p:cNvPr>
          <p:cNvSpPr txBox="1"/>
          <p:nvPr/>
        </p:nvSpPr>
        <p:spPr>
          <a:xfrm>
            <a:off x="7493000" y="3022600"/>
            <a:ext cx="3454400" cy="584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1400">
                <a:solidFill>
                  <a:srgbClr val="FFFFFF"/>
                </a:solidFill>
                <a:ea typeface="Pretendard"/>
              </a:rPr>
              <a:t>›  </a:t>
            </a:r>
            <a:r>
              <a:rPr lang="ko-KR" altLang="en-US" sz="1400">
                <a:solidFill>
                  <a:srgbClr val="FFFFFF"/>
                </a:solidFill>
              </a:rPr>
              <a:t>히어로를 더 크게</a:t>
            </a: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67158229-13F8-8E4C-9E25-702B7F2AEEC7}"/>
              </a:ext>
            </a:extLst>
          </p:cNvPr>
          <p:cNvSpPr/>
          <p:nvPr/>
        </p:nvSpPr>
        <p:spPr>
          <a:xfrm>
            <a:off x="6845300" y="3733800"/>
            <a:ext cx="4216400" cy="584200"/>
          </a:xfrm>
          <a:prstGeom prst="roundRect">
            <a:avLst/>
          </a:prstGeom>
          <a:solidFill>
            <a:srgbClr val="20314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67FF18-2F69-3646-B076-48B1D7648322}"/>
              </a:ext>
            </a:extLst>
          </p:cNvPr>
          <p:cNvSpPr txBox="1"/>
          <p:nvPr/>
        </p:nvSpPr>
        <p:spPr>
          <a:xfrm>
            <a:off x="6997700" y="3733800"/>
            <a:ext cx="4318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E8A33D"/>
                </a:solidFill>
                <a:latin typeface="JetBrains Mono"/>
              </a:rPr>
              <a:t>v2</a:t>
            </a:r>
            <a:endParaRPr lang="ko-KR" altLang="en-US" sz="12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97C645-479C-974C-ADC1-184C21E46964}"/>
              </a:ext>
            </a:extLst>
          </p:cNvPr>
          <p:cNvSpPr txBox="1"/>
          <p:nvPr/>
        </p:nvSpPr>
        <p:spPr>
          <a:xfrm>
            <a:off x="7493000" y="3733800"/>
            <a:ext cx="3454400" cy="584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1400">
                <a:solidFill>
                  <a:srgbClr val="FFFFFF"/>
                </a:solidFill>
                <a:ea typeface="Pretendard"/>
              </a:rPr>
              <a:t>›  </a:t>
            </a:r>
            <a:r>
              <a:rPr lang="ko-KR" altLang="en-US" sz="1400">
                <a:solidFill>
                  <a:srgbClr val="FFFFFF"/>
                </a:solidFill>
              </a:rPr>
              <a:t>후기 섹션 추가</a:t>
            </a: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77555D55-0EF8-6349-82AB-84C2E17ECCE4}"/>
              </a:ext>
            </a:extLst>
          </p:cNvPr>
          <p:cNvSpPr/>
          <p:nvPr/>
        </p:nvSpPr>
        <p:spPr>
          <a:xfrm>
            <a:off x="6845300" y="4445000"/>
            <a:ext cx="4216400" cy="584200"/>
          </a:xfrm>
          <a:prstGeom prst="roundRect">
            <a:avLst/>
          </a:prstGeom>
          <a:solidFill>
            <a:srgbClr val="20314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2B44ED-55E1-D74A-9C03-B569847C809A}"/>
              </a:ext>
            </a:extLst>
          </p:cNvPr>
          <p:cNvSpPr txBox="1"/>
          <p:nvPr/>
        </p:nvSpPr>
        <p:spPr>
          <a:xfrm>
            <a:off x="6997700" y="4445000"/>
            <a:ext cx="4318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E8A33D"/>
                </a:solidFill>
                <a:latin typeface="JetBrains Mono"/>
              </a:rPr>
              <a:t>v3</a:t>
            </a:r>
            <a:endParaRPr lang="ko-KR" altLang="en-US" sz="12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D32486-3F13-2043-90FC-96FE426E4DF1}"/>
              </a:ext>
            </a:extLst>
          </p:cNvPr>
          <p:cNvSpPr txBox="1"/>
          <p:nvPr/>
        </p:nvSpPr>
        <p:spPr>
          <a:xfrm>
            <a:off x="7493000" y="4445000"/>
            <a:ext cx="3454400" cy="584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1400">
                <a:solidFill>
                  <a:srgbClr val="FFFFFF"/>
                </a:solidFill>
                <a:ea typeface="Pretendard"/>
              </a:rPr>
              <a:t>›  CTA </a:t>
            </a:r>
            <a:r>
              <a:rPr lang="ko-KR" altLang="en-US" sz="1400">
                <a:solidFill>
                  <a:srgbClr val="FFFFFF"/>
                </a:solidFill>
              </a:rPr>
              <a:t>색을 더 강조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9D24B4-8E74-6E4C-90E2-4739D1B06103}"/>
              </a:ext>
            </a:extLst>
          </p:cNvPr>
          <p:cNvSpPr txBox="1"/>
          <p:nvPr/>
        </p:nvSpPr>
        <p:spPr>
          <a:xfrm>
            <a:off x="6845300" y="5257800"/>
            <a:ext cx="42164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50">
                <a:solidFill>
                  <a:srgbClr val="E8A33D"/>
                </a:solidFill>
                <a:latin typeface="JetBrains Mono"/>
              </a:rPr>
              <a:t>→ </a:t>
            </a:r>
            <a:r>
              <a:rPr lang="en-US" altLang="ko-KR" sz="1350">
                <a:solidFill>
                  <a:srgbClr val="E8A33D"/>
                </a:solidFill>
                <a:latin typeface="JetBrains Mono"/>
              </a:rPr>
              <a:t>2~3</a:t>
            </a:r>
            <a:r>
              <a:rPr lang="ko-KR" altLang="en-US" sz="1350">
                <a:solidFill>
                  <a:srgbClr val="E8A33D"/>
                </a:solidFill>
                <a:latin typeface="JetBrains Mono"/>
              </a:rPr>
              <a:t>회 반복하면 시안이 완성에 가까워진다</a:t>
            </a:r>
            <a:r>
              <a:rPr lang="en-US" altLang="ko-KR" sz="1350">
                <a:solidFill>
                  <a:srgbClr val="E8A33D"/>
                </a:solidFill>
                <a:latin typeface="JetBrains Mono"/>
              </a:rPr>
              <a:t>.</a:t>
            </a:r>
            <a:endParaRPr lang="ko-KR" altLang="en-US" sz="1350">
              <a:solidFill>
                <a:srgbClr val="E8A33D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절차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실습 절차 — 직접 해봅니다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5832E379-9C66-594D-8520-8BF5EB2DB1A0}"/>
              </a:ext>
            </a:extLst>
          </p:cNvPr>
          <p:cNvSpPr/>
          <p:nvPr/>
        </p:nvSpPr>
        <p:spPr>
          <a:xfrm>
            <a:off x="825500" y="1930400"/>
            <a:ext cx="10541000" cy="9398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E3C7D11-9B2F-8642-B2D3-2A4A45293AEF}"/>
              </a:ext>
            </a:extLst>
          </p:cNvPr>
          <p:cNvSpPr/>
          <p:nvPr/>
        </p:nvSpPr>
        <p:spPr>
          <a:xfrm>
            <a:off x="825500" y="19304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5B337393-6E52-CF43-A835-B8D911697D9C}"/>
              </a:ext>
            </a:extLst>
          </p:cNvPr>
          <p:cNvSpPr/>
          <p:nvPr/>
        </p:nvSpPr>
        <p:spPr>
          <a:xfrm>
            <a:off x="1143000" y="21590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1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720E5E-1B12-F54A-B4A3-F300D4CF25D3}"/>
              </a:ext>
            </a:extLst>
          </p:cNvPr>
          <p:cNvSpPr txBox="1"/>
          <p:nvPr/>
        </p:nvSpPr>
        <p:spPr>
          <a:xfrm>
            <a:off x="1905000" y="20955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페이지 목적</a:t>
            </a:r>
            <a:r>
              <a:rPr lang="en-US" altLang="ko-KR" sz="1600" b="1">
                <a:solidFill>
                  <a:srgbClr val="14213D"/>
                </a:solidFill>
                <a:latin typeface="Pretendard"/>
              </a:rPr>
              <a:t>·CTA</a:t>
            </a:r>
            <a:endParaRPr lang="ko-KR" altLang="en-US" sz="1600" b="1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66B8F8-D98D-C745-88FC-AFB6ECC69F75}"/>
              </a:ext>
            </a:extLst>
          </p:cNvPr>
          <p:cNvSpPr txBox="1"/>
          <p:nvPr/>
        </p:nvSpPr>
        <p:spPr>
          <a:xfrm>
            <a:off x="4546600" y="20574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페이지의 목적과 핵심 행동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(CTA)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을 한 문장으로 정한다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4F5CDD82-4710-5246-BF89-C7AC8934B48B}"/>
              </a:ext>
            </a:extLst>
          </p:cNvPr>
          <p:cNvSpPr/>
          <p:nvPr/>
        </p:nvSpPr>
        <p:spPr>
          <a:xfrm>
            <a:off x="825500" y="2971800"/>
            <a:ext cx="10541000" cy="9398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9108E91-9B65-FB46-AC49-206005C97D05}"/>
              </a:ext>
            </a:extLst>
          </p:cNvPr>
          <p:cNvSpPr/>
          <p:nvPr/>
        </p:nvSpPr>
        <p:spPr>
          <a:xfrm>
            <a:off x="825500" y="29718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0A708CEC-8B63-334C-ABB4-AFEA069AD2FB}"/>
              </a:ext>
            </a:extLst>
          </p:cNvPr>
          <p:cNvSpPr/>
          <p:nvPr/>
        </p:nvSpPr>
        <p:spPr>
          <a:xfrm>
            <a:off x="1143000" y="32004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2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2CF9B2-05E7-F14D-8708-E235E60285D5}"/>
              </a:ext>
            </a:extLst>
          </p:cNvPr>
          <p:cNvSpPr txBox="1"/>
          <p:nvPr/>
        </p:nvSpPr>
        <p:spPr>
          <a:xfrm>
            <a:off x="1905000" y="31369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필수 섹션 목록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CD1857-4E9E-9C47-9086-3500D32947C8}"/>
              </a:ext>
            </a:extLst>
          </p:cNvPr>
          <p:cNvSpPr txBox="1"/>
          <p:nvPr/>
        </p:nvSpPr>
        <p:spPr>
          <a:xfrm>
            <a:off x="4546600" y="30988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히어로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특징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후기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·CTA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등 필요한 섹션을 적는다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049DFA38-D019-3C44-BF39-0D8E2461AE28}"/>
              </a:ext>
            </a:extLst>
          </p:cNvPr>
          <p:cNvSpPr/>
          <p:nvPr/>
        </p:nvSpPr>
        <p:spPr>
          <a:xfrm>
            <a:off x="825500" y="4013200"/>
            <a:ext cx="10541000" cy="9398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1C7B673-B09E-C44E-B72F-DCE071E09044}"/>
              </a:ext>
            </a:extLst>
          </p:cNvPr>
          <p:cNvSpPr/>
          <p:nvPr/>
        </p:nvSpPr>
        <p:spPr>
          <a:xfrm>
            <a:off x="825500" y="40132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5DE90CF9-F3DD-F949-BA40-FA1BA3899AA9}"/>
              </a:ext>
            </a:extLst>
          </p:cNvPr>
          <p:cNvSpPr/>
          <p:nvPr/>
        </p:nvSpPr>
        <p:spPr>
          <a:xfrm>
            <a:off x="1143000" y="42418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3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B48BAF-2ACF-804C-8056-4B8E23668941}"/>
              </a:ext>
            </a:extLst>
          </p:cNvPr>
          <p:cNvSpPr txBox="1"/>
          <p:nvPr/>
        </p:nvSpPr>
        <p:spPr>
          <a:xfrm>
            <a:off x="1905000" y="41783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14213D"/>
                </a:solidFill>
                <a:latin typeface="Pretendard"/>
              </a:rPr>
              <a:t>Stitch </a:t>
            </a:r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첫 시안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32DB19-61EE-5A47-9459-12591F0E4CF3}"/>
              </a:ext>
            </a:extLst>
          </p:cNvPr>
          <p:cNvSpPr txBox="1"/>
          <p:nvPr/>
        </p:nvSpPr>
        <p:spPr>
          <a:xfrm>
            <a:off x="4546600" y="41402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디자인 브리프를 입력해 첫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UI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시안을 생성한다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245AC2A5-8AC4-6041-9D0E-9BB18BD808D2}"/>
              </a:ext>
            </a:extLst>
          </p:cNvPr>
          <p:cNvSpPr/>
          <p:nvPr/>
        </p:nvSpPr>
        <p:spPr>
          <a:xfrm>
            <a:off x="825500" y="5054600"/>
            <a:ext cx="10541000" cy="9398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7C9B889-0EC0-F147-AE49-C2BAE88598C1}"/>
              </a:ext>
            </a:extLst>
          </p:cNvPr>
          <p:cNvSpPr/>
          <p:nvPr/>
        </p:nvSpPr>
        <p:spPr>
          <a:xfrm>
            <a:off x="825500" y="50546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4596DFD0-942E-7B4D-BF94-AE610193116F}"/>
              </a:ext>
            </a:extLst>
          </p:cNvPr>
          <p:cNvSpPr/>
          <p:nvPr/>
        </p:nvSpPr>
        <p:spPr>
          <a:xfrm>
            <a:off x="1143000" y="52832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4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2C1958-A9F5-0546-A30E-FD305A99F2AF}"/>
              </a:ext>
            </a:extLst>
          </p:cNvPr>
          <p:cNvSpPr txBox="1"/>
          <p:nvPr/>
        </p:nvSpPr>
        <p:spPr>
          <a:xfrm>
            <a:off x="1905000" y="52197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반복 수정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714988-A8A2-5B43-9C91-FA1941F3A402}"/>
              </a:ext>
            </a:extLst>
          </p:cNvPr>
          <p:cNvSpPr txBox="1"/>
          <p:nvPr/>
        </p:nvSpPr>
        <p:spPr>
          <a:xfrm>
            <a:off x="4546600" y="51816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부분 수정 지시로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2~3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회 다듬어 완성도를 올린다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프롬프트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Stitch 디자인 브리프 예시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983507FA-3159-8947-B960-4EA234491CE0}"/>
              </a:ext>
            </a:extLst>
          </p:cNvPr>
          <p:cNvSpPr/>
          <p:nvPr/>
        </p:nvSpPr>
        <p:spPr>
          <a:xfrm>
            <a:off x="825500" y="1905000"/>
            <a:ext cx="5461000" cy="43815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D3C4C53-EFAB-0C40-84F4-3A5EFCD39F35}"/>
              </a:ext>
            </a:extLst>
          </p:cNvPr>
          <p:cNvSpPr/>
          <p:nvPr/>
        </p:nvSpPr>
        <p:spPr>
          <a:xfrm>
            <a:off x="1155700" y="2209800"/>
            <a:ext cx="139700" cy="139700"/>
          </a:xfrm>
          <a:prstGeom prst="ellipse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DDEFBED-B4D4-7E45-9621-B4F5264A73C9}"/>
              </a:ext>
            </a:extLst>
          </p:cNvPr>
          <p:cNvSpPr/>
          <p:nvPr/>
        </p:nvSpPr>
        <p:spPr>
          <a:xfrm>
            <a:off x="1358900" y="2209800"/>
            <a:ext cx="139700" cy="139700"/>
          </a:xfrm>
          <a:prstGeom prst="ellipse">
            <a:avLst/>
          </a:prstGeom>
          <a:solidFill>
            <a:srgbClr val="4A587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74F5E5C5-D6CB-974F-B9F2-FFD745080750}"/>
              </a:ext>
            </a:extLst>
          </p:cNvPr>
          <p:cNvSpPr/>
          <p:nvPr/>
        </p:nvSpPr>
        <p:spPr>
          <a:xfrm>
            <a:off x="1562100" y="2209800"/>
            <a:ext cx="139700" cy="139700"/>
          </a:xfrm>
          <a:prstGeom prst="ellipse">
            <a:avLst/>
          </a:prstGeom>
          <a:solidFill>
            <a:srgbClr val="4A587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4F9B66-C74B-3149-8902-2886FF2929AB}"/>
              </a:ext>
            </a:extLst>
          </p:cNvPr>
          <p:cNvSpPr txBox="1"/>
          <p:nvPr/>
        </p:nvSpPr>
        <p:spPr>
          <a:xfrm>
            <a:off x="4826000" y="2159000"/>
            <a:ext cx="1270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150" b="1">
                <a:solidFill>
                  <a:srgbClr val="E8A33D"/>
                </a:solidFill>
                <a:latin typeface="JetBrains Mono"/>
              </a:rPr>
              <a:t>BRIEF · </a:t>
            </a:r>
            <a:r>
              <a:rPr lang="ko-KR" altLang="en-US" sz="1150" b="1">
                <a:solidFill>
                  <a:srgbClr val="E8A33D"/>
                </a:solidFill>
                <a:latin typeface="JetBrains Mono"/>
              </a:rPr>
              <a:t>입력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587936-90A5-E44C-BF74-88EFFAAD630D}"/>
              </a:ext>
            </a:extLst>
          </p:cNvPr>
          <p:cNvSpPr txBox="1"/>
          <p:nvPr/>
        </p:nvSpPr>
        <p:spPr>
          <a:xfrm>
            <a:off x="1155700" y="2667000"/>
            <a:ext cx="4927600" cy="3429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250">
                <a:solidFill>
                  <a:srgbClr val="E8EEFA"/>
                </a:solidFill>
                <a:latin typeface="JetBrains Mono"/>
              </a:rPr>
              <a:t>Create a landing page for a craft
non-alcoholic beer brand.
Goal: get visitors to pre-order.
Tone: warm, premium, minimal
(amber + navy).
Sections: hero + headline + CTA,
3 feature cards, quotes, FAQ, final CTA.
Mobile-first layout.</a:t>
            </a:r>
            <a:endParaRPr lang="ko-KR" altLang="en-US" sz="1250">
              <a:solidFill>
                <a:srgbClr val="E8EEFA"/>
              </a:solidFill>
              <a:latin typeface="JetBrains Mono"/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E823AD81-D8C8-0342-BE0A-E7AD4992999A}"/>
              </a:ext>
            </a:extLst>
          </p:cNvPr>
          <p:cNvSpPr/>
          <p:nvPr/>
        </p:nvSpPr>
        <p:spPr>
          <a:xfrm>
            <a:off x="6540500" y="1905000"/>
            <a:ext cx="48260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0C55AF-5A8B-4A41-B5C9-30386B8B2A42}"/>
              </a:ext>
            </a:extLst>
          </p:cNvPr>
          <p:cNvSpPr txBox="1"/>
          <p:nvPr/>
        </p:nvSpPr>
        <p:spPr>
          <a:xfrm>
            <a:off x="6845300" y="21336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150" b="1">
                <a:solidFill>
                  <a:srgbClr val="9A6B12"/>
                </a:solidFill>
                <a:latin typeface="JetBrains Mono"/>
              </a:rPr>
              <a:t>WIREFRAME · </a:t>
            </a:r>
            <a:r>
              <a:rPr lang="ko-KR" altLang="en-US" sz="1150" b="1">
                <a:solidFill>
                  <a:srgbClr val="9A6B12"/>
                </a:solidFill>
                <a:latin typeface="JetBrains Mono"/>
              </a:rPr>
              <a:t>출력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FEB1DDD0-3833-E847-867D-85CBF40DA09E}"/>
              </a:ext>
            </a:extLst>
          </p:cNvPr>
          <p:cNvSpPr/>
          <p:nvPr/>
        </p:nvSpPr>
        <p:spPr>
          <a:xfrm>
            <a:off x="7683500" y="2489200"/>
            <a:ext cx="2540000" cy="3683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BD6E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64ECBBB3-79B0-174A-ACDC-232DFA2AFE78}"/>
              </a:ext>
            </a:extLst>
          </p:cNvPr>
          <p:cNvSpPr/>
          <p:nvPr/>
        </p:nvSpPr>
        <p:spPr>
          <a:xfrm>
            <a:off x="7810500" y="2590800"/>
            <a:ext cx="2286000" cy="1270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69F575E2-3705-7343-900E-5F0E1D0F4C68}"/>
              </a:ext>
            </a:extLst>
          </p:cNvPr>
          <p:cNvSpPr/>
          <p:nvPr/>
        </p:nvSpPr>
        <p:spPr>
          <a:xfrm>
            <a:off x="7810500" y="2819400"/>
            <a:ext cx="2286000" cy="533400"/>
          </a:xfrm>
          <a:prstGeom prst="roundRect">
            <a:avLst/>
          </a:prstGeom>
          <a:solidFill>
            <a:srgbClr val="E3E8F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480720-ECCA-E048-8486-B58927CCFC4C}"/>
              </a:ext>
            </a:extLst>
          </p:cNvPr>
          <p:cNvSpPr txBox="1"/>
          <p:nvPr/>
        </p:nvSpPr>
        <p:spPr>
          <a:xfrm>
            <a:off x="7810500" y="2819400"/>
            <a:ext cx="22860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100">
                <a:solidFill>
                  <a:srgbClr val="576176"/>
                </a:solidFill>
                <a:ea typeface="Pretendard"/>
              </a:rPr>
              <a:t>HERO · </a:t>
            </a:r>
            <a:r>
              <a:rPr lang="ko-KR" altLang="en-US" sz="1100">
                <a:solidFill>
                  <a:srgbClr val="576176"/>
                </a:solidFill>
              </a:rPr>
              <a:t>헤드라인</a:t>
            </a: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9CEF31B0-B4DF-F441-800C-E07EB85EDCBB}"/>
              </a:ext>
            </a:extLst>
          </p:cNvPr>
          <p:cNvSpPr/>
          <p:nvPr/>
        </p:nvSpPr>
        <p:spPr>
          <a:xfrm>
            <a:off x="7810500" y="3429000"/>
            <a:ext cx="2286000" cy="304800"/>
          </a:xfrm>
          <a:prstGeom prst="round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50" b="1">
                <a:solidFill>
                  <a:srgbClr val="14213D"/>
                </a:solidFill>
                <a:ea typeface="Pretendard"/>
              </a:rPr>
              <a:t>Pre-order  →</a:t>
            </a:r>
            <a:endParaRPr lang="ko-KR" altLang="en-US" sz="1150" b="1">
              <a:solidFill>
                <a:srgbClr val="14213D"/>
              </a:solidFill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B7CB8D33-265B-0246-B0C3-7F3A0D6CB64B}"/>
              </a:ext>
            </a:extLst>
          </p:cNvPr>
          <p:cNvSpPr/>
          <p:nvPr/>
        </p:nvSpPr>
        <p:spPr>
          <a:xfrm>
            <a:off x="7810500" y="3835400"/>
            <a:ext cx="711200" cy="381000"/>
          </a:xfrm>
          <a:prstGeom prst="roundRect">
            <a:avLst/>
          </a:prstGeom>
          <a:solidFill>
            <a:srgbClr val="E3E8F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2D23EB-27CD-874B-83DF-2FB90A64B1CC}"/>
              </a:ext>
            </a:extLst>
          </p:cNvPr>
          <p:cNvSpPr txBox="1"/>
          <p:nvPr/>
        </p:nvSpPr>
        <p:spPr>
          <a:xfrm>
            <a:off x="7810500" y="3835400"/>
            <a:ext cx="7112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950">
                <a:solidFill>
                  <a:srgbClr val="576176"/>
                </a:solidFill>
              </a:rPr>
              <a:t>특징</a:t>
            </a:r>
            <a:r>
              <a:rPr lang="en-US" altLang="ko-KR" sz="950">
                <a:solidFill>
                  <a:srgbClr val="576176"/>
                </a:solidFill>
                <a:ea typeface="Pretendard"/>
              </a:rPr>
              <a:t>1</a:t>
            </a:r>
            <a:endParaRPr lang="ko-KR" altLang="en-US" sz="950">
              <a:solidFill>
                <a:srgbClr val="576176"/>
              </a:solidFill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2FC79C25-F3DC-9543-BAF5-D8B42EAF0D9D}"/>
              </a:ext>
            </a:extLst>
          </p:cNvPr>
          <p:cNvSpPr/>
          <p:nvPr/>
        </p:nvSpPr>
        <p:spPr>
          <a:xfrm>
            <a:off x="8597900" y="3835400"/>
            <a:ext cx="711200" cy="381000"/>
          </a:xfrm>
          <a:prstGeom prst="roundRect">
            <a:avLst/>
          </a:prstGeom>
          <a:solidFill>
            <a:srgbClr val="E3E8F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81A454-5AEB-2C4F-8B48-894BCAD0B99B}"/>
              </a:ext>
            </a:extLst>
          </p:cNvPr>
          <p:cNvSpPr txBox="1"/>
          <p:nvPr/>
        </p:nvSpPr>
        <p:spPr>
          <a:xfrm>
            <a:off x="8597900" y="3835400"/>
            <a:ext cx="7112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950">
                <a:solidFill>
                  <a:srgbClr val="576176"/>
                </a:solidFill>
              </a:rPr>
              <a:t>특징</a:t>
            </a:r>
            <a:r>
              <a:rPr lang="en-US" altLang="ko-KR" sz="950">
                <a:solidFill>
                  <a:srgbClr val="576176"/>
                </a:solidFill>
                <a:ea typeface="Pretendard"/>
              </a:rPr>
              <a:t>2</a:t>
            </a:r>
            <a:endParaRPr lang="ko-KR" altLang="en-US" sz="950">
              <a:solidFill>
                <a:srgbClr val="576176"/>
              </a:solidFill>
            </a:endParaRP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2FC6C3CD-536E-1B41-B239-C7C8F9324D0F}"/>
              </a:ext>
            </a:extLst>
          </p:cNvPr>
          <p:cNvSpPr/>
          <p:nvPr/>
        </p:nvSpPr>
        <p:spPr>
          <a:xfrm>
            <a:off x="9385300" y="3835400"/>
            <a:ext cx="711200" cy="381000"/>
          </a:xfrm>
          <a:prstGeom prst="roundRect">
            <a:avLst/>
          </a:prstGeom>
          <a:solidFill>
            <a:srgbClr val="E3E8F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5AD257A-5338-AF42-8FE3-656274DF1655}"/>
              </a:ext>
            </a:extLst>
          </p:cNvPr>
          <p:cNvSpPr txBox="1"/>
          <p:nvPr/>
        </p:nvSpPr>
        <p:spPr>
          <a:xfrm>
            <a:off x="9385300" y="3835400"/>
            <a:ext cx="7112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950">
                <a:solidFill>
                  <a:srgbClr val="576176"/>
                </a:solidFill>
              </a:rPr>
              <a:t>특징</a:t>
            </a:r>
            <a:r>
              <a:rPr lang="en-US" altLang="ko-KR" sz="950">
                <a:solidFill>
                  <a:srgbClr val="576176"/>
                </a:solidFill>
                <a:ea typeface="Pretendard"/>
              </a:rPr>
              <a:t>3</a:t>
            </a:r>
            <a:endParaRPr lang="ko-KR" altLang="en-US" sz="950">
              <a:solidFill>
                <a:srgbClr val="576176"/>
              </a:solidFill>
            </a:endParaRP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36E9CA31-D188-E240-88C6-B8E3BCC63455}"/>
              </a:ext>
            </a:extLst>
          </p:cNvPr>
          <p:cNvSpPr/>
          <p:nvPr/>
        </p:nvSpPr>
        <p:spPr>
          <a:xfrm>
            <a:off x="7810500" y="4318000"/>
            <a:ext cx="2286000" cy="279400"/>
          </a:xfrm>
          <a:prstGeom prst="roundRect">
            <a:avLst/>
          </a:prstGeom>
          <a:solidFill>
            <a:srgbClr val="E3E8F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E0E196-C69D-2542-8A54-602C027D61C2}"/>
              </a:ext>
            </a:extLst>
          </p:cNvPr>
          <p:cNvSpPr txBox="1"/>
          <p:nvPr/>
        </p:nvSpPr>
        <p:spPr>
          <a:xfrm>
            <a:off x="7810500" y="4318000"/>
            <a:ext cx="2286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000">
                <a:solidFill>
                  <a:srgbClr val="576176"/>
                </a:solidFill>
              </a:rPr>
              <a:t>★★★★★  후기</a:t>
            </a: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0E353696-D6A9-AF4D-8AD5-BE46DBC072D4}"/>
              </a:ext>
            </a:extLst>
          </p:cNvPr>
          <p:cNvSpPr/>
          <p:nvPr/>
        </p:nvSpPr>
        <p:spPr>
          <a:xfrm>
            <a:off x="7810500" y="4673600"/>
            <a:ext cx="2286000" cy="254000"/>
          </a:xfrm>
          <a:prstGeom prst="roundRect">
            <a:avLst/>
          </a:prstGeom>
          <a:solidFill>
            <a:srgbClr val="E3E8F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2874A5E-BC13-B047-87BC-8135C0B8C6A4}"/>
              </a:ext>
            </a:extLst>
          </p:cNvPr>
          <p:cNvSpPr txBox="1"/>
          <p:nvPr/>
        </p:nvSpPr>
        <p:spPr>
          <a:xfrm>
            <a:off x="7810500" y="4673600"/>
            <a:ext cx="2286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000">
                <a:solidFill>
                  <a:srgbClr val="576176"/>
                </a:solidFill>
                <a:ea typeface="Pretendard"/>
              </a:rPr>
              <a:t>FAQ</a:t>
            </a:r>
            <a:endParaRPr lang="ko-KR" altLang="en-US" sz="1000">
              <a:solidFill>
                <a:srgbClr val="576176"/>
              </a:solidFill>
            </a:endParaRP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DB427E13-95D3-D04B-95ED-C316AB7EEB9A}"/>
              </a:ext>
            </a:extLst>
          </p:cNvPr>
          <p:cNvSpPr/>
          <p:nvPr/>
        </p:nvSpPr>
        <p:spPr>
          <a:xfrm>
            <a:off x="7810500" y="5003800"/>
            <a:ext cx="2286000" cy="304800"/>
          </a:xfrm>
          <a:prstGeom prst="round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50" b="1">
                <a:solidFill>
                  <a:srgbClr val="14213D"/>
                </a:solidFill>
                <a:ea typeface="Pretendard"/>
              </a:rPr>
              <a:t>Pre-order</a:t>
            </a:r>
            <a:endParaRPr lang="ko-KR" altLang="en-US" sz="1150" b="1">
              <a:solidFill>
                <a:srgbClr val="14213D"/>
              </a:solidFill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246BC681-E41E-F147-BD40-CD48C2D520F6}"/>
              </a:ext>
            </a:extLst>
          </p:cNvPr>
          <p:cNvSpPr/>
          <p:nvPr/>
        </p:nvSpPr>
        <p:spPr>
          <a:xfrm>
            <a:off x="6184900" y="3860800"/>
            <a:ext cx="457200" cy="457200"/>
          </a:xfrm>
          <a:prstGeom prst="ellipse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b="1">
                <a:solidFill>
                  <a:srgbClr val="14213D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실제 입력 → 출력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실제 예시 — Stitch 브리프 → 생성 화면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83080"/>
            <a:ext cx="10332720" cy="1874519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502920" rIns="320040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Create a landing page for "Night Off", a craft non-alcoholic beer.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Goal: pre-order. Tone: warm, premium, minimal (amber + navy).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Sections: hero(headline+CTA), 3 features, customer quotes, FAQ, final CTA.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Mobile-first.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83080"/>
            <a:ext cx="2011680" cy="329184"/>
          </a:xfrm>
          <a:prstGeom prst="rect">
            <a:avLst/>
          </a:prstGeom>
          <a:solidFill>
            <a:srgbClr val="24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0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▸ 입력 프롬프트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794760"/>
            <a:ext cx="10332720" cy="2514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9EC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502920" rIns="32004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35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결과(기대): 위→아래로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35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① 히어로(한 줄 헤드라인 + "사전예약" 버튼)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35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② 특징 3카드(발효공법·저칼로리·0.0%)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35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③ 고객 후기 ④ FAQ ⑤ 하단 CTA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350">
                <a:solidFill>
                  <a:srgbClr val="1D4E89"/>
                </a:solidFill>
                <a:latin typeface="Pretendard"/>
                <a:ea typeface="Pretendard"/>
                <a:cs typeface="Pretendard"/>
              </a:rPr>
              <a:t>→ "특징을 2개로 줄여줘"처럼 부분 수정으로 다듬는다.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794760"/>
            <a:ext cx="1828800" cy="329184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▸ 나온 결과(예)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정리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자연어 기반 UI 시안 생성 (Google Stitch)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10332720" cy="1636776"/>
          </a:xfrm>
          <a:prstGeom prst="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28600" rIns="365760" bIns="18288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57A1A"/>
                </a:solidFill>
                <a:latin typeface="JetBrains Mono"/>
                <a:ea typeface="JetBrains Mono"/>
                <a:cs typeface="JetBrains Mono"/>
              </a:rPr>
              <a:t>⚠  흔한 실수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목적/CTA 없이 "예쁘게"만 요청하면 방향 없는 시안이 나온다.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한 번에 완벽 기대 금지 → 부분 수정 반복이 정석.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739896"/>
            <a:ext cx="10332720" cy="100584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01168" rIns="365760" bIns="182880" rtlCol="0" anchor="t"/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📦  결과물 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홍보용 페이지 UI 시안 1개(히어로·특징·CTA 포함).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F7BF028-1070-BE4C-9463-D14B912811F1}"/>
              </a:ext>
            </a:extLst>
          </p:cNvPr>
          <p:cNvSpPr/>
          <p:nvPr/>
        </p:nvSpPr>
        <p:spPr>
          <a:xfrm>
            <a:off x="914400" y="2362200"/>
            <a:ext cx="431800" cy="762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985053-EC50-FF48-B207-C5B280EBB3E8}"/>
              </a:ext>
            </a:extLst>
          </p:cNvPr>
          <p:cNvSpPr txBox="1"/>
          <p:nvPr/>
        </p:nvSpPr>
        <p:spPr>
          <a:xfrm>
            <a:off x="914400" y="2540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E8A33D"/>
                </a:solidFill>
                <a:latin typeface="JetBrains Mono"/>
              </a:rPr>
              <a:t>SESSION 2</a:t>
            </a:r>
            <a:endParaRPr lang="ko-KR" altLang="en-US" sz="15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1BAA97-8FF9-D64B-80B2-F7B344C0DCC3}"/>
              </a:ext>
            </a:extLst>
          </p:cNvPr>
          <p:cNvSpPr txBox="1"/>
          <p:nvPr/>
        </p:nvSpPr>
        <p:spPr>
          <a:xfrm>
            <a:off x="914400" y="2895600"/>
            <a:ext cx="103632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3200" b="1">
                <a:solidFill>
                  <a:srgbClr val="FFFFFF"/>
                </a:solidFill>
                <a:latin typeface="Noto Serif KR"/>
              </a:rPr>
              <a:t>랜딩</a:t>
            </a:r>
            <a:r>
              <a:rPr lang="en-US" altLang="ko-KR" sz="3200" b="1">
                <a:solidFill>
                  <a:srgbClr val="FFFFFF"/>
                </a:solidFill>
                <a:latin typeface="Noto Serif KR"/>
              </a:rPr>
              <a:t>·</a:t>
            </a:r>
            <a:r>
              <a:rPr lang="ko-KR" altLang="en-US" sz="3200" b="1">
                <a:solidFill>
                  <a:srgbClr val="FFFFFF"/>
                </a:solidFill>
                <a:latin typeface="Noto Serif KR"/>
              </a:rPr>
              <a:t>이벤트 페이지 구조 설계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21FDD6-1AAD-8E4F-BE69-D33AA04D4151}"/>
              </a:ext>
            </a:extLst>
          </p:cNvPr>
          <p:cNvSpPr txBox="1"/>
          <p:nvPr/>
        </p:nvSpPr>
        <p:spPr>
          <a:xfrm>
            <a:off x="914400" y="3657600"/>
            <a:ext cx="10033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00">
                <a:solidFill>
                  <a:srgbClr val="DCE6F2"/>
                </a:solidFill>
                <a:latin typeface="Pretendard"/>
              </a:rPr>
              <a:t>한 페이지 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= </a:t>
            </a:r>
            <a:r>
              <a:rPr lang="ko-KR" altLang="en-US" sz="1600">
                <a:solidFill>
                  <a:srgbClr val="DCE6F2"/>
                </a:solidFill>
                <a:latin typeface="Pretendard"/>
              </a:rPr>
              <a:t>하나의 목표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. </a:t>
            </a:r>
            <a:r>
              <a:rPr lang="ko-KR" altLang="en-US" sz="1600">
                <a:solidFill>
                  <a:srgbClr val="DCE6F2"/>
                </a:solidFill>
                <a:latin typeface="Pretendard"/>
              </a:rPr>
              <a:t>목표를 향한 화면 흐름을 먼저 설계한다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.</a:t>
            </a:r>
            <a:endParaRPr lang="ko-KR" altLang="en-US" sz="1600">
              <a:solidFill>
                <a:srgbClr val="DCE6F2"/>
              </a:solidFill>
              <a:latin typeface="Pretendard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4E63222E-BB37-B54C-B798-0782663E6EB5}"/>
              </a:ext>
            </a:extLst>
          </p:cNvPr>
          <p:cNvSpPr/>
          <p:nvPr/>
        </p:nvSpPr>
        <p:spPr>
          <a:xfrm>
            <a:off x="914400" y="4521200"/>
            <a:ext cx="2616200" cy="8890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FFFFFF"/>
                </a:solidFill>
                <a:latin typeface="Pretendard"/>
              </a:rPr>
              <a:t>단일 목표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5B1C05-2BF8-8E44-BDAE-6CA1A3CC3773}"/>
              </a:ext>
            </a:extLst>
          </p:cNvPr>
          <p:cNvSpPr txBox="1"/>
          <p:nvPr/>
        </p:nvSpPr>
        <p:spPr>
          <a:xfrm>
            <a:off x="3530600" y="4521200"/>
            <a:ext cx="558800" cy="889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2400" b="1">
                <a:solidFill>
                  <a:srgbClr val="9FB3CE"/>
                </a:solidFill>
                <a:latin typeface="Pretendard"/>
              </a:rPr>
              <a:t>→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CB2BFBB8-DDB3-D049-ADDD-5EA6187D029E}"/>
              </a:ext>
            </a:extLst>
          </p:cNvPr>
          <p:cNvSpPr/>
          <p:nvPr/>
        </p:nvSpPr>
        <p:spPr>
          <a:xfrm>
            <a:off x="4089400" y="4521200"/>
            <a:ext cx="2616200" cy="8890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FFFFFF"/>
                </a:solidFill>
                <a:latin typeface="Pretendard"/>
              </a:rPr>
              <a:t>섹션 흐름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D62D84-F2BE-DB46-A864-43D79136416A}"/>
              </a:ext>
            </a:extLst>
          </p:cNvPr>
          <p:cNvSpPr txBox="1"/>
          <p:nvPr/>
        </p:nvSpPr>
        <p:spPr>
          <a:xfrm>
            <a:off x="6705600" y="4521200"/>
            <a:ext cx="558800" cy="889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2400" b="1">
                <a:solidFill>
                  <a:srgbClr val="9FB3CE"/>
                </a:solidFill>
                <a:latin typeface="Pretendard"/>
              </a:rPr>
              <a:t>→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68091715-EA7B-784B-B7A4-E6CD53B1DF4D}"/>
              </a:ext>
            </a:extLst>
          </p:cNvPr>
          <p:cNvSpPr/>
          <p:nvPr/>
        </p:nvSpPr>
        <p:spPr>
          <a:xfrm>
            <a:off x="7264400" y="4521200"/>
            <a:ext cx="2616200" cy="889000"/>
          </a:xfrm>
          <a:prstGeom prst="round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14213D"/>
                </a:solidFill>
                <a:latin typeface="Pretendard"/>
              </a:rPr>
              <a:t>CTA </a:t>
            </a:r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반복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2A0431-C9FF-5547-B738-913A62A8EA73}"/>
              </a:ext>
            </a:extLst>
          </p:cNvPr>
          <p:cNvSpPr txBox="1"/>
          <p:nvPr/>
        </p:nvSpPr>
        <p:spPr>
          <a:xfrm>
            <a:off x="914400" y="5740400"/>
            <a:ext cx="103632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9FB3CE"/>
                </a:solidFill>
                <a:latin typeface="JetBrains Mono"/>
              </a:rPr>
              <a:t>→ 목표가 하나일 때 페이지가 가장 잘 작동한다</a:t>
            </a:r>
            <a:r>
              <a:rPr lang="en-US" altLang="ko-KR" sz="1400">
                <a:solidFill>
                  <a:srgbClr val="9FB3CE"/>
                </a:solidFill>
                <a:latin typeface="JetBrains Mono"/>
              </a:rPr>
              <a:t>.</a:t>
            </a:r>
            <a:endParaRPr lang="ko-KR" altLang="en-US" sz="1400">
              <a:solidFill>
                <a:srgbClr val="9FB3CE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핵심 개념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핵심 개념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D2D52A99-D732-0B4F-9833-B999E567C720}"/>
              </a:ext>
            </a:extLst>
          </p:cNvPr>
          <p:cNvSpPr/>
          <p:nvPr/>
        </p:nvSpPr>
        <p:spPr>
          <a:xfrm>
            <a:off x="825500" y="1905000"/>
            <a:ext cx="33401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41C6118-0449-EA40-8648-36B69D61D7CD}"/>
              </a:ext>
            </a:extLst>
          </p:cNvPr>
          <p:cNvSpPr/>
          <p:nvPr/>
        </p:nvSpPr>
        <p:spPr>
          <a:xfrm>
            <a:off x="825500" y="1905000"/>
            <a:ext cx="3340100" cy="88900"/>
          </a:xfrm>
          <a:prstGeom prst="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2CEC211-52A2-B04F-AE7C-1AD0F988F1C2}"/>
              </a:ext>
            </a:extLst>
          </p:cNvPr>
          <p:cNvSpPr/>
          <p:nvPr/>
        </p:nvSpPr>
        <p:spPr>
          <a:xfrm>
            <a:off x="11303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1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C92968-8EB7-F048-A275-A661EA68B1BD}"/>
              </a:ext>
            </a:extLst>
          </p:cNvPr>
          <p:cNvSpPr txBox="1"/>
          <p:nvPr/>
        </p:nvSpPr>
        <p:spPr>
          <a:xfrm>
            <a:off x="11303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50" b="1">
                <a:solidFill>
                  <a:srgbClr val="14213D"/>
                </a:solidFill>
                <a:latin typeface="Pretendard"/>
              </a:rPr>
              <a:t>1</a:t>
            </a:r>
            <a:r>
              <a:rPr lang="ko-KR" altLang="en-US" sz="1650" b="1">
                <a:solidFill>
                  <a:srgbClr val="14213D"/>
                </a:solidFill>
                <a:latin typeface="Pretendard"/>
              </a:rPr>
              <a:t>페이지 </a:t>
            </a:r>
            <a:r>
              <a:rPr lang="en-US" altLang="ko-KR" sz="1650" b="1">
                <a:solidFill>
                  <a:srgbClr val="14213D"/>
                </a:solidFill>
                <a:latin typeface="Pretendard"/>
              </a:rPr>
              <a:t>1</a:t>
            </a:r>
            <a:r>
              <a:rPr lang="ko-KR" altLang="en-US" sz="1650" b="1">
                <a:solidFill>
                  <a:srgbClr val="14213D"/>
                </a:solidFill>
                <a:latin typeface="Pretendard"/>
              </a:rPr>
              <a:t>목표 원칙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9DB7A1E-5B3B-7145-9443-A3CB83A75245}"/>
              </a:ext>
            </a:extLst>
          </p:cNvPr>
          <p:cNvSpPr/>
          <p:nvPr/>
        </p:nvSpPr>
        <p:spPr>
          <a:xfrm>
            <a:off x="11303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506D9A-C914-074A-BCE4-03660F575531}"/>
              </a:ext>
            </a:extLst>
          </p:cNvPr>
          <p:cNvSpPr txBox="1"/>
          <p:nvPr/>
        </p:nvSpPr>
        <p:spPr>
          <a:xfrm>
            <a:off x="11303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50">
                <a:solidFill>
                  <a:srgbClr val="576176"/>
                </a:solidFill>
                <a:latin typeface="Pretendard"/>
              </a:rPr>
              <a:t>한 페이지는 하나의 전환 목표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(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구매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신청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문의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)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만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. 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목표가 많으면 전환율이 떨어진다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35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BB5C5AD9-835C-9C4C-9AFA-FE00C58A29CA}"/>
              </a:ext>
            </a:extLst>
          </p:cNvPr>
          <p:cNvSpPr/>
          <p:nvPr/>
        </p:nvSpPr>
        <p:spPr>
          <a:xfrm>
            <a:off x="1130300" y="5562600"/>
            <a:ext cx="2730500" cy="457200"/>
          </a:xfrm>
          <a:prstGeom prst="roundRect">
            <a:avLst/>
          </a:prstGeom>
          <a:solidFill>
            <a:srgbClr val="E7ECF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998B22-6F79-254C-9E04-7A0CC27C0F8C}"/>
              </a:ext>
            </a:extLst>
          </p:cNvPr>
          <p:cNvSpPr txBox="1"/>
          <p:nvPr/>
        </p:nvSpPr>
        <p:spPr>
          <a:xfrm>
            <a:off x="11303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14213D"/>
                </a:solidFill>
                <a:latin typeface="Pretendard"/>
              </a:rPr>
              <a:t>목표는 하나만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5370C159-761E-8B4B-98E2-2334EB2B5F6F}"/>
              </a:ext>
            </a:extLst>
          </p:cNvPr>
          <p:cNvSpPr/>
          <p:nvPr/>
        </p:nvSpPr>
        <p:spPr>
          <a:xfrm>
            <a:off x="4419600" y="1905000"/>
            <a:ext cx="33401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031DE23-5CD0-5646-AA9A-8E7928D29FA3}"/>
              </a:ext>
            </a:extLst>
          </p:cNvPr>
          <p:cNvSpPr/>
          <p:nvPr/>
        </p:nvSpPr>
        <p:spPr>
          <a:xfrm>
            <a:off x="4419600" y="1905000"/>
            <a:ext cx="3340100" cy="88900"/>
          </a:xfrm>
          <a:prstGeom prst="rect">
            <a:avLst/>
          </a:prstGeom>
          <a:solidFill>
            <a:srgbClr val="1D4E8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AA826075-E1F5-6747-B04C-B626DF5778BC}"/>
              </a:ext>
            </a:extLst>
          </p:cNvPr>
          <p:cNvSpPr/>
          <p:nvPr/>
        </p:nvSpPr>
        <p:spPr>
          <a:xfrm>
            <a:off x="47244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2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166A39-4AC7-274C-A3AA-38573A4AC762}"/>
              </a:ext>
            </a:extLst>
          </p:cNvPr>
          <p:cNvSpPr txBox="1"/>
          <p:nvPr/>
        </p:nvSpPr>
        <p:spPr>
          <a:xfrm>
            <a:off x="47244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50" b="1">
                <a:solidFill>
                  <a:srgbClr val="14213D"/>
                </a:solidFill>
                <a:latin typeface="Pretendard"/>
              </a:rPr>
              <a:t>시각적 흐름 </a:t>
            </a:r>
            <a:r>
              <a:rPr lang="en-US" altLang="ko-KR" sz="1650" b="1">
                <a:solidFill>
                  <a:srgbClr val="14213D"/>
                </a:solidFill>
                <a:latin typeface="Pretendard"/>
              </a:rPr>
              <a:t>(F/Z)</a:t>
            </a:r>
            <a:endParaRPr lang="ko-KR" altLang="en-US" sz="1650" b="1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50A6912-540E-EE45-9515-4EBEDC402B8A}"/>
              </a:ext>
            </a:extLst>
          </p:cNvPr>
          <p:cNvSpPr/>
          <p:nvPr/>
        </p:nvSpPr>
        <p:spPr>
          <a:xfrm>
            <a:off x="47244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470275-7D00-A44E-BA2B-3E5E19138F70}"/>
              </a:ext>
            </a:extLst>
          </p:cNvPr>
          <p:cNvSpPr txBox="1"/>
          <p:nvPr/>
        </p:nvSpPr>
        <p:spPr>
          <a:xfrm>
            <a:off x="47244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50">
                <a:solidFill>
                  <a:srgbClr val="576176"/>
                </a:solidFill>
                <a:latin typeface="Pretendard"/>
              </a:rPr>
              <a:t>시선 동선을 고려해 핵심 메시지와 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CTA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를 동선 위에 배치한다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35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73B7BB94-72A3-5E4D-883C-46023D636D68}"/>
              </a:ext>
            </a:extLst>
          </p:cNvPr>
          <p:cNvSpPr/>
          <p:nvPr/>
        </p:nvSpPr>
        <p:spPr>
          <a:xfrm>
            <a:off x="4724400" y="5562600"/>
            <a:ext cx="2730500" cy="457200"/>
          </a:xfrm>
          <a:prstGeom prst="roundRect">
            <a:avLst/>
          </a:prstGeom>
          <a:solidFill>
            <a:srgbClr val="E4EC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7D4FF9-EB5F-8143-96F4-8EBE6328DA6B}"/>
              </a:ext>
            </a:extLst>
          </p:cNvPr>
          <p:cNvSpPr txBox="1"/>
          <p:nvPr/>
        </p:nvSpPr>
        <p:spPr>
          <a:xfrm>
            <a:off x="47244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1D4E89"/>
                </a:solidFill>
                <a:latin typeface="Pretendard"/>
              </a:rPr>
              <a:t>동선 위에 </a:t>
            </a:r>
            <a:r>
              <a:rPr lang="en-US" altLang="ko-KR" sz="1300" b="1">
                <a:solidFill>
                  <a:srgbClr val="1D4E89"/>
                </a:solidFill>
                <a:latin typeface="Pretendard"/>
              </a:rPr>
              <a:t>CTA</a:t>
            </a:r>
            <a:endParaRPr lang="ko-KR" altLang="en-US" sz="1300" b="1">
              <a:solidFill>
                <a:srgbClr val="1D4E89"/>
              </a:solidFill>
              <a:latin typeface="Pretendard"/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D70F4096-6822-3742-9989-F249246006BF}"/>
              </a:ext>
            </a:extLst>
          </p:cNvPr>
          <p:cNvSpPr/>
          <p:nvPr/>
        </p:nvSpPr>
        <p:spPr>
          <a:xfrm>
            <a:off x="8013700" y="1905000"/>
            <a:ext cx="33401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834EEE4-EFF7-B345-8E1C-741EEBBEB9E6}"/>
              </a:ext>
            </a:extLst>
          </p:cNvPr>
          <p:cNvSpPr/>
          <p:nvPr/>
        </p:nvSpPr>
        <p:spPr>
          <a:xfrm>
            <a:off x="8013700" y="1905000"/>
            <a:ext cx="3340100" cy="889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A810F20D-6982-FB44-956F-D2CD49B745D9}"/>
              </a:ext>
            </a:extLst>
          </p:cNvPr>
          <p:cNvSpPr/>
          <p:nvPr/>
        </p:nvSpPr>
        <p:spPr>
          <a:xfrm>
            <a:off x="83185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3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313F27B-7574-C44E-B50E-8AC948F4C3BA}"/>
              </a:ext>
            </a:extLst>
          </p:cNvPr>
          <p:cNvSpPr txBox="1"/>
          <p:nvPr/>
        </p:nvSpPr>
        <p:spPr>
          <a:xfrm>
            <a:off x="83185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50" b="1">
                <a:solidFill>
                  <a:srgbClr val="14213D"/>
                </a:solidFill>
                <a:latin typeface="Pretendard"/>
              </a:rPr>
              <a:t>와이어프레임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E55486B-7127-D642-9478-B971F72B79F1}"/>
              </a:ext>
            </a:extLst>
          </p:cNvPr>
          <p:cNvSpPr/>
          <p:nvPr/>
        </p:nvSpPr>
        <p:spPr>
          <a:xfrm>
            <a:off x="83185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A7BA7B-E4B4-884F-AEA4-42DA402A6742}"/>
              </a:ext>
            </a:extLst>
          </p:cNvPr>
          <p:cNvSpPr txBox="1"/>
          <p:nvPr/>
        </p:nvSpPr>
        <p:spPr>
          <a:xfrm>
            <a:off x="83185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50">
                <a:solidFill>
                  <a:srgbClr val="576176"/>
                </a:solidFill>
                <a:latin typeface="Pretendard"/>
              </a:rPr>
              <a:t>색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이미지 전에 박스로 구조를 먼저 잡는 저해상도 설계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35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D905FD95-78E5-7941-A941-ED0F09006183}"/>
              </a:ext>
            </a:extLst>
          </p:cNvPr>
          <p:cNvSpPr/>
          <p:nvPr/>
        </p:nvSpPr>
        <p:spPr>
          <a:xfrm>
            <a:off x="8318500" y="5562600"/>
            <a:ext cx="2730500" cy="457200"/>
          </a:xfrm>
          <a:prstGeom prst="roundRect">
            <a:avLst/>
          </a:prstGeom>
          <a:solidFill>
            <a:srgbClr val="FBEF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B86305-48A0-A745-9D63-080657F9AD17}"/>
              </a:ext>
            </a:extLst>
          </p:cNvPr>
          <p:cNvSpPr txBox="1"/>
          <p:nvPr/>
        </p:nvSpPr>
        <p:spPr>
          <a:xfrm>
            <a:off x="83185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9A6B12"/>
                </a:solidFill>
                <a:latin typeface="Pretendard"/>
              </a:rPr>
              <a:t>박스로 먼저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개념 깊이 보기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개념을 예시로 — 우리 케이스에 적용하면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47C5A7-73B1-7D48-A8C9-B7B721200292}"/>
              </a:ext>
            </a:extLst>
          </p:cNvPr>
          <p:cNvSpPr txBox="1"/>
          <p:nvPr/>
        </p:nvSpPr>
        <p:spPr>
          <a:xfrm>
            <a:off x="825500" y="2006600"/>
            <a:ext cx="4953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C0504D"/>
                </a:solidFill>
              </a:rPr>
              <a:t>✕  목표 분산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50EDB5-F5A4-6548-BA21-70065F277DCA}"/>
              </a:ext>
            </a:extLst>
          </p:cNvPr>
          <p:cNvSpPr txBox="1"/>
          <p:nvPr/>
        </p:nvSpPr>
        <p:spPr>
          <a:xfrm>
            <a:off x="6413500" y="2006600"/>
            <a:ext cx="4953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9A6B12"/>
                </a:solidFill>
              </a:rPr>
              <a:t>✓  단일 목표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233CB58B-200E-0C43-B9A1-4AED2C5FE7EA}"/>
              </a:ext>
            </a:extLst>
          </p:cNvPr>
          <p:cNvSpPr/>
          <p:nvPr/>
        </p:nvSpPr>
        <p:spPr>
          <a:xfrm>
            <a:off x="825500" y="2387600"/>
            <a:ext cx="4953000" cy="3454400"/>
          </a:xfrm>
          <a:prstGeom prst="roundRect">
            <a:avLst/>
          </a:prstGeom>
          <a:solidFill>
            <a:srgbClr val="F7F9FC"/>
          </a:solidFill>
          <a:ln w="12700" cap="flat" cmpd="sng" algn="ctr">
            <a:solidFill>
              <a:srgbClr val="CBD6E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4827D044-3276-9E42-AB63-B1F3435F6857}"/>
              </a:ext>
            </a:extLst>
          </p:cNvPr>
          <p:cNvSpPr/>
          <p:nvPr/>
        </p:nvSpPr>
        <p:spPr>
          <a:xfrm>
            <a:off x="952500" y="2489200"/>
            <a:ext cx="4699000" cy="2286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2BE03637-0D90-214C-892A-DE9D1E1F802D}"/>
              </a:ext>
            </a:extLst>
          </p:cNvPr>
          <p:cNvSpPr/>
          <p:nvPr/>
        </p:nvSpPr>
        <p:spPr>
          <a:xfrm>
            <a:off x="1079500" y="2552700"/>
            <a:ext cx="101600" cy="101600"/>
          </a:xfrm>
          <a:prstGeom prst="ellipse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9C8EC2B-6E46-6841-87CB-64A3B48D55D5}"/>
              </a:ext>
            </a:extLst>
          </p:cNvPr>
          <p:cNvSpPr/>
          <p:nvPr/>
        </p:nvSpPr>
        <p:spPr>
          <a:xfrm>
            <a:off x="1231900" y="2552700"/>
            <a:ext cx="101600" cy="101600"/>
          </a:xfrm>
          <a:prstGeom prst="ellipse">
            <a:avLst/>
          </a:prstGeom>
          <a:solidFill>
            <a:srgbClr val="4A587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BDAE6A34-0B86-3741-A115-9801BDB515DB}"/>
              </a:ext>
            </a:extLst>
          </p:cNvPr>
          <p:cNvSpPr/>
          <p:nvPr/>
        </p:nvSpPr>
        <p:spPr>
          <a:xfrm>
            <a:off x="1384300" y="2552700"/>
            <a:ext cx="101600" cy="101600"/>
          </a:xfrm>
          <a:prstGeom prst="ellipse">
            <a:avLst/>
          </a:prstGeom>
          <a:solidFill>
            <a:srgbClr val="4A587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0F0CD58C-2F58-6C41-A1B7-B79710D694AD}"/>
              </a:ext>
            </a:extLst>
          </p:cNvPr>
          <p:cNvSpPr/>
          <p:nvPr/>
        </p:nvSpPr>
        <p:spPr>
          <a:xfrm>
            <a:off x="1028700" y="2844800"/>
            <a:ext cx="4546600" cy="635000"/>
          </a:xfrm>
          <a:prstGeom prst="roundRect">
            <a:avLst/>
          </a:prstGeom>
          <a:solidFill>
            <a:srgbClr val="E3E8F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619439-2C31-4047-A43A-DB65A18B485C}"/>
              </a:ext>
            </a:extLst>
          </p:cNvPr>
          <p:cNvSpPr txBox="1"/>
          <p:nvPr/>
        </p:nvSpPr>
        <p:spPr>
          <a:xfrm>
            <a:off x="1028700" y="2844800"/>
            <a:ext cx="45466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200">
                <a:solidFill>
                  <a:srgbClr val="576176"/>
                </a:solidFill>
                <a:ea typeface="Pretendard"/>
              </a:rPr>
              <a:t>HERO · </a:t>
            </a:r>
            <a:r>
              <a:rPr lang="ko-KR" altLang="en-US" sz="1200">
                <a:solidFill>
                  <a:srgbClr val="576176"/>
                </a:solidFill>
              </a:rPr>
              <a:t>헤드라인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709D07D3-1687-B943-BE29-560FC480BC83}"/>
              </a:ext>
            </a:extLst>
          </p:cNvPr>
          <p:cNvSpPr/>
          <p:nvPr/>
        </p:nvSpPr>
        <p:spPr>
          <a:xfrm>
            <a:off x="1028700" y="3632200"/>
            <a:ext cx="2184400" cy="482600"/>
          </a:xfrm>
          <a:prstGeom prst="roundRect">
            <a:avLst/>
          </a:prstGeom>
          <a:solidFill>
            <a:srgbClr val="DCE6F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50" b="1">
                <a:solidFill>
                  <a:srgbClr val="14213D"/>
                </a:solidFill>
              </a:rPr>
              <a:t>사전예약</a:t>
            </a: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14381AFD-0659-3940-A9B8-F233E5382C72}"/>
              </a:ext>
            </a:extLst>
          </p:cNvPr>
          <p:cNvSpPr/>
          <p:nvPr/>
        </p:nvSpPr>
        <p:spPr>
          <a:xfrm>
            <a:off x="3390900" y="3632200"/>
            <a:ext cx="2184400" cy="482600"/>
          </a:xfrm>
          <a:prstGeom prst="roundRect">
            <a:avLst/>
          </a:prstGeom>
          <a:solidFill>
            <a:srgbClr val="DCE6F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50" b="1">
                <a:solidFill>
                  <a:srgbClr val="14213D"/>
                </a:solidFill>
              </a:rPr>
              <a:t>구매하기</a:t>
            </a: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F7255F91-91CA-174B-90CD-36C6400B49E1}"/>
              </a:ext>
            </a:extLst>
          </p:cNvPr>
          <p:cNvSpPr/>
          <p:nvPr/>
        </p:nvSpPr>
        <p:spPr>
          <a:xfrm>
            <a:off x="1028700" y="4216400"/>
            <a:ext cx="2184400" cy="482600"/>
          </a:xfrm>
          <a:prstGeom prst="roundRect">
            <a:avLst/>
          </a:prstGeom>
          <a:solidFill>
            <a:srgbClr val="DCE6F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50" b="1">
                <a:solidFill>
                  <a:srgbClr val="14213D"/>
                </a:solidFill>
              </a:rPr>
              <a:t>뉴스레터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98081231-3B3F-5D49-98EC-4BD2E669BE38}"/>
              </a:ext>
            </a:extLst>
          </p:cNvPr>
          <p:cNvSpPr/>
          <p:nvPr/>
        </p:nvSpPr>
        <p:spPr>
          <a:xfrm>
            <a:off x="3390900" y="4216400"/>
            <a:ext cx="2184400" cy="482600"/>
          </a:xfrm>
          <a:prstGeom prst="roundRect">
            <a:avLst/>
          </a:prstGeom>
          <a:solidFill>
            <a:srgbClr val="DCE6F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50" b="1">
                <a:solidFill>
                  <a:srgbClr val="14213D"/>
                </a:solidFill>
              </a:rPr>
              <a:t>문의하기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57D710-037B-C24F-AECC-9D8FF19A13CF}"/>
              </a:ext>
            </a:extLst>
          </p:cNvPr>
          <p:cNvSpPr txBox="1"/>
          <p:nvPr/>
        </p:nvSpPr>
        <p:spPr>
          <a:xfrm>
            <a:off x="825500" y="5918200"/>
            <a:ext cx="4953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C0504D"/>
                </a:solidFill>
                <a:latin typeface="JetBrains Mono"/>
              </a:rPr>
              <a:t>→ CTA 4</a:t>
            </a:r>
            <a:r>
              <a:rPr lang="ko-KR" altLang="en-US" sz="1300" b="1">
                <a:solidFill>
                  <a:srgbClr val="C0504D"/>
                </a:solidFill>
                <a:latin typeface="JetBrains Mono"/>
              </a:rPr>
              <a:t>개가 경쟁 </a:t>
            </a:r>
            <a:r>
              <a:rPr lang="en-US" altLang="ko-KR" sz="1300" b="1">
                <a:solidFill>
                  <a:srgbClr val="C0504D"/>
                </a:solidFill>
                <a:latin typeface="JetBrains Mono"/>
              </a:rPr>
              <a:t>= </a:t>
            </a:r>
            <a:r>
              <a:rPr lang="ko-KR" altLang="en-US" sz="1300" b="1">
                <a:solidFill>
                  <a:srgbClr val="C0504D"/>
                </a:solidFill>
                <a:latin typeface="JetBrains Mono"/>
              </a:rPr>
              <a:t>전환 분산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F2D4D5D0-3CEF-0345-8124-EB60496BC041}"/>
              </a:ext>
            </a:extLst>
          </p:cNvPr>
          <p:cNvSpPr/>
          <p:nvPr/>
        </p:nvSpPr>
        <p:spPr>
          <a:xfrm>
            <a:off x="6413500" y="2387600"/>
            <a:ext cx="4953000" cy="3454400"/>
          </a:xfrm>
          <a:prstGeom prst="roundRect">
            <a:avLst/>
          </a:prstGeom>
          <a:solidFill>
            <a:srgbClr val="F7F9FC"/>
          </a:solidFill>
          <a:ln w="12700" cap="flat" cmpd="sng" algn="ctr">
            <a:solidFill>
              <a:srgbClr val="CBD6E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4F560C7F-AA26-8947-8A9E-38B3FCA716EE}"/>
              </a:ext>
            </a:extLst>
          </p:cNvPr>
          <p:cNvSpPr/>
          <p:nvPr/>
        </p:nvSpPr>
        <p:spPr>
          <a:xfrm>
            <a:off x="6540500" y="2489200"/>
            <a:ext cx="4699000" cy="2286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9B153E9E-CB02-B347-B8FD-023360CBC440}"/>
              </a:ext>
            </a:extLst>
          </p:cNvPr>
          <p:cNvSpPr/>
          <p:nvPr/>
        </p:nvSpPr>
        <p:spPr>
          <a:xfrm>
            <a:off x="6667500" y="2552700"/>
            <a:ext cx="101600" cy="101600"/>
          </a:xfrm>
          <a:prstGeom prst="ellipse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F9248642-FF01-3B41-9067-6FFA4DD2301B}"/>
              </a:ext>
            </a:extLst>
          </p:cNvPr>
          <p:cNvSpPr/>
          <p:nvPr/>
        </p:nvSpPr>
        <p:spPr>
          <a:xfrm>
            <a:off x="6819900" y="2552700"/>
            <a:ext cx="101600" cy="101600"/>
          </a:xfrm>
          <a:prstGeom prst="ellipse">
            <a:avLst/>
          </a:prstGeom>
          <a:solidFill>
            <a:srgbClr val="4A587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307D083F-166F-FB45-A5F9-6688DC9CDD92}"/>
              </a:ext>
            </a:extLst>
          </p:cNvPr>
          <p:cNvSpPr/>
          <p:nvPr/>
        </p:nvSpPr>
        <p:spPr>
          <a:xfrm>
            <a:off x="6972300" y="2552700"/>
            <a:ext cx="101600" cy="101600"/>
          </a:xfrm>
          <a:prstGeom prst="ellipse">
            <a:avLst/>
          </a:prstGeom>
          <a:solidFill>
            <a:srgbClr val="4A587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44FF4473-3E98-9C49-9378-BAC6778EEED1}"/>
              </a:ext>
            </a:extLst>
          </p:cNvPr>
          <p:cNvSpPr/>
          <p:nvPr/>
        </p:nvSpPr>
        <p:spPr>
          <a:xfrm>
            <a:off x="6616700" y="2844800"/>
            <a:ext cx="4546600" cy="584200"/>
          </a:xfrm>
          <a:prstGeom prst="roundRect">
            <a:avLst/>
          </a:prstGeom>
          <a:solidFill>
            <a:srgbClr val="E3E8F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D55E72-A281-8148-966F-49260A9BD2BB}"/>
              </a:ext>
            </a:extLst>
          </p:cNvPr>
          <p:cNvSpPr txBox="1"/>
          <p:nvPr/>
        </p:nvSpPr>
        <p:spPr>
          <a:xfrm>
            <a:off x="6616700" y="2844800"/>
            <a:ext cx="45466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200">
                <a:solidFill>
                  <a:srgbClr val="576176"/>
                </a:solidFill>
                <a:ea typeface="Pretendard"/>
              </a:rPr>
              <a:t>HERO · </a:t>
            </a:r>
            <a:r>
              <a:rPr lang="ko-KR" altLang="en-US" sz="1200">
                <a:solidFill>
                  <a:srgbClr val="576176"/>
                </a:solidFill>
              </a:rPr>
              <a:t>헤드라인</a:t>
            </a: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D527D9CB-D0A8-F24A-84E2-5187DF9E26DA}"/>
              </a:ext>
            </a:extLst>
          </p:cNvPr>
          <p:cNvSpPr/>
          <p:nvPr/>
        </p:nvSpPr>
        <p:spPr>
          <a:xfrm>
            <a:off x="6616700" y="3530600"/>
            <a:ext cx="4546600" cy="508000"/>
          </a:xfrm>
          <a:prstGeom prst="round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350" b="1">
                <a:solidFill>
                  <a:srgbClr val="14213D"/>
                </a:solidFill>
              </a:rPr>
              <a:t>사전예약하고 </a:t>
            </a:r>
            <a:r>
              <a:rPr lang="en-US" altLang="ko-KR" sz="1350" b="1">
                <a:solidFill>
                  <a:srgbClr val="14213D"/>
                </a:solidFill>
                <a:ea typeface="Pretendard"/>
              </a:rPr>
              <a:t>20% </a:t>
            </a:r>
            <a:r>
              <a:rPr lang="ko-KR" altLang="en-US" sz="1350" b="1">
                <a:solidFill>
                  <a:srgbClr val="14213D"/>
                </a:solidFill>
              </a:rPr>
              <a:t>받기  →</a:t>
            </a: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422F9126-78A5-C241-82FF-4D2375132074}"/>
              </a:ext>
            </a:extLst>
          </p:cNvPr>
          <p:cNvSpPr/>
          <p:nvPr/>
        </p:nvSpPr>
        <p:spPr>
          <a:xfrm>
            <a:off x="6616700" y="4140200"/>
            <a:ext cx="2184400" cy="431800"/>
          </a:xfrm>
          <a:prstGeom prst="roundRect">
            <a:avLst/>
          </a:prstGeom>
          <a:solidFill>
            <a:srgbClr val="E3E8F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9B6697-6AB3-8E4B-95FC-06221A4A80E0}"/>
              </a:ext>
            </a:extLst>
          </p:cNvPr>
          <p:cNvSpPr txBox="1"/>
          <p:nvPr/>
        </p:nvSpPr>
        <p:spPr>
          <a:xfrm>
            <a:off x="6616700" y="4140200"/>
            <a:ext cx="21844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150">
                <a:solidFill>
                  <a:srgbClr val="576176"/>
                </a:solidFill>
              </a:rPr>
              <a:t>특징</a:t>
            </a: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656FF4DB-8211-0E4C-A943-59C2F10A61D7}"/>
              </a:ext>
            </a:extLst>
          </p:cNvPr>
          <p:cNvSpPr/>
          <p:nvPr/>
        </p:nvSpPr>
        <p:spPr>
          <a:xfrm>
            <a:off x="8978900" y="4140200"/>
            <a:ext cx="2184400" cy="431800"/>
          </a:xfrm>
          <a:prstGeom prst="roundRect">
            <a:avLst/>
          </a:prstGeom>
          <a:solidFill>
            <a:srgbClr val="E3E8F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9E19C7F-B4E8-6447-BF9F-FEE435F5CE84}"/>
              </a:ext>
            </a:extLst>
          </p:cNvPr>
          <p:cNvSpPr txBox="1"/>
          <p:nvPr/>
        </p:nvSpPr>
        <p:spPr>
          <a:xfrm>
            <a:off x="8978900" y="4140200"/>
            <a:ext cx="21844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150">
                <a:solidFill>
                  <a:srgbClr val="576176"/>
                </a:solidFill>
              </a:rPr>
              <a:t>후기</a:t>
            </a: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5F7A189C-BBC1-514B-BF42-B8434D25694C}"/>
              </a:ext>
            </a:extLst>
          </p:cNvPr>
          <p:cNvSpPr/>
          <p:nvPr/>
        </p:nvSpPr>
        <p:spPr>
          <a:xfrm>
            <a:off x="6616700" y="4699000"/>
            <a:ext cx="4546600" cy="431800"/>
          </a:xfrm>
          <a:prstGeom prst="round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50" b="1">
                <a:solidFill>
                  <a:srgbClr val="14213D"/>
                </a:solidFill>
              </a:rPr>
              <a:t>사전예약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43419E9-1422-B04A-8DE5-2A0D645CFD5D}"/>
              </a:ext>
            </a:extLst>
          </p:cNvPr>
          <p:cNvSpPr txBox="1"/>
          <p:nvPr/>
        </p:nvSpPr>
        <p:spPr>
          <a:xfrm>
            <a:off x="6413500" y="5918200"/>
            <a:ext cx="4953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9A6B12"/>
                </a:solidFill>
                <a:latin typeface="JetBrains Mono"/>
              </a:rPr>
              <a:t>→ CTA 1</a:t>
            </a:r>
            <a:r>
              <a:rPr lang="ko-KR" altLang="en-US" sz="1300" b="1">
                <a:solidFill>
                  <a:srgbClr val="9A6B12"/>
                </a:solidFill>
                <a:latin typeface="JetBrains Mono"/>
              </a:rPr>
              <a:t>개에 집중 </a:t>
            </a:r>
            <a:r>
              <a:rPr lang="en-US" altLang="ko-KR" sz="1300" b="1">
                <a:solidFill>
                  <a:srgbClr val="9A6B12"/>
                </a:solidFill>
                <a:latin typeface="JetBrains Mono"/>
              </a:rPr>
              <a:t>= </a:t>
            </a:r>
            <a:r>
              <a:rPr lang="ko-KR" altLang="en-US" sz="1300" b="1">
                <a:solidFill>
                  <a:srgbClr val="9A6B12"/>
                </a:solidFill>
                <a:latin typeface="JetBrains Mono"/>
              </a:rPr>
              <a:t>전환 상승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절차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실습 절차 — 직접 해봅니다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19A81DE7-06C1-9D4F-B15C-B01742DF012D}"/>
              </a:ext>
            </a:extLst>
          </p:cNvPr>
          <p:cNvSpPr/>
          <p:nvPr/>
        </p:nvSpPr>
        <p:spPr>
          <a:xfrm>
            <a:off x="825500" y="1930400"/>
            <a:ext cx="10541000" cy="9398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C1E0B8F-0A61-E141-9EAD-6434E26A0194}"/>
              </a:ext>
            </a:extLst>
          </p:cNvPr>
          <p:cNvSpPr/>
          <p:nvPr/>
        </p:nvSpPr>
        <p:spPr>
          <a:xfrm>
            <a:off x="825500" y="19304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9176E66-783E-8044-8A57-AA84C15C6D61}"/>
              </a:ext>
            </a:extLst>
          </p:cNvPr>
          <p:cNvSpPr/>
          <p:nvPr/>
        </p:nvSpPr>
        <p:spPr>
          <a:xfrm>
            <a:off x="1143000" y="21590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1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583D25-2749-3449-9299-B94954EB7D6D}"/>
              </a:ext>
            </a:extLst>
          </p:cNvPr>
          <p:cNvSpPr txBox="1"/>
          <p:nvPr/>
        </p:nvSpPr>
        <p:spPr>
          <a:xfrm>
            <a:off x="1905000" y="20955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단일 목표 정의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0BBACA-DC43-7B40-BB90-CA760DEEF041}"/>
              </a:ext>
            </a:extLst>
          </p:cNvPr>
          <p:cNvSpPr txBox="1"/>
          <p:nvPr/>
        </p:nvSpPr>
        <p:spPr>
          <a:xfrm>
            <a:off x="4546600" y="20574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이 페이지가 노리는 단 하나의 목표를 적는다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2079B0FF-CF00-454C-9793-FCA3022BA54A}"/>
              </a:ext>
            </a:extLst>
          </p:cNvPr>
          <p:cNvSpPr/>
          <p:nvPr/>
        </p:nvSpPr>
        <p:spPr>
          <a:xfrm>
            <a:off x="825500" y="2971800"/>
            <a:ext cx="10541000" cy="9398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25E1B11-118D-9246-B34E-86B4684731F8}"/>
              </a:ext>
            </a:extLst>
          </p:cNvPr>
          <p:cNvSpPr/>
          <p:nvPr/>
        </p:nvSpPr>
        <p:spPr>
          <a:xfrm>
            <a:off x="825500" y="29718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B791D37-036F-924C-8976-27369E79D4A0}"/>
              </a:ext>
            </a:extLst>
          </p:cNvPr>
          <p:cNvSpPr/>
          <p:nvPr/>
        </p:nvSpPr>
        <p:spPr>
          <a:xfrm>
            <a:off x="1143000" y="32004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2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363AA0-D9F3-FF45-BF4C-22CF554D972E}"/>
              </a:ext>
            </a:extLst>
          </p:cNvPr>
          <p:cNvSpPr txBox="1"/>
          <p:nvPr/>
        </p:nvSpPr>
        <p:spPr>
          <a:xfrm>
            <a:off x="1905000" y="31369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와이어프레임 배치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5DE241-462D-C946-92B9-74D0515A513E}"/>
              </a:ext>
            </a:extLst>
          </p:cNvPr>
          <p:cNvSpPr txBox="1"/>
          <p:nvPr/>
        </p:nvSpPr>
        <p:spPr>
          <a:xfrm>
            <a:off x="4546600" y="30988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섹션 순서를 박스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(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저해상도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)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로 먼저 배치한다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756408D5-643B-E348-8B45-A047B4950835}"/>
              </a:ext>
            </a:extLst>
          </p:cNvPr>
          <p:cNvSpPr/>
          <p:nvPr/>
        </p:nvSpPr>
        <p:spPr>
          <a:xfrm>
            <a:off x="825500" y="4013200"/>
            <a:ext cx="10541000" cy="9398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FC75A1-2194-E24C-A8D8-21999509A0DA}"/>
              </a:ext>
            </a:extLst>
          </p:cNvPr>
          <p:cNvSpPr/>
          <p:nvPr/>
        </p:nvSpPr>
        <p:spPr>
          <a:xfrm>
            <a:off x="825500" y="40132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534BDD62-F3E8-3E45-A25C-6E53618A46F7}"/>
              </a:ext>
            </a:extLst>
          </p:cNvPr>
          <p:cNvSpPr/>
          <p:nvPr/>
        </p:nvSpPr>
        <p:spPr>
          <a:xfrm>
            <a:off x="1143000" y="42418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3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096E4B-173F-6741-80B4-7393F757DC6D}"/>
              </a:ext>
            </a:extLst>
          </p:cNvPr>
          <p:cNvSpPr txBox="1"/>
          <p:nvPr/>
        </p:nvSpPr>
        <p:spPr>
          <a:xfrm>
            <a:off x="1905000" y="41783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시안 맞춤 조정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20092B-0012-854F-8903-C37C6AB9607A}"/>
              </a:ext>
            </a:extLst>
          </p:cNvPr>
          <p:cNvSpPr txBox="1"/>
          <p:nvPr/>
        </p:nvSpPr>
        <p:spPr>
          <a:xfrm>
            <a:off x="4546600" y="41402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400">
                <a:solidFill>
                  <a:srgbClr val="576176"/>
                </a:solidFill>
                <a:latin typeface="Pretendard"/>
              </a:rPr>
              <a:t>Stitch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시안을 이 구조에 맞춰 조정한다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65091E60-8367-EA48-8390-71AEFE094F63}"/>
              </a:ext>
            </a:extLst>
          </p:cNvPr>
          <p:cNvSpPr/>
          <p:nvPr/>
        </p:nvSpPr>
        <p:spPr>
          <a:xfrm>
            <a:off x="825500" y="5054600"/>
            <a:ext cx="10541000" cy="9398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370159F-285E-D944-BE77-E8B5AACEFDA1}"/>
              </a:ext>
            </a:extLst>
          </p:cNvPr>
          <p:cNvSpPr/>
          <p:nvPr/>
        </p:nvSpPr>
        <p:spPr>
          <a:xfrm>
            <a:off x="825500" y="50546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D7A17782-1401-104B-AEBD-EDE10C0AF953}"/>
              </a:ext>
            </a:extLst>
          </p:cNvPr>
          <p:cNvSpPr/>
          <p:nvPr/>
        </p:nvSpPr>
        <p:spPr>
          <a:xfrm>
            <a:off x="1143000" y="52832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4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7ABD5C-90CD-244A-8527-AEB79FF9E93F}"/>
              </a:ext>
            </a:extLst>
          </p:cNvPr>
          <p:cNvSpPr txBox="1"/>
          <p:nvPr/>
        </p:nvSpPr>
        <p:spPr>
          <a:xfrm>
            <a:off x="1905000" y="52197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14213D"/>
                </a:solidFill>
                <a:latin typeface="Pretendard"/>
              </a:rPr>
              <a:t>CTA </a:t>
            </a:r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반복 확인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D8CD66-AA1F-9E42-A65F-5750A7F3687E}"/>
              </a:ext>
            </a:extLst>
          </p:cNvPr>
          <p:cNvSpPr txBox="1"/>
          <p:nvPr/>
        </p:nvSpPr>
        <p:spPr>
          <a:xfrm>
            <a:off x="4546600" y="51816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400">
                <a:solidFill>
                  <a:srgbClr val="576176"/>
                </a:solidFill>
                <a:latin typeface="Pretendard"/>
              </a:rPr>
              <a:t>CTA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가 첫 화면과 마지막에 반복되는지 확인한다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프롬프트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구조 조정 지시 예시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32720" cy="4434840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502920" rIns="365760" bIns="32004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Refine the page: move the primary CTA into the hero,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add a sticky top bar with the CTA,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reduce sections to: hero, 3 benefits, social proof, CTA.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Keep it single-goal: pre-order.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2103120"/>
            <a:ext cx="109728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좋은예 VS 나쁜예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비교 — 한 페이지, 목표가 몇 개?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5029200" cy="4114800"/>
          </a:xfrm>
          <a:prstGeom prst="rect">
            <a:avLst/>
          </a:prstGeom>
          <a:solidFill>
            <a:srgbClr val="F7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20040" rIns="32004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700" b="1">
                <a:solidFill>
                  <a:srgbClr val="A63333"/>
                </a:solidFill>
                <a:latin typeface="Noto Serif KR"/>
                <a:ea typeface="Noto Serif KR"/>
                <a:cs typeface="Noto Serif KR"/>
              </a:rPr>
              <a:t>🚫 목표 여럿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A6333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사전예약+뉴스레터+매장찾기+문의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A6333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방문자가 뭘 해야 할지 혼란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A6333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CTA가 흩어져 전환율 ↓</a:t>
            </a:r>
          </a:p>
        </p:txBody>
      </p:sp>
      <p:sp>
        <p:nvSpPr>
          <p:cNvPr id="5" name="Rectangle 4"/>
          <p:cNvSpPr/>
          <p:nvPr/>
        </p:nvSpPr>
        <p:spPr>
          <a:xfrm>
            <a:off x="6245352" y="1920240"/>
            <a:ext cx="5029200" cy="4114800"/>
          </a:xfrm>
          <a:prstGeom prst="rect">
            <a:avLst/>
          </a:prstGeom>
          <a:solidFill>
            <a:srgbClr val="E7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20040" rIns="32004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700" b="1">
                <a:solidFill>
                  <a:srgbClr val="2C6B44"/>
                </a:solidFill>
                <a:latin typeface="Noto Serif KR"/>
                <a:ea typeface="Noto Serif KR"/>
                <a:cs typeface="Noto Serif KR"/>
              </a:rPr>
              <a:t>✅ 1페이지 1목표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2C6B44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목표는 "사전예약" 하나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2C6B44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CTA를 히어로·하단에 반복 배치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2C6B44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나머지는 과감히 덜어냄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정리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랜딩페이지·이벤트 페이지 구조 설계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10332720" cy="1636776"/>
          </a:xfrm>
          <a:prstGeom prst="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28600" rIns="365760" bIns="18288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57A1A"/>
                </a:solidFill>
                <a:latin typeface="JetBrains Mono"/>
                <a:ea typeface="JetBrains Mono"/>
                <a:cs typeface="JetBrains Mono"/>
              </a:rPr>
              <a:t>⚠  흔한 실수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한 페이지에 목표가 여럿이면 전환이 분산된다 → 1페이지 1목표.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CTA가 한 번만 있으면 놓친다 → 상단·하단 반복 배치.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739896"/>
            <a:ext cx="10332720" cy="100584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01168" rIns="365760" bIns="182880" rtlCol="0" anchor="t"/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📦  결과물 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캠페인용 페이지 구조(와이어프레임) + 조정된 Stitch 시안.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도구 가이드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이 모듈에서 쓰는 도구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865CF8A0-0A97-B744-9F66-3655CD4230AB}"/>
              </a:ext>
            </a:extLst>
          </p:cNvPr>
          <p:cNvSpPr/>
          <p:nvPr/>
        </p:nvSpPr>
        <p:spPr>
          <a:xfrm>
            <a:off x="825500" y="1905000"/>
            <a:ext cx="50800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48922153-5193-8C48-8EDB-94C2467B5D1A}"/>
              </a:ext>
            </a:extLst>
          </p:cNvPr>
          <p:cNvSpPr/>
          <p:nvPr/>
        </p:nvSpPr>
        <p:spPr>
          <a:xfrm>
            <a:off x="1130300" y="2209800"/>
            <a:ext cx="4470400" cy="7366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3D6B96-FFD6-FD43-BFBE-AE1756CCC362}"/>
              </a:ext>
            </a:extLst>
          </p:cNvPr>
          <p:cNvSpPr txBox="1"/>
          <p:nvPr/>
        </p:nvSpPr>
        <p:spPr>
          <a:xfrm>
            <a:off x="1130300" y="2209800"/>
            <a:ext cx="4470400" cy="736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FFFFFF"/>
                </a:solidFill>
                <a:latin typeface="Pretendard"/>
                <a:ea typeface="Pretendard"/>
              </a:rPr>
              <a:t>Google Stitch</a:t>
            </a:r>
            <a:endParaRPr lang="ko-KR" altLang="en-US" sz="22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30E601-F9B1-A740-8F64-EEB7F6AD7592}"/>
              </a:ext>
            </a:extLst>
          </p:cNvPr>
          <p:cNvSpPr txBox="1"/>
          <p:nvPr/>
        </p:nvSpPr>
        <p:spPr>
          <a:xfrm>
            <a:off x="1181100" y="3200400"/>
            <a:ext cx="43688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150" b="1">
                <a:solidFill>
                  <a:srgbClr val="576176"/>
                </a:solidFill>
                <a:latin typeface="JetBrains Mono"/>
              </a:rPr>
              <a:t>STRENGTH · </a:t>
            </a:r>
            <a:r>
              <a:rPr lang="ko-KR" altLang="en-US" sz="1150" b="1">
                <a:solidFill>
                  <a:srgbClr val="576176"/>
                </a:solidFill>
                <a:latin typeface="JetBrains Mono"/>
              </a:rPr>
              <a:t>강점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CEDBD6-413F-024B-B3C6-B75DD18D810D}"/>
              </a:ext>
            </a:extLst>
          </p:cNvPr>
          <p:cNvSpPr txBox="1"/>
          <p:nvPr/>
        </p:nvSpPr>
        <p:spPr>
          <a:xfrm>
            <a:off x="1181100" y="3530600"/>
            <a:ext cx="4368800" cy="1397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500">
                <a:solidFill>
                  <a:srgbClr val="2A3B57"/>
                </a:solidFill>
                <a:latin typeface="Pretendard"/>
              </a:rPr>
              <a:t>자연어로 </a:t>
            </a:r>
            <a:r>
              <a:rPr lang="en-US" altLang="ko-KR" sz="1500">
                <a:solidFill>
                  <a:srgbClr val="2A3B57"/>
                </a:solidFill>
                <a:latin typeface="Pretendard"/>
                <a:ea typeface="Pretendard"/>
              </a:rPr>
              <a:t>UI </a:t>
            </a:r>
            <a:r>
              <a:rPr lang="ko-KR" altLang="en-US" sz="1500">
                <a:solidFill>
                  <a:srgbClr val="2A3B57"/>
                </a:solidFill>
                <a:latin typeface="Pretendard"/>
              </a:rPr>
              <a:t>시안을 생성한다</a:t>
            </a:r>
            <a:r>
              <a:rPr lang="en-US" altLang="ko-KR" sz="1500">
                <a:solidFill>
                  <a:srgbClr val="2A3B57"/>
                </a:solidFill>
                <a:latin typeface="Pretendard"/>
                <a:ea typeface="Pretendard"/>
              </a:rPr>
              <a:t>. </a:t>
            </a:r>
            <a:r>
              <a:rPr lang="ko-KR" altLang="en-US" sz="1500">
                <a:solidFill>
                  <a:srgbClr val="2A3B57"/>
                </a:solidFill>
                <a:latin typeface="Pretendard"/>
              </a:rPr>
              <a:t>브리프는 영어로 쓰면 더 안정적이고</a:t>
            </a:r>
            <a:r>
              <a:rPr lang="en-US" altLang="ko-KR" sz="1500">
                <a:solidFill>
                  <a:srgbClr val="2A3B57"/>
                </a:solidFill>
                <a:latin typeface="Pretendard"/>
                <a:ea typeface="Pretendard"/>
              </a:rPr>
              <a:t>, </a:t>
            </a:r>
            <a:r>
              <a:rPr lang="ko-KR" altLang="en-US" sz="1500">
                <a:solidFill>
                  <a:srgbClr val="2A3B57"/>
                </a:solidFill>
                <a:latin typeface="Pretendard"/>
              </a:rPr>
              <a:t>부분 수정으로 반복한다</a:t>
            </a:r>
            <a:r>
              <a:rPr lang="en-US" altLang="ko-KR" sz="1500">
                <a:solidFill>
                  <a:srgbClr val="2A3B57"/>
                </a:solidFill>
                <a:latin typeface="Pretendard"/>
                <a:ea typeface="Pretendard"/>
              </a:rPr>
              <a:t>.</a:t>
            </a:r>
            <a:endParaRPr lang="ko-KR" altLang="en-US" sz="1500">
              <a:solidFill>
                <a:srgbClr val="2A3B57"/>
              </a:solidFill>
              <a:latin typeface="Pretendar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6C9F28-A4E0-C246-81AE-8693E80ED3C8}"/>
              </a:ext>
            </a:extLst>
          </p:cNvPr>
          <p:cNvSpPr txBox="1"/>
          <p:nvPr/>
        </p:nvSpPr>
        <p:spPr>
          <a:xfrm>
            <a:off x="1181100" y="5054600"/>
            <a:ext cx="43688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150" b="1">
                <a:solidFill>
                  <a:srgbClr val="14213D"/>
                </a:solidFill>
                <a:latin typeface="JetBrains Mono"/>
              </a:rPr>
              <a:t>이렇게 쓰세요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98E60BC3-CA00-D348-82D7-45717F6F71BD}"/>
              </a:ext>
            </a:extLst>
          </p:cNvPr>
          <p:cNvSpPr/>
          <p:nvPr/>
        </p:nvSpPr>
        <p:spPr>
          <a:xfrm>
            <a:off x="1181100" y="5334000"/>
            <a:ext cx="4368800" cy="685800"/>
          </a:xfrm>
          <a:prstGeom prst="roundRect">
            <a:avLst/>
          </a:prstGeom>
          <a:solidFill>
            <a:srgbClr val="E7ECF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534B51-E695-244C-9A6C-0F2941B417EB}"/>
              </a:ext>
            </a:extLst>
          </p:cNvPr>
          <p:cNvSpPr txBox="1"/>
          <p:nvPr/>
        </p:nvSpPr>
        <p:spPr>
          <a:xfrm>
            <a:off x="1181100" y="5334000"/>
            <a:ext cx="43688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50" b="1">
                <a:solidFill>
                  <a:srgbClr val="14213D"/>
                </a:solidFill>
                <a:latin typeface="Pretendard"/>
              </a:rPr>
              <a:t>자연어 → </a:t>
            </a:r>
            <a:r>
              <a:rPr lang="en-US" altLang="ko-KR" sz="1450" b="1">
                <a:solidFill>
                  <a:srgbClr val="14213D"/>
                </a:solidFill>
                <a:latin typeface="Pretendard"/>
                <a:ea typeface="Pretendard"/>
              </a:rPr>
              <a:t>UI </a:t>
            </a:r>
            <a:r>
              <a:rPr lang="ko-KR" altLang="en-US" sz="1450" b="1">
                <a:solidFill>
                  <a:srgbClr val="14213D"/>
                </a:solidFill>
                <a:latin typeface="Pretendard"/>
              </a:rPr>
              <a:t>시안 생성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770224CD-B5E4-6D47-AF1E-82EB63163430}"/>
              </a:ext>
            </a:extLst>
          </p:cNvPr>
          <p:cNvSpPr/>
          <p:nvPr/>
        </p:nvSpPr>
        <p:spPr>
          <a:xfrm>
            <a:off x="6286500" y="1905000"/>
            <a:ext cx="50800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E49BEEA0-06D8-0F4B-9C52-A16D4A4092B2}"/>
              </a:ext>
            </a:extLst>
          </p:cNvPr>
          <p:cNvSpPr/>
          <p:nvPr/>
        </p:nvSpPr>
        <p:spPr>
          <a:xfrm>
            <a:off x="6591300" y="2209800"/>
            <a:ext cx="4470400" cy="736600"/>
          </a:xfrm>
          <a:prstGeom prst="roundRect">
            <a:avLst/>
          </a:prstGeom>
          <a:solidFill>
            <a:srgbClr val="1D4E8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373ECD-A9E9-D246-A94E-8831176BFF0F}"/>
              </a:ext>
            </a:extLst>
          </p:cNvPr>
          <p:cNvSpPr txBox="1"/>
          <p:nvPr/>
        </p:nvSpPr>
        <p:spPr>
          <a:xfrm>
            <a:off x="6591300" y="2209800"/>
            <a:ext cx="4470400" cy="736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FFFFFF"/>
                </a:solidFill>
                <a:latin typeface="Pretendard"/>
                <a:ea typeface="Pretendard"/>
              </a:rPr>
              <a:t>Figma (</a:t>
            </a:r>
            <a:r>
              <a:rPr lang="ko-KR" altLang="en-US" sz="2200" b="1">
                <a:solidFill>
                  <a:srgbClr val="FFFFFF"/>
                </a:solidFill>
                <a:latin typeface="Pretendard"/>
              </a:rPr>
              <a:t>선택</a:t>
            </a:r>
            <a:r>
              <a:rPr lang="en-US" altLang="ko-KR" sz="2200" b="1">
                <a:solidFill>
                  <a:srgbClr val="FFFFFF"/>
                </a:solidFill>
                <a:latin typeface="Pretendard"/>
                <a:ea typeface="Pretendard"/>
              </a:rPr>
              <a:t>)</a:t>
            </a:r>
            <a:endParaRPr lang="ko-KR" altLang="en-US" sz="22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C43AFC-F35A-AB4F-9DE3-7DEDB1DA2A56}"/>
              </a:ext>
            </a:extLst>
          </p:cNvPr>
          <p:cNvSpPr txBox="1"/>
          <p:nvPr/>
        </p:nvSpPr>
        <p:spPr>
          <a:xfrm>
            <a:off x="6642100" y="3200400"/>
            <a:ext cx="43688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150" b="1">
                <a:solidFill>
                  <a:srgbClr val="576176"/>
                </a:solidFill>
                <a:latin typeface="JetBrains Mono"/>
              </a:rPr>
              <a:t>STRENGTH · </a:t>
            </a:r>
            <a:r>
              <a:rPr lang="ko-KR" altLang="en-US" sz="1150" b="1">
                <a:solidFill>
                  <a:srgbClr val="576176"/>
                </a:solidFill>
                <a:latin typeface="JetBrains Mono"/>
              </a:rPr>
              <a:t>강점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8DD7A6-E6A8-1046-9F91-837C953C127F}"/>
              </a:ext>
            </a:extLst>
          </p:cNvPr>
          <p:cNvSpPr txBox="1"/>
          <p:nvPr/>
        </p:nvSpPr>
        <p:spPr>
          <a:xfrm>
            <a:off x="6642100" y="3530600"/>
            <a:ext cx="4368800" cy="1397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500">
                <a:solidFill>
                  <a:srgbClr val="2A3B57"/>
                </a:solidFill>
                <a:latin typeface="Pretendard"/>
              </a:rPr>
              <a:t>생성된 시안을 정교하게 편집</a:t>
            </a:r>
            <a:r>
              <a:rPr lang="en-US" altLang="ko-KR" sz="1500">
                <a:solidFill>
                  <a:srgbClr val="2A3B57"/>
                </a:solidFill>
                <a:latin typeface="Pretendard"/>
                <a:ea typeface="Pretendard"/>
              </a:rPr>
              <a:t>·</a:t>
            </a:r>
            <a:r>
              <a:rPr lang="ko-KR" altLang="en-US" sz="1500">
                <a:solidFill>
                  <a:srgbClr val="2A3B57"/>
                </a:solidFill>
                <a:latin typeface="Pretendard"/>
              </a:rPr>
              <a:t>정리할 때 쓴다</a:t>
            </a:r>
            <a:r>
              <a:rPr lang="en-US" altLang="ko-KR" sz="1500">
                <a:solidFill>
                  <a:srgbClr val="2A3B57"/>
                </a:solidFill>
                <a:latin typeface="Pretendard"/>
                <a:ea typeface="Pretendard"/>
              </a:rPr>
              <a:t>. </a:t>
            </a:r>
            <a:r>
              <a:rPr lang="ko-KR" altLang="en-US" sz="1500">
                <a:solidFill>
                  <a:srgbClr val="2A3B57"/>
                </a:solidFill>
                <a:latin typeface="Pretendard"/>
              </a:rPr>
              <a:t>컴포넌트</a:t>
            </a:r>
            <a:r>
              <a:rPr lang="en-US" altLang="ko-KR" sz="1500">
                <a:solidFill>
                  <a:srgbClr val="2A3B57"/>
                </a:solidFill>
                <a:latin typeface="Pretendard"/>
                <a:ea typeface="Pretendard"/>
              </a:rPr>
              <a:t>·</a:t>
            </a:r>
            <a:r>
              <a:rPr lang="ko-KR" altLang="en-US" sz="1500">
                <a:solidFill>
                  <a:srgbClr val="2A3B57"/>
                </a:solidFill>
                <a:latin typeface="Pretendard"/>
              </a:rPr>
              <a:t>간격</a:t>
            </a:r>
            <a:r>
              <a:rPr lang="en-US" altLang="ko-KR" sz="1500">
                <a:solidFill>
                  <a:srgbClr val="2A3B57"/>
                </a:solidFill>
                <a:latin typeface="Pretendard"/>
                <a:ea typeface="Pretendard"/>
              </a:rPr>
              <a:t>·</a:t>
            </a:r>
            <a:r>
              <a:rPr lang="ko-KR" altLang="en-US" sz="1500">
                <a:solidFill>
                  <a:srgbClr val="2A3B57"/>
                </a:solidFill>
                <a:latin typeface="Pretendard"/>
              </a:rPr>
              <a:t>정렬을 손본다</a:t>
            </a:r>
            <a:r>
              <a:rPr lang="en-US" altLang="ko-KR" sz="1500">
                <a:solidFill>
                  <a:srgbClr val="2A3B57"/>
                </a:solidFill>
                <a:latin typeface="Pretendard"/>
                <a:ea typeface="Pretendard"/>
              </a:rPr>
              <a:t>.</a:t>
            </a:r>
            <a:endParaRPr lang="ko-KR" altLang="en-US" sz="1500">
              <a:solidFill>
                <a:srgbClr val="2A3B57"/>
              </a:solidFill>
              <a:latin typeface="Pretendar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1FFAAD-B0A5-EA40-A4B8-5433E157B0C9}"/>
              </a:ext>
            </a:extLst>
          </p:cNvPr>
          <p:cNvSpPr txBox="1"/>
          <p:nvPr/>
        </p:nvSpPr>
        <p:spPr>
          <a:xfrm>
            <a:off x="6642100" y="5054600"/>
            <a:ext cx="43688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150" b="1">
                <a:solidFill>
                  <a:srgbClr val="1D4E89"/>
                </a:solidFill>
                <a:latin typeface="JetBrains Mono"/>
              </a:rPr>
              <a:t>이렇게 쓰세요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C3ADEBA7-B97E-2B46-A11D-329D63425DD8}"/>
              </a:ext>
            </a:extLst>
          </p:cNvPr>
          <p:cNvSpPr/>
          <p:nvPr/>
        </p:nvSpPr>
        <p:spPr>
          <a:xfrm>
            <a:off x="6642100" y="5334000"/>
            <a:ext cx="4368800" cy="685800"/>
          </a:xfrm>
          <a:prstGeom prst="roundRect">
            <a:avLst/>
          </a:prstGeom>
          <a:solidFill>
            <a:srgbClr val="E4EC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4AE6BB-DF16-8C49-9987-CD3F33623753}"/>
              </a:ext>
            </a:extLst>
          </p:cNvPr>
          <p:cNvSpPr txBox="1"/>
          <p:nvPr/>
        </p:nvSpPr>
        <p:spPr>
          <a:xfrm>
            <a:off x="6642100" y="5334000"/>
            <a:ext cx="43688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50" b="1">
                <a:solidFill>
                  <a:srgbClr val="1D4E89"/>
                </a:solidFill>
                <a:latin typeface="Pretendard"/>
              </a:rPr>
              <a:t>정교한 편집</a:t>
            </a:r>
            <a:r>
              <a:rPr lang="en-US" altLang="ko-KR" sz="1450" b="1">
                <a:solidFill>
                  <a:srgbClr val="1D4E89"/>
                </a:solidFill>
                <a:latin typeface="Pretendard"/>
                <a:ea typeface="Pretendard"/>
              </a:rPr>
              <a:t>·</a:t>
            </a:r>
            <a:r>
              <a:rPr lang="ko-KR" altLang="en-US" sz="1450" b="1">
                <a:solidFill>
                  <a:srgbClr val="1D4E89"/>
                </a:solidFill>
                <a:latin typeface="Pretendard"/>
              </a:rPr>
              <a:t>정리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CHECKLIST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모듈 체크리스트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201456DB-A3FD-6F46-993E-AD5EA929851A}"/>
              </a:ext>
            </a:extLst>
          </p:cNvPr>
          <p:cNvSpPr/>
          <p:nvPr/>
        </p:nvSpPr>
        <p:spPr>
          <a:xfrm>
            <a:off x="825500" y="2006600"/>
            <a:ext cx="10541000" cy="12192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E5423025-A137-B249-9AF4-84C05C4F0A8D}"/>
              </a:ext>
            </a:extLst>
          </p:cNvPr>
          <p:cNvSpPr/>
          <p:nvPr/>
        </p:nvSpPr>
        <p:spPr>
          <a:xfrm>
            <a:off x="825500" y="2006600"/>
            <a:ext cx="76200" cy="1219200"/>
          </a:xfrm>
          <a:prstGeom prst="round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E2B0FC82-95B6-0144-B80D-D646766657C9}"/>
              </a:ext>
            </a:extLst>
          </p:cNvPr>
          <p:cNvSpPr/>
          <p:nvPr/>
        </p:nvSpPr>
        <p:spPr>
          <a:xfrm>
            <a:off x="1270000" y="2362200"/>
            <a:ext cx="508000" cy="508000"/>
          </a:xfrm>
          <a:prstGeom prst="roundRect">
            <a:avLst/>
          </a:prstGeom>
          <a:solidFill>
            <a:srgbClr val="FFFFFF"/>
          </a:solidFill>
          <a:ln w="22225" cap="flat" cmpd="sng" algn="ctr">
            <a:solidFill>
              <a:srgbClr val="14213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2200" b="1">
                <a:solidFill>
                  <a:srgbClr val="E8A33D"/>
                </a:solidFill>
              </a:rPr>
              <a:t>✓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4BF7F0-6843-0248-B29F-DCA28085338E}"/>
              </a:ext>
            </a:extLst>
          </p:cNvPr>
          <p:cNvSpPr txBox="1"/>
          <p:nvPr/>
        </p:nvSpPr>
        <p:spPr>
          <a:xfrm>
            <a:off x="2082800" y="2286000"/>
            <a:ext cx="8890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14213D"/>
                </a:solidFill>
              </a:rPr>
              <a:t>페이지 목적</a:t>
            </a:r>
            <a:r>
              <a:rPr lang="en-US" altLang="ko-KR" b="1">
                <a:solidFill>
                  <a:srgbClr val="14213D"/>
                </a:solidFill>
                <a:ea typeface="Pretendard"/>
              </a:rPr>
              <a:t>·CTA</a:t>
            </a:r>
            <a:r>
              <a:rPr lang="ko-KR" altLang="en-US" b="1">
                <a:solidFill>
                  <a:srgbClr val="14213D"/>
                </a:solidFill>
              </a:rPr>
              <a:t>를 한 문장으로 정의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FE05B5-2F6A-104F-8E02-6FD6C10581F1}"/>
              </a:ext>
            </a:extLst>
          </p:cNvPr>
          <p:cNvSpPr txBox="1"/>
          <p:nvPr/>
        </p:nvSpPr>
        <p:spPr>
          <a:xfrm>
            <a:off x="2082800" y="2667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50">
                <a:solidFill>
                  <a:srgbClr val="576176"/>
                </a:solidFill>
              </a:rPr>
              <a:t>이 화면이 노리는 단 하나의 행동을 적었다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11764EBF-ED0D-5F44-B1CD-6C120575204A}"/>
              </a:ext>
            </a:extLst>
          </p:cNvPr>
          <p:cNvSpPr/>
          <p:nvPr/>
        </p:nvSpPr>
        <p:spPr>
          <a:xfrm>
            <a:off x="825500" y="3403600"/>
            <a:ext cx="10541000" cy="12192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1A382D48-709F-D744-85F1-570D58426C9D}"/>
              </a:ext>
            </a:extLst>
          </p:cNvPr>
          <p:cNvSpPr/>
          <p:nvPr/>
        </p:nvSpPr>
        <p:spPr>
          <a:xfrm>
            <a:off x="825500" y="3403600"/>
            <a:ext cx="76200" cy="1219200"/>
          </a:xfrm>
          <a:prstGeom prst="round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F537F0B4-DE13-B148-BE51-64DFF6156513}"/>
              </a:ext>
            </a:extLst>
          </p:cNvPr>
          <p:cNvSpPr/>
          <p:nvPr/>
        </p:nvSpPr>
        <p:spPr>
          <a:xfrm>
            <a:off x="1270000" y="3759200"/>
            <a:ext cx="508000" cy="508000"/>
          </a:xfrm>
          <a:prstGeom prst="roundRect">
            <a:avLst/>
          </a:prstGeom>
          <a:solidFill>
            <a:srgbClr val="FFFFFF"/>
          </a:solidFill>
          <a:ln w="22225" cap="flat" cmpd="sng" algn="ctr">
            <a:solidFill>
              <a:srgbClr val="14213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2200" b="1">
                <a:solidFill>
                  <a:srgbClr val="E8A33D"/>
                </a:solidFill>
              </a:rPr>
              <a:t>✓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4767FC-2D6C-894A-9709-77E5BFB9758F}"/>
              </a:ext>
            </a:extLst>
          </p:cNvPr>
          <p:cNvSpPr txBox="1"/>
          <p:nvPr/>
        </p:nvSpPr>
        <p:spPr>
          <a:xfrm>
            <a:off x="2082800" y="3683000"/>
            <a:ext cx="8890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b="1">
                <a:solidFill>
                  <a:srgbClr val="14213D"/>
                </a:solidFill>
                <a:ea typeface="Pretendard"/>
              </a:rPr>
              <a:t>Stitch</a:t>
            </a:r>
            <a:r>
              <a:rPr lang="ko-KR" altLang="en-US" b="1">
                <a:solidFill>
                  <a:srgbClr val="14213D"/>
                </a:solidFill>
              </a:rPr>
              <a:t>로 시안 생성 </a:t>
            </a:r>
            <a:r>
              <a:rPr lang="en-US" altLang="ko-KR" b="1">
                <a:solidFill>
                  <a:srgbClr val="14213D"/>
                </a:solidFill>
                <a:ea typeface="Pretendard"/>
              </a:rPr>
              <a:t>· </a:t>
            </a:r>
            <a:r>
              <a:rPr lang="ko-KR" altLang="en-US" b="1">
                <a:solidFill>
                  <a:srgbClr val="14213D"/>
                </a:solidFill>
              </a:rPr>
              <a:t>반복 수정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28C4C6-7055-F341-94BB-883DFE8692BF}"/>
              </a:ext>
            </a:extLst>
          </p:cNvPr>
          <p:cNvSpPr txBox="1"/>
          <p:nvPr/>
        </p:nvSpPr>
        <p:spPr>
          <a:xfrm>
            <a:off x="2082800" y="4064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50">
                <a:solidFill>
                  <a:srgbClr val="576176"/>
                </a:solidFill>
              </a:rPr>
              <a:t>브리프 입력 </a:t>
            </a:r>
            <a:r>
              <a:rPr lang="en-US" altLang="ko-KR" sz="1350">
                <a:solidFill>
                  <a:srgbClr val="576176"/>
                </a:solidFill>
                <a:ea typeface="Pretendard"/>
              </a:rPr>
              <a:t>+ </a:t>
            </a:r>
            <a:r>
              <a:rPr lang="ko-KR" altLang="en-US" sz="1350">
                <a:solidFill>
                  <a:srgbClr val="576176"/>
                </a:solidFill>
              </a:rPr>
              <a:t>부분 수정 </a:t>
            </a:r>
            <a:r>
              <a:rPr lang="en-US" altLang="ko-KR" sz="1350">
                <a:solidFill>
                  <a:srgbClr val="576176"/>
                </a:solidFill>
                <a:ea typeface="Pretendard"/>
              </a:rPr>
              <a:t>2~3</a:t>
            </a:r>
            <a:r>
              <a:rPr lang="ko-KR" altLang="en-US" sz="1350">
                <a:solidFill>
                  <a:srgbClr val="576176"/>
                </a:solidFill>
              </a:rPr>
              <a:t>회</a:t>
            </a: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6407E4E6-0C26-004E-952C-AFF11884E7BD}"/>
              </a:ext>
            </a:extLst>
          </p:cNvPr>
          <p:cNvSpPr/>
          <p:nvPr/>
        </p:nvSpPr>
        <p:spPr>
          <a:xfrm>
            <a:off x="825500" y="4800600"/>
            <a:ext cx="10541000" cy="12192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EE8923E6-9385-E74B-94AF-CA7854CD8EA5}"/>
              </a:ext>
            </a:extLst>
          </p:cNvPr>
          <p:cNvSpPr/>
          <p:nvPr/>
        </p:nvSpPr>
        <p:spPr>
          <a:xfrm>
            <a:off x="825500" y="4800600"/>
            <a:ext cx="76200" cy="1219200"/>
          </a:xfrm>
          <a:prstGeom prst="round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1362CB77-2F47-324C-8F1A-2AEE6693DC16}"/>
              </a:ext>
            </a:extLst>
          </p:cNvPr>
          <p:cNvSpPr/>
          <p:nvPr/>
        </p:nvSpPr>
        <p:spPr>
          <a:xfrm>
            <a:off x="1270000" y="5156200"/>
            <a:ext cx="508000" cy="508000"/>
          </a:xfrm>
          <a:prstGeom prst="roundRect">
            <a:avLst/>
          </a:prstGeom>
          <a:solidFill>
            <a:srgbClr val="FFFFFF"/>
          </a:solidFill>
          <a:ln w="22225" cap="flat" cmpd="sng" algn="ctr">
            <a:solidFill>
              <a:srgbClr val="14213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2200" b="1">
                <a:solidFill>
                  <a:srgbClr val="E8A33D"/>
                </a:solidFill>
              </a:rPr>
              <a:t>✓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F44A52-0223-0747-8A4D-A2D6454AC1FD}"/>
              </a:ext>
            </a:extLst>
          </p:cNvPr>
          <p:cNvSpPr txBox="1"/>
          <p:nvPr/>
        </p:nvSpPr>
        <p:spPr>
          <a:xfrm>
            <a:off x="2082800" y="5080000"/>
            <a:ext cx="8890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14213D"/>
                </a:solidFill>
              </a:rPr>
              <a:t>단일 목표로 섹션 구조 정리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2C3CD3-E0AF-5541-A7FA-F2D4E94D361B}"/>
              </a:ext>
            </a:extLst>
          </p:cNvPr>
          <p:cNvSpPr txBox="1"/>
          <p:nvPr/>
        </p:nvSpPr>
        <p:spPr>
          <a:xfrm>
            <a:off x="2082800" y="5461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50">
                <a:solidFill>
                  <a:srgbClr val="576176"/>
                </a:solidFill>
              </a:rPr>
              <a:t>히어로 </a:t>
            </a:r>
            <a:r>
              <a:rPr lang="en-US" altLang="ko-KR" sz="1350">
                <a:solidFill>
                  <a:srgbClr val="576176"/>
                </a:solidFill>
                <a:ea typeface="Pretendard"/>
              </a:rPr>
              <a:t>· </a:t>
            </a:r>
            <a:r>
              <a:rPr lang="ko-KR" altLang="en-US" sz="1350">
                <a:solidFill>
                  <a:srgbClr val="576176"/>
                </a:solidFill>
              </a:rPr>
              <a:t>특징 </a:t>
            </a:r>
            <a:r>
              <a:rPr lang="en-US" altLang="ko-KR" sz="1350">
                <a:solidFill>
                  <a:srgbClr val="576176"/>
                </a:solidFill>
                <a:ea typeface="Pretendard"/>
              </a:rPr>
              <a:t>· </a:t>
            </a:r>
            <a:r>
              <a:rPr lang="ko-KR" altLang="en-US" sz="1350">
                <a:solidFill>
                  <a:srgbClr val="576176"/>
                </a:solidFill>
              </a:rPr>
              <a:t>후기 </a:t>
            </a:r>
            <a:r>
              <a:rPr lang="en-US" altLang="ko-KR" sz="1350">
                <a:solidFill>
                  <a:srgbClr val="576176"/>
                </a:solidFill>
                <a:ea typeface="Pretendard"/>
              </a:rPr>
              <a:t>· CTA </a:t>
            </a:r>
            <a:r>
              <a:rPr lang="ko-KR" altLang="en-US" sz="1350">
                <a:solidFill>
                  <a:srgbClr val="576176"/>
                </a:solidFill>
              </a:rPr>
              <a:t>흐름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06D06F3F-8534-0447-A9B0-8BAC6ACCDFDC}"/>
              </a:ext>
            </a:extLst>
          </p:cNvPr>
          <p:cNvSpPr/>
          <p:nvPr/>
        </p:nvSpPr>
        <p:spPr>
          <a:xfrm>
            <a:off x="825500" y="1905000"/>
            <a:ext cx="10541000" cy="31750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5A392BA5-CED7-6647-9167-A6684BB62B74}"/>
              </a:ext>
            </a:extLst>
          </p:cNvPr>
          <p:cNvSpPr/>
          <p:nvPr/>
        </p:nvSpPr>
        <p:spPr>
          <a:xfrm>
            <a:off x="825500" y="1905000"/>
            <a:ext cx="101600" cy="3175000"/>
          </a:xfrm>
          <a:prstGeom prst="round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478838-613E-3B40-9FF4-D7A87AC3F32A}"/>
              </a:ext>
            </a:extLst>
          </p:cNvPr>
          <p:cNvSpPr txBox="1"/>
          <p:nvPr/>
        </p:nvSpPr>
        <p:spPr>
          <a:xfrm>
            <a:off x="1333500" y="2286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E8A33D"/>
                </a:solidFill>
                <a:latin typeface="JetBrains Mono"/>
              </a:rPr>
              <a:t>MISSION 05 · </a:t>
            </a:r>
            <a:r>
              <a:rPr lang="ko-KR" altLang="en-US" sz="1500" b="1">
                <a:solidFill>
                  <a:srgbClr val="E8A33D"/>
                </a:solidFill>
                <a:latin typeface="JetBrains Mono"/>
              </a:rPr>
              <a:t>도장깨기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C333B4-0B6F-3D4D-90E5-452D7D584C10}"/>
              </a:ext>
            </a:extLst>
          </p:cNvPr>
          <p:cNvSpPr txBox="1"/>
          <p:nvPr/>
        </p:nvSpPr>
        <p:spPr>
          <a:xfrm>
            <a:off x="1333500" y="2641600"/>
            <a:ext cx="88900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3000" b="1">
                <a:solidFill>
                  <a:srgbClr val="FFFFFF"/>
                </a:solidFill>
                <a:latin typeface="Noto Serif KR"/>
              </a:rPr>
              <a:t>UI </a:t>
            </a:r>
            <a:r>
              <a:rPr lang="ko-KR" altLang="en-US" sz="3000" b="1">
                <a:solidFill>
                  <a:srgbClr val="FFFFFF"/>
                </a:solidFill>
                <a:latin typeface="Noto Serif KR"/>
              </a:rPr>
              <a:t>시안 만들기 </a:t>
            </a:r>
            <a:r>
              <a:rPr lang="en-US" altLang="ko-KR" sz="3000" b="1">
                <a:solidFill>
                  <a:srgbClr val="FFFFFF"/>
                </a:solidFill>
                <a:latin typeface="Noto Serif KR"/>
              </a:rPr>
              <a:t>(Stitch)</a:t>
            </a:r>
            <a:endParaRPr lang="ko-KR" altLang="en-US" sz="3000" b="1">
              <a:solidFill>
                <a:srgbClr val="FFFFFF"/>
              </a:solidFill>
              <a:latin typeface="Noto Serif KR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98B5BD51-08AE-994B-8DFB-C1B1BE10C8F1}"/>
              </a:ext>
            </a:extLst>
          </p:cNvPr>
          <p:cNvSpPr/>
          <p:nvPr/>
        </p:nvSpPr>
        <p:spPr>
          <a:xfrm>
            <a:off x="1333500" y="3454400"/>
            <a:ext cx="9525000" cy="1320800"/>
          </a:xfrm>
          <a:prstGeom prst="roundRect">
            <a:avLst/>
          </a:prstGeom>
          <a:solidFill>
            <a:srgbClr val="20314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DB0E22-C0D3-4844-8EDE-6F8A360FA604}"/>
              </a:ext>
            </a:extLst>
          </p:cNvPr>
          <p:cNvSpPr txBox="1"/>
          <p:nvPr/>
        </p:nvSpPr>
        <p:spPr>
          <a:xfrm>
            <a:off x="1587500" y="3657600"/>
            <a:ext cx="9017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FFFFFF"/>
                </a:solidFill>
              </a:rPr>
              <a:t>원하는 홍보 화면을 자연어로 설명하고 시안을 생성한다</a:t>
            </a:r>
            <a:r>
              <a:rPr lang="en-US" altLang="ko-KR" b="1">
                <a:solidFill>
                  <a:srgbClr val="FFFFFF"/>
                </a:solidFill>
                <a:ea typeface="Pretendard"/>
              </a:rPr>
              <a:t>.</a:t>
            </a:r>
            <a:endParaRPr lang="ko-KR" altLang="en-US" b="1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47E9B3-685C-6D4A-8159-9184F85EB877}"/>
              </a:ext>
            </a:extLst>
          </p:cNvPr>
          <p:cNvSpPr txBox="1"/>
          <p:nvPr/>
        </p:nvSpPr>
        <p:spPr>
          <a:xfrm>
            <a:off x="1587500" y="4140200"/>
            <a:ext cx="9017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50">
                <a:solidFill>
                  <a:srgbClr val="E8A33D"/>
                </a:solidFill>
              </a:rPr>
              <a:t>→ ‘히어로 더 크게’처럼 부분 수정으로 </a:t>
            </a:r>
            <a:r>
              <a:rPr lang="en-US" altLang="ko-KR" sz="1450">
                <a:solidFill>
                  <a:srgbClr val="E8A33D"/>
                </a:solidFill>
                <a:ea typeface="Pretendard"/>
              </a:rPr>
              <a:t>2~3</a:t>
            </a:r>
            <a:r>
              <a:rPr lang="ko-KR" altLang="en-US" sz="1450">
                <a:solidFill>
                  <a:srgbClr val="E8A33D"/>
                </a:solidFill>
              </a:rPr>
              <a:t>회 다듬는다</a:t>
            </a:r>
            <a:r>
              <a:rPr lang="en-US" altLang="ko-KR" sz="1450">
                <a:solidFill>
                  <a:srgbClr val="E8A33D"/>
                </a:solidFill>
                <a:ea typeface="Pretendard"/>
              </a:rPr>
              <a:t>.</a:t>
            </a:r>
            <a:endParaRPr lang="ko-KR" altLang="en-US" sz="1450">
              <a:solidFill>
                <a:srgbClr val="E8A33D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A5BE74A5-4EF4-6740-BFAD-BF377ED81124}"/>
              </a:ext>
            </a:extLst>
          </p:cNvPr>
          <p:cNvSpPr/>
          <p:nvPr/>
        </p:nvSpPr>
        <p:spPr>
          <a:xfrm>
            <a:off x="825500" y="5283200"/>
            <a:ext cx="10541000" cy="9398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2840DC-6160-9548-A077-9A6350EC943C}"/>
              </a:ext>
            </a:extLst>
          </p:cNvPr>
          <p:cNvSpPr txBox="1"/>
          <p:nvPr/>
        </p:nvSpPr>
        <p:spPr>
          <a:xfrm>
            <a:off x="1206500" y="5486400"/>
            <a:ext cx="1778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E8A33D"/>
                </a:solidFill>
                <a:latin typeface="JetBrains Mono"/>
              </a:rPr>
              <a:t>▶  NEXT</a:t>
            </a:r>
            <a:endParaRPr lang="ko-KR" altLang="en-US" sz="13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1A9C9E-C703-FC4C-84D8-E9D33F770E0E}"/>
              </a:ext>
            </a:extLst>
          </p:cNvPr>
          <p:cNvSpPr txBox="1"/>
          <p:nvPr/>
        </p:nvSpPr>
        <p:spPr>
          <a:xfrm>
            <a:off x="1206500" y="5740400"/>
            <a:ext cx="96520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b="1">
                <a:solidFill>
                  <a:srgbClr val="14213D"/>
                </a:solidFill>
                <a:ea typeface="Pretendard"/>
              </a:rPr>
              <a:t>M6 · AI </a:t>
            </a:r>
            <a:r>
              <a:rPr lang="ko-KR" altLang="en-US" b="1">
                <a:solidFill>
                  <a:srgbClr val="14213D"/>
                </a:solidFill>
              </a:rPr>
              <a:t>기반 페이지 구성 실무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1554480"/>
            <a:ext cx="1005840" cy="12801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400" b="0">
                <a:solidFill>
                  <a:srgbClr val="BFD2EC"/>
                </a:solidFill>
                <a:latin typeface="JetBrains Mono"/>
                <a:ea typeface="JetBrains Mono"/>
                <a:cs typeface="JetBrains Mono"/>
              </a:rPr>
              <a:t>MODULE 6 · 6교시 · 15:00–15:50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</a:pPr>
            <a:r>
              <a:rPr sz="38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M6. AI 기반 페이지 구성 실무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시안을 실제 홍보 페이지로 구성한다. 섹션별 카피·CTA·사용자 흐름을 설계해 "전환되는 페이지"를 만든다.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5212080"/>
            <a:ext cx="10515600" cy="1051560"/>
          </a:xfrm>
          <a:prstGeom prst="rect">
            <a:avLst/>
          </a:prstGeom>
          <a:solidFill>
            <a:srgbClr val="184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64592" rtlCol="0" anchor="ctr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300"/>
              </a:spcAft>
            </a:pPr>
            <a:r>
              <a:rPr sz="1200" b="1">
                <a:solidFill>
                  <a:srgbClr val="9FC0E6"/>
                </a:solidFill>
                <a:latin typeface="JetBrains Mono"/>
                <a:ea typeface="JetBrains Mono"/>
                <a:cs typeface="JetBrains Mono"/>
              </a:rPr>
              <a:t>이전  </a:t>
            </a:r>
            <a:r>
              <a:rPr sz="1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M5의 시안 구조가 잡혔다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300"/>
              </a:spcAft>
            </a:pPr>
            <a:r>
              <a:rPr sz="12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이번  </a:t>
            </a: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섹션 카피·CTA·사용자 흐름으로 전환되는 페이지를 완성한다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1">
                <a:solidFill>
                  <a:srgbClr val="9FC0E6"/>
                </a:solidFill>
                <a:latin typeface="JetBrains Mono"/>
                <a:ea typeface="JetBrains Mono"/>
                <a:cs typeface="JetBrains Mono"/>
              </a:rPr>
              <a:t>다음  </a:t>
            </a:r>
            <a:r>
              <a:rPr sz="1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 제작 과정을 반복 자산으로 → M7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학습 목표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이 모듈에서 할 수 있게 되는 것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C5584179-3A10-7E42-961D-48F9F8F8F7B4}"/>
              </a:ext>
            </a:extLst>
          </p:cNvPr>
          <p:cNvSpPr/>
          <p:nvPr/>
        </p:nvSpPr>
        <p:spPr>
          <a:xfrm>
            <a:off x="825500" y="1905000"/>
            <a:ext cx="50800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066069-E4DE-EF43-85AE-9C7B89D34428}"/>
              </a:ext>
            </a:extLst>
          </p:cNvPr>
          <p:cNvSpPr txBox="1"/>
          <p:nvPr/>
        </p:nvSpPr>
        <p:spPr>
          <a:xfrm>
            <a:off x="1257300" y="2235200"/>
            <a:ext cx="15240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4000" b="1">
                <a:solidFill>
                  <a:srgbClr val="E8A33D"/>
                </a:solidFill>
                <a:latin typeface="JetBrains Mono"/>
              </a:rPr>
              <a:t>01</a:t>
            </a:r>
            <a:endParaRPr lang="ko-KR" altLang="en-US" sz="40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BD0082D-8B08-8A4E-8C49-9F502FEDF142}"/>
              </a:ext>
            </a:extLst>
          </p:cNvPr>
          <p:cNvSpPr/>
          <p:nvPr/>
        </p:nvSpPr>
        <p:spPr>
          <a:xfrm>
            <a:off x="1282700" y="3124200"/>
            <a:ext cx="685800" cy="50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9A0E92-8C4D-AB4E-BF2C-238BEE79BEEA}"/>
              </a:ext>
            </a:extLst>
          </p:cNvPr>
          <p:cNvSpPr txBox="1"/>
          <p:nvPr/>
        </p:nvSpPr>
        <p:spPr>
          <a:xfrm>
            <a:off x="1282700" y="3479800"/>
            <a:ext cx="4165600" cy="165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2000" b="1">
                <a:solidFill>
                  <a:srgbClr val="14213D"/>
                </a:solidFill>
                <a:latin typeface="Pretendard"/>
              </a:rPr>
              <a:t>페이지 섹션 구성과 </a:t>
            </a:r>
            <a:r>
              <a:rPr lang="en-US" altLang="ko-KR" sz="2000" b="1">
                <a:solidFill>
                  <a:srgbClr val="14213D"/>
                </a:solidFill>
                <a:latin typeface="Pretendard"/>
              </a:rPr>
              <a:t>CTA </a:t>
            </a:r>
            <a:r>
              <a:rPr lang="ko-KR" altLang="en-US" sz="2000" b="1">
                <a:solidFill>
                  <a:srgbClr val="14213D"/>
                </a:solidFill>
                <a:latin typeface="Pretendard"/>
              </a:rPr>
              <a:t>문구를 설계할 수 있다</a:t>
            </a:r>
            <a:r>
              <a:rPr lang="en-US" altLang="ko-KR" sz="2000" b="1">
                <a:solidFill>
                  <a:srgbClr val="14213D"/>
                </a:solidFill>
                <a:latin typeface="Pretendard"/>
              </a:rPr>
              <a:t>.</a:t>
            </a:r>
            <a:endParaRPr lang="ko-KR" altLang="en-US" sz="2000" b="1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771206-AA2F-C649-AD22-6D3CCED62D42}"/>
              </a:ext>
            </a:extLst>
          </p:cNvPr>
          <p:cNvSpPr txBox="1"/>
          <p:nvPr/>
        </p:nvSpPr>
        <p:spPr>
          <a:xfrm>
            <a:off x="1282700" y="5613400"/>
            <a:ext cx="41656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1D4E89"/>
                </a:solidFill>
                <a:latin typeface="JetBrains Mono"/>
              </a:rPr>
              <a:t>→ 섹션 역할 </a:t>
            </a:r>
            <a:r>
              <a:rPr lang="en-US" altLang="ko-KR" sz="1400">
                <a:solidFill>
                  <a:srgbClr val="1D4E89"/>
                </a:solidFill>
                <a:latin typeface="JetBrains Mono"/>
              </a:rPr>
              <a:t>· </a:t>
            </a:r>
            <a:r>
              <a:rPr lang="ko-KR" altLang="en-US" sz="1400">
                <a:solidFill>
                  <a:srgbClr val="1D4E89"/>
                </a:solidFill>
                <a:latin typeface="JetBrains Mono"/>
              </a:rPr>
              <a:t>이득형 </a:t>
            </a:r>
            <a:r>
              <a:rPr lang="en-US" altLang="ko-KR" sz="1400">
                <a:solidFill>
                  <a:srgbClr val="1D4E89"/>
                </a:solidFill>
                <a:latin typeface="JetBrains Mono"/>
              </a:rPr>
              <a:t>CTA</a:t>
            </a:r>
            <a:endParaRPr lang="ko-KR" altLang="en-US" sz="1400">
              <a:solidFill>
                <a:srgbClr val="1D4E89"/>
              </a:solidFill>
              <a:latin typeface="JetBrains Mono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16D8C409-3FAC-1144-8099-E93C7EAD847B}"/>
              </a:ext>
            </a:extLst>
          </p:cNvPr>
          <p:cNvSpPr/>
          <p:nvPr/>
        </p:nvSpPr>
        <p:spPr>
          <a:xfrm>
            <a:off x="6286500" y="1905000"/>
            <a:ext cx="50800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8A8571-3B07-E64C-A966-F89F5D3731DA}"/>
              </a:ext>
            </a:extLst>
          </p:cNvPr>
          <p:cNvSpPr txBox="1"/>
          <p:nvPr/>
        </p:nvSpPr>
        <p:spPr>
          <a:xfrm>
            <a:off x="6718300" y="2235200"/>
            <a:ext cx="15240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4000" b="1">
                <a:solidFill>
                  <a:srgbClr val="E8A33D"/>
                </a:solidFill>
                <a:latin typeface="JetBrains Mono"/>
              </a:rPr>
              <a:t>02</a:t>
            </a:r>
            <a:endParaRPr lang="ko-KR" altLang="en-US" sz="40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496DCB3-D8BD-4844-9BBA-B5B022BECC04}"/>
              </a:ext>
            </a:extLst>
          </p:cNvPr>
          <p:cNvSpPr/>
          <p:nvPr/>
        </p:nvSpPr>
        <p:spPr>
          <a:xfrm>
            <a:off x="6743700" y="3124200"/>
            <a:ext cx="685800" cy="50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8DCB66-2622-494E-9B32-EEC1F8A7DD33}"/>
              </a:ext>
            </a:extLst>
          </p:cNvPr>
          <p:cNvSpPr txBox="1"/>
          <p:nvPr/>
        </p:nvSpPr>
        <p:spPr>
          <a:xfrm>
            <a:off x="6743700" y="3479800"/>
            <a:ext cx="4165600" cy="165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2000" b="1">
                <a:solidFill>
                  <a:srgbClr val="14213D"/>
                </a:solidFill>
                <a:latin typeface="Pretendard"/>
              </a:rPr>
              <a:t>사용자 흐름에 맞춰 서비스 소개형 페이지를 구성할 수 있다</a:t>
            </a:r>
            <a:r>
              <a:rPr lang="en-US" altLang="ko-KR" sz="2000" b="1">
                <a:solidFill>
                  <a:srgbClr val="14213D"/>
                </a:solidFill>
                <a:latin typeface="Pretendard"/>
              </a:rPr>
              <a:t>.</a:t>
            </a:r>
            <a:endParaRPr lang="ko-KR" altLang="en-US" sz="2000" b="1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F84248-4F3A-E34F-B478-BB271DFA2CEA}"/>
              </a:ext>
            </a:extLst>
          </p:cNvPr>
          <p:cNvSpPr txBox="1"/>
          <p:nvPr/>
        </p:nvSpPr>
        <p:spPr>
          <a:xfrm>
            <a:off x="6743700" y="5613400"/>
            <a:ext cx="41656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>
                <a:solidFill>
                  <a:srgbClr val="1D4E89"/>
                </a:solidFill>
                <a:latin typeface="JetBrains Mono"/>
              </a:rPr>
              <a:t>→ AIDA </a:t>
            </a:r>
            <a:r>
              <a:rPr lang="ko-KR" altLang="en-US" sz="1400">
                <a:solidFill>
                  <a:srgbClr val="1D4E89"/>
                </a:solidFill>
                <a:latin typeface="JetBrains Mono"/>
              </a:rPr>
              <a:t>흐름 설계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865A151-4342-FD48-99EB-F2B23CA3C124}"/>
              </a:ext>
            </a:extLst>
          </p:cNvPr>
          <p:cNvSpPr/>
          <p:nvPr/>
        </p:nvSpPr>
        <p:spPr>
          <a:xfrm>
            <a:off x="914400" y="2362200"/>
            <a:ext cx="431800" cy="762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418F1D-7B83-F64E-9F43-FB20520A0C0A}"/>
              </a:ext>
            </a:extLst>
          </p:cNvPr>
          <p:cNvSpPr txBox="1"/>
          <p:nvPr/>
        </p:nvSpPr>
        <p:spPr>
          <a:xfrm>
            <a:off x="914400" y="2540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E8A33D"/>
                </a:solidFill>
                <a:latin typeface="JetBrains Mono"/>
              </a:rPr>
              <a:t>SESSION 1</a:t>
            </a:r>
            <a:endParaRPr lang="ko-KR" altLang="en-US" sz="15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14D62D-155C-F845-A0B8-BB8F350E3936}"/>
              </a:ext>
            </a:extLst>
          </p:cNvPr>
          <p:cNvSpPr txBox="1"/>
          <p:nvPr/>
        </p:nvSpPr>
        <p:spPr>
          <a:xfrm>
            <a:off x="914400" y="2895600"/>
            <a:ext cx="103632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3200" b="1">
                <a:solidFill>
                  <a:srgbClr val="FFFFFF"/>
                </a:solidFill>
                <a:latin typeface="Noto Serif KR"/>
              </a:rPr>
              <a:t>섹션 구성과 </a:t>
            </a:r>
            <a:r>
              <a:rPr lang="en-US" altLang="ko-KR" sz="3200" b="1">
                <a:solidFill>
                  <a:srgbClr val="FFFFFF"/>
                </a:solidFill>
                <a:latin typeface="Noto Serif KR"/>
              </a:rPr>
              <a:t>CTA </a:t>
            </a:r>
            <a:r>
              <a:rPr lang="ko-KR" altLang="en-US" sz="3200" b="1">
                <a:solidFill>
                  <a:srgbClr val="FFFFFF"/>
                </a:solidFill>
                <a:latin typeface="Noto Serif KR"/>
              </a:rPr>
              <a:t>문구 작성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1C58CD-7BFE-724D-8C45-B49C689BD5FE}"/>
              </a:ext>
            </a:extLst>
          </p:cNvPr>
          <p:cNvSpPr txBox="1"/>
          <p:nvPr/>
        </p:nvSpPr>
        <p:spPr>
          <a:xfrm>
            <a:off x="914400" y="3657600"/>
            <a:ext cx="10033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00">
                <a:solidFill>
                  <a:srgbClr val="DCE6F2"/>
                </a:solidFill>
                <a:latin typeface="Pretendard"/>
              </a:rPr>
              <a:t>섹션마다 역할이 있다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. </a:t>
            </a:r>
            <a:r>
              <a:rPr lang="ko-KR" altLang="en-US" sz="1600">
                <a:solidFill>
                  <a:srgbClr val="DCE6F2"/>
                </a:solidFill>
                <a:latin typeface="Pretendard"/>
              </a:rPr>
              <a:t>히어로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=</a:t>
            </a:r>
            <a:r>
              <a:rPr lang="ko-KR" altLang="en-US" sz="1600">
                <a:solidFill>
                  <a:srgbClr val="DCE6F2"/>
                </a:solidFill>
                <a:latin typeface="Pretendard"/>
              </a:rPr>
              <a:t>후킹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, </a:t>
            </a:r>
            <a:r>
              <a:rPr lang="ko-KR" altLang="en-US" sz="1600">
                <a:solidFill>
                  <a:srgbClr val="DCE6F2"/>
                </a:solidFill>
                <a:latin typeface="Pretendard"/>
              </a:rPr>
              <a:t>특징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=</a:t>
            </a:r>
            <a:r>
              <a:rPr lang="ko-KR" altLang="en-US" sz="1600">
                <a:solidFill>
                  <a:srgbClr val="DCE6F2"/>
                </a:solidFill>
                <a:latin typeface="Pretendard"/>
              </a:rPr>
              <a:t>설득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, </a:t>
            </a:r>
            <a:r>
              <a:rPr lang="ko-KR" altLang="en-US" sz="1600">
                <a:solidFill>
                  <a:srgbClr val="DCE6F2"/>
                </a:solidFill>
                <a:latin typeface="Pretendard"/>
              </a:rPr>
              <a:t>후기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=</a:t>
            </a:r>
            <a:r>
              <a:rPr lang="ko-KR" altLang="en-US" sz="1600">
                <a:solidFill>
                  <a:srgbClr val="DCE6F2"/>
                </a:solidFill>
                <a:latin typeface="Pretendard"/>
              </a:rPr>
              <a:t>신뢰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, CTA=</a:t>
            </a:r>
            <a:r>
              <a:rPr lang="ko-KR" altLang="en-US" sz="1600">
                <a:solidFill>
                  <a:srgbClr val="DCE6F2"/>
                </a:solidFill>
                <a:latin typeface="Pretendard"/>
              </a:rPr>
              <a:t>행동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.</a:t>
            </a:r>
            <a:endParaRPr lang="ko-KR" altLang="en-US" sz="1600">
              <a:solidFill>
                <a:srgbClr val="DCE6F2"/>
              </a:solidFill>
              <a:latin typeface="Pretendard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48ADC2FB-BDD6-6F4F-BE8D-160CC59242B8}"/>
              </a:ext>
            </a:extLst>
          </p:cNvPr>
          <p:cNvSpPr/>
          <p:nvPr/>
        </p:nvSpPr>
        <p:spPr>
          <a:xfrm>
            <a:off x="914400" y="4521200"/>
            <a:ext cx="2616200" cy="8890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FFFFFF"/>
                </a:solidFill>
                <a:latin typeface="Pretendard"/>
              </a:rPr>
              <a:t>후킹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9085EC-2F5C-F741-8755-6B700173DFDD}"/>
              </a:ext>
            </a:extLst>
          </p:cNvPr>
          <p:cNvSpPr txBox="1"/>
          <p:nvPr/>
        </p:nvSpPr>
        <p:spPr>
          <a:xfrm>
            <a:off x="3530600" y="4521200"/>
            <a:ext cx="558800" cy="889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2400" b="1">
                <a:solidFill>
                  <a:srgbClr val="9FB3CE"/>
                </a:solidFill>
                <a:latin typeface="Pretendard"/>
              </a:rPr>
              <a:t>→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FE49A29D-48A7-8244-BC09-B0F417DD00A1}"/>
              </a:ext>
            </a:extLst>
          </p:cNvPr>
          <p:cNvSpPr/>
          <p:nvPr/>
        </p:nvSpPr>
        <p:spPr>
          <a:xfrm>
            <a:off x="4089400" y="4521200"/>
            <a:ext cx="2616200" cy="8890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FFFFFF"/>
                </a:solidFill>
                <a:latin typeface="Pretendard"/>
              </a:rPr>
              <a:t>설득 </a:t>
            </a:r>
            <a:r>
              <a:rPr lang="en-US" altLang="ko-KR" sz="1600" b="1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1600" b="1">
                <a:solidFill>
                  <a:srgbClr val="FFFFFF"/>
                </a:solidFill>
                <a:latin typeface="Pretendard"/>
              </a:rPr>
              <a:t>신뢰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6E4C34-8F59-794A-9A66-3301242437EC}"/>
              </a:ext>
            </a:extLst>
          </p:cNvPr>
          <p:cNvSpPr txBox="1"/>
          <p:nvPr/>
        </p:nvSpPr>
        <p:spPr>
          <a:xfrm>
            <a:off x="6705600" y="4521200"/>
            <a:ext cx="558800" cy="889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2400" b="1">
                <a:solidFill>
                  <a:srgbClr val="9FB3CE"/>
                </a:solidFill>
                <a:latin typeface="Pretendard"/>
              </a:rPr>
              <a:t>→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0BB751B0-51B0-0F4D-A465-6683853F003D}"/>
              </a:ext>
            </a:extLst>
          </p:cNvPr>
          <p:cNvSpPr/>
          <p:nvPr/>
        </p:nvSpPr>
        <p:spPr>
          <a:xfrm>
            <a:off x="7264400" y="4521200"/>
            <a:ext cx="2616200" cy="889000"/>
          </a:xfrm>
          <a:prstGeom prst="round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행동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66E528-55DC-7846-91AE-DF5B13881767}"/>
              </a:ext>
            </a:extLst>
          </p:cNvPr>
          <p:cNvSpPr txBox="1"/>
          <p:nvPr/>
        </p:nvSpPr>
        <p:spPr>
          <a:xfrm>
            <a:off x="914400" y="5740400"/>
            <a:ext cx="103632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9FB3CE"/>
                </a:solidFill>
                <a:latin typeface="JetBrains Mono"/>
              </a:rPr>
              <a:t>→ 섹션마다 단 하나의 역할을 준다</a:t>
            </a:r>
            <a:r>
              <a:rPr lang="en-US" altLang="ko-KR" sz="1400">
                <a:solidFill>
                  <a:srgbClr val="9FB3CE"/>
                </a:solidFill>
                <a:latin typeface="JetBrains Mono"/>
              </a:rPr>
              <a:t>.</a:t>
            </a:r>
            <a:endParaRPr lang="ko-KR" altLang="en-US" sz="1400">
              <a:solidFill>
                <a:srgbClr val="9FB3CE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핵심 개념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핵심 개념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CA01C622-6828-F14E-BA71-C7A16566310A}"/>
              </a:ext>
            </a:extLst>
          </p:cNvPr>
          <p:cNvSpPr/>
          <p:nvPr/>
        </p:nvSpPr>
        <p:spPr>
          <a:xfrm>
            <a:off x="825500" y="1905000"/>
            <a:ext cx="33401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87C328E-7DE4-304C-A777-C2129613FA67}"/>
              </a:ext>
            </a:extLst>
          </p:cNvPr>
          <p:cNvSpPr/>
          <p:nvPr/>
        </p:nvSpPr>
        <p:spPr>
          <a:xfrm>
            <a:off x="825500" y="1905000"/>
            <a:ext cx="3340100" cy="88900"/>
          </a:xfrm>
          <a:prstGeom prst="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4848CC7D-CB52-5046-8F17-E541F3A531A9}"/>
              </a:ext>
            </a:extLst>
          </p:cNvPr>
          <p:cNvSpPr/>
          <p:nvPr/>
        </p:nvSpPr>
        <p:spPr>
          <a:xfrm>
            <a:off x="11303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1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6D2733-98C7-8649-9BCA-6C2D98296FB5}"/>
              </a:ext>
            </a:extLst>
          </p:cNvPr>
          <p:cNvSpPr txBox="1"/>
          <p:nvPr/>
        </p:nvSpPr>
        <p:spPr>
          <a:xfrm>
            <a:off x="11303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50" b="1">
                <a:solidFill>
                  <a:srgbClr val="14213D"/>
                </a:solidFill>
                <a:latin typeface="Pretendard"/>
              </a:rPr>
              <a:t>히어로 섹션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B8B0E22-3AE5-804E-88E4-7D42B98BFD12}"/>
              </a:ext>
            </a:extLst>
          </p:cNvPr>
          <p:cNvSpPr/>
          <p:nvPr/>
        </p:nvSpPr>
        <p:spPr>
          <a:xfrm>
            <a:off x="11303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61893A-120E-034E-B954-9FD5A2E36A58}"/>
              </a:ext>
            </a:extLst>
          </p:cNvPr>
          <p:cNvSpPr txBox="1"/>
          <p:nvPr/>
        </p:nvSpPr>
        <p:spPr>
          <a:xfrm>
            <a:off x="11303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350">
                <a:solidFill>
                  <a:srgbClr val="576176"/>
                </a:solidFill>
                <a:latin typeface="Pretendard"/>
              </a:rPr>
              <a:t>3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초 안에 ‘무엇을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왜’를 전달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. 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한 줄 헤드라인 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+ 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보조 문구 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+ CTA 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버튼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35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A160452C-FCEC-6C48-A8C5-550C9E9A820F}"/>
              </a:ext>
            </a:extLst>
          </p:cNvPr>
          <p:cNvSpPr/>
          <p:nvPr/>
        </p:nvSpPr>
        <p:spPr>
          <a:xfrm>
            <a:off x="1130300" y="5562600"/>
            <a:ext cx="2730500" cy="457200"/>
          </a:xfrm>
          <a:prstGeom prst="roundRect">
            <a:avLst/>
          </a:prstGeom>
          <a:solidFill>
            <a:srgbClr val="E7ECF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458533-A786-EB45-BF42-0CFBA2F6289B}"/>
              </a:ext>
            </a:extLst>
          </p:cNvPr>
          <p:cNvSpPr txBox="1"/>
          <p:nvPr/>
        </p:nvSpPr>
        <p:spPr>
          <a:xfrm>
            <a:off x="11303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14213D"/>
                </a:solidFill>
                <a:latin typeface="Pretendard"/>
              </a:rPr>
              <a:t>3</a:t>
            </a:r>
            <a:r>
              <a:rPr lang="ko-KR" altLang="en-US" sz="1300" b="1">
                <a:solidFill>
                  <a:srgbClr val="14213D"/>
                </a:solidFill>
                <a:latin typeface="Pretendard"/>
              </a:rPr>
              <a:t>초 안에 전달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7BC36E64-24DF-014B-90AC-C46326AF0EAC}"/>
              </a:ext>
            </a:extLst>
          </p:cNvPr>
          <p:cNvSpPr/>
          <p:nvPr/>
        </p:nvSpPr>
        <p:spPr>
          <a:xfrm>
            <a:off x="4419600" y="1905000"/>
            <a:ext cx="33401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71B662D-9FAE-8145-94BD-6264DEE7E9EE}"/>
              </a:ext>
            </a:extLst>
          </p:cNvPr>
          <p:cNvSpPr/>
          <p:nvPr/>
        </p:nvSpPr>
        <p:spPr>
          <a:xfrm>
            <a:off x="4419600" y="1905000"/>
            <a:ext cx="3340100" cy="88900"/>
          </a:xfrm>
          <a:prstGeom prst="rect">
            <a:avLst/>
          </a:prstGeom>
          <a:solidFill>
            <a:srgbClr val="1D4E8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F9B500A2-BA6A-7442-81F9-83422F117DE6}"/>
              </a:ext>
            </a:extLst>
          </p:cNvPr>
          <p:cNvSpPr/>
          <p:nvPr/>
        </p:nvSpPr>
        <p:spPr>
          <a:xfrm>
            <a:off x="47244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2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1514EF-289C-844A-90EF-5704DEEAAFB9}"/>
              </a:ext>
            </a:extLst>
          </p:cNvPr>
          <p:cNvSpPr txBox="1"/>
          <p:nvPr/>
        </p:nvSpPr>
        <p:spPr>
          <a:xfrm>
            <a:off x="47244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50" b="1">
                <a:solidFill>
                  <a:srgbClr val="14213D"/>
                </a:solidFill>
                <a:latin typeface="Pretendard"/>
              </a:rPr>
              <a:t>CTA </a:t>
            </a:r>
            <a:r>
              <a:rPr lang="ko-KR" altLang="en-US" sz="1650" b="1">
                <a:solidFill>
                  <a:srgbClr val="14213D"/>
                </a:solidFill>
                <a:latin typeface="Pretendard"/>
              </a:rPr>
              <a:t>카피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0B506C6-9E89-CB42-AE6B-4D6E10DF9457}"/>
              </a:ext>
            </a:extLst>
          </p:cNvPr>
          <p:cNvSpPr/>
          <p:nvPr/>
        </p:nvSpPr>
        <p:spPr>
          <a:xfrm>
            <a:off x="47244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FAB20D-74ED-B54F-9A6B-1CA6872B2C36}"/>
              </a:ext>
            </a:extLst>
          </p:cNvPr>
          <p:cNvSpPr txBox="1"/>
          <p:nvPr/>
        </p:nvSpPr>
        <p:spPr>
          <a:xfrm>
            <a:off x="47244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50">
                <a:solidFill>
                  <a:srgbClr val="576176"/>
                </a:solidFill>
                <a:latin typeface="Pretendard"/>
              </a:rPr>
              <a:t>‘제출’보다 ‘지금 무료로 받기’처럼 이득 동사로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. 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버튼은 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1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차 행동 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1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개에 집중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35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E2618AA2-7AEF-9B41-AFD1-277F7782DB8B}"/>
              </a:ext>
            </a:extLst>
          </p:cNvPr>
          <p:cNvSpPr/>
          <p:nvPr/>
        </p:nvSpPr>
        <p:spPr>
          <a:xfrm>
            <a:off x="4724400" y="5562600"/>
            <a:ext cx="2730500" cy="457200"/>
          </a:xfrm>
          <a:prstGeom prst="roundRect">
            <a:avLst/>
          </a:prstGeom>
          <a:solidFill>
            <a:srgbClr val="E4EC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774944-FB75-E14B-96BA-A8BD64AAE2CB}"/>
              </a:ext>
            </a:extLst>
          </p:cNvPr>
          <p:cNvSpPr txBox="1"/>
          <p:nvPr/>
        </p:nvSpPr>
        <p:spPr>
          <a:xfrm>
            <a:off x="47244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1D4E89"/>
                </a:solidFill>
                <a:latin typeface="Pretendard"/>
              </a:rPr>
              <a:t>이득 동사 </a:t>
            </a:r>
            <a:r>
              <a:rPr lang="en-US" altLang="ko-KR" sz="1300" b="1">
                <a:solidFill>
                  <a:srgbClr val="1D4E89"/>
                </a:solidFill>
                <a:latin typeface="Pretendard"/>
              </a:rPr>
              <a:t>1</a:t>
            </a:r>
            <a:r>
              <a:rPr lang="ko-KR" altLang="en-US" sz="1300" b="1">
                <a:solidFill>
                  <a:srgbClr val="1D4E89"/>
                </a:solidFill>
                <a:latin typeface="Pretendard"/>
              </a:rPr>
              <a:t>개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8F670049-9E56-BD42-BF5E-297BC8983125}"/>
              </a:ext>
            </a:extLst>
          </p:cNvPr>
          <p:cNvSpPr/>
          <p:nvPr/>
        </p:nvSpPr>
        <p:spPr>
          <a:xfrm>
            <a:off x="8013700" y="1905000"/>
            <a:ext cx="33401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EE12C08-0A25-2B46-901E-8C92C6BB803F}"/>
              </a:ext>
            </a:extLst>
          </p:cNvPr>
          <p:cNvSpPr/>
          <p:nvPr/>
        </p:nvSpPr>
        <p:spPr>
          <a:xfrm>
            <a:off x="8013700" y="1905000"/>
            <a:ext cx="3340100" cy="889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3DA0FF71-91BE-DB42-8AB3-EE5B783E22E3}"/>
              </a:ext>
            </a:extLst>
          </p:cNvPr>
          <p:cNvSpPr/>
          <p:nvPr/>
        </p:nvSpPr>
        <p:spPr>
          <a:xfrm>
            <a:off x="83185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3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3E1168-C7FD-664B-8753-913B468BB63F}"/>
              </a:ext>
            </a:extLst>
          </p:cNvPr>
          <p:cNvSpPr txBox="1"/>
          <p:nvPr/>
        </p:nvSpPr>
        <p:spPr>
          <a:xfrm>
            <a:off x="83185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50" b="1">
                <a:solidFill>
                  <a:srgbClr val="14213D"/>
                </a:solidFill>
                <a:latin typeface="Pretendard"/>
              </a:rPr>
              <a:t>사회적 증거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0DB4D23-6798-C849-8AC0-31E31A3C45D6}"/>
              </a:ext>
            </a:extLst>
          </p:cNvPr>
          <p:cNvSpPr/>
          <p:nvPr/>
        </p:nvSpPr>
        <p:spPr>
          <a:xfrm>
            <a:off x="83185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B3E564-4EC4-B146-BA4D-C8F3032FA46D}"/>
              </a:ext>
            </a:extLst>
          </p:cNvPr>
          <p:cNvSpPr txBox="1"/>
          <p:nvPr/>
        </p:nvSpPr>
        <p:spPr>
          <a:xfrm>
            <a:off x="83185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50">
                <a:solidFill>
                  <a:srgbClr val="576176"/>
                </a:solidFill>
                <a:latin typeface="Pretendard"/>
              </a:rPr>
              <a:t>후기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사용 수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로고로 신뢰를 보강한다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. 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숫자가 있으면 더 강력하다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35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50B89452-AFB7-684A-AECA-753D659693A6}"/>
              </a:ext>
            </a:extLst>
          </p:cNvPr>
          <p:cNvSpPr/>
          <p:nvPr/>
        </p:nvSpPr>
        <p:spPr>
          <a:xfrm>
            <a:off x="8318500" y="5562600"/>
            <a:ext cx="2730500" cy="457200"/>
          </a:xfrm>
          <a:prstGeom prst="roundRect">
            <a:avLst/>
          </a:prstGeom>
          <a:solidFill>
            <a:srgbClr val="FBEF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EEB679-2C22-1044-BD60-F76DC64CD837}"/>
              </a:ext>
            </a:extLst>
          </p:cNvPr>
          <p:cNvSpPr txBox="1"/>
          <p:nvPr/>
        </p:nvSpPr>
        <p:spPr>
          <a:xfrm>
            <a:off x="83185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9A6B12"/>
                </a:solidFill>
                <a:latin typeface="Pretendard"/>
              </a:rPr>
              <a:t>숫자로 신뢰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개념 깊이 보기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개념을 예시로 — 우리 케이스에 적용하면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1D4E89"/>
                </a:solidFill>
                <a:latin typeface="Pretendard"/>
                <a:ea typeface="Pretendard"/>
                <a:cs typeface="Pretendard"/>
              </a:rPr>
              <a:t>●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히어로 섹션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    예) </a:t>
            </a:r>
            <a:r>
              <a:rPr sz="14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3초 안에 "무엇을·왜". Night Off라면 헤드라인 "내일을 망치지 않는 한 잔" + "사전예약" 버튼.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1D4E89"/>
                </a:solidFill>
                <a:latin typeface="Pretendard"/>
                <a:ea typeface="Pretendard"/>
                <a:cs typeface="Pretendard"/>
              </a:rPr>
              <a:t>●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CTA 카피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    예) </a:t>
            </a:r>
            <a:r>
              <a:rPr sz="14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"제출"(X) → "지금 사전예약하고 20% 받기"(O). 이득을 담은 동사로.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절차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실습 절차 — 직접 해봅니다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8EF2D945-0CA5-FC41-9224-34467C5D8EA6}"/>
              </a:ext>
            </a:extLst>
          </p:cNvPr>
          <p:cNvSpPr/>
          <p:nvPr/>
        </p:nvSpPr>
        <p:spPr>
          <a:xfrm>
            <a:off x="825500" y="1930400"/>
            <a:ext cx="10541000" cy="9398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87786A3-DFFB-2A45-B09B-5CC61EE9D9F2}"/>
              </a:ext>
            </a:extLst>
          </p:cNvPr>
          <p:cNvSpPr/>
          <p:nvPr/>
        </p:nvSpPr>
        <p:spPr>
          <a:xfrm>
            <a:off x="825500" y="19304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15A74A1-4AA8-E244-B97C-0E63ABA77612}"/>
              </a:ext>
            </a:extLst>
          </p:cNvPr>
          <p:cNvSpPr/>
          <p:nvPr/>
        </p:nvSpPr>
        <p:spPr>
          <a:xfrm>
            <a:off x="1143000" y="21590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1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A9F705-9C44-A747-9A92-23BE7F3F488F}"/>
              </a:ext>
            </a:extLst>
          </p:cNvPr>
          <p:cNvSpPr txBox="1"/>
          <p:nvPr/>
        </p:nvSpPr>
        <p:spPr>
          <a:xfrm>
            <a:off x="1905000" y="20955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섹션 역할 매핑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B8C010-3890-9344-9E24-C2AE9D9597D1}"/>
              </a:ext>
            </a:extLst>
          </p:cNvPr>
          <p:cNvSpPr txBox="1"/>
          <p:nvPr/>
        </p:nvSpPr>
        <p:spPr>
          <a:xfrm>
            <a:off x="4546600" y="20574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히어로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특징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후기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·CTA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에 각각의 역할을 배정한다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D0417C19-BBE2-8647-81C9-8F7016645418}"/>
              </a:ext>
            </a:extLst>
          </p:cNvPr>
          <p:cNvSpPr/>
          <p:nvPr/>
        </p:nvSpPr>
        <p:spPr>
          <a:xfrm>
            <a:off x="825500" y="2971800"/>
            <a:ext cx="10541000" cy="9398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AAF773A-1897-834B-BCAB-672E7B67D852}"/>
              </a:ext>
            </a:extLst>
          </p:cNvPr>
          <p:cNvSpPr/>
          <p:nvPr/>
        </p:nvSpPr>
        <p:spPr>
          <a:xfrm>
            <a:off x="825500" y="29718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062AC089-6F79-114F-A87B-BB6EEBD167E9}"/>
              </a:ext>
            </a:extLst>
          </p:cNvPr>
          <p:cNvSpPr/>
          <p:nvPr/>
        </p:nvSpPr>
        <p:spPr>
          <a:xfrm>
            <a:off x="1143000" y="32004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2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BBAB5D-56DA-4540-B7C5-AF25DCB0835B}"/>
              </a:ext>
            </a:extLst>
          </p:cNvPr>
          <p:cNvSpPr txBox="1"/>
          <p:nvPr/>
        </p:nvSpPr>
        <p:spPr>
          <a:xfrm>
            <a:off x="1905000" y="31369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히어로 헤드라인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9FA473-1405-9248-9A5E-FD6548A20713}"/>
              </a:ext>
            </a:extLst>
          </p:cNvPr>
          <p:cNvSpPr txBox="1"/>
          <p:nvPr/>
        </p:nvSpPr>
        <p:spPr>
          <a:xfrm>
            <a:off x="4546600" y="30988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메시지 하우스의 핵심 메시지를 헤드라인으로 옮긴다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08C01F4C-0D5E-6440-B9D4-D6ED4CBD2EFF}"/>
              </a:ext>
            </a:extLst>
          </p:cNvPr>
          <p:cNvSpPr/>
          <p:nvPr/>
        </p:nvSpPr>
        <p:spPr>
          <a:xfrm>
            <a:off x="825500" y="4013200"/>
            <a:ext cx="10541000" cy="9398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07D6A42-9AB7-7048-B053-E18D4389F4EB}"/>
              </a:ext>
            </a:extLst>
          </p:cNvPr>
          <p:cNvSpPr/>
          <p:nvPr/>
        </p:nvSpPr>
        <p:spPr>
          <a:xfrm>
            <a:off x="825500" y="40132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EF18BF57-F31C-0547-BE39-7785C022C8E7}"/>
              </a:ext>
            </a:extLst>
          </p:cNvPr>
          <p:cNvSpPr/>
          <p:nvPr/>
        </p:nvSpPr>
        <p:spPr>
          <a:xfrm>
            <a:off x="1143000" y="42418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3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2A104A-BABD-B040-977F-1F428BE16562}"/>
              </a:ext>
            </a:extLst>
          </p:cNvPr>
          <p:cNvSpPr txBox="1"/>
          <p:nvPr/>
        </p:nvSpPr>
        <p:spPr>
          <a:xfrm>
            <a:off x="1905000" y="41783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이득 카피 </a:t>
            </a:r>
            <a:r>
              <a:rPr lang="en-US" altLang="ko-KR" sz="1600" b="1">
                <a:solidFill>
                  <a:srgbClr val="14213D"/>
                </a:solidFill>
                <a:latin typeface="Pretendard"/>
              </a:rPr>
              <a:t>3</a:t>
            </a:r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E84656-7003-AD44-9383-F37BAF82981A}"/>
              </a:ext>
            </a:extLst>
          </p:cNvPr>
          <p:cNvSpPr txBox="1"/>
          <p:nvPr/>
        </p:nvSpPr>
        <p:spPr>
          <a:xfrm>
            <a:off x="4546600" y="41402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특징을 고객 이득 카피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3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개로 바꾼다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F3994149-A401-CE42-A049-9A7C0B6DFB5B}"/>
              </a:ext>
            </a:extLst>
          </p:cNvPr>
          <p:cNvSpPr/>
          <p:nvPr/>
        </p:nvSpPr>
        <p:spPr>
          <a:xfrm>
            <a:off x="825500" y="5054600"/>
            <a:ext cx="10541000" cy="9398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4BE1AE5-12D6-8A49-8F30-FDB9AF0FE532}"/>
              </a:ext>
            </a:extLst>
          </p:cNvPr>
          <p:cNvSpPr/>
          <p:nvPr/>
        </p:nvSpPr>
        <p:spPr>
          <a:xfrm>
            <a:off x="825500" y="50546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D9FFA352-B05A-4740-AEC2-0D1846DF9B6B}"/>
              </a:ext>
            </a:extLst>
          </p:cNvPr>
          <p:cNvSpPr/>
          <p:nvPr/>
        </p:nvSpPr>
        <p:spPr>
          <a:xfrm>
            <a:off x="1143000" y="52832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4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BD3B82-FE79-7946-B184-A50FC09185B7}"/>
              </a:ext>
            </a:extLst>
          </p:cNvPr>
          <p:cNvSpPr txBox="1"/>
          <p:nvPr/>
        </p:nvSpPr>
        <p:spPr>
          <a:xfrm>
            <a:off x="1905000" y="52197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14213D"/>
                </a:solidFill>
                <a:latin typeface="Pretendard"/>
              </a:rPr>
              <a:t>CTA A/B</a:t>
            </a:r>
            <a:endParaRPr lang="ko-KR" altLang="en-US" sz="1600" b="1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311CA3-482D-0445-9BC6-DA96A434FF5F}"/>
              </a:ext>
            </a:extLst>
          </p:cNvPr>
          <p:cNvSpPr txBox="1"/>
          <p:nvPr/>
        </p:nvSpPr>
        <p:spPr>
          <a:xfrm>
            <a:off x="4546600" y="51816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이득 동사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CTA 3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종을 만들어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A/B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로 비교한다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프롬프트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섹션 카피 생성 프롬프트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32720" cy="4434840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502920" rIns="365760" bIns="32004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랜딩페이지 섹션 카피를 써줘. 톤은 따뜻·프리미엄.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 히어로 헤드라인 1줄(20자 내) + 보조문구 1줄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 특징 3개: 각 [소제목 + 이득 한 줄]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 CTA 버튼 문구 3종(이득형 동사)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핵심 메시지: 부담 없이 즐기는 진짜 맥주맛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2103120"/>
            <a:ext cx="109728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실제 입력 → 출력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실제 예시 — 섹션 카피 산출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83080"/>
            <a:ext cx="10332720" cy="1874519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502920" rIns="320040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랜딩 섹션 카피를 써줘. 톤 따뜻·프리미엄.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 히어로 헤드라인 1줄(20자내)+보조문구 - 특징 3개[소제목+이득 한 줄]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 CTA 3종(이득형). 핵심 메시지: 부담 없이 즐기는 진짜 맥주맛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83080"/>
            <a:ext cx="2011680" cy="329184"/>
          </a:xfrm>
          <a:prstGeom prst="rect">
            <a:avLst/>
          </a:prstGeom>
          <a:solidFill>
            <a:srgbClr val="24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0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▸ 입력 프롬프트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794760"/>
            <a:ext cx="10332720" cy="2514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9EC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502920" rIns="32004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35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[히어로] "내일을 망치지 않는 한 잔" / 진짜 맥주맛, 알코올은 0.0%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35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[특징] 발효공법 — 무알콜인데 진짜 맥주맛 / 저칼로리 — 한 캔 더도 가볍게 / 0.0% — 운전도 출근도 문제없이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35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[CTA] ①지금 사전예약하고 20% 받기 ②첫 한 박스 받아보기 ③출시 알림 신청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794760"/>
            <a:ext cx="1828800" cy="329184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▸ 나온 결과(예)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정리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섹션 구성과 CTA 문구 작성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10332720" cy="1636776"/>
          </a:xfrm>
          <a:prstGeom prst="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28600" rIns="365760" bIns="18288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57A1A"/>
                </a:solidFill>
                <a:latin typeface="JetBrains Mono"/>
                <a:ea typeface="JetBrains Mono"/>
                <a:cs typeface="JetBrains Mono"/>
              </a:rPr>
              <a:t>⚠  흔한 실수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CTA가 "더보기"처럼 모호하면 클릭률이 떨어진다 → 이득을 담는다.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특징을 스펙 나열로 쓰면 안 읽힌다 → 이득 한 줄로.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739896"/>
            <a:ext cx="10332720" cy="100584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01168" rIns="365760" bIns="182880" rtlCol="0" anchor="t"/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📦  결과물 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섹션별 카피 + CTA 문구 3종(A/B 후보).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12E5CA1-DC27-2143-B200-0D4C7D573CA2}"/>
              </a:ext>
            </a:extLst>
          </p:cNvPr>
          <p:cNvSpPr/>
          <p:nvPr/>
        </p:nvSpPr>
        <p:spPr>
          <a:xfrm>
            <a:off x="914400" y="2362200"/>
            <a:ext cx="431800" cy="762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5A8BB9-173C-D441-9DEF-A7CC72E1FCC8}"/>
              </a:ext>
            </a:extLst>
          </p:cNvPr>
          <p:cNvSpPr txBox="1"/>
          <p:nvPr/>
        </p:nvSpPr>
        <p:spPr>
          <a:xfrm>
            <a:off x="914400" y="2540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E8A33D"/>
                </a:solidFill>
                <a:latin typeface="JetBrains Mono"/>
              </a:rPr>
              <a:t>SESSION 2</a:t>
            </a:r>
            <a:endParaRPr lang="ko-KR" altLang="en-US" sz="15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1BF232-D0C8-5944-9699-319568E6E8F1}"/>
              </a:ext>
            </a:extLst>
          </p:cNvPr>
          <p:cNvSpPr txBox="1"/>
          <p:nvPr/>
        </p:nvSpPr>
        <p:spPr>
          <a:xfrm>
            <a:off x="914400" y="2895600"/>
            <a:ext cx="103632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3200" b="1">
                <a:solidFill>
                  <a:srgbClr val="FFFFFF"/>
                </a:solidFill>
                <a:latin typeface="Noto Serif KR"/>
              </a:rPr>
              <a:t>사용자 흐름 설계 </a:t>
            </a:r>
            <a:r>
              <a:rPr lang="en-US" altLang="ko-KR" sz="3200" b="1">
                <a:solidFill>
                  <a:srgbClr val="FFFFFF"/>
                </a:solidFill>
                <a:latin typeface="Noto Serif KR"/>
              </a:rPr>
              <a:t>· </a:t>
            </a:r>
            <a:r>
              <a:rPr lang="ko-KR" altLang="en-US" sz="3200" b="1">
                <a:solidFill>
                  <a:srgbClr val="FFFFFF"/>
                </a:solidFill>
                <a:latin typeface="Noto Serif KR"/>
              </a:rPr>
              <a:t>소개형 페이지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D248F0-2147-5641-8FCD-36C757D001C4}"/>
              </a:ext>
            </a:extLst>
          </p:cNvPr>
          <p:cNvSpPr txBox="1"/>
          <p:nvPr/>
        </p:nvSpPr>
        <p:spPr>
          <a:xfrm>
            <a:off x="914400" y="3657600"/>
            <a:ext cx="10033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00">
                <a:solidFill>
                  <a:srgbClr val="DCE6F2"/>
                </a:solidFill>
                <a:latin typeface="Pretendard"/>
              </a:rPr>
              <a:t>인지→관심→욕구→행동의 흐름에 맞춰 섹션 순서와 정보 우선순위를 정한다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.</a:t>
            </a:r>
            <a:endParaRPr lang="ko-KR" altLang="en-US" sz="1600">
              <a:solidFill>
                <a:srgbClr val="DCE6F2"/>
              </a:solidFill>
              <a:latin typeface="Pretendard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B20DD67E-3CC0-E141-A3EF-8CB198576331}"/>
              </a:ext>
            </a:extLst>
          </p:cNvPr>
          <p:cNvSpPr/>
          <p:nvPr/>
        </p:nvSpPr>
        <p:spPr>
          <a:xfrm>
            <a:off x="914400" y="4521200"/>
            <a:ext cx="2616200" cy="8890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FFFFFF"/>
                </a:solidFill>
                <a:latin typeface="Pretendard"/>
              </a:rPr>
              <a:t>인지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3B3B5E-2A55-F649-BCBA-BF7BF24B7291}"/>
              </a:ext>
            </a:extLst>
          </p:cNvPr>
          <p:cNvSpPr txBox="1"/>
          <p:nvPr/>
        </p:nvSpPr>
        <p:spPr>
          <a:xfrm>
            <a:off x="3530600" y="4521200"/>
            <a:ext cx="558800" cy="889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2400" b="1">
                <a:solidFill>
                  <a:srgbClr val="9FB3CE"/>
                </a:solidFill>
                <a:latin typeface="Pretendard"/>
              </a:rPr>
              <a:t>→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5265334D-4F29-8C40-B625-4A0BCFD5119A}"/>
              </a:ext>
            </a:extLst>
          </p:cNvPr>
          <p:cNvSpPr/>
          <p:nvPr/>
        </p:nvSpPr>
        <p:spPr>
          <a:xfrm>
            <a:off x="4089400" y="4521200"/>
            <a:ext cx="2616200" cy="8890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FFFFFF"/>
                </a:solidFill>
                <a:latin typeface="Pretendard"/>
              </a:rPr>
              <a:t>관심 </a:t>
            </a:r>
            <a:r>
              <a:rPr lang="en-US" altLang="ko-KR" sz="1600" b="1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1600" b="1">
                <a:solidFill>
                  <a:srgbClr val="FFFFFF"/>
                </a:solidFill>
                <a:latin typeface="Pretendard"/>
              </a:rPr>
              <a:t>욕구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DC0B24-4634-3941-8364-20F4D6EFAC34}"/>
              </a:ext>
            </a:extLst>
          </p:cNvPr>
          <p:cNvSpPr txBox="1"/>
          <p:nvPr/>
        </p:nvSpPr>
        <p:spPr>
          <a:xfrm>
            <a:off x="6705600" y="4521200"/>
            <a:ext cx="558800" cy="889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2400" b="1">
                <a:solidFill>
                  <a:srgbClr val="9FB3CE"/>
                </a:solidFill>
                <a:latin typeface="Pretendard"/>
              </a:rPr>
              <a:t>→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9DE80BDA-0A13-7E4F-BCFD-FAD027EF0092}"/>
              </a:ext>
            </a:extLst>
          </p:cNvPr>
          <p:cNvSpPr/>
          <p:nvPr/>
        </p:nvSpPr>
        <p:spPr>
          <a:xfrm>
            <a:off x="7264400" y="4521200"/>
            <a:ext cx="2616200" cy="889000"/>
          </a:xfrm>
          <a:prstGeom prst="round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행동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E59CC2-8275-3E43-B3B8-CE43F64F17F2}"/>
              </a:ext>
            </a:extLst>
          </p:cNvPr>
          <p:cNvSpPr txBox="1"/>
          <p:nvPr/>
        </p:nvSpPr>
        <p:spPr>
          <a:xfrm>
            <a:off x="914400" y="5740400"/>
            <a:ext cx="103632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>
                <a:solidFill>
                  <a:srgbClr val="9FB3CE"/>
                </a:solidFill>
                <a:latin typeface="JetBrains Mono"/>
              </a:rPr>
              <a:t>→ AIDA </a:t>
            </a:r>
            <a:r>
              <a:rPr lang="ko-KR" altLang="en-US" sz="1400">
                <a:solidFill>
                  <a:srgbClr val="9FB3CE"/>
                </a:solidFill>
                <a:latin typeface="JetBrains Mono"/>
              </a:rPr>
              <a:t>흐름으로 섹션을 배열한다</a:t>
            </a:r>
            <a:r>
              <a:rPr lang="en-US" altLang="ko-KR" sz="1400">
                <a:solidFill>
                  <a:srgbClr val="9FB3CE"/>
                </a:solidFill>
                <a:latin typeface="JetBrains Mono"/>
              </a:rPr>
              <a:t>.</a:t>
            </a:r>
            <a:endParaRPr lang="ko-KR" altLang="en-US" sz="1400">
              <a:solidFill>
                <a:srgbClr val="9FB3CE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핵심 개념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핵심 개념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AE4E1E1E-B161-9E4D-98AF-A944F617A4BD}"/>
              </a:ext>
            </a:extLst>
          </p:cNvPr>
          <p:cNvSpPr/>
          <p:nvPr/>
        </p:nvSpPr>
        <p:spPr>
          <a:xfrm>
            <a:off x="825500" y="1905000"/>
            <a:ext cx="33401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8343246-C8C2-DE4E-BCF1-A801FDD4FECA}"/>
              </a:ext>
            </a:extLst>
          </p:cNvPr>
          <p:cNvSpPr/>
          <p:nvPr/>
        </p:nvSpPr>
        <p:spPr>
          <a:xfrm>
            <a:off x="825500" y="1905000"/>
            <a:ext cx="3340100" cy="88900"/>
          </a:xfrm>
          <a:prstGeom prst="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4A3AC87E-F7FA-1B40-B614-9F8E91E72C00}"/>
              </a:ext>
            </a:extLst>
          </p:cNvPr>
          <p:cNvSpPr/>
          <p:nvPr/>
        </p:nvSpPr>
        <p:spPr>
          <a:xfrm>
            <a:off x="11303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1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82A05C-F021-A743-A70E-46EDC71B8F63}"/>
              </a:ext>
            </a:extLst>
          </p:cNvPr>
          <p:cNvSpPr txBox="1"/>
          <p:nvPr/>
        </p:nvSpPr>
        <p:spPr>
          <a:xfrm>
            <a:off x="11303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50" b="1">
                <a:solidFill>
                  <a:srgbClr val="14213D"/>
                </a:solidFill>
                <a:latin typeface="Pretendard"/>
              </a:rPr>
              <a:t>AIDA</a:t>
            </a:r>
            <a:endParaRPr lang="ko-KR" altLang="en-US" sz="1650" b="1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43C7E54-AD8C-1F4D-95CC-0DC6D935F7C8}"/>
              </a:ext>
            </a:extLst>
          </p:cNvPr>
          <p:cNvSpPr/>
          <p:nvPr/>
        </p:nvSpPr>
        <p:spPr>
          <a:xfrm>
            <a:off x="11303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453EDE-D0F4-F848-A155-A0FA5E4664B2}"/>
              </a:ext>
            </a:extLst>
          </p:cNvPr>
          <p:cNvSpPr txBox="1"/>
          <p:nvPr/>
        </p:nvSpPr>
        <p:spPr>
          <a:xfrm>
            <a:off x="11303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350">
                <a:solidFill>
                  <a:srgbClr val="576176"/>
                </a:solidFill>
                <a:latin typeface="Pretendard"/>
              </a:rPr>
              <a:t>Attention→Interest→Desire→Action. 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섹션 순서를 이 흐름에 맞춘다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35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A4D2CE43-784F-9946-87C2-51940D2BA788}"/>
              </a:ext>
            </a:extLst>
          </p:cNvPr>
          <p:cNvSpPr/>
          <p:nvPr/>
        </p:nvSpPr>
        <p:spPr>
          <a:xfrm>
            <a:off x="1130300" y="5562600"/>
            <a:ext cx="2730500" cy="457200"/>
          </a:xfrm>
          <a:prstGeom prst="roundRect">
            <a:avLst/>
          </a:prstGeom>
          <a:solidFill>
            <a:srgbClr val="E7ECF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37DA3F-11D7-9F4E-8E6A-127C2445A932}"/>
              </a:ext>
            </a:extLst>
          </p:cNvPr>
          <p:cNvSpPr txBox="1"/>
          <p:nvPr/>
        </p:nvSpPr>
        <p:spPr>
          <a:xfrm>
            <a:off x="11303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14213D"/>
                </a:solidFill>
                <a:latin typeface="Pretendard"/>
              </a:rPr>
              <a:t>A · I · D · A </a:t>
            </a:r>
            <a:r>
              <a:rPr lang="ko-KR" altLang="en-US" sz="1300" b="1">
                <a:solidFill>
                  <a:srgbClr val="14213D"/>
                </a:solidFill>
                <a:latin typeface="Pretendard"/>
              </a:rPr>
              <a:t>순서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92442DB4-961C-144C-A40D-C81D9648FC41}"/>
              </a:ext>
            </a:extLst>
          </p:cNvPr>
          <p:cNvSpPr/>
          <p:nvPr/>
        </p:nvSpPr>
        <p:spPr>
          <a:xfrm>
            <a:off x="4419600" y="1905000"/>
            <a:ext cx="33401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084D3C-D897-244C-8F22-836BF0D7CE09}"/>
              </a:ext>
            </a:extLst>
          </p:cNvPr>
          <p:cNvSpPr/>
          <p:nvPr/>
        </p:nvSpPr>
        <p:spPr>
          <a:xfrm>
            <a:off x="4419600" y="1905000"/>
            <a:ext cx="3340100" cy="88900"/>
          </a:xfrm>
          <a:prstGeom prst="rect">
            <a:avLst/>
          </a:prstGeom>
          <a:solidFill>
            <a:srgbClr val="1D4E8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11275042-819D-8F4A-8041-A69F56C35341}"/>
              </a:ext>
            </a:extLst>
          </p:cNvPr>
          <p:cNvSpPr/>
          <p:nvPr/>
        </p:nvSpPr>
        <p:spPr>
          <a:xfrm>
            <a:off x="47244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2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FAA452-7700-AC4D-B06D-35820BCACF76}"/>
              </a:ext>
            </a:extLst>
          </p:cNvPr>
          <p:cNvSpPr txBox="1"/>
          <p:nvPr/>
        </p:nvSpPr>
        <p:spPr>
          <a:xfrm>
            <a:off x="47244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50" b="1">
                <a:solidFill>
                  <a:srgbClr val="14213D"/>
                </a:solidFill>
                <a:latin typeface="Pretendard"/>
              </a:rPr>
              <a:t>정보 우선순위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0AB84B2-1459-1544-98AC-3A3C66C34383}"/>
              </a:ext>
            </a:extLst>
          </p:cNvPr>
          <p:cNvSpPr/>
          <p:nvPr/>
        </p:nvSpPr>
        <p:spPr>
          <a:xfrm>
            <a:off x="47244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8883D9-0279-EB4F-863B-9C8082A07D93}"/>
              </a:ext>
            </a:extLst>
          </p:cNvPr>
          <p:cNvSpPr txBox="1"/>
          <p:nvPr/>
        </p:nvSpPr>
        <p:spPr>
          <a:xfrm>
            <a:off x="47244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50">
                <a:solidFill>
                  <a:srgbClr val="576176"/>
                </a:solidFill>
                <a:latin typeface="Pretendard"/>
              </a:rPr>
              <a:t>가장 중요한 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1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가지를 첫 화면에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. 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스크롤할수록 보조 정보로 내려간다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35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05A5B7BE-563B-2641-AFA4-89C49705518A}"/>
              </a:ext>
            </a:extLst>
          </p:cNvPr>
          <p:cNvSpPr/>
          <p:nvPr/>
        </p:nvSpPr>
        <p:spPr>
          <a:xfrm>
            <a:off x="4724400" y="5562600"/>
            <a:ext cx="2730500" cy="457200"/>
          </a:xfrm>
          <a:prstGeom prst="roundRect">
            <a:avLst/>
          </a:prstGeom>
          <a:solidFill>
            <a:srgbClr val="E4EC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F53154-5989-1B4A-B1BC-A3BACFF8CC59}"/>
              </a:ext>
            </a:extLst>
          </p:cNvPr>
          <p:cNvSpPr txBox="1"/>
          <p:nvPr/>
        </p:nvSpPr>
        <p:spPr>
          <a:xfrm>
            <a:off x="47244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1D4E89"/>
                </a:solidFill>
                <a:latin typeface="Pretendard"/>
              </a:rPr>
              <a:t>중요한 건 위로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DF40025F-0870-1F48-A71C-62DFC8706E49}"/>
              </a:ext>
            </a:extLst>
          </p:cNvPr>
          <p:cNvSpPr/>
          <p:nvPr/>
        </p:nvSpPr>
        <p:spPr>
          <a:xfrm>
            <a:off x="8013700" y="1905000"/>
            <a:ext cx="33401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63860E3-A16D-574B-9B6C-DD5E332A324C}"/>
              </a:ext>
            </a:extLst>
          </p:cNvPr>
          <p:cNvSpPr/>
          <p:nvPr/>
        </p:nvSpPr>
        <p:spPr>
          <a:xfrm>
            <a:off x="8013700" y="1905000"/>
            <a:ext cx="3340100" cy="889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AADBCE2B-D8FA-A046-8DCF-25B9A9876FDC}"/>
              </a:ext>
            </a:extLst>
          </p:cNvPr>
          <p:cNvSpPr/>
          <p:nvPr/>
        </p:nvSpPr>
        <p:spPr>
          <a:xfrm>
            <a:off x="83185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3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715B33-8034-1140-ABDE-B7D6D12CF62B}"/>
              </a:ext>
            </a:extLst>
          </p:cNvPr>
          <p:cNvSpPr txBox="1"/>
          <p:nvPr/>
        </p:nvSpPr>
        <p:spPr>
          <a:xfrm>
            <a:off x="83185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50" b="1">
                <a:solidFill>
                  <a:srgbClr val="14213D"/>
                </a:solidFill>
                <a:latin typeface="Pretendard"/>
              </a:rPr>
              <a:t>인지 부하 줄이기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B62243A-3C47-094B-9FF3-2EDD8AF2ABCE}"/>
              </a:ext>
            </a:extLst>
          </p:cNvPr>
          <p:cNvSpPr/>
          <p:nvPr/>
        </p:nvSpPr>
        <p:spPr>
          <a:xfrm>
            <a:off x="83185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B51075D-03EC-D641-8995-CECF54D51467}"/>
              </a:ext>
            </a:extLst>
          </p:cNvPr>
          <p:cNvSpPr txBox="1"/>
          <p:nvPr/>
        </p:nvSpPr>
        <p:spPr>
          <a:xfrm>
            <a:off x="83185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50">
                <a:solidFill>
                  <a:srgbClr val="576176"/>
                </a:solidFill>
                <a:latin typeface="Pretendard"/>
              </a:rPr>
              <a:t>한 섹션 한 메시지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. 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선택지를 줄여 행동을 쉽게 만든다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35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BF4E4954-2B2A-9443-BD82-7D34B9499AFF}"/>
              </a:ext>
            </a:extLst>
          </p:cNvPr>
          <p:cNvSpPr/>
          <p:nvPr/>
        </p:nvSpPr>
        <p:spPr>
          <a:xfrm>
            <a:off x="8318500" y="5562600"/>
            <a:ext cx="2730500" cy="457200"/>
          </a:xfrm>
          <a:prstGeom prst="roundRect">
            <a:avLst/>
          </a:prstGeom>
          <a:solidFill>
            <a:srgbClr val="FBEF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36D96E-1E2C-CA4D-9AF2-7DC22F76C5DD}"/>
              </a:ext>
            </a:extLst>
          </p:cNvPr>
          <p:cNvSpPr txBox="1"/>
          <p:nvPr/>
        </p:nvSpPr>
        <p:spPr>
          <a:xfrm>
            <a:off x="83185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9A6B12"/>
                </a:solidFill>
                <a:latin typeface="Pretendard"/>
              </a:rPr>
              <a:t>한 섹션 한 메시지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개념 깊이 보기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개념을 예시로 — 우리 케이스에 적용하면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1D4E89"/>
                </a:solidFill>
                <a:latin typeface="Pretendard"/>
                <a:ea typeface="Pretendard"/>
                <a:cs typeface="Pretendard"/>
              </a:rPr>
              <a:t>●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AIDA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    예) </a:t>
            </a:r>
            <a:r>
              <a:rPr sz="14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Attention(히어로)→Interest(특징)→Desire(후기·사회적 증거)→Action(CTA) 순으로 섹션을 배열.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절차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실습 절차 — 직접 해봅니다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FE3BCC13-01AC-134F-816D-7FF976D8A74F}"/>
              </a:ext>
            </a:extLst>
          </p:cNvPr>
          <p:cNvSpPr/>
          <p:nvPr/>
        </p:nvSpPr>
        <p:spPr>
          <a:xfrm>
            <a:off x="825500" y="1930400"/>
            <a:ext cx="10541000" cy="9398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D5E5D3F-CD27-6B4C-A58C-70BD20D6EDBD}"/>
              </a:ext>
            </a:extLst>
          </p:cNvPr>
          <p:cNvSpPr/>
          <p:nvPr/>
        </p:nvSpPr>
        <p:spPr>
          <a:xfrm>
            <a:off x="825500" y="19304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1ECCC3A-4AA1-C14A-8AA6-0E2964CB45CB}"/>
              </a:ext>
            </a:extLst>
          </p:cNvPr>
          <p:cNvSpPr/>
          <p:nvPr/>
        </p:nvSpPr>
        <p:spPr>
          <a:xfrm>
            <a:off x="1143000" y="21590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1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C7B952-34C1-0F45-9330-BD4E5EB3547B}"/>
              </a:ext>
            </a:extLst>
          </p:cNvPr>
          <p:cNvSpPr txBox="1"/>
          <p:nvPr/>
        </p:nvSpPr>
        <p:spPr>
          <a:xfrm>
            <a:off x="1905000" y="20955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14213D"/>
                </a:solidFill>
                <a:latin typeface="Pretendard"/>
              </a:rPr>
              <a:t>AIDA</a:t>
            </a:r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로 재배열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B41397-1F5E-E84B-86DD-E77A0CD1D13E}"/>
              </a:ext>
            </a:extLst>
          </p:cNvPr>
          <p:cNvSpPr txBox="1"/>
          <p:nvPr/>
        </p:nvSpPr>
        <p:spPr>
          <a:xfrm>
            <a:off x="4546600" y="20574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섹션을 인지→관심→욕구→행동 순으로 배열한다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14B1C04B-A365-224F-987C-0813F33D6B9A}"/>
              </a:ext>
            </a:extLst>
          </p:cNvPr>
          <p:cNvSpPr/>
          <p:nvPr/>
        </p:nvSpPr>
        <p:spPr>
          <a:xfrm>
            <a:off x="825500" y="2971800"/>
            <a:ext cx="10541000" cy="9398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05CB52E-1DD3-FC46-A486-D43A9D7DD364}"/>
              </a:ext>
            </a:extLst>
          </p:cNvPr>
          <p:cNvSpPr/>
          <p:nvPr/>
        </p:nvSpPr>
        <p:spPr>
          <a:xfrm>
            <a:off x="825500" y="29718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D913612C-756D-D24E-9FF6-8507CE1F96AF}"/>
              </a:ext>
            </a:extLst>
          </p:cNvPr>
          <p:cNvSpPr/>
          <p:nvPr/>
        </p:nvSpPr>
        <p:spPr>
          <a:xfrm>
            <a:off x="1143000" y="32004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2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FD0753-AEFF-B348-88C9-B98AF6F2E760}"/>
              </a:ext>
            </a:extLst>
          </p:cNvPr>
          <p:cNvSpPr txBox="1"/>
          <p:nvPr/>
        </p:nvSpPr>
        <p:spPr>
          <a:xfrm>
            <a:off x="1905000" y="31369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첫 화면 점검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0A9F24-6940-1F40-9CAD-4FD8FE41EC58}"/>
              </a:ext>
            </a:extLst>
          </p:cNvPr>
          <p:cNvSpPr txBox="1"/>
          <p:nvPr/>
        </p:nvSpPr>
        <p:spPr>
          <a:xfrm>
            <a:off x="4546600" y="30988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첫 화면에 핵심 메시지와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CTA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가 있는지 확인한다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42448DE3-0618-AE4F-B522-058FC643A694}"/>
              </a:ext>
            </a:extLst>
          </p:cNvPr>
          <p:cNvSpPr/>
          <p:nvPr/>
        </p:nvSpPr>
        <p:spPr>
          <a:xfrm>
            <a:off x="825500" y="4013200"/>
            <a:ext cx="10541000" cy="9398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B6F8879-A5C3-1C41-956F-098ED03F29E1}"/>
              </a:ext>
            </a:extLst>
          </p:cNvPr>
          <p:cNvSpPr/>
          <p:nvPr/>
        </p:nvSpPr>
        <p:spPr>
          <a:xfrm>
            <a:off x="825500" y="40132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58057786-3804-BB47-B185-5C19082594C7}"/>
              </a:ext>
            </a:extLst>
          </p:cNvPr>
          <p:cNvSpPr/>
          <p:nvPr/>
        </p:nvSpPr>
        <p:spPr>
          <a:xfrm>
            <a:off x="1143000" y="42418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3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AF9903-0D75-024E-AD12-3423A75CAEA1}"/>
              </a:ext>
            </a:extLst>
          </p:cNvPr>
          <p:cNvSpPr txBox="1"/>
          <p:nvPr/>
        </p:nvSpPr>
        <p:spPr>
          <a:xfrm>
            <a:off x="1905000" y="41783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불필요 섹션 제거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808D49-6FE2-7845-92FA-5D199F81B624}"/>
              </a:ext>
            </a:extLst>
          </p:cNvPr>
          <p:cNvSpPr txBox="1"/>
          <p:nvPr/>
        </p:nvSpPr>
        <p:spPr>
          <a:xfrm>
            <a:off x="4546600" y="41402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목표와 무관한 섹션을 덜어낸다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2B1D5033-6B37-0442-8091-875D2BA7588E}"/>
              </a:ext>
            </a:extLst>
          </p:cNvPr>
          <p:cNvSpPr/>
          <p:nvPr/>
        </p:nvSpPr>
        <p:spPr>
          <a:xfrm>
            <a:off x="825500" y="5054600"/>
            <a:ext cx="10541000" cy="9398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E229931-D644-6742-9030-8A5214935B38}"/>
              </a:ext>
            </a:extLst>
          </p:cNvPr>
          <p:cNvSpPr/>
          <p:nvPr/>
        </p:nvSpPr>
        <p:spPr>
          <a:xfrm>
            <a:off x="825500" y="50546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31A2F118-2EF1-1146-9170-A8969B4E0CBB}"/>
              </a:ext>
            </a:extLst>
          </p:cNvPr>
          <p:cNvSpPr/>
          <p:nvPr/>
        </p:nvSpPr>
        <p:spPr>
          <a:xfrm>
            <a:off x="1143000" y="52832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4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AC47C0-3AE1-5940-A913-A1D99BABDFF7}"/>
              </a:ext>
            </a:extLst>
          </p:cNvPr>
          <p:cNvSpPr txBox="1"/>
          <p:nvPr/>
        </p:nvSpPr>
        <p:spPr>
          <a:xfrm>
            <a:off x="1905000" y="52197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모바일 점검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D71013-58D5-4F41-BC44-0EA14913BE06}"/>
              </a:ext>
            </a:extLst>
          </p:cNvPr>
          <p:cNvSpPr txBox="1"/>
          <p:nvPr/>
        </p:nvSpPr>
        <p:spPr>
          <a:xfrm>
            <a:off x="4546600" y="51816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모바일에서 흐름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·CTA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가 유지되는지 본다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프롬프트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흐름 점검 프롬프트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32720" cy="4434840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502920" rIns="365760" bIns="32004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다음 섹션 순서를 AIDA 관점에서 검토하고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더 전환이 잘 되는 순서로 재배열 + 이유를 알려줘.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현재: 특징 → 히어로 → FAQ → 후기 → CTA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2103120"/>
            <a:ext cx="109728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좋은예 VS 나쁜예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비교 — CTA 문구, 한 끗 차이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5029200" cy="4114800"/>
          </a:xfrm>
          <a:prstGeom prst="rect">
            <a:avLst/>
          </a:prstGeom>
          <a:solidFill>
            <a:srgbClr val="F7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20040" rIns="32004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700" b="1">
                <a:solidFill>
                  <a:srgbClr val="A63333"/>
                </a:solidFill>
                <a:latin typeface="Noto Serif KR"/>
                <a:ea typeface="Noto Serif KR"/>
                <a:cs typeface="Noto Serif KR"/>
              </a:rPr>
              <a:t>🚫 모호한 CTA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A6333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"더보기"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A6333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"제출하기"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A6333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→ 클릭해서 뭘 얻는지 안 보임</a:t>
            </a:r>
          </a:p>
        </p:txBody>
      </p:sp>
      <p:sp>
        <p:nvSpPr>
          <p:cNvPr id="5" name="Rectangle 4"/>
          <p:cNvSpPr/>
          <p:nvPr/>
        </p:nvSpPr>
        <p:spPr>
          <a:xfrm>
            <a:off x="6245352" y="1920240"/>
            <a:ext cx="5029200" cy="4114800"/>
          </a:xfrm>
          <a:prstGeom prst="rect">
            <a:avLst/>
          </a:prstGeom>
          <a:solidFill>
            <a:srgbClr val="E7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20040" rIns="32004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700" b="1">
                <a:solidFill>
                  <a:srgbClr val="2C6B44"/>
                </a:solidFill>
                <a:latin typeface="Noto Serif KR"/>
                <a:ea typeface="Noto Serif KR"/>
                <a:cs typeface="Noto Serif KR"/>
              </a:rPr>
              <a:t>✅ 이득형 CTA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2C6B44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"지금 사전예약하고 20% 받기"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2C6B44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"숙취 없는 첫 박스 받아보기"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2C6B44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→ 행동의 이득이 분명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정리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사용자 흐름 설계와 서비스 소개형 페이지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10332720" cy="1636776"/>
          </a:xfrm>
          <a:prstGeom prst="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28600" rIns="365760" bIns="18288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57A1A"/>
                </a:solidFill>
                <a:latin typeface="JetBrains Mono"/>
                <a:ea typeface="JetBrains Mono"/>
                <a:cs typeface="JetBrains Mono"/>
              </a:rPr>
              <a:t>⚠  흔한 실수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섹션이 너무 많으면 이탈한다 → 핵심만 남긴다.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모바일 미점검 → 데스크톱만 보고 발행하면 흐름이 깨진다.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739896"/>
            <a:ext cx="10332720" cy="100584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01168" rIns="365760" bIns="182880" rtlCol="0" anchor="t"/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📦  결과물 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사용자 흐름에 맞춘 서비스 소개형 페이지 구성 1개.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도구 가이드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이 모듈에서 쓰는 도구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FC5497AA-799F-7242-8483-A8224222B422}"/>
              </a:ext>
            </a:extLst>
          </p:cNvPr>
          <p:cNvSpPr/>
          <p:nvPr/>
        </p:nvSpPr>
        <p:spPr>
          <a:xfrm>
            <a:off x="825500" y="1905000"/>
            <a:ext cx="33401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721C9E4-8914-4948-BF6C-6CE9A641E713}"/>
              </a:ext>
            </a:extLst>
          </p:cNvPr>
          <p:cNvSpPr/>
          <p:nvPr/>
        </p:nvSpPr>
        <p:spPr>
          <a:xfrm>
            <a:off x="825500" y="1905000"/>
            <a:ext cx="3340100" cy="88900"/>
          </a:xfrm>
          <a:prstGeom prst="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A740AE8E-4094-1945-B62C-5460D65FF8B3}"/>
              </a:ext>
            </a:extLst>
          </p:cNvPr>
          <p:cNvSpPr/>
          <p:nvPr/>
        </p:nvSpPr>
        <p:spPr>
          <a:xfrm>
            <a:off x="1130300" y="2235200"/>
            <a:ext cx="2730500" cy="5842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F739E7-E79E-954A-98D9-FE6C1CEE07A3}"/>
              </a:ext>
            </a:extLst>
          </p:cNvPr>
          <p:cNvSpPr txBox="1"/>
          <p:nvPr/>
        </p:nvSpPr>
        <p:spPr>
          <a:xfrm>
            <a:off x="1130300" y="22352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650" b="1">
                <a:solidFill>
                  <a:srgbClr val="FFFFFF"/>
                </a:solidFill>
                <a:latin typeface="Pretendard"/>
              </a:rPr>
              <a:t>Google Stitch</a:t>
            </a:r>
            <a:endParaRPr lang="ko-KR" altLang="en-US" sz="165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726847-658A-CE42-A194-5085A88A0743}"/>
              </a:ext>
            </a:extLst>
          </p:cNvPr>
          <p:cNvSpPr txBox="1"/>
          <p:nvPr/>
        </p:nvSpPr>
        <p:spPr>
          <a:xfrm>
            <a:off x="1130300" y="3098800"/>
            <a:ext cx="2730500" cy="190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자연어로 페이지 섹션 구조를 잡는다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시안 단계에 적합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00367360-C98A-D943-960F-8B6BCC12372A}"/>
              </a:ext>
            </a:extLst>
          </p:cNvPr>
          <p:cNvSpPr/>
          <p:nvPr/>
        </p:nvSpPr>
        <p:spPr>
          <a:xfrm>
            <a:off x="1130300" y="5562600"/>
            <a:ext cx="2730500" cy="457200"/>
          </a:xfrm>
          <a:prstGeom prst="roundRect">
            <a:avLst/>
          </a:prstGeom>
          <a:solidFill>
            <a:srgbClr val="E7ECF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866251-1019-5841-A31E-F70E927A0786}"/>
              </a:ext>
            </a:extLst>
          </p:cNvPr>
          <p:cNvSpPr txBox="1"/>
          <p:nvPr/>
        </p:nvSpPr>
        <p:spPr>
          <a:xfrm>
            <a:off x="11303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14213D"/>
                </a:solidFill>
                <a:latin typeface="Pretendard"/>
              </a:rPr>
              <a:t>섹션 구조 시안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933A54EE-81BB-5040-B604-E16A36A61424}"/>
              </a:ext>
            </a:extLst>
          </p:cNvPr>
          <p:cNvSpPr/>
          <p:nvPr/>
        </p:nvSpPr>
        <p:spPr>
          <a:xfrm>
            <a:off x="4419600" y="1905000"/>
            <a:ext cx="33401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AD688F6-668A-6844-81FC-DF21781ACF9A}"/>
              </a:ext>
            </a:extLst>
          </p:cNvPr>
          <p:cNvSpPr/>
          <p:nvPr/>
        </p:nvSpPr>
        <p:spPr>
          <a:xfrm>
            <a:off x="4419600" y="1905000"/>
            <a:ext cx="3340100" cy="88900"/>
          </a:xfrm>
          <a:prstGeom prst="rect">
            <a:avLst/>
          </a:prstGeom>
          <a:solidFill>
            <a:srgbClr val="1D4E8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B5342F3F-D295-6447-B5C3-98BC25B4C00B}"/>
              </a:ext>
            </a:extLst>
          </p:cNvPr>
          <p:cNvSpPr/>
          <p:nvPr/>
        </p:nvSpPr>
        <p:spPr>
          <a:xfrm>
            <a:off x="4724400" y="2235200"/>
            <a:ext cx="2730500" cy="584200"/>
          </a:xfrm>
          <a:prstGeom prst="roundRect">
            <a:avLst/>
          </a:prstGeom>
          <a:solidFill>
            <a:srgbClr val="1D4E8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17DE3B-056A-F24F-B37B-5C345EA43BE2}"/>
              </a:ext>
            </a:extLst>
          </p:cNvPr>
          <p:cNvSpPr txBox="1"/>
          <p:nvPr/>
        </p:nvSpPr>
        <p:spPr>
          <a:xfrm>
            <a:off x="4724400" y="22352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650" b="1">
                <a:solidFill>
                  <a:srgbClr val="FFFFFF"/>
                </a:solidFill>
                <a:latin typeface="Pretendard"/>
              </a:rPr>
              <a:t>Framer</a:t>
            </a:r>
            <a:endParaRPr lang="ko-KR" altLang="en-US" sz="165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5D28B2-E7D0-D749-9C25-8EAFD79A3B8B}"/>
              </a:ext>
            </a:extLst>
          </p:cNvPr>
          <p:cNvSpPr txBox="1"/>
          <p:nvPr/>
        </p:nvSpPr>
        <p:spPr>
          <a:xfrm>
            <a:off x="4724400" y="3098800"/>
            <a:ext cx="2730500" cy="190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시안을 실제 게시 가능한 반응형 페이지로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노코드로 공개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URL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까지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33D8FFF2-AE0F-E947-A5BE-BC3C781879BF}"/>
              </a:ext>
            </a:extLst>
          </p:cNvPr>
          <p:cNvSpPr/>
          <p:nvPr/>
        </p:nvSpPr>
        <p:spPr>
          <a:xfrm>
            <a:off x="4724400" y="5562600"/>
            <a:ext cx="2730500" cy="457200"/>
          </a:xfrm>
          <a:prstGeom prst="roundRect">
            <a:avLst/>
          </a:prstGeom>
          <a:solidFill>
            <a:srgbClr val="E4EC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4D79A2-8033-8148-8D44-0B489D8A49B5}"/>
              </a:ext>
            </a:extLst>
          </p:cNvPr>
          <p:cNvSpPr txBox="1"/>
          <p:nvPr/>
        </p:nvSpPr>
        <p:spPr>
          <a:xfrm>
            <a:off x="47244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1D4E89"/>
                </a:solidFill>
                <a:latin typeface="Pretendard"/>
              </a:rPr>
              <a:t>반응형 게시 </a:t>
            </a:r>
            <a:r>
              <a:rPr lang="en-US" altLang="ko-KR" sz="1300" b="1">
                <a:solidFill>
                  <a:srgbClr val="1D4E89"/>
                </a:solidFill>
                <a:latin typeface="Pretendard"/>
              </a:rPr>
              <a:t>· URL</a:t>
            </a:r>
            <a:endParaRPr lang="ko-KR" altLang="en-US" sz="1300" b="1">
              <a:solidFill>
                <a:srgbClr val="1D4E89"/>
              </a:solidFill>
              <a:latin typeface="Pretendard"/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56DB0F82-09D1-6A41-837E-725F07D15D36}"/>
              </a:ext>
            </a:extLst>
          </p:cNvPr>
          <p:cNvSpPr/>
          <p:nvPr/>
        </p:nvSpPr>
        <p:spPr>
          <a:xfrm>
            <a:off x="8013700" y="1905000"/>
            <a:ext cx="3340100" cy="43815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3F40118-BE57-FF44-912A-EA3153A7CEBD}"/>
              </a:ext>
            </a:extLst>
          </p:cNvPr>
          <p:cNvSpPr/>
          <p:nvPr/>
        </p:nvSpPr>
        <p:spPr>
          <a:xfrm>
            <a:off x="8013700" y="1905000"/>
            <a:ext cx="3340100" cy="889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63C01F5C-B88A-764E-B089-A971C788AE56}"/>
              </a:ext>
            </a:extLst>
          </p:cNvPr>
          <p:cNvSpPr/>
          <p:nvPr/>
        </p:nvSpPr>
        <p:spPr>
          <a:xfrm>
            <a:off x="8318500" y="2235200"/>
            <a:ext cx="2730500" cy="584200"/>
          </a:xfrm>
          <a:prstGeom prst="round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978222-2627-6A48-91BF-0D7DA0AF65F3}"/>
              </a:ext>
            </a:extLst>
          </p:cNvPr>
          <p:cNvSpPr txBox="1"/>
          <p:nvPr/>
        </p:nvSpPr>
        <p:spPr>
          <a:xfrm>
            <a:off x="8318500" y="22352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650" b="1">
                <a:solidFill>
                  <a:srgbClr val="FFFFFF"/>
                </a:solidFill>
                <a:latin typeface="Pretendard"/>
              </a:rPr>
              <a:t>Carrd</a:t>
            </a:r>
            <a:endParaRPr lang="ko-KR" altLang="en-US" sz="165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5C981B-EAB5-E24E-8530-188FC5BC9667}"/>
              </a:ext>
            </a:extLst>
          </p:cNvPr>
          <p:cNvSpPr txBox="1"/>
          <p:nvPr/>
        </p:nvSpPr>
        <p:spPr>
          <a:xfrm>
            <a:off x="8318500" y="3098800"/>
            <a:ext cx="2730500" cy="190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가벼운 원페이지 프로모션에 적합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빠르게 만들고 공개한다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CDD956D6-B936-8745-8E1E-BD64204F9C91}"/>
              </a:ext>
            </a:extLst>
          </p:cNvPr>
          <p:cNvSpPr/>
          <p:nvPr/>
        </p:nvSpPr>
        <p:spPr>
          <a:xfrm>
            <a:off x="8318500" y="5562600"/>
            <a:ext cx="2730500" cy="457200"/>
          </a:xfrm>
          <a:prstGeom prst="roundRect">
            <a:avLst/>
          </a:prstGeom>
          <a:solidFill>
            <a:srgbClr val="FBEF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C58F67-5864-C545-B02B-B8D60516E943}"/>
              </a:ext>
            </a:extLst>
          </p:cNvPr>
          <p:cNvSpPr txBox="1"/>
          <p:nvPr/>
        </p:nvSpPr>
        <p:spPr>
          <a:xfrm>
            <a:off x="83185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9A6B12"/>
                </a:solidFill>
                <a:latin typeface="Pretendard"/>
              </a:rPr>
              <a:t>가벼운 원페이지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CHECKLIST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모듈 체크리스트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46111687-096E-2244-B8AC-52E355892DEA}"/>
              </a:ext>
            </a:extLst>
          </p:cNvPr>
          <p:cNvSpPr/>
          <p:nvPr/>
        </p:nvSpPr>
        <p:spPr>
          <a:xfrm>
            <a:off x="825500" y="2006600"/>
            <a:ext cx="10541000" cy="12192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194E2FEE-E018-D94F-9DA7-83A73A228524}"/>
              </a:ext>
            </a:extLst>
          </p:cNvPr>
          <p:cNvSpPr/>
          <p:nvPr/>
        </p:nvSpPr>
        <p:spPr>
          <a:xfrm>
            <a:off x="825500" y="2006600"/>
            <a:ext cx="76200" cy="1219200"/>
          </a:xfrm>
          <a:prstGeom prst="round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683560E8-CC2F-1A41-A3BC-3634D3C1B696}"/>
              </a:ext>
            </a:extLst>
          </p:cNvPr>
          <p:cNvSpPr/>
          <p:nvPr/>
        </p:nvSpPr>
        <p:spPr>
          <a:xfrm>
            <a:off x="1270000" y="2362200"/>
            <a:ext cx="508000" cy="508000"/>
          </a:xfrm>
          <a:prstGeom prst="roundRect">
            <a:avLst/>
          </a:prstGeom>
          <a:solidFill>
            <a:srgbClr val="FFFFFF"/>
          </a:solidFill>
          <a:ln w="22225" cap="flat" cmpd="sng" algn="ctr">
            <a:solidFill>
              <a:srgbClr val="14213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2200" b="1">
                <a:solidFill>
                  <a:srgbClr val="E8A33D"/>
                </a:solidFill>
              </a:rPr>
              <a:t>✓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3E6995-D795-784C-B0CC-5706A3E4367C}"/>
              </a:ext>
            </a:extLst>
          </p:cNvPr>
          <p:cNvSpPr txBox="1"/>
          <p:nvPr/>
        </p:nvSpPr>
        <p:spPr>
          <a:xfrm>
            <a:off x="2082800" y="2286000"/>
            <a:ext cx="8890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14213D"/>
                </a:solidFill>
                <a:latin typeface="Pretendard"/>
              </a:rPr>
              <a:t>섹션마다 역할 부여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D31541-8F24-5249-B070-0347CB0EA2AC}"/>
              </a:ext>
            </a:extLst>
          </p:cNvPr>
          <p:cNvSpPr txBox="1"/>
          <p:nvPr/>
        </p:nvSpPr>
        <p:spPr>
          <a:xfrm>
            <a:off x="2082800" y="2667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50">
                <a:solidFill>
                  <a:srgbClr val="576176"/>
                </a:solidFill>
                <a:latin typeface="Pretendard"/>
              </a:rPr>
              <a:t>히어로 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· 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특징 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· 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후기 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· CTA</a:t>
            </a:r>
            <a:endParaRPr lang="ko-KR" altLang="en-US" sz="135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1370618B-A981-6C43-9461-65D16C7953D6}"/>
              </a:ext>
            </a:extLst>
          </p:cNvPr>
          <p:cNvSpPr/>
          <p:nvPr/>
        </p:nvSpPr>
        <p:spPr>
          <a:xfrm>
            <a:off x="825500" y="3403600"/>
            <a:ext cx="10541000" cy="12192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16309C20-D805-334D-9FCF-6008CDDBCA29}"/>
              </a:ext>
            </a:extLst>
          </p:cNvPr>
          <p:cNvSpPr/>
          <p:nvPr/>
        </p:nvSpPr>
        <p:spPr>
          <a:xfrm>
            <a:off x="825500" y="3403600"/>
            <a:ext cx="76200" cy="1219200"/>
          </a:xfrm>
          <a:prstGeom prst="round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73C2099E-F3A0-FB4F-AFAD-41248DDB4498}"/>
              </a:ext>
            </a:extLst>
          </p:cNvPr>
          <p:cNvSpPr/>
          <p:nvPr/>
        </p:nvSpPr>
        <p:spPr>
          <a:xfrm>
            <a:off x="1270000" y="3759200"/>
            <a:ext cx="508000" cy="508000"/>
          </a:xfrm>
          <a:prstGeom prst="roundRect">
            <a:avLst/>
          </a:prstGeom>
          <a:solidFill>
            <a:srgbClr val="FFFFFF"/>
          </a:solidFill>
          <a:ln w="22225" cap="flat" cmpd="sng" algn="ctr">
            <a:solidFill>
              <a:srgbClr val="14213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2200" b="1">
                <a:solidFill>
                  <a:srgbClr val="E8A33D"/>
                </a:solidFill>
              </a:rPr>
              <a:t>✓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CD0355-33AA-6B47-B959-828B3B2C552B}"/>
              </a:ext>
            </a:extLst>
          </p:cNvPr>
          <p:cNvSpPr txBox="1"/>
          <p:nvPr/>
        </p:nvSpPr>
        <p:spPr>
          <a:xfrm>
            <a:off x="2082800" y="3683000"/>
            <a:ext cx="8890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14213D"/>
                </a:solidFill>
                <a:latin typeface="Pretendard"/>
              </a:rPr>
              <a:t>이득형 </a:t>
            </a:r>
            <a:r>
              <a:rPr lang="en-US" altLang="ko-KR" b="1">
                <a:solidFill>
                  <a:srgbClr val="14213D"/>
                </a:solidFill>
                <a:latin typeface="Pretendard"/>
              </a:rPr>
              <a:t>CTA 3</a:t>
            </a:r>
            <a:r>
              <a:rPr lang="ko-KR" altLang="en-US" b="1">
                <a:solidFill>
                  <a:srgbClr val="14213D"/>
                </a:solidFill>
                <a:latin typeface="Pretendard"/>
              </a:rPr>
              <a:t>종 작성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689505-869C-AB4D-8FCD-EB84BD385EB0}"/>
              </a:ext>
            </a:extLst>
          </p:cNvPr>
          <p:cNvSpPr txBox="1"/>
          <p:nvPr/>
        </p:nvSpPr>
        <p:spPr>
          <a:xfrm>
            <a:off x="2082800" y="4064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50">
                <a:solidFill>
                  <a:srgbClr val="576176"/>
                </a:solidFill>
                <a:latin typeface="Pretendard"/>
              </a:rPr>
              <a:t>이득 동사 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+ 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버튼 </a:t>
            </a:r>
            <a:r>
              <a:rPr lang="en-US" altLang="ko-KR" sz="1350">
                <a:solidFill>
                  <a:srgbClr val="576176"/>
                </a:solidFill>
                <a:latin typeface="Pretendard"/>
              </a:rPr>
              <a:t>1</a:t>
            </a:r>
            <a:r>
              <a:rPr lang="ko-KR" altLang="en-US" sz="1350">
                <a:solidFill>
                  <a:srgbClr val="576176"/>
                </a:solidFill>
                <a:latin typeface="Pretendard"/>
              </a:rPr>
              <a:t>개에 집중</a:t>
            </a: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8AF97932-6EAE-9D4E-938E-ABEFBBBB3EC9}"/>
              </a:ext>
            </a:extLst>
          </p:cNvPr>
          <p:cNvSpPr/>
          <p:nvPr/>
        </p:nvSpPr>
        <p:spPr>
          <a:xfrm>
            <a:off x="825500" y="4800600"/>
            <a:ext cx="10541000" cy="12192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5622351C-5465-B54C-BFF5-915C5EED910F}"/>
              </a:ext>
            </a:extLst>
          </p:cNvPr>
          <p:cNvSpPr/>
          <p:nvPr/>
        </p:nvSpPr>
        <p:spPr>
          <a:xfrm>
            <a:off x="825500" y="4800600"/>
            <a:ext cx="76200" cy="1219200"/>
          </a:xfrm>
          <a:prstGeom prst="round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87E5D225-943E-134E-8048-986B0BD7FD3F}"/>
              </a:ext>
            </a:extLst>
          </p:cNvPr>
          <p:cNvSpPr/>
          <p:nvPr/>
        </p:nvSpPr>
        <p:spPr>
          <a:xfrm>
            <a:off x="1270000" y="5156200"/>
            <a:ext cx="508000" cy="508000"/>
          </a:xfrm>
          <a:prstGeom prst="roundRect">
            <a:avLst/>
          </a:prstGeom>
          <a:solidFill>
            <a:srgbClr val="FFFFFF"/>
          </a:solidFill>
          <a:ln w="22225" cap="flat" cmpd="sng" algn="ctr">
            <a:solidFill>
              <a:srgbClr val="14213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2200" b="1">
                <a:solidFill>
                  <a:srgbClr val="E8A33D"/>
                </a:solidFill>
              </a:rPr>
              <a:t>✓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83710A-5E1F-5D4A-B1DC-EB65FC35E6C9}"/>
              </a:ext>
            </a:extLst>
          </p:cNvPr>
          <p:cNvSpPr txBox="1"/>
          <p:nvPr/>
        </p:nvSpPr>
        <p:spPr>
          <a:xfrm>
            <a:off x="2082800" y="5080000"/>
            <a:ext cx="8890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b="1">
                <a:solidFill>
                  <a:srgbClr val="14213D"/>
                </a:solidFill>
                <a:latin typeface="Pretendard"/>
              </a:rPr>
              <a:t>AIDA </a:t>
            </a:r>
            <a:r>
              <a:rPr lang="ko-KR" altLang="en-US" b="1">
                <a:solidFill>
                  <a:srgbClr val="14213D"/>
                </a:solidFill>
                <a:latin typeface="Pretendard"/>
              </a:rPr>
              <a:t>흐름으로 재배열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7ED060-4035-7A4A-BE7E-3E380815F387}"/>
              </a:ext>
            </a:extLst>
          </p:cNvPr>
          <p:cNvSpPr txBox="1"/>
          <p:nvPr/>
        </p:nvSpPr>
        <p:spPr>
          <a:xfrm>
            <a:off x="2082800" y="5461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350">
                <a:solidFill>
                  <a:srgbClr val="576176"/>
                </a:solidFill>
                <a:latin typeface="Pretendard"/>
              </a:rPr>
              <a:t>인지 → 관심 → 욕구 → 행동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01FE2EB5-D48D-3C46-AD43-668945EB9F01}"/>
              </a:ext>
            </a:extLst>
          </p:cNvPr>
          <p:cNvSpPr/>
          <p:nvPr/>
        </p:nvSpPr>
        <p:spPr>
          <a:xfrm>
            <a:off x="825500" y="1905000"/>
            <a:ext cx="10541000" cy="3175000"/>
          </a:xfrm>
          <a:prstGeom prst="round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544052C9-964A-314B-81A1-A2063ED99B4D}"/>
              </a:ext>
            </a:extLst>
          </p:cNvPr>
          <p:cNvSpPr/>
          <p:nvPr/>
        </p:nvSpPr>
        <p:spPr>
          <a:xfrm>
            <a:off x="825500" y="1905000"/>
            <a:ext cx="101600" cy="3175000"/>
          </a:xfrm>
          <a:prstGeom prst="round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D18431-CB0D-6F49-B4B0-C9531C81BC33}"/>
              </a:ext>
            </a:extLst>
          </p:cNvPr>
          <p:cNvSpPr txBox="1"/>
          <p:nvPr/>
        </p:nvSpPr>
        <p:spPr>
          <a:xfrm>
            <a:off x="1333500" y="2286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E8A33D"/>
                </a:solidFill>
                <a:latin typeface="JetBrains Mono"/>
              </a:rPr>
              <a:t>MISSION 06 · </a:t>
            </a:r>
            <a:r>
              <a:rPr lang="ko-KR" altLang="en-US" sz="1500" b="1">
                <a:solidFill>
                  <a:srgbClr val="E8A33D"/>
                </a:solidFill>
                <a:latin typeface="JetBrains Mono"/>
              </a:rPr>
              <a:t>도장깨기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913BEE-4D1B-D94F-9C0B-48A069D920E6}"/>
              </a:ext>
            </a:extLst>
          </p:cNvPr>
          <p:cNvSpPr txBox="1"/>
          <p:nvPr/>
        </p:nvSpPr>
        <p:spPr>
          <a:xfrm>
            <a:off x="1333500" y="2641600"/>
            <a:ext cx="88900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3000" b="1">
                <a:solidFill>
                  <a:srgbClr val="FFFFFF"/>
                </a:solidFill>
                <a:latin typeface="Noto Serif KR"/>
              </a:rPr>
              <a:t>홍보 페이지 구성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8B0937E6-320D-BD49-8BD9-567C8601B1F2}"/>
              </a:ext>
            </a:extLst>
          </p:cNvPr>
          <p:cNvSpPr/>
          <p:nvPr/>
        </p:nvSpPr>
        <p:spPr>
          <a:xfrm>
            <a:off x="1333500" y="3454400"/>
            <a:ext cx="9525000" cy="1320800"/>
          </a:xfrm>
          <a:prstGeom prst="roundRect">
            <a:avLst/>
          </a:prstGeom>
          <a:solidFill>
            <a:srgbClr val="20314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1D3599-2063-B64E-9F72-A6A541162EA8}"/>
              </a:ext>
            </a:extLst>
          </p:cNvPr>
          <p:cNvSpPr txBox="1"/>
          <p:nvPr/>
        </p:nvSpPr>
        <p:spPr>
          <a:xfrm>
            <a:off x="1587500" y="3657600"/>
            <a:ext cx="9017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FFFFFF"/>
                </a:solidFill>
                <a:latin typeface="Pretendard"/>
              </a:rPr>
              <a:t>소개형 페이지를 사용자 흐름 순으로 구성한다</a:t>
            </a:r>
            <a:r>
              <a:rPr lang="en-US" altLang="ko-KR" b="1">
                <a:solidFill>
                  <a:srgbClr val="FFFFFF"/>
                </a:solidFill>
                <a:latin typeface="Pretendard"/>
              </a:rPr>
              <a:t>.</a:t>
            </a:r>
            <a:endParaRPr lang="ko-KR" altLang="en-US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A6D26A-94DF-EF4B-986B-5E20DE8C1B03}"/>
              </a:ext>
            </a:extLst>
          </p:cNvPr>
          <p:cNvSpPr txBox="1"/>
          <p:nvPr/>
        </p:nvSpPr>
        <p:spPr>
          <a:xfrm>
            <a:off x="1587500" y="4140200"/>
            <a:ext cx="9017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50">
                <a:solidFill>
                  <a:srgbClr val="E8A33D"/>
                </a:solidFill>
                <a:latin typeface="Pretendard"/>
              </a:rPr>
              <a:t>→ 인지 → 관심 → 행동 순으로 섹션을 배치한다</a:t>
            </a:r>
            <a:r>
              <a:rPr lang="en-US" altLang="ko-KR" sz="1450">
                <a:solidFill>
                  <a:srgbClr val="E8A33D"/>
                </a:solidFill>
                <a:latin typeface="Pretendard"/>
              </a:rPr>
              <a:t>.</a:t>
            </a:r>
            <a:endParaRPr lang="ko-KR" altLang="en-US" sz="1450">
              <a:solidFill>
                <a:srgbClr val="E8A33D"/>
              </a:solidFill>
              <a:latin typeface="Pretendard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FB37313B-0188-F548-BD11-E0FA8CD99583}"/>
              </a:ext>
            </a:extLst>
          </p:cNvPr>
          <p:cNvSpPr/>
          <p:nvPr/>
        </p:nvSpPr>
        <p:spPr>
          <a:xfrm>
            <a:off x="825500" y="5283200"/>
            <a:ext cx="10541000" cy="939800"/>
          </a:xfrm>
          <a:prstGeom prst="roundRect">
            <a:avLst/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7A9E06-AA01-EE47-822B-118FB2C976A7}"/>
              </a:ext>
            </a:extLst>
          </p:cNvPr>
          <p:cNvSpPr txBox="1"/>
          <p:nvPr/>
        </p:nvSpPr>
        <p:spPr>
          <a:xfrm>
            <a:off x="1206500" y="5486400"/>
            <a:ext cx="1778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E8A33D"/>
                </a:solidFill>
                <a:latin typeface="JetBrains Mono"/>
              </a:rPr>
              <a:t>▶  NEXT</a:t>
            </a:r>
            <a:endParaRPr lang="ko-KR" altLang="en-US" sz="13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D903CC-F581-AE4C-B145-688707403B1D}"/>
              </a:ext>
            </a:extLst>
          </p:cNvPr>
          <p:cNvSpPr txBox="1"/>
          <p:nvPr/>
        </p:nvSpPr>
        <p:spPr>
          <a:xfrm>
            <a:off x="1206500" y="5740400"/>
            <a:ext cx="96520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b="1">
                <a:solidFill>
                  <a:srgbClr val="14213D"/>
                </a:solidFill>
                <a:latin typeface="Pretendard"/>
              </a:rPr>
              <a:t>M7 · AI </a:t>
            </a:r>
            <a:r>
              <a:rPr lang="ko-KR" altLang="en-US" b="1">
                <a:solidFill>
                  <a:srgbClr val="14213D"/>
                </a:solidFill>
                <a:latin typeface="Pretendard"/>
              </a:rPr>
              <a:t>기반 반복업무 자동화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1554480"/>
            <a:ext cx="1005840" cy="12801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400" b="0">
                <a:solidFill>
                  <a:srgbClr val="BFD2EC"/>
                </a:solidFill>
                <a:latin typeface="JetBrains Mono"/>
                <a:ea typeface="JetBrains Mono"/>
                <a:cs typeface="JetBrains Mono"/>
              </a:rPr>
              <a:t>MODULE 7 · 7–8교시 · 16:00–17:50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</a:pPr>
            <a:r>
              <a:rPr sz="38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M7. AI 기반 반복업무 자동화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하루 동안 만든 산출물을 재사용 템플릿으로 자산화하고, 반복 홍보업무를 자동화 루틴으로 설계한다. (2시간 · 결과물 완성·발표 포함)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5212080"/>
            <a:ext cx="10515600" cy="1051560"/>
          </a:xfrm>
          <a:prstGeom prst="rect">
            <a:avLst/>
          </a:prstGeom>
          <a:solidFill>
            <a:srgbClr val="184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64592" rtlCol="0" anchor="ctr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300"/>
              </a:spcAft>
            </a:pPr>
            <a:r>
              <a:rPr sz="1200" b="1">
                <a:solidFill>
                  <a:srgbClr val="9FC0E6"/>
                </a:solidFill>
                <a:latin typeface="JetBrains Mono"/>
                <a:ea typeface="JetBrains Mono"/>
                <a:cs typeface="JetBrains Mono"/>
              </a:rPr>
              <a:t>이전  </a:t>
            </a:r>
            <a:r>
              <a:rPr sz="1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M1~M6의 결과물이 모두 모였다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300"/>
              </a:spcAft>
            </a:pPr>
            <a:r>
              <a:rPr sz="12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이번  </a:t>
            </a: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오늘 만든 것을 템플릿·자동화로 자산화하고 발표한다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1">
                <a:solidFill>
                  <a:srgbClr val="9FC0E6"/>
                </a:solidFill>
                <a:latin typeface="JetBrains Mono"/>
                <a:ea typeface="JetBrains Mono"/>
                <a:cs typeface="JetBrains Mono"/>
              </a:rPr>
              <a:t>다음  </a:t>
            </a:r>
            <a:r>
              <a:rPr sz="1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하루의 결과물이 내일의 자산으로 🏁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학습 목표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이 모듈에서 할 수 있게 되는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반복 홍보업무를 템플릿화하고 실무 적용 프로세스를 설계할 수 있다.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오늘 만든 결과물을 완성하고 현업 적용 방안을 정리할 수 있다.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2468880"/>
            <a:ext cx="822960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800"/>
              </a:spcAft>
            </a:pPr>
            <a:r>
              <a:rPr sz="1400" b="0">
                <a:solidFill>
                  <a:srgbClr val="BFD2EC"/>
                </a:solidFill>
                <a:latin typeface="JetBrains Mono"/>
                <a:ea typeface="JetBrains Mono"/>
                <a:cs typeface="JetBrains Mono"/>
              </a:rPr>
              <a:t>세션 1</a:t>
            </a:r>
          </a:p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1200"/>
              </a:spcAft>
            </a:pPr>
            <a:r>
              <a:rPr sz="32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홍보업무 템플릿화와 재사용 전략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반복업무는 "프롬프트 + 체크리스트 + 자산"의 3종 세트로 템플릿화한다.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핵심 개념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핵심 개념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프롬프트 라이브러리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잘 작동한 프롬프트를 용도별로 모은 개인 자산. 다음엔 0에서 시작하지 않는다.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콘텐츠 리퍼포징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하나의 핵심 콘텐츠를 여러 채널·형식으로 재가공(원소스 멀티유즈의 운영판).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워크플로 자동화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트리거→생성→사람 검수→발행 단계 정의. Make/Zapier로 일부 단계를 연결.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개념 깊이 보기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개념을 예시로 — 우리 케이스에 적용하면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1D4E89"/>
                </a:solidFill>
                <a:latin typeface="Pretendard"/>
                <a:ea typeface="Pretendard"/>
                <a:cs typeface="Pretendard"/>
              </a:rPr>
              <a:t>●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프롬프트 라이브러리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    예) </a:t>
            </a:r>
            <a:r>
              <a:rPr sz="14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오늘 잘 된 R-C-T-F 헤드라인 프롬프트를 노션에 저장 → 다음 신제품 땐 제품명만 바꿔 재사용.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1D4E89"/>
                </a:solidFill>
                <a:latin typeface="Pretendard"/>
                <a:ea typeface="Pretendard"/>
                <a:cs typeface="Pretendard"/>
              </a:rPr>
              <a:t>●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워크플로 자동화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    예) </a:t>
            </a:r>
            <a:r>
              <a:rPr sz="14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트리거(매주 월 09:00)→ChatGPT 초안→사람 검수→인스타 예약발행. Make로 연결.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절차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실습 절차 — 직접 해봅니다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1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오늘의 프롬프트 중 재사용할 것을 라이브러리에 정리한다.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2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반복업무 1개를 "트리거 → 생성 → 검수 → 발행" 단계로 그린다.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3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각 단계의 입력/출력과 담당(AI/사람)을 명시한다.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4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월간 반복 시 예상 절감시간을 적는다.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프롬프트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워크플로 설계 보조 프롬프트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32720" cy="4434840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502920" rIns="365760" bIns="32004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다음 반복 홍보업무를 자동화 워크플로로 설계해줘.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"트리거 / AI 단계 / 사람 검수 / 발행"으로 표를 만들고,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각 단계에 쓸 도구와 예상 소요시간을 적어줘.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업무: 매주 신제품 인스타 게시글 + 카드뉴스 발행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2103120"/>
            <a:ext cx="109728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실제 입력 → 출력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실제 예시 — 자동화 워크플로 설계 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83080"/>
            <a:ext cx="10332720" cy="1874519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502920" rIns="320040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다음 반복 업무를 자동화 워크플로로 설계해줘. "트리거/AI/사람검수/발행" 표 + 도구·소요시간.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업무: 매주 신제품 인스타 게시글 + 카드뉴스 발행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83080"/>
            <a:ext cx="2011680" cy="329184"/>
          </a:xfrm>
          <a:prstGeom prst="rect">
            <a:avLst/>
          </a:prstGeom>
          <a:solidFill>
            <a:srgbClr val="24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0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▸ 입력 프롬프트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794760"/>
            <a:ext cx="10332720" cy="2514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9EC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502920" rIns="32004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14213D"/>
                </a:solidFill>
                <a:latin typeface="JetBrains Mono"/>
                <a:ea typeface="JetBrains Mono"/>
                <a:cs typeface="JetBrains Mono"/>
              </a:rPr>
              <a:t>┌────────┬───────────────┬──────────┬──────┐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14213D"/>
                </a:solidFill>
                <a:latin typeface="JetBrains Mono"/>
                <a:ea typeface="JetBrains Mono"/>
                <a:cs typeface="JetBrains Mono"/>
              </a:rPr>
              <a:t>│ 단계    │ 하는 일        │ 도구      │ 시간 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14213D"/>
                </a:solidFill>
                <a:latin typeface="JetBrains Mono"/>
                <a:ea typeface="JetBrains Mono"/>
                <a:cs typeface="JetBrains Mono"/>
              </a:rPr>
              <a:t>├────────┼───────────────┼──────────┼──────┤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14213D"/>
                </a:solidFill>
                <a:latin typeface="JetBrains Mono"/>
                <a:ea typeface="JetBrains Mono"/>
                <a:cs typeface="JetBrains Mono"/>
              </a:rPr>
              <a:t>│ 트리거  │ 매주 월 09:00  │ Make     │  -   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14213D"/>
                </a:solidFill>
                <a:latin typeface="JetBrains Mono"/>
                <a:ea typeface="JetBrains Mono"/>
                <a:cs typeface="JetBrains Mono"/>
              </a:rPr>
              <a:t>│ AI생성  │ 게시글+문구 초안│ ChatGPT  │ 2분  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14213D"/>
                </a:solidFill>
                <a:latin typeface="JetBrains Mono"/>
                <a:ea typeface="JetBrains Mono"/>
                <a:cs typeface="JetBrains Mono"/>
              </a:rPr>
              <a:t>│ 사람검수│ 사실·톤 확인   │ 담당자    │ 5분  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14213D"/>
                </a:solidFill>
                <a:latin typeface="JetBrains Mono"/>
                <a:ea typeface="JetBrains Mono"/>
                <a:cs typeface="JetBrains Mono"/>
              </a:rPr>
              <a:t>│ 발행    │ 인스타 예약발행 │ Make     │ 1분  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200">
                <a:solidFill>
                  <a:srgbClr val="14213D"/>
                </a:solidFill>
                <a:latin typeface="JetBrains Mono"/>
                <a:ea typeface="JetBrains Mono"/>
                <a:cs typeface="JetBrains Mono"/>
              </a:rPr>
              <a:t>└────────┴───────────────┴──────────┴──────┘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350">
                <a:solidFill>
                  <a:srgbClr val="1D4E89"/>
                </a:solidFill>
                <a:latin typeface="Pretendard"/>
                <a:ea typeface="Pretendard"/>
                <a:cs typeface="Pretendard"/>
              </a:rPr>
              <a:t>→ 기존 주 3시간 → 약 10분. 검수는 사람이 게이트.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794760"/>
            <a:ext cx="1828800" cy="329184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2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▸ 나온 결과(예)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정리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홍보업무 템플릿화와 재사용 전략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10332720" cy="1636776"/>
          </a:xfrm>
          <a:prstGeom prst="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28600" rIns="365760" bIns="18288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57A1A"/>
                </a:solidFill>
                <a:latin typeface="JetBrains Mono"/>
                <a:ea typeface="JetBrains Mono"/>
                <a:cs typeface="JetBrains Mono"/>
              </a:rPr>
              <a:t>⚠  흔한 실수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검수 단계를 빼고 자동 발행하면 사고 위험 → 사람 게이트 필수.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템플릿을 안 남기면 매번 처음부터 → 라이브러리화가 핵심 자산.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739896"/>
            <a:ext cx="10332720" cy="100584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01168" rIns="365760" bIns="182880" rtlCol="0" anchor="t"/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📦  결과물 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재사용 프롬프트 라이브러리 + 자동화 워크플로 1건.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2468880"/>
            <a:ext cx="822960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800"/>
              </a:spcAft>
            </a:pPr>
            <a:r>
              <a:rPr sz="1400" b="0">
                <a:solidFill>
                  <a:srgbClr val="BFD2EC"/>
                </a:solidFill>
                <a:latin typeface="JetBrains Mono"/>
                <a:ea typeface="JetBrains Mono"/>
                <a:cs typeface="JetBrains Mono"/>
              </a:rPr>
              <a:t>세션 2</a:t>
            </a:r>
          </a:p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1200"/>
              </a:spcAft>
            </a:pPr>
            <a:r>
              <a:rPr sz="32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결과물 완성 및 피드백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오늘의 결과물을 모아 발표하고, 현업 적용 계획과 체크리스트로 마무리한다.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핵심 개념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핵심 개념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결과물 패키지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M2~M6 산출물(메시지·콘텐츠·시각자료·시안·페이지)을 한 폴더/문서로 묶어 포트폴리오화.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피드백 루프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발표 → 동료/강사 피드백 → 1개 개선점 도출. 작은 개선을 즉시 반영.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실무 적용 체크리스트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내일부터 쓸 1가지를 구체적 행동으로("매주 화 10시, 카드뉴스 템플릿으로 발행").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개념 깊이 보기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개념을 예시로 — 우리 케이스에 적용하면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1D4E89"/>
                </a:solidFill>
                <a:latin typeface="Pretendard"/>
                <a:ea typeface="Pretendard"/>
                <a:cs typeface="Pretendard"/>
              </a:rPr>
              <a:t>●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결과물 패키지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    예) </a:t>
            </a:r>
            <a:r>
              <a:rPr sz="14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M2 메시지하우스 + M3 콘텐츠 + M4 카드뉴스 + M5 시안 + M6 페이지를 노션 한 페이지로 묶어 포트폴리오화.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1D4E89"/>
                </a:solidFill>
                <a:latin typeface="Pretendard"/>
                <a:ea typeface="Pretendard"/>
                <a:cs typeface="Pretendard"/>
              </a:rPr>
              <a:t>●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실무 적용 체크리스트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    예) </a:t>
            </a:r>
            <a:r>
              <a:rPr sz="14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"언젠가"(X) → "매주 화 10시, 카드뉴스 템플릿으로 발행"(O). 요일·시간까지.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절차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실습 절차 — 직접 해봅니다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1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오늘 만든 결과물을 한 문서로 모은다.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2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2분 발표로 만든 것과 적용 계획을 공유한다.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3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피드백 중 개선점 1개를 즉시 반영한다.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4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실무 활용 체크리스트(다음 주 실행 1가지)를 작성한다.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프롬프트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회고·체크리스트 프롬프트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32720" cy="4434840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502920" rIns="365760" bIns="32004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오늘 만든 결과물 목록을 줄게. 이걸 바탕으로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(1) 한 문단 발표 스크립트 (2) 현업 적용 체크리스트 5개를 만들어줘.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결과물: 메시지 하우스, 소개문, 카드뉴스, UI 시안, 랜딩페이지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2103120"/>
            <a:ext cx="109728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좋은예 VS 나쁜예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비교 — 워크숍이 끝난 뒤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5029200" cy="4114800"/>
          </a:xfrm>
          <a:prstGeom prst="rect">
            <a:avLst/>
          </a:prstGeom>
          <a:solidFill>
            <a:srgbClr val="F7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20040" rIns="32004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700" b="1">
                <a:solidFill>
                  <a:srgbClr val="A63333"/>
                </a:solidFill>
                <a:latin typeface="Noto Serif KR"/>
                <a:ea typeface="Noto Serif KR"/>
                <a:cs typeface="Noto Serif KR"/>
              </a:rPr>
              <a:t>🚫 흔한 끝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A6333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"좋았다"로 끝, 자료는 흩어짐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A6333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"언젠가 적용해봐야지"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A6333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한 달 뒤 0에서 다시 시작</a:t>
            </a:r>
          </a:p>
        </p:txBody>
      </p:sp>
      <p:sp>
        <p:nvSpPr>
          <p:cNvPr id="5" name="Rectangle 4"/>
          <p:cNvSpPr/>
          <p:nvPr/>
        </p:nvSpPr>
        <p:spPr>
          <a:xfrm>
            <a:off x="6245352" y="1920240"/>
            <a:ext cx="5029200" cy="4114800"/>
          </a:xfrm>
          <a:prstGeom prst="rect">
            <a:avLst/>
          </a:prstGeom>
          <a:solidFill>
            <a:srgbClr val="E7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20040" rIns="32004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700" b="1">
                <a:solidFill>
                  <a:srgbClr val="2C6B44"/>
                </a:solidFill>
                <a:latin typeface="Noto Serif KR"/>
                <a:ea typeface="Noto Serif KR"/>
                <a:cs typeface="Noto Serif KR"/>
              </a:rPr>
              <a:t>✅ 자산으로 남기기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2C6B44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결과물·프롬프트를 한 곳에 패키지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2C6B44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다음 주 실행 1가지를 날짜까지 확정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2C6B44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템플릿 재사용으로 매번 시간 절약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정리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결과물 완성 및 피드백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10332720" cy="1069848"/>
          </a:xfrm>
          <a:prstGeom prst="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28600" rIns="365760" bIns="18288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57A1A"/>
                </a:solidFill>
                <a:latin typeface="JetBrains Mono"/>
                <a:ea typeface="JetBrains Mono"/>
                <a:cs typeface="JetBrains Mono"/>
              </a:rPr>
              <a:t>⚠  흔한 실수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"언젠가 해보겠다"는 적용 실패의 신호 → 요일·시간까지 구체화.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172968"/>
            <a:ext cx="10332720" cy="100584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01168" rIns="365760" bIns="182880" rtlCol="0" anchor="t"/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📦  결과물 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결과물 패키지 + 발표 + 실무 활용 체크리스트.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도구 가이드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이 모듈에서 쓰는 도구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Make / Zapier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트리거-액션으로 단계 연결. 무료 한도로 간단한 자동화부터 시작.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노션 / 구글 문서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프롬프트 라이브러리·결과물 패키지·체크리스트를 보관하는 허브.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CHECKLIST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모듈 체크리스트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☐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재사용 프롬프트 라이브러리를 만들었다.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☐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반복업무 자동화 워크플로를 1건 설계했다.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☐  </a:t>
            </a:r>
            <a:r>
              <a:rPr sz="17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결과물을 모아 발표하고 적용 체크리스트를 작성했다.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1371600"/>
            <a:ext cx="822960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400" b="0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MISSION · 도장깨기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</a:pPr>
            <a:r>
              <a:rPr sz="30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미션 07 — 자동화 루틴 완성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2400"/>
              </a:spcAft>
            </a:pPr>
            <a:r>
              <a:rPr sz="1600" b="0">
                <a:solidFill>
                  <a:srgbClr val="C7D2E6"/>
                </a:solidFill>
                <a:latin typeface="Pretendard"/>
                <a:ea typeface="Pretendard"/>
                <a:cs typeface="Pretendard"/>
              </a:rPr>
              <a:t>💡 오늘 만든 결과물을 재사용 템플릿으로 묶는다.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1371600"/>
            <a:ext cx="1005840" cy="12801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400" b="0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WRAP-UP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1600"/>
              </a:spcAft>
            </a:pPr>
            <a:r>
              <a:rPr sz="34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하루의 결과물이, 내일의 자산으로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800"/>
              </a:spcAft>
            </a:pPr>
            <a:r>
              <a:rPr sz="1600" b="0">
                <a:solidFill>
                  <a:srgbClr val="C7D2E6"/>
                </a:solidFill>
                <a:latin typeface="Pretendard"/>
                <a:ea typeface="Pretendard"/>
                <a:cs typeface="Pretendard"/>
              </a:rPr>
              <a:t>오늘 'Night Off' 캠페인을 처음부터 끝까지 만들었습니다 —</a:t>
            </a: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메시지 하우스(M2) → 콘텐츠 세트(M3) → 시각자료(M4)</a:t>
            </a: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→ UI 시안(M5) → 홍보 페이지(M6) → 자동화 루틴(M7)</a:t>
            </a:r>
          </a:p>
          <a:p>
            <a:pPr algn="l">
              <a:lnSpc>
                <a:spcPct val="118000"/>
              </a:lnSpc>
              <a:spcBef>
                <a:spcPts val="1600"/>
              </a:spcBef>
              <a:spcAft>
                <a:spcPts val="400"/>
              </a:spcAft>
            </a:pPr>
            <a:r>
              <a:rPr sz="1500" b="0">
                <a:solidFill>
                  <a:srgbClr val="9FAEC8"/>
                </a:solidFill>
                <a:latin typeface="Pretendard"/>
                <a:ea typeface="Pretendard"/>
                <a:cs typeface="Pretendard"/>
              </a:rPr>
              <a:t>이제 제품명만 바꾸면, 다음 캠페인은 처음부터 시작하지 않습니다.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F66171F-6E79-6048-A967-BBDDA22D2CFC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c55cad18-3976-4386-b932-71acc619f3e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8511</Words>
  <Application>Microsoft Macintosh PowerPoint</Application>
  <PresentationFormat>와이드스크린</PresentationFormat>
  <Paragraphs>1361</Paragraphs>
  <Slides>141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141</vt:i4>
      </vt:variant>
    </vt:vector>
  </HeadingPairs>
  <TitlesOfParts>
    <vt:vector size="147" baseType="lpstr">
      <vt:lpstr>JetBrains Mono</vt:lpstr>
      <vt:lpstr>Noto Serif KR</vt:lpstr>
      <vt:lpstr>Pretendard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이애본</cp:lastModifiedBy>
  <cp:revision>8</cp:revision>
  <dcterms:created xsi:type="dcterms:W3CDTF">2013-01-27T09:14:16Z</dcterms:created>
  <dcterms:modified xsi:type="dcterms:W3CDTF">2026-06-13T13:26:07Z</dcterms:modified>
  <cp:category/>
</cp:coreProperties>
</file>
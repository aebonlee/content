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404" r:id="rId4"/>
    <p:sldId id="405" r:id="rId5"/>
    <p:sldId id="406" r:id="rId6"/>
    <p:sldId id="400" r:id="rId7"/>
    <p:sldId id="410" r:id="rId8"/>
    <p:sldId id="417" r:id="rId9"/>
    <p:sldId id="418" r:id="rId10"/>
    <p:sldId id="419" r:id="rId11"/>
    <p:sldId id="421" r:id="rId12"/>
    <p:sldId id="436" r:id="rId13"/>
    <p:sldId id="426" r:id="rId14"/>
    <p:sldId id="407" r:id="rId15"/>
    <p:sldId id="413" r:id="rId16"/>
    <p:sldId id="438" r:id="rId17"/>
    <p:sldId id="420" r:id="rId18"/>
    <p:sldId id="422" r:id="rId19"/>
    <p:sldId id="403" r:id="rId20"/>
    <p:sldId id="429" r:id="rId21"/>
    <p:sldId id="432" r:id="rId22"/>
    <p:sldId id="433" r:id="rId23"/>
    <p:sldId id="435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437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413"/>
    <p:restoredTop sz="94658"/>
  </p:normalViewPr>
  <p:slideViewPr>
    <p:cSldViewPr snapToGrid="0" snapToObjects="1">
      <p:cViewPr varScale="1">
        <p:scale>
          <a:sx n="80" d="100"/>
          <a:sy n="80" d="100"/>
        </p:scale>
        <p:origin x="208" y="10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slide" Target="slides/slide133.xml"/><Relationship Id="rId139" Type="http://schemas.openxmlformats.org/officeDocument/2006/relationships/slide" Target="slides/slide13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868680"/>
            <a:ext cx="12191695" cy="6350"/>
          </a:xfrm>
          <a:prstGeom prst="rect">
            <a:avLst/>
          </a:prstGeom>
          <a:solidFill>
            <a:srgbClr val="22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737360"/>
            <a:ext cx="12191695" cy="6350"/>
          </a:xfrm>
          <a:prstGeom prst="rect">
            <a:avLst/>
          </a:prstGeom>
          <a:solidFill>
            <a:srgbClr val="22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2606039"/>
            <a:ext cx="12191695" cy="6350"/>
          </a:xfrm>
          <a:prstGeom prst="rect">
            <a:avLst/>
          </a:prstGeom>
          <a:solidFill>
            <a:srgbClr val="22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3474720"/>
            <a:ext cx="12191695" cy="6350"/>
          </a:xfrm>
          <a:prstGeom prst="rect">
            <a:avLst/>
          </a:prstGeom>
          <a:solidFill>
            <a:srgbClr val="22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4343400"/>
            <a:ext cx="12191695" cy="6350"/>
          </a:xfrm>
          <a:prstGeom prst="rect">
            <a:avLst/>
          </a:prstGeom>
          <a:solidFill>
            <a:srgbClr val="22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5212079"/>
            <a:ext cx="12191695" cy="6350"/>
          </a:xfrm>
          <a:prstGeom prst="rect">
            <a:avLst/>
          </a:prstGeom>
          <a:solidFill>
            <a:srgbClr val="22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080759"/>
            <a:ext cx="12191695" cy="6350"/>
          </a:xfrm>
          <a:prstGeom prst="rect">
            <a:avLst/>
          </a:prstGeom>
          <a:solidFill>
            <a:srgbClr val="22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10515600" cy="3840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400"/>
              </a:spcAft>
            </a:pPr>
            <a:r>
              <a:rPr sz="1400" b="0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ONE-DAY WORKSHOP · AI MARKETING · 8 HOURS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AI로 만드는 홍보 실무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800"/>
              </a:spcAft>
            </a:pPr>
            <a:r>
              <a:rPr sz="2200" b="0">
                <a:solidFill>
                  <a:srgbClr val="C7D2E6"/>
                </a:solidFill>
                <a:latin typeface="Noto Serif KR"/>
                <a:ea typeface="Noto Serif KR"/>
                <a:cs typeface="Noto Serif KR"/>
              </a:rPr>
              <a:t>콘텐츠 · 이미지 · 페이지까지 자동화 완성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9FAEC8"/>
                </a:solidFill>
                <a:latin typeface="Pretendard"/>
                <a:ea typeface="Pretendard"/>
                <a:cs typeface="Pretendard"/>
              </a:rPr>
              <a:t>7개 모듈 · 14세션 · 하루 동안 하나의 캠페인을 처음부터 끝까지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5532120"/>
            <a:ext cx="10469880" cy="822960"/>
          </a:xfrm>
          <a:prstGeom prst="rect">
            <a:avLst/>
          </a:prstGeom>
          <a:solidFill>
            <a:srgbClr val="1B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tlCol="0" anchor="ctr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400"/>
              </a:spcAft>
            </a:pPr>
            <a:r>
              <a:rPr sz="13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오늘의 러닝 케이스   </a:t>
            </a:r>
            <a:r>
              <a:rPr sz="1400" b="0">
                <a:solidFill>
                  <a:srgbClr val="D7E0F0"/>
                </a:solidFill>
                <a:latin typeface="Pretendard"/>
                <a:ea typeface="Pretendard"/>
                <a:cs typeface="Pretendard"/>
              </a:rPr>
              <a:t>무알콜 수제 맥주 브랜드 ‘Night Off’ (타깃: 건강은 챙기되 분위기는 즐기고 싶은 30대 직장인)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TODAY'S JOURNEY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오늘의 여정 — 7개 모듈, 하나의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1033272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600"/>
              </a:spcAft>
            </a:pPr>
            <a:r>
              <a:rPr sz="16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M1 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어떤 업무를 AI로?  </a:t>
            </a:r>
            <a:r>
              <a:rPr sz="14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— 내 홍보 업무를 진단하고 자동화 1순위를 고른다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600"/>
              </a:spcAft>
            </a:pPr>
            <a:r>
              <a:rPr sz="16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M2 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무엇을 말할까?  </a:t>
            </a:r>
            <a:r>
              <a:rPr sz="14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— 목적·타깃·핵심 메시지(메시지 하우스) + 프롬프트 원리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600"/>
              </a:spcAft>
            </a:pPr>
            <a:r>
              <a:rPr sz="16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M3 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글로 풀어내기  </a:t>
            </a:r>
            <a:r>
              <a:rPr sz="14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— 소개문·SNS·블로그·카드뉴스 문안을 톤 유지하며 대량 생성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600"/>
              </a:spcAft>
            </a:pPr>
            <a:r>
              <a:rPr sz="16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M4 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보이게 만들기  </a:t>
            </a:r>
            <a:r>
              <a:rPr sz="14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— 문구와 톤이 맞는 배너·카드뉴스·썸네일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600"/>
              </a:spcAft>
            </a:pPr>
            <a:r>
              <a:rPr sz="16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M5 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화면 설계  </a:t>
            </a:r>
            <a:r>
              <a:rPr sz="14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— 자연어로 홍보 페이지 UI 시안(Google Stitch)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600"/>
              </a:spcAft>
            </a:pPr>
            <a:r>
              <a:rPr sz="16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M6 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페이지 완성  </a:t>
            </a:r>
            <a:r>
              <a:rPr sz="14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— 섹션 카피·CTA·사용자 흐름으로 전환되는 페이지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600"/>
              </a:spcAft>
            </a:pPr>
            <a:r>
              <a:rPr sz="16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M7 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자산으로 남기기  </a:t>
            </a:r>
            <a:r>
              <a:rPr sz="14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— 템플릿화·자동화 + 결과물 발표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5897880"/>
            <a:ext cx="10332720" cy="502920"/>
          </a:xfrm>
          <a:prstGeom prst="rect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tlCol="0" anchor="ctr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4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각 모듈은 앞 모듈의 결과물을 입력으로 받아 이어집니다 — 따로가 아니라 하나의 캠페인.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D4E8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1554480"/>
            <a:ext cx="1005840" cy="128016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1905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400" b="0">
                <a:solidFill>
                  <a:srgbClr val="BFD2EC"/>
                </a:solidFill>
                <a:latin typeface="JetBrains Mono"/>
                <a:ea typeface="JetBrains Mono"/>
                <a:cs typeface="JetBrains Mono"/>
              </a:rPr>
              <a:t>MODULE 1 · 1교시 · 09:00–09:50</a:t>
            </a:r>
          </a:p>
          <a:p>
            <a:pPr algn="l">
              <a:lnSpc>
                <a:spcPct val="110000"/>
              </a:lnSpc>
              <a:spcBef>
                <a:spcPts val="600"/>
              </a:spcBef>
              <a:spcAft>
                <a:spcPts val="1200"/>
              </a:spcAft>
            </a:pPr>
            <a:r>
              <a:rPr sz="38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M1. AI 기반 업무효율화의 이해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DBE6F6"/>
                </a:solidFill>
                <a:latin typeface="Pretendard"/>
                <a:ea typeface="Pretendard"/>
                <a:cs typeface="Pretendard"/>
              </a:rPr>
              <a:t>생성형 AI를 "확률적 언어 생성기"로 정확히 이해하고, 내 홍보 워크플로를 입력→처리→출력 단위로 분해해 어디를 자동화할지 판단한다.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5212080"/>
            <a:ext cx="10515600" cy="1330388"/>
          </a:xfrm>
          <a:prstGeom prst="rect">
            <a:avLst/>
          </a:prstGeom>
          <a:solidFill>
            <a:srgbClr val="184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20040" tIns="164592" rtlCol="0" anchor="ctr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300"/>
              </a:spcAft>
            </a:pPr>
            <a:r>
              <a:rPr sz="1200" b="1">
                <a:solidFill>
                  <a:srgbClr val="9FC0E6"/>
                </a:solidFill>
                <a:latin typeface="JetBrains Mono"/>
                <a:ea typeface="JetBrains Mono"/>
                <a:cs typeface="JetBrains Mono"/>
              </a:rPr>
              <a:t>이전  </a:t>
            </a:r>
            <a:r>
              <a:rPr sz="13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워크숍 시작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300"/>
              </a:spcAft>
            </a:pPr>
            <a:r>
              <a:rPr sz="12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이번  </a:t>
            </a: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내 업무를 진단해 'AI로 바꿀 한 곳'을 찾는다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400"/>
              </a:spcAft>
            </a:pPr>
            <a:r>
              <a:rPr sz="1200" b="1">
                <a:solidFill>
                  <a:srgbClr val="9FC0E6"/>
                </a:solidFill>
                <a:latin typeface="JetBrains Mono"/>
                <a:ea typeface="JetBrains Mono"/>
                <a:cs typeface="JetBrains Mono"/>
              </a:rPr>
              <a:t>다음  </a:t>
            </a:r>
            <a:r>
              <a:rPr sz="13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찾은 그 업무의 메시지부터 잡으러 → M2</a:t>
            </a:r>
          </a:p>
        </p:txBody>
      </p:sp>
      <p:sp>
        <p:nvSpPr>
          <p:cNvPr id="140" name="num"/>
          <p:cNvSpPr txBox="1"/>
          <p:nvPr/>
        </p:nvSpPr>
        <p:spPr>
          <a:xfrm>
            <a:off x="9080500" y="3810000"/>
            <a:ext cx="2286000" cy="1905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r>
              <a:rPr lang="en-US" sz="10000" b="1" dirty="0">
                <a:solidFill>
                  <a:srgbClr val="3D679A"/>
                </a:solidFill>
                <a:latin typeface="Noto Serif KR"/>
                <a:ea typeface="Noto Serif KR"/>
              </a:rPr>
              <a:t>01</a:t>
            </a:r>
          </a:p>
        </p:txBody>
      </p:sp>
      <p:sp>
        <p:nvSpPr>
          <p:cNvPr id="141" name="pcap"/>
          <p:cNvSpPr txBox="1"/>
          <p:nvPr/>
        </p:nvSpPr>
        <p:spPr>
          <a:xfrm>
            <a:off x="825500" y="3962400"/>
            <a:ext cx="5080000" cy="3048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r>
              <a:rPr lang="ko-KR" sz="1200" b="1" dirty="0">
                <a:solidFill>
                  <a:srgbClr val="E8A33D"/>
                </a:solidFill>
                <a:latin typeface="JetBrains Mono"/>
                <a:ea typeface="JetBrains Mono"/>
              </a:rPr>
              <a:t>이 모듈의 작업 단위</a:t>
            </a:r>
          </a:p>
        </p:txBody>
      </p:sp>
      <p:sp>
        <p:nvSpPr>
          <p:cNvPr id="142" name="chip0"/>
          <p:cNvSpPr/>
          <p:nvPr/>
        </p:nvSpPr>
        <p:spPr>
          <a:xfrm>
            <a:off x="825500" y="4368800"/>
            <a:ext cx="1498600" cy="584200"/>
          </a:xfrm>
          <a:prstGeom prst="roundRect">
            <a:avLst>
              <a:gd name="adj" fmla="val 18000"/>
            </a:avLst>
          </a:prstGeom>
          <a:solidFill>
            <a:srgbClr val="416A9C"/>
          </a:solidFill>
          <a:ln w="12700">
            <a:solidFill>
              <a:srgbClr val="E8A33D"/>
            </a:solidFill>
          </a:ln>
        </p:spPr>
        <p:txBody>
          <a:bodyPr lIns="0" tIns="0" rIns="0" bIns="0" anchor="ctr"/>
          <a:lstStyle/>
          <a:p>
            <a:pPr algn="ctr"/>
            <a:r>
              <a:rPr lang="ko-KR" sz="1600" b="1" dirty="0">
                <a:solidFill>
                  <a:srgbClr val="FFFFFF"/>
                </a:solidFill>
                <a:latin typeface="Pretendard"/>
                <a:ea typeface="Pretendard"/>
              </a:rPr>
              <a:t>입력</a:t>
            </a:r>
          </a:p>
        </p:txBody>
      </p:sp>
      <p:sp>
        <p:nvSpPr>
          <p:cNvPr id="143" name="arr0"/>
          <p:cNvSpPr/>
          <p:nvPr/>
        </p:nvSpPr>
        <p:spPr>
          <a:xfrm>
            <a:off x="2374900" y="4521200"/>
            <a:ext cx="304800" cy="279400"/>
          </a:xfrm>
          <a:prstGeom prst="rightArrow">
            <a:avLst/>
          </a:prstGeom>
          <a:solidFill>
            <a:srgbClr val="E8A3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4" name="chip1"/>
          <p:cNvSpPr/>
          <p:nvPr/>
        </p:nvSpPr>
        <p:spPr>
          <a:xfrm>
            <a:off x="2730500" y="4368800"/>
            <a:ext cx="1498600" cy="584200"/>
          </a:xfrm>
          <a:prstGeom prst="roundRect">
            <a:avLst>
              <a:gd name="adj" fmla="val 18000"/>
            </a:avLst>
          </a:prstGeom>
          <a:solidFill>
            <a:srgbClr val="416A9C"/>
          </a:solidFill>
          <a:ln w="12700">
            <a:solidFill>
              <a:srgbClr val="E8A33D"/>
            </a:solidFill>
          </a:ln>
        </p:spPr>
        <p:txBody>
          <a:bodyPr lIns="0" tIns="0" rIns="0" bIns="0" anchor="ctr"/>
          <a:lstStyle/>
          <a:p>
            <a:pPr algn="ctr"/>
            <a:r>
              <a:rPr lang="ko-KR" sz="1600" b="1" dirty="0">
                <a:solidFill>
                  <a:srgbClr val="FFFFFF"/>
                </a:solidFill>
                <a:latin typeface="Pretendard"/>
                <a:ea typeface="Pretendard"/>
              </a:rPr>
              <a:t>처리</a:t>
            </a:r>
          </a:p>
        </p:txBody>
      </p:sp>
      <p:sp>
        <p:nvSpPr>
          <p:cNvPr id="145" name="arr1"/>
          <p:cNvSpPr/>
          <p:nvPr/>
        </p:nvSpPr>
        <p:spPr>
          <a:xfrm>
            <a:off x="4279900" y="4521200"/>
            <a:ext cx="304800" cy="279400"/>
          </a:xfrm>
          <a:prstGeom prst="rightArrow">
            <a:avLst/>
          </a:prstGeom>
          <a:solidFill>
            <a:srgbClr val="E8A3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6" name="chip2"/>
          <p:cNvSpPr/>
          <p:nvPr/>
        </p:nvSpPr>
        <p:spPr>
          <a:xfrm>
            <a:off x="4635500" y="4368800"/>
            <a:ext cx="1498600" cy="584200"/>
          </a:xfrm>
          <a:prstGeom prst="roundRect">
            <a:avLst>
              <a:gd name="adj" fmla="val 18000"/>
            </a:avLst>
          </a:prstGeom>
          <a:solidFill>
            <a:srgbClr val="416A9C"/>
          </a:solidFill>
          <a:ln w="12700">
            <a:solidFill>
              <a:srgbClr val="E8A33D"/>
            </a:solidFill>
          </a:ln>
        </p:spPr>
        <p:txBody>
          <a:bodyPr lIns="0" tIns="0" rIns="0" bIns="0" anchor="ctr"/>
          <a:lstStyle/>
          <a:p>
            <a:pPr algn="ctr"/>
            <a:r>
              <a:rPr lang="ko-KR" sz="1600" b="1" dirty="0">
                <a:solidFill>
                  <a:srgbClr val="FFFFFF"/>
                </a:solidFill>
                <a:latin typeface="Pretendard"/>
                <a:ea typeface="Pretendard"/>
              </a:rPr>
              <a:t>출력</a:t>
            </a:r>
          </a:p>
        </p:txBody>
      </p:sp>
    </p:spTree>
    <p:extLst>
      <p:ext uri="{BB962C8B-B14F-4D97-AF65-F5344CB8AC3E}">
        <p14:creationId xmlns:p14="http://schemas.microsoft.com/office/powerpoint/2010/main" val="3263040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학습 목표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이 모듈에서 할 수 있게 되는 것</a:t>
            </a:r>
          </a:p>
        </p:txBody>
      </p:sp>
      <p:sp>
        <p:nvSpPr>
          <p:cNvPr id="100" name="card0"/>
          <p:cNvSpPr/>
          <p:nvPr/>
        </p:nvSpPr>
        <p:spPr>
          <a:xfrm>
            <a:off x="825500" y="1905000"/>
            <a:ext cx="10541000" cy="1320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E6F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1" name="badge0"/>
          <p:cNvSpPr/>
          <p:nvPr/>
        </p:nvSpPr>
        <p:spPr>
          <a:xfrm>
            <a:off x="1155700" y="2222500"/>
            <a:ext cx="685800" cy="685800"/>
          </a:xfrm>
          <a:prstGeom prst="ellipse">
            <a:avLst/>
          </a:prstGeom>
          <a:solidFill>
            <a:srgbClr val="1D4E89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900" b="1" dirty="0">
                <a:solidFill>
                  <a:srgbClr val="FFFFFF"/>
                </a:solidFill>
                <a:latin typeface="Noto Serif KR"/>
                <a:ea typeface="Noto Serif KR"/>
              </a:rPr>
              <a:t>01</a:t>
            </a:r>
          </a:p>
        </p:txBody>
      </p:sp>
      <p:sp>
        <p:nvSpPr>
          <p:cNvPr id="102" name="txt0"/>
          <p:cNvSpPr txBox="1"/>
          <p:nvPr/>
        </p:nvSpPr>
        <p:spPr>
          <a:xfrm>
            <a:off x="2197100" y="2082800"/>
            <a:ext cx="8890000" cy="965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spcAft>
                <a:spcPts val="300"/>
              </a:spcAft>
            </a:pPr>
            <a:r>
              <a:rPr lang="ko-KR" sz="1650" b="1" dirty="0">
                <a:solidFill>
                  <a:srgbClr val="14213D"/>
                </a:solidFill>
                <a:latin typeface="Pretendard"/>
                <a:ea typeface="Pretendard"/>
              </a:rPr>
              <a:t>원리·한계 이해</a:t>
            </a:r>
          </a:p>
          <a:p>
            <a:pPr>
              <a:lnSpc>
                <a:spcPct val="116000"/>
              </a:lnSpc>
            </a:pPr>
            <a:r>
              <a:rPr lang="ko-KR" sz="1400" dirty="0">
                <a:solidFill>
                  <a:srgbClr val="576176"/>
                </a:solidFill>
                <a:latin typeface="Pretendard"/>
                <a:ea typeface="Pretendard"/>
              </a:rPr>
              <a:t>생성형 AI(LLM)의 동작 원리와 한계(환각)를 명확히 설명할 수 있다.</a:t>
            </a:r>
          </a:p>
        </p:txBody>
      </p:sp>
      <p:sp>
        <p:nvSpPr>
          <p:cNvPr id="103" name="card1"/>
          <p:cNvSpPr/>
          <p:nvPr/>
        </p:nvSpPr>
        <p:spPr>
          <a:xfrm>
            <a:off x="825500" y="3454400"/>
            <a:ext cx="10541000" cy="1320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E6F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4" name="badge1"/>
          <p:cNvSpPr/>
          <p:nvPr/>
        </p:nvSpPr>
        <p:spPr>
          <a:xfrm>
            <a:off x="1155700" y="3771900"/>
            <a:ext cx="685800" cy="685800"/>
          </a:xfrm>
          <a:prstGeom prst="ellipse">
            <a:avLst/>
          </a:prstGeom>
          <a:solidFill>
            <a:srgbClr val="1D4E89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900" b="1" dirty="0">
                <a:solidFill>
                  <a:srgbClr val="FFFFFF"/>
                </a:solidFill>
                <a:latin typeface="Noto Serif KR"/>
                <a:ea typeface="Noto Serif KR"/>
              </a:rPr>
              <a:t>02</a:t>
            </a:r>
          </a:p>
        </p:txBody>
      </p:sp>
      <p:sp>
        <p:nvSpPr>
          <p:cNvPr id="105" name="txt1"/>
          <p:cNvSpPr txBox="1"/>
          <p:nvPr/>
        </p:nvSpPr>
        <p:spPr>
          <a:xfrm>
            <a:off x="2197100" y="3632200"/>
            <a:ext cx="8890000" cy="965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spcAft>
                <a:spcPts val="300"/>
              </a:spcAft>
            </a:pPr>
            <a:r>
              <a:rPr lang="ko-KR" sz="1650" b="1" dirty="0">
                <a:solidFill>
                  <a:srgbClr val="14213D"/>
                </a:solidFill>
                <a:latin typeface="Pretendard"/>
                <a:ea typeface="Pretendard"/>
              </a:rPr>
              <a:t>프로세스 변화</a:t>
            </a:r>
          </a:p>
          <a:p>
            <a:pPr>
              <a:lnSpc>
                <a:spcPct val="116000"/>
              </a:lnSpc>
            </a:pPr>
            <a:r>
              <a:rPr lang="ko-KR" sz="1400" dirty="0">
                <a:solidFill>
                  <a:srgbClr val="576176"/>
                </a:solidFill>
                <a:latin typeface="Pretendard"/>
                <a:ea typeface="Pretendard"/>
              </a:rPr>
              <a:t>기존 홍보 프로세스가 AI 도입 후 어떻게 바뀌는지 짚어낼 수 있다.</a:t>
            </a:r>
          </a:p>
        </p:txBody>
      </p:sp>
      <p:sp>
        <p:nvSpPr>
          <p:cNvPr id="106" name="card2"/>
          <p:cNvSpPr/>
          <p:nvPr/>
        </p:nvSpPr>
        <p:spPr>
          <a:xfrm>
            <a:off x="825500" y="5003800"/>
            <a:ext cx="10541000" cy="1320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E6F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7" name="badge2"/>
          <p:cNvSpPr/>
          <p:nvPr/>
        </p:nvSpPr>
        <p:spPr>
          <a:xfrm>
            <a:off x="1155700" y="5321300"/>
            <a:ext cx="685800" cy="685800"/>
          </a:xfrm>
          <a:prstGeom prst="ellipse">
            <a:avLst/>
          </a:prstGeom>
          <a:solidFill>
            <a:srgbClr val="1D4E89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900" b="1" dirty="0">
                <a:solidFill>
                  <a:srgbClr val="FFFFFF"/>
                </a:solidFill>
                <a:latin typeface="Noto Serif KR"/>
                <a:ea typeface="Noto Serif KR"/>
              </a:rPr>
              <a:t>03</a:t>
            </a:r>
          </a:p>
        </p:txBody>
      </p:sp>
      <p:sp>
        <p:nvSpPr>
          <p:cNvPr id="108" name="txt2"/>
          <p:cNvSpPr txBox="1"/>
          <p:nvPr/>
        </p:nvSpPr>
        <p:spPr>
          <a:xfrm>
            <a:off x="2197100" y="5181600"/>
            <a:ext cx="8890000" cy="965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spcAft>
                <a:spcPts val="300"/>
              </a:spcAft>
            </a:pPr>
            <a:r>
              <a:rPr lang="ko-KR" sz="1650" b="1" dirty="0">
                <a:solidFill>
                  <a:srgbClr val="14213D"/>
                </a:solidFill>
                <a:latin typeface="Pretendard"/>
                <a:ea typeface="Pretendard"/>
              </a:rPr>
              <a:t>자동화 지점 판단</a:t>
            </a:r>
          </a:p>
          <a:p>
            <a:pPr>
              <a:lnSpc>
                <a:spcPct val="116000"/>
              </a:lnSpc>
            </a:pPr>
            <a:r>
              <a:rPr lang="ko-KR" sz="1400" dirty="0">
                <a:solidFill>
                  <a:srgbClr val="576176"/>
                </a:solidFill>
                <a:latin typeface="Pretendard"/>
                <a:ea typeface="Pretendard"/>
              </a:rPr>
              <a:t>내 홍보 업무를 입력→처리→출력으로 분해해 자동화 지점을 판단한다.</a:t>
            </a:r>
          </a:p>
        </p:txBody>
      </p:sp>
    </p:spTree>
    <p:extLst>
      <p:ext uri="{BB962C8B-B14F-4D97-AF65-F5344CB8AC3E}">
        <p14:creationId xmlns:p14="http://schemas.microsoft.com/office/powerpoint/2010/main" val="19869704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D4E8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2468880"/>
            <a:ext cx="822960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800"/>
              </a:spcAft>
            </a:pPr>
            <a:r>
              <a:rPr sz="1400" b="0">
                <a:solidFill>
                  <a:srgbClr val="BFD2EC"/>
                </a:solidFill>
                <a:latin typeface="JetBrains Mono"/>
                <a:ea typeface="JetBrains Mono"/>
                <a:cs typeface="JetBrains Mono"/>
              </a:rPr>
              <a:t>세션 1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1200"/>
              </a:spcAft>
            </a:pPr>
            <a:r>
              <a:rPr sz="32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생성형 AI의 개념과 홍보 업무의 변화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DBE6F6"/>
                </a:solidFill>
                <a:latin typeface="Pretendard"/>
                <a:ea typeface="Pretendard"/>
                <a:cs typeface="Pretendard"/>
              </a:rPr>
              <a:t>LLM의 동작 원리(다음 토큰 예측)와 한계(환각)를 알고, "검색기"가 아니라 "생성기"로 다룬다.</a:t>
            </a:r>
          </a:p>
        </p:txBody>
      </p:sp>
      <p:sp>
        <p:nvSpPr>
          <p:cNvPr id="120" name="num"/>
          <p:cNvSpPr txBox="1"/>
          <p:nvPr/>
        </p:nvSpPr>
        <p:spPr>
          <a:xfrm>
            <a:off x="8890000" y="508000"/>
            <a:ext cx="2476500" cy="1905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r>
              <a:rPr lang="en-US" sz="11000" b="1" dirty="0">
                <a:solidFill>
                  <a:srgbClr val="386397"/>
                </a:solidFill>
                <a:latin typeface="Noto Serif KR"/>
                <a:ea typeface="Noto Serif KR"/>
              </a:rPr>
              <a:t>01</a:t>
            </a:r>
          </a:p>
        </p:txBody>
      </p:sp>
      <p:sp>
        <p:nvSpPr>
          <p:cNvPr id="121" name="cap"/>
          <p:cNvSpPr txBox="1"/>
          <p:nvPr/>
        </p:nvSpPr>
        <p:spPr>
          <a:xfrm>
            <a:off x="825500" y="5257800"/>
            <a:ext cx="5080000" cy="3048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r>
              <a:rPr lang="ko-KR" sz="1200" b="1" dirty="0">
                <a:solidFill>
                  <a:srgbClr val="E8A33D"/>
                </a:solidFill>
                <a:latin typeface="JetBrains Mono"/>
                <a:ea typeface="JetBrains Mono"/>
              </a:rPr>
              <a:t>이 세션의 흐름</a:t>
            </a:r>
          </a:p>
        </p:txBody>
      </p:sp>
      <p:sp>
        <p:nvSpPr>
          <p:cNvPr id="122" name="chip0"/>
          <p:cNvSpPr/>
          <p:nvPr/>
        </p:nvSpPr>
        <p:spPr>
          <a:xfrm>
            <a:off x="825500" y="5638800"/>
            <a:ext cx="2387600" cy="533400"/>
          </a:xfrm>
          <a:prstGeom prst="roundRect">
            <a:avLst>
              <a:gd name="adj" fmla="val 20000"/>
            </a:avLst>
          </a:prstGeom>
          <a:solidFill>
            <a:srgbClr val="466E9E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ko-KR" sz="1350" b="1" dirty="0">
                <a:solidFill>
                  <a:srgbClr val="FFFFFF"/>
                </a:solidFill>
                <a:latin typeface="Pretendard"/>
                <a:ea typeface="Pretendard"/>
              </a:rPr>
              <a:t>핵심 개념</a:t>
            </a:r>
          </a:p>
        </p:txBody>
      </p:sp>
      <p:sp>
        <p:nvSpPr>
          <p:cNvPr id="123" name="arr0"/>
          <p:cNvSpPr/>
          <p:nvPr/>
        </p:nvSpPr>
        <p:spPr>
          <a:xfrm>
            <a:off x="3263900" y="5791200"/>
            <a:ext cx="228600" cy="228600"/>
          </a:xfrm>
          <a:prstGeom prst="rightArrow">
            <a:avLst/>
          </a:prstGeom>
          <a:solidFill>
            <a:srgbClr val="E8A3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4" name="chip1"/>
          <p:cNvSpPr/>
          <p:nvPr/>
        </p:nvSpPr>
        <p:spPr>
          <a:xfrm>
            <a:off x="3543300" y="5638800"/>
            <a:ext cx="2387600" cy="533400"/>
          </a:xfrm>
          <a:prstGeom prst="roundRect">
            <a:avLst>
              <a:gd name="adj" fmla="val 20000"/>
            </a:avLst>
          </a:prstGeom>
          <a:solidFill>
            <a:srgbClr val="466E9E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ko-KR" sz="1350" b="1" dirty="0">
                <a:solidFill>
                  <a:srgbClr val="FFFFFF"/>
                </a:solidFill>
                <a:latin typeface="Pretendard"/>
                <a:ea typeface="Pretendard"/>
              </a:rPr>
              <a:t>개념 깊이보기</a:t>
            </a:r>
          </a:p>
        </p:txBody>
      </p:sp>
      <p:sp>
        <p:nvSpPr>
          <p:cNvPr id="125" name="arr1"/>
          <p:cNvSpPr/>
          <p:nvPr/>
        </p:nvSpPr>
        <p:spPr>
          <a:xfrm>
            <a:off x="5981700" y="5791200"/>
            <a:ext cx="228600" cy="228600"/>
          </a:xfrm>
          <a:prstGeom prst="rightArrow">
            <a:avLst/>
          </a:prstGeom>
          <a:solidFill>
            <a:srgbClr val="E8A3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6" name="chip2"/>
          <p:cNvSpPr/>
          <p:nvPr/>
        </p:nvSpPr>
        <p:spPr>
          <a:xfrm>
            <a:off x="6261100" y="5638800"/>
            <a:ext cx="2387600" cy="533400"/>
          </a:xfrm>
          <a:prstGeom prst="roundRect">
            <a:avLst>
              <a:gd name="adj" fmla="val 20000"/>
            </a:avLst>
          </a:prstGeom>
          <a:solidFill>
            <a:srgbClr val="466E9E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ko-KR" sz="1350" b="1" dirty="0">
                <a:solidFill>
                  <a:srgbClr val="FFFFFF"/>
                </a:solidFill>
                <a:latin typeface="Pretendard"/>
                <a:ea typeface="Pretendard"/>
              </a:rPr>
              <a:t>실습 · 프롬프트</a:t>
            </a:r>
          </a:p>
        </p:txBody>
      </p:sp>
      <p:sp>
        <p:nvSpPr>
          <p:cNvPr id="127" name="arr2"/>
          <p:cNvSpPr/>
          <p:nvPr/>
        </p:nvSpPr>
        <p:spPr>
          <a:xfrm>
            <a:off x="8699500" y="5791200"/>
            <a:ext cx="228600" cy="228600"/>
          </a:xfrm>
          <a:prstGeom prst="rightArrow">
            <a:avLst/>
          </a:prstGeom>
          <a:solidFill>
            <a:srgbClr val="E8A3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8" name="chip3"/>
          <p:cNvSpPr/>
          <p:nvPr/>
        </p:nvSpPr>
        <p:spPr>
          <a:xfrm>
            <a:off x="8978900" y="5638800"/>
            <a:ext cx="2387600" cy="533400"/>
          </a:xfrm>
          <a:prstGeom prst="roundRect">
            <a:avLst>
              <a:gd name="adj" fmla="val 20000"/>
            </a:avLst>
          </a:prstGeom>
          <a:solidFill>
            <a:srgbClr val="466E9E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ko-KR" sz="1350" b="1" dirty="0">
                <a:solidFill>
                  <a:srgbClr val="FFFFFF"/>
                </a:solidFill>
                <a:latin typeface="Pretendard"/>
                <a:ea typeface="Pretendard"/>
              </a:rPr>
              <a:t>흔한 실수 · 결과물</a:t>
            </a:r>
          </a:p>
        </p:txBody>
      </p:sp>
    </p:spTree>
    <p:extLst>
      <p:ext uri="{BB962C8B-B14F-4D97-AF65-F5344CB8AC3E}">
        <p14:creationId xmlns:p14="http://schemas.microsoft.com/office/powerpoint/2010/main" val="30686335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핵심 개념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핵심 개념</a:t>
            </a:r>
          </a:p>
        </p:txBody>
      </p:sp>
      <p:sp>
        <p:nvSpPr>
          <p:cNvPr id="100" name="card0"/>
          <p:cNvSpPr/>
          <p:nvPr/>
        </p:nvSpPr>
        <p:spPr>
          <a:xfrm>
            <a:off x="825500" y="1905000"/>
            <a:ext cx="10541000" cy="1320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E6F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1" name="circ0"/>
          <p:cNvSpPr/>
          <p:nvPr/>
        </p:nvSpPr>
        <p:spPr>
          <a:xfrm>
            <a:off x="1168400" y="2235200"/>
            <a:ext cx="660400" cy="660400"/>
          </a:xfrm>
          <a:prstGeom prst="ellipse">
            <a:avLst/>
          </a:prstGeom>
          <a:solidFill>
            <a:srgbClr val="E7EEF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txt0"/>
          <p:cNvSpPr txBox="1"/>
          <p:nvPr/>
        </p:nvSpPr>
        <p:spPr>
          <a:xfrm>
            <a:off x="2159000" y="2082800"/>
            <a:ext cx="8953500" cy="965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>
              <a:spcAft>
                <a:spcPts val="300"/>
              </a:spcAft>
            </a:pPr>
            <a:r>
              <a:rPr lang="ko-KR" sz="1650" b="1" dirty="0">
                <a:solidFill>
                  <a:srgbClr val="14213D"/>
                </a:solidFill>
                <a:latin typeface="Pretendard"/>
                <a:ea typeface="Pretendard"/>
              </a:rPr>
              <a:t>생성형 AI (LLM)</a:t>
            </a:r>
          </a:p>
          <a:p>
            <a:pPr>
              <a:lnSpc>
                <a:spcPct val="116000"/>
              </a:lnSpc>
            </a:pPr>
            <a:r>
              <a:rPr lang="ko-KR" sz="1400" dirty="0">
                <a:solidFill>
                  <a:srgbClr val="576176"/>
                </a:solidFill>
                <a:latin typeface="Pretendard"/>
                <a:ea typeface="Pretendard"/>
              </a:rPr>
              <a:t>문맥상 가장 그럴듯한 다음 토큰을 확률적으로 이어 붙인다. 사실 DB 조회가 아니라 패턴 생성 → 출력은 “정답”이 아니라 “가장 그럴듯한 초안”.</a:t>
            </a:r>
          </a:p>
        </p:txBody>
      </p:sp>
      <p:sp>
        <p:nvSpPr>
          <p:cNvPr id="103" name="card1"/>
          <p:cNvSpPr/>
          <p:nvPr/>
        </p:nvSpPr>
        <p:spPr>
          <a:xfrm>
            <a:off x="825500" y="3454400"/>
            <a:ext cx="10541000" cy="1320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E6F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4" name="circ1"/>
          <p:cNvSpPr/>
          <p:nvPr/>
        </p:nvSpPr>
        <p:spPr>
          <a:xfrm>
            <a:off x="1168400" y="3784600"/>
            <a:ext cx="660400" cy="660400"/>
          </a:xfrm>
          <a:prstGeom prst="ellipse">
            <a:avLst/>
          </a:prstGeom>
          <a:solidFill>
            <a:srgbClr val="FBEFD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5" name="txt1"/>
          <p:cNvSpPr txBox="1"/>
          <p:nvPr/>
        </p:nvSpPr>
        <p:spPr>
          <a:xfrm>
            <a:off x="2159000" y="3632200"/>
            <a:ext cx="8953500" cy="965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>
              <a:spcAft>
                <a:spcPts val="300"/>
              </a:spcAft>
            </a:pPr>
            <a:r>
              <a:rPr lang="ko-KR" sz="1650" b="1" dirty="0">
                <a:solidFill>
                  <a:srgbClr val="14213D"/>
                </a:solidFill>
                <a:latin typeface="Pretendard"/>
                <a:ea typeface="Pretendard"/>
              </a:rPr>
              <a:t>환각 (Hallucination)</a:t>
            </a:r>
          </a:p>
          <a:p>
            <a:pPr>
              <a:lnSpc>
                <a:spcPct val="116000"/>
              </a:lnSpc>
            </a:pPr>
            <a:r>
              <a:rPr lang="ko-KR" sz="1400" dirty="0">
                <a:solidFill>
                  <a:srgbClr val="576176"/>
                </a:solidFill>
                <a:latin typeface="Pretendard"/>
                <a:ea typeface="Pretendard"/>
              </a:rPr>
              <a:t>근거 없이 그럴듯한 사실·수치·인용을 만들어내는 현상. 통계·날짜·고유명사·법령은 반드시 원본 교차검증.</a:t>
            </a:r>
          </a:p>
        </p:txBody>
      </p:sp>
      <p:sp>
        <p:nvSpPr>
          <p:cNvPr id="106" name="card2"/>
          <p:cNvSpPr/>
          <p:nvPr/>
        </p:nvSpPr>
        <p:spPr>
          <a:xfrm>
            <a:off x="825500" y="5003800"/>
            <a:ext cx="10541000" cy="1320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E6F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7" name="circ2"/>
          <p:cNvSpPr/>
          <p:nvPr/>
        </p:nvSpPr>
        <p:spPr>
          <a:xfrm>
            <a:off x="1168400" y="5334000"/>
            <a:ext cx="660400" cy="660400"/>
          </a:xfrm>
          <a:prstGeom prst="ellipse">
            <a:avLst/>
          </a:prstGeom>
          <a:solidFill>
            <a:srgbClr val="E2EFE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8" name="txt2"/>
          <p:cNvSpPr txBox="1"/>
          <p:nvPr/>
        </p:nvSpPr>
        <p:spPr>
          <a:xfrm>
            <a:off x="2159000" y="5181600"/>
            <a:ext cx="8953500" cy="9652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>
              <a:spcAft>
                <a:spcPts val="300"/>
              </a:spcAft>
            </a:pPr>
            <a:r>
              <a:rPr lang="ko-KR" sz="1650" b="1" dirty="0">
                <a:solidFill>
                  <a:srgbClr val="14213D"/>
                </a:solidFill>
                <a:latin typeface="Pretendard"/>
                <a:ea typeface="Pretendard"/>
              </a:rPr>
              <a:t>Human-in-the-loop</a:t>
            </a:r>
          </a:p>
          <a:p>
            <a:pPr>
              <a:lnSpc>
                <a:spcPct val="116000"/>
              </a:lnSpc>
            </a:pPr>
            <a:r>
              <a:rPr lang="ko-KR" sz="1400" dirty="0">
                <a:solidFill>
                  <a:srgbClr val="576176"/>
                </a:solidFill>
                <a:latin typeface="Pretendard"/>
                <a:ea typeface="Pretendard"/>
              </a:rPr>
              <a:t>AI는 초안 생성, 사람은 사실검증·톤조정·최종승인. 발행 책임은 항상 사람에게.</a:t>
            </a:r>
          </a:p>
        </p:txBody>
      </p:sp>
      <p:pic>
        <p:nvPicPr>
          <p:cNvPr id="109" name="Graphic 109" descr="생성형 AI 아이콘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95400" y="2362200"/>
            <a:ext cx="406400" cy="406400"/>
          </a:xfrm>
          <a:prstGeom prst="rect">
            <a:avLst/>
          </a:prstGeom>
        </p:spPr>
      </p:pic>
      <p:pic>
        <p:nvPicPr>
          <p:cNvPr id="110" name="Graphic 110" descr="환각 경고 아이콘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95400" y="3911600"/>
            <a:ext cx="406400" cy="406400"/>
          </a:xfrm>
          <a:prstGeom prst="rect">
            <a:avLst/>
          </a:prstGeom>
        </p:spPr>
      </p:pic>
      <p:pic>
        <p:nvPicPr>
          <p:cNvPr id="111" name="Graphic 111" descr="사람 검수 방패 아이콘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95400" y="5461000"/>
            <a:ext cx="406400" cy="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74700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개념 깊이 보기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개념을 예시로 — 우리 케이스에 적용하면</a:t>
            </a:r>
          </a:p>
        </p:txBody>
      </p:sp>
      <p:sp>
        <p:nvSpPr>
          <p:cNvPr id="100" name="card0"/>
          <p:cNvSpPr/>
          <p:nvPr/>
        </p:nvSpPr>
        <p:spPr>
          <a:xfrm>
            <a:off x="825500" y="1905000"/>
            <a:ext cx="10541000" cy="20955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E6F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1" name="circ0"/>
          <p:cNvSpPr/>
          <p:nvPr/>
        </p:nvSpPr>
        <p:spPr>
          <a:xfrm>
            <a:off x="1181100" y="2584450"/>
            <a:ext cx="736600" cy="736600"/>
          </a:xfrm>
          <a:prstGeom prst="ellipse">
            <a:avLst/>
          </a:prstGeom>
          <a:solidFill>
            <a:srgbClr val="E7EEF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txt0"/>
          <p:cNvSpPr txBox="1"/>
          <p:nvPr/>
        </p:nvSpPr>
        <p:spPr>
          <a:xfrm>
            <a:off x="2349500" y="2133600"/>
            <a:ext cx="8712200" cy="16383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spcAft>
                <a:spcPts val="500"/>
              </a:spcAft>
            </a:pPr>
            <a:r>
              <a:rPr lang="ko-KR" sz="1700" b="1" dirty="0">
                <a:solidFill>
                  <a:srgbClr val="14213D"/>
                </a:solidFill>
                <a:latin typeface="Pretendard"/>
                <a:ea typeface="Pretendard"/>
              </a:rPr>
              <a:t>생성형 AI (LLM)</a:t>
            </a:r>
          </a:p>
          <a:p>
            <a:pPr>
              <a:lnSpc>
                <a:spcPct val="124000"/>
              </a:lnSpc>
            </a:pPr>
            <a:r>
              <a:rPr lang="ko-KR" sz="1300" b="1" dirty="0">
                <a:solidFill>
                  <a:srgbClr val="E8A33D"/>
                </a:solidFill>
                <a:latin typeface="JetBrains Mono"/>
                <a:ea typeface="JetBrains Mono"/>
              </a:rPr>
              <a:t>예) </a:t>
            </a:r>
            <a:r>
              <a:rPr lang="ko-KR" sz="1400" dirty="0">
                <a:solidFill>
                  <a:srgbClr val="576176"/>
                </a:solidFill>
                <a:latin typeface="Pretendard"/>
                <a:ea typeface="Pretendard"/>
              </a:rPr>
              <a:t>“무알콜 맥주 카피 써줘” → 학습한 수만 개 카피 패턴에서 가장 그럴듯한 문장을 “생성”한다. 어딘가에서 찾아오는 게 아니다.</a:t>
            </a:r>
          </a:p>
        </p:txBody>
      </p:sp>
      <p:sp>
        <p:nvSpPr>
          <p:cNvPr id="103" name="card1"/>
          <p:cNvSpPr/>
          <p:nvPr/>
        </p:nvSpPr>
        <p:spPr>
          <a:xfrm>
            <a:off x="825500" y="4305300"/>
            <a:ext cx="10541000" cy="20955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E6F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4" name="circ1"/>
          <p:cNvSpPr/>
          <p:nvPr/>
        </p:nvSpPr>
        <p:spPr>
          <a:xfrm>
            <a:off x="1181100" y="4984750"/>
            <a:ext cx="736600" cy="736600"/>
          </a:xfrm>
          <a:prstGeom prst="ellipse">
            <a:avLst/>
          </a:prstGeom>
          <a:solidFill>
            <a:srgbClr val="FBEFD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5" name="txt1"/>
          <p:cNvSpPr txBox="1"/>
          <p:nvPr/>
        </p:nvSpPr>
        <p:spPr>
          <a:xfrm>
            <a:off x="2349500" y="4533900"/>
            <a:ext cx="8712200" cy="16383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spcAft>
                <a:spcPts val="500"/>
              </a:spcAft>
            </a:pPr>
            <a:r>
              <a:rPr lang="ko-KR" sz="1700" b="1" dirty="0">
                <a:solidFill>
                  <a:srgbClr val="14213D"/>
                </a:solidFill>
                <a:latin typeface="Pretendard"/>
                <a:ea typeface="Pretendard"/>
              </a:rPr>
              <a:t>환각 (Hallucination)</a:t>
            </a:r>
          </a:p>
          <a:p>
            <a:pPr>
              <a:lnSpc>
                <a:spcPct val="124000"/>
              </a:lnSpc>
            </a:pPr>
            <a:r>
              <a:rPr lang="ko-KR" sz="1300" b="1" dirty="0">
                <a:solidFill>
                  <a:srgbClr val="E8A33D"/>
                </a:solidFill>
                <a:latin typeface="JetBrains Mono"/>
                <a:ea typeface="JetBrains Mono"/>
              </a:rPr>
              <a:t>예) </a:t>
            </a:r>
            <a:r>
              <a:rPr lang="ko-KR" sz="1400" dirty="0">
                <a:solidFill>
                  <a:srgbClr val="576176"/>
                </a:solidFill>
                <a:latin typeface="Pretendard"/>
                <a:ea typeface="Pretendard"/>
              </a:rPr>
              <a:t>“무알콜 맥주 시장이 매년 40% 성장”이라고 자신있게 답해도 출처가 없을 수 있다. 통계·수치는 반드시 원본 확인.</a:t>
            </a:r>
          </a:p>
        </p:txBody>
      </p:sp>
      <p:pic>
        <p:nvPicPr>
          <p:cNvPr id="106" name="Graphic 106" descr="생성형 AI 아이콘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08100" y="2717800"/>
            <a:ext cx="457200" cy="457200"/>
          </a:xfrm>
          <a:prstGeom prst="rect">
            <a:avLst/>
          </a:prstGeom>
        </p:spPr>
      </p:pic>
      <p:pic>
        <p:nvPicPr>
          <p:cNvPr id="107" name="Graphic 107" descr="환각 경고 아이콘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08100" y="5118100"/>
            <a:ext cx="4572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79708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개념 심화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왜 "검색기 아닌 생성기"가 중요한가</a:t>
            </a:r>
          </a:p>
        </p:txBody>
      </p:sp>
      <p:sp>
        <p:nvSpPr>
          <p:cNvPr id="100" name="c"/>
          <p:cNvSpPr/>
          <p:nvPr/>
        </p:nvSpPr>
        <p:spPr>
          <a:xfrm>
            <a:off x="914400" y="2159000"/>
            <a:ext cx="4876800" cy="3175000"/>
          </a:xfrm>
          <a:prstGeom prst="roundRect">
            <a:avLst>
              <a:gd name="adj" fmla="val 5000"/>
            </a:avLst>
          </a:prstGeom>
          <a:solidFill>
            <a:srgbClr val="F6F0F0"/>
          </a:solidFill>
          <a:ln w="12700">
            <a:solidFill>
              <a:srgbClr val="E3C5C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1" name="c"/>
          <p:cNvSpPr/>
          <p:nvPr/>
        </p:nvSpPr>
        <p:spPr>
          <a:xfrm>
            <a:off x="6400800" y="2159000"/>
            <a:ext cx="4876800" cy="3175000"/>
          </a:xfrm>
          <a:prstGeom prst="roundRect">
            <a:avLst>
              <a:gd name="adj" fmla="val 5000"/>
            </a:avLst>
          </a:prstGeom>
          <a:solidFill>
            <a:srgbClr val="EDF2F9"/>
          </a:solidFill>
          <a:ln w="12700">
            <a:solidFill>
              <a:srgbClr val="C4D6E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2" name="t"/>
          <p:cNvSpPr txBox="1"/>
          <p:nvPr/>
        </p:nvSpPr>
        <p:spPr>
          <a:xfrm>
            <a:off x="1219200" y="2463800"/>
            <a:ext cx="4267200" cy="2667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spcAft>
                <a:spcPts val="900"/>
              </a:spcAft>
            </a:pPr>
            <a:r>
              <a:rPr lang="en-US" sz="1700" b="1" dirty="0">
                <a:solidFill>
                  <a:srgbClr val="A63333"/>
                </a:solidFill>
                <a:latin typeface="Pretendard"/>
                <a:ea typeface="Pretendard"/>
              </a:rPr>
              <a:t>✕  </a:t>
            </a:r>
            <a:r>
              <a:rPr lang="ko-KR" sz="1700" b="1" dirty="0">
                <a:solidFill>
                  <a:srgbClr val="14213D"/>
                </a:solidFill>
                <a:latin typeface="Pretendard"/>
                <a:ea typeface="Pretendard"/>
              </a:rPr>
              <a:t>검색기로 착각하면</a:t>
            </a:r>
          </a:p>
          <a:p>
            <a:pPr>
              <a:lnSpc>
                <a:spcPct val="126000"/>
              </a:lnSpc>
              <a:spcAft>
                <a:spcPts val="700"/>
              </a:spcAft>
            </a:pPr>
            <a:r>
              <a:rPr lang="ko-KR" sz="1550" dirty="0">
                <a:solidFill>
                  <a:srgbClr val="14213D"/>
                </a:solidFill>
                <a:latin typeface="Pretendard"/>
                <a:ea typeface="Pretendard"/>
              </a:rPr>
              <a:t>“정답”을 기대하고 AI 답을 그대로 발행한다.</a:t>
            </a:r>
          </a:p>
          <a:p>
            <a:pPr>
              <a:lnSpc>
                <a:spcPct val="124000"/>
              </a:lnSpc>
            </a:pPr>
            <a:r>
              <a:rPr lang="ko-KR" sz="1400" b="1" dirty="0">
                <a:solidFill>
                  <a:srgbClr val="A63333"/>
                </a:solidFill>
                <a:latin typeface="Pretendard"/>
                <a:ea typeface="Pretendard"/>
              </a:rPr>
              <a:t>→ 환각·과장·오류가 검수 없이 그대로 노출</a:t>
            </a:r>
          </a:p>
        </p:txBody>
      </p:sp>
      <p:sp>
        <p:nvSpPr>
          <p:cNvPr id="103" name="t"/>
          <p:cNvSpPr txBox="1"/>
          <p:nvPr/>
        </p:nvSpPr>
        <p:spPr>
          <a:xfrm>
            <a:off x="6705600" y="2463800"/>
            <a:ext cx="4267200" cy="2667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spcAft>
                <a:spcPts val="900"/>
              </a:spcAft>
            </a:pPr>
            <a:r>
              <a:rPr lang="en-US" sz="1700" b="1" dirty="0">
                <a:solidFill>
                  <a:srgbClr val="2C6B44"/>
                </a:solidFill>
                <a:latin typeface="Pretendard"/>
                <a:ea typeface="Pretendard"/>
              </a:rPr>
              <a:t>✓  </a:t>
            </a:r>
            <a:r>
              <a:rPr lang="ko-KR" sz="1700" b="1" dirty="0">
                <a:solidFill>
                  <a:srgbClr val="14213D"/>
                </a:solidFill>
                <a:latin typeface="Pretendard"/>
                <a:ea typeface="Pretendard"/>
              </a:rPr>
              <a:t>생성기로 이해하면</a:t>
            </a:r>
          </a:p>
          <a:p>
            <a:pPr>
              <a:lnSpc>
                <a:spcPct val="126000"/>
              </a:lnSpc>
              <a:spcAft>
                <a:spcPts val="700"/>
              </a:spcAft>
            </a:pPr>
            <a:r>
              <a:rPr lang="ko-KR" sz="1550" dirty="0">
                <a:solidFill>
                  <a:srgbClr val="14213D"/>
                </a:solidFill>
                <a:latin typeface="Pretendard"/>
                <a:ea typeface="Pretendard"/>
              </a:rPr>
              <a:t>“초안”을 받아 내가 사실검증·톤조정·완성한다.</a:t>
            </a:r>
          </a:p>
          <a:p>
            <a:pPr>
              <a:lnSpc>
                <a:spcPct val="124000"/>
              </a:lnSpc>
            </a:pPr>
            <a:r>
              <a:rPr lang="ko-KR" sz="1400" b="1" dirty="0">
                <a:solidFill>
                  <a:srgbClr val="1D4E89"/>
                </a:solidFill>
                <a:latin typeface="Pretendard"/>
                <a:ea typeface="Pretendard"/>
              </a:rPr>
              <a:t>→ 안전하고 빠른, 반복 가능한 워크플로</a:t>
            </a:r>
          </a:p>
        </p:txBody>
      </p:sp>
      <p:sp>
        <p:nvSpPr>
          <p:cNvPr id="104" name="arr"/>
          <p:cNvSpPr/>
          <p:nvPr/>
        </p:nvSpPr>
        <p:spPr>
          <a:xfrm>
            <a:off x="5842000" y="3581400"/>
            <a:ext cx="508000" cy="330200"/>
          </a:xfrm>
          <a:prstGeom prst="rightArrow">
            <a:avLst/>
          </a:prstGeom>
          <a:solidFill>
            <a:srgbClr val="E8A3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5" name="c"/>
          <p:cNvSpPr/>
          <p:nvPr/>
        </p:nvSpPr>
        <p:spPr>
          <a:xfrm>
            <a:off x="914400" y="5588000"/>
            <a:ext cx="10363200" cy="66040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 w="12700">
            <a:solidFill>
              <a:srgbClr val="1421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7" name="bt"/>
          <p:cNvSpPr txBox="1"/>
          <p:nvPr/>
        </p:nvSpPr>
        <p:spPr>
          <a:xfrm>
            <a:off x="1219200" y="5588000"/>
            <a:ext cx="9753600" cy="6604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r>
              <a:rPr lang="ko-KR" sz="1450" b="1" dirty="0">
                <a:solidFill>
                  <a:srgbClr val="E8A33D"/>
                </a:solidFill>
                <a:latin typeface="Pretendard"/>
                <a:ea typeface="Pretendard"/>
              </a:rPr>
              <a:t>한 줄 정리  </a:t>
            </a:r>
            <a:r>
              <a:rPr lang="ko-KR" sz="1450" dirty="0">
                <a:solidFill>
                  <a:srgbClr val="FFFFFF"/>
                </a:solidFill>
                <a:latin typeface="Pretendard"/>
                <a:ea typeface="Pretendard"/>
              </a:rPr>
              <a:t>AI는 정답 자판기가 아니라, 검수를 전제로 한 ‘초안 생성기’다.</a:t>
            </a:r>
          </a:p>
        </p:txBody>
      </p:sp>
    </p:spTree>
    <p:extLst>
      <p:ext uri="{BB962C8B-B14F-4D97-AF65-F5344CB8AC3E}">
        <p14:creationId xmlns:p14="http://schemas.microsoft.com/office/powerpoint/2010/main" val="25628300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개념 심화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자동화 2×2 매트릭스</a:t>
            </a:r>
          </a:p>
        </p:txBody>
      </p:sp>
      <p:sp>
        <p:nvSpPr>
          <p:cNvPr id="100" name="cell"/>
          <p:cNvSpPr txBox="1"/>
          <p:nvPr/>
        </p:nvSpPr>
        <p:spPr>
          <a:xfrm>
            <a:off x="2159000" y="1930400"/>
            <a:ext cx="4470400" cy="1930400"/>
          </a:xfrm>
          <a:prstGeom prst="roundRect">
            <a:avLst>
              <a:gd name="adj" fmla="val 5000"/>
            </a:avLst>
          </a:prstGeom>
          <a:solidFill>
            <a:srgbClr val="EEF2F8"/>
          </a:solidFill>
          <a:ln w="12700">
            <a:solidFill>
              <a:srgbClr val="C9D6E8"/>
            </a:solidFill>
          </a:ln>
        </p:spPr>
        <p:txBody>
          <a:bodyPr wrap="square" lIns="152400" tIns="114300" rIns="152400" bIns="91440" anchor="ctr"/>
          <a:lstStyle/>
          <a:p>
            <a:pPr>
              <a:spcAft>
                <a:spcPts val="500"/>
              </a:spcAft>
            </a:pPr>
            <a:r>
              <a:rPr lang="ko-KR" sz="1650" b="1" dirty="0">
                <a:solidFill>
                  <a:srgbClr val="14213D"/>
                </a:solidFill>
                <a:latin typeface="Pretendard"/>
                <a:ea typeface="Pretendard"/>
              </a:rPr>
              <a:t>사람이 주도</a:t>
            </a:r>
          </a:p>
          <a:p>
            <a:pPr>
              <a:lnSpc>
                <a:spcPct val="120000"/>
              </a:lnSpc>
            </a:pPr>
            <a:r>
              <a:rPr lang="ko-KR" sz="1350" dirty="0">
                <a:solidFill>
                  <a:srgbClr val="576176"/>
                </a:solidFill>
                <a:latin typeface="Pretendard"/>
                <a:ea typeface="Pretendard"/>
              </a:rPr>
              <a:t>브랜드 컨셉·핵심 메시지 결정 (AI는 보조 아이디어만)</a:t>
            </a:r>
          </a:p>
        </p:txBody>
      </p:sp>
      <p:sp>
        <p:nvSpPr>
          <p:cNvPr id="101" name="cell"/>
          <p:cNvSpPr txBox="1"/>
          <p:nvPr/>
        </p:nvSpPr>
        <p:spPr>
          <a:xfrm>
            <a:off x="6781800" y="1930400"/>
            <a:ext cx="4470400" cy="1930400"/>
          </a:xfrm>
          <a:prstGeom prst="roundRect">
            <a:avLst>
              <a:gd name="adj" fmla="val 5000"/>
            </a:avLst>
          </a:prstGeom>
          <a:solidFill>
            <a:srgbClr val="EDF2F9"/>
          </a:solidFill>
          <a:ln w="12700">
            <a:solidFill>
              <a:srgbClr val="9DBCE0"/>
            </a:solidFill>
          </a:ln>
        </p:spPr>
        <p:txBody>
          <a:bodyPr wrap="square" lIns="152400" tIns="114300" rIns="152400" bIns="91440" anchor="ctr"/>
          <a:lstStyle/>
          <a:p>
            <a:pPr>
              <a:spcAft>
                <a:spcPts val="500"/>
              </a:spcAft>
            </a:pPr>
            <a:r>
              <a:rPr lang="ko-KR" sz="1650" b="1" dirty="0">
                <a:solidFill>
                  <a:srgbClr val="1D4E89"/>
                </a:solidFill>
                <a:latin typeface="Pretendard"/>
                <a:ea typeface="Pretendard"/>
              </a:rPr>
              <a:t>AI 초안 + 사람 마감</a:t>
            </a:r>
          </a:p>
          <a:p>
            <a:pPr>
              <a:lnSpc>
                <a:spcPct val="120000"/>
              </a:lnSpc>
            </a:pPr>
            <a:r>
              <a:rPr lang="ko-KR" sz="1350" dirty="0">
                <a:solidFill>
                  <a:srgbClr val="576176"/>
                </a:solidFill>
                <a:latin typeface="Pretendard"/>
                <a:ea typeface="Pretendard"/>
              </a:rPr>
              <a:t>캠페인 카피 변형안을 대량 생성→사람이 선별·완성</a:t>
            </a:r>
          </a:p>
        </p:txBody>
      </p:sp>
      <p:sp>
        <p:nvSpPr>
          <p:cNvPr id="102" name="cell"/>
          <p:cNvSpPr txBox="1"/>
          <p:nvPr/>
        </p:nvSpPr>
        <p:spPr>
          <a:xfrm>
            <a:off x="2159000" y="4013200"/>
            <a:ext cx="4470400" cy="1930400"/>
          </a:xfrm>
          <a:prstGeom prst="roundRect">
            <a:avLst>
              <a:gd name="adj" fmla="val 5000"/>
            </a:avLst>
          </a:prstGeom>
          <a:solidFill>
            <a:srgbClr val="F1F3F7"/>
          </a:solidFill>
          <a:ln w="12700">
            <a:solidFill>
              <a:srgbClr val="D7DEEA"/>
            </a:solidFill>
          </a:ln>
        </p:spPr>
        <p:txBody>
          <a:bodyPr wrap="square" lIns="152400" tIns="114300" rIns="152400" bIns="91440" anchor="ctr"/>
          <a:lstStyle/>
          <a:p>
            <a:pPr>
              <a:spcAft>
                <a:spcPts val="500"/>
              </a:spcAft>
            </a:pPr>
            <a:r>
              <a:rPr lang="ko-KR" sz="1650" b="1" dirty="0">
                <a:solidFill>
                  <a:srgbClr val="7A8294"/>
                </a:solidFill>
                <a:latin typeface="Pretendard"/>
                <a:ea typeface="Pretendard"/>
              </a:rPr>
              <a:t>후순위 · 수동</a:t>
            </a:r>
          </a:p>
          <a:p>
            <a:pPr>
              <a:lnSpc>
                <a:spcPct val="120000"/>
              </a:lnSpc>
            </a:pPr>
            <a:r>
              <a:rPr lang="ko-KR" sz="1350" dirty="0">
                <a:solidFill>
                  <a:srgbClr val="576176"/>
                </a:solidFill>
                <a:latin typeface="Pretendard"/>
                <a:ea typeface="Pretendard"/>
              </a:rPr>
              <a:t>1회성 단순 공지 — 굳이 자동화 안 해도 됨</a:t>
            </a:r>
          </a:p>
        </p:txBody>
      </p:sp>
      <p:sp>
        <p:nvSpPr>
          <p:cNvPr id="103" name="cell"/>
          <p:cNvSpPr txBox="1"/>
          <p:nvPr/>
        </p:nvSpPr>
        <p:spPr>
          <a:xfrm>
            <a:off x="6781800" y="4013200"/>
            <a:ext cx="4470400" cy="1930400"/>
          </a:xfrm>
          <a:prstGeom prst="roundRect">
            <a:avLst>
              <a:gd name="adj" fmla="val 5000"/>
            </a:avLst>
          </a:prstGeom>
          <a:solidFill>
            <a:srgbClr val="FBEFD8"/>
          </a:solidFill>
          <a:ln w="19050">
            <a:solidFill>
              <a:srgbClr val="E8A33D"/>
            </a:solidFill>
          </a:ln>
        </p:spPr>
        <p:txBody>
          <a:bodyPr wrap="square" lIns="152400" tIns="114300" rIns="152400" bIns="91440" anchor="ctr"/>
          <a:lstStyle/>
          <a:p>
            <a:pPr>
              <a:spcAft>
                <a:spcPts val="500"/>
              </a:spcAft>
            </a:pPr>
            <a:r>
              <a:rPr lang="ko-KR" sz="1650" b="1" dirty="0">
                <a:solidFill>
                  <a:srgbClr val="B5781B"/>
                </a:solidFill>
                <a:latin typeface="Pretendard"/>
                <a:ea typeface="Pretendard"/>
              </a:rPr>
              <a:t>★  1순위 자동화</a:t>
            </a:r>
          </a:p>
          <a:p>
            <a:pPr>
              <a:lnSpc>
                <a:spcPct val="120000"/>
              </a:lnSpc>
            </a:pPr>
            <a:r>
              <a:rPr lang="ko-KR" sz="1350" dirty="0">
                <a:solidFill>
                  <a:srgbClr val="576176"/>
                </a:solidFill>
                <a:latin typeface="Pretendard"/>
                <a:ea typeface="Pretendard"/>
              </a:rPr>
              <a:t>매주 정기 게시글·카드뉴스 규격화 — 여기부터!</a:t>
            </a:r>
          </a:p>
        </p:txBody>
      </p:sp>
      <p:sp>
        <p:nvSpPr>
          <p:cNvPr id="104" name="yax"/>
          <p:cNvSpPr txBox="1"/>
          <p:nvPr/>
        </p:nvSpPr>
        <p:spPr>
          <a:xfrm>
            <a:off x="1333500" y="1930400"/>
            <a:ext cx="381000" cy="4013200"/>
          </a:xfrm>
          <a:prstGeom prst="rect">
            <a:avLst/>
          </a:prstGeom>
          <a:noFill/>
        </p:spPr>
        <p:txBody>
          <a:bodyPr vert="vert270" wrap="none" lIns="0" tIns="0" rIns="0" bIns="0" anchor="ctr"/>
          <a:lstStyle/>
          <a:p>
            <a:pPr algn="ctr"/>
            <a:r>
              <a:rPr lang="ko-KR" sz="1350" b="1" dirty="0">
                <a:solidFill>
                  <a:srgbClr val="1D4E89"/>
                </a:solidFill>
                <a:latin typeface="Pretendard"/>
                <a:ea typeface="Pretendard"/>
              </a:rPr>
              <a:t>창의성  (낮음 → 높음)</a:t>
            </a:r>
          </a:p>
        </p:txBody>
      </p:sp>
      <p:sp>
        <p:nvSpPr>
          <p:cNvPr id="105" name="xax"/>
          <p:cNvSpPr txBox="1"/>
          <p:nvPr/>
        </p:nvSpPr>
        <p:spPr>
          <a:xfrm>
            <a:off x="2159000" y="6070600"/>
            <a:ext cx="9093200" cy="3556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pPr algn="ctr"/>
            <a:r>
              <a:rPr lang="ko-KR" sz="1350" b="1" dirty="0">
                <a:solidFill>
                  <a:srgbClr val="1D4E89"/>
                </a:solidFill>
                <a:latin typeface="Pretendard"/>
                <a:ea typeface="Pretendard"/>
              </a:rPr>
              <a:t>반복성  (낮음 → 높음)</a:t>
            </a:r>
          </a:p>
        </p:txBody>
      </p:sp>
    </p:spTree>
    <p:extLst>
      <p:ext uri="{BB962C8B-B14F-4D97-AF65-F5344CB8AC3E}">
        <p14:creationId xmlns:p14="http://schemas.microsoft.com/office/powerpoint/2010/main" val="9231296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절차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실습 절차 — 직접 해봅니다</a:t>
            </a:r>
          </a:p>
        </p:txBody>
      </p:sp>
      <p:sp>
        <p:nvSpPr>
          <p:cNvPr id="100" name="rail"/>
          <p:cNvSpPr/>
          <p:nvPr/>
        </p:nvSpPr>
        <p:spPr>
          <a:xfrm>
            <a:off x="1270000" y="2260600"/>
            <a:ext cx="50800" cy="3276600"/>
          </a:xfrm>
          <a:prstGeom prst="rect">
            <a:avLst/>
          </a:prstGeom>
          <a:solidFill>
            <a:srgbClr val="C9D6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1" name="c0"/>
          <p:cNvSpPr txBox="1"/>
          <p:nvPr/>
        </p:nvSpPr>
        <p:spPr>
          <a:xfrm>
            <a:off x="990600" y="1955800"/>
            <a:ext cx="609600" cy="609600"/>
          </a:xfrm>
          <a:prstGeom prst="ellipse">
            <a:avLst/>
          </a:prstGeom>
          <a:solidFill>
            <a:srgbClr val="1D4E89"/>
          </a:solidFill>
          <a:ln w="38100">
            <a:solidFill>
              <a:srgbClr val="F4F6FB"/>
            </a:solidFill>
          </a:ln>
        </p:spPr>
        <p:txBody>
          <a:bodyPr wrap="none" lIns="0" tIns="0" rIns="0" bIns="0" anchor="ctr"/>
          <a:lstStyle/>
          <a:p>
            <a:pPr algn="ctr"/>
            <a:r>
              <a:rPr lang="en-US" sz="1900" b="1" dirty="0">
                <a:solidFill>
                  <a:srgbClr val="FFFFFF"/>
                </a:solidFill>
                <a:latin typeface="Noto Serif KR"/>
                <a:ea typeface="Noto Serif KR"/>
              </a:rPr>
              <a:t>1</a:t>
            </a:r>
          </a:p>
        </p:txBody>
      </p:sp>
      <p:sp>
        <p:nvSpPr>
          <p:cNvPr id="102" name="t0"/>
          <p:cNvSpPr txBox="1"/>
          <p:nvPr/>
        </p:nvSpPr>
        <p:spPr>
          <a:xfrm>
            <a:off x="1905000" y="1803400"/>
            <a:ext cx="9461500" cy="914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spcAft>
                <a:spcPts val="300"/>
              </a:spcAft>
            </a:pPr>
            <a:r>
              <a:rPr lang="ko-KR" sz="1700" b="1" dirty="0">
                <a:solidFill>
                  <a:srgbClr val="14213D"/>
                </a:solidFill>
                <a:latin typeface="Pretendard"/>
                <a:ea typeface="Pretendard"/>
              </a:rPr>
              <a:t>업무 쪼개기</a:t>
            </a:r>
          </a:p>
          <a:p>
            <a:r>
              <a:rPr lang="ko-KR" sz="1400" dirty="0">
                <a:solidFill>
                  <a:srgbClr val="576176"/>
                </a:solidFill>
                <a:latin typeface="Pretendard"/>
                <a:ea typeface="Pretendard"/>
              </a:rPr>
              <a:t>내 홍보 업무를 “입력 → 처리 → 출력” 단위로 나열한다.</a:t>
            </a:r>
          </a:p>
        </p:txBody>
      </p:sp>
      <p:sp>
        <p:nvSpPr>
          <p:cNvPr id="103" name="c1"/>
          <p:cNvSpPr txBox="1"/>
          <p:nvPr/>
        </p:nvSpPr>
        <p:spPr>
          <a:xfrm>
            <a:off x="990600" y="3048000"/>
            <a:ext cx="609600" cy="609600"/>
          </a:xfrm>
          <a:prstGeom prst="ellipse">
            <a:avLst/>
          </a:prstGeom>
          <a:solidFill>
            <a:srgbClr val="1D4E89"/>
          </a:solidFill>
          <a:ln w="38100">
            <a:solidFill>
              <a:srgbClr val="F4F6FB"/>
            </a:solidFill>
          </a:ln>
        </p:spPr>
        <p:txBody>
          <a:bodyPr wrap="none" lIns="0" tIns="0" rIns="0" bIns="0" anchor="ctr"/>
          <a:lstStyle/>
          <a:p>
            <a:pPr algn="ctr"/>
            <a:r>
              <a:rPr lang="en-US" sz="1900" b="1" dirty="0">
                <a:solidFill>
                  <a:srgbClr val="FFFFFF"/>
                </a:solidFill>
                <a:latin typeface="Noto Serif KR"/>
                <a:ea typeface="Noto Serif KR"/>
              </a:rPr>
              <a:t>2</a:t>
            </a:r>
          </a:p>
        </p:txBody>
      </p:sp>
      <p:sp>
        <p:nvSpPr>
          <p:cNvPr id="104" name="t1"/>
          <p:cNvSpPr txBox="1"/>
          <p:nvPr/>
        </p:nvSpPr>
        <p:spPr>
          <a:xfrm>
            <a:off x="1905000" y="2895600"/>
            <a:ext cx="9461500" cy="914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spcAft>
                <a:spcPts val="300"/>
              </a:spcAft>
            </a:pPr>
            <a:r>
              <a:rPr lang="ko-KR" sz="1700" b="1" dirty="0">
                <a:solidFill>
                  <a:srgbClr val="14213D"/>
                </a:solidFill>
                <a:latin typeface="Pretendard"/>
                <a:ea typeface="Pretendard"/>
              </a:rPr>
              <a:t>2×2 분류</a:t>
            </a:r>
          </a:p>
          <a:p>
            <a:r>
              <a:rPr lang="ko-KR" sz="1400" dirty="0">
                <a:solidFill>
                  <a:srgbClr val="576176"/>
                </a:solidFill>
                <a:latin typeface="Pretendard"/>
                <a:ea typeface="Pretendard"/>
              </a:rPr>
              <a:t>각 작업을 반복성(고/저) × 창의성(고/저)으로 배치한다.</a:t>
            </a:r>
          </a:p>
        </p:txBody>
      </p:sp>
      <p:sp>
        <p:nvSpPr>
          <p:cNvPr id="105" name="c2"/>
          <p:cNvSpPr txBox="1"/>
          <p:nvPr/>
        </p:nvSpPr>
        <p:spPr>
          <a:xfrm>
            <a:off x="990600" y="4140200"/>
            <a:ext cx="609600" cy="609600"/>
          </a:xfrm>
          <a:prstGeom prst="ellipse">
            <a:avLst/>
          </a:prstGeom>
          <a:solidFill>
            <a:srgbClr val="1D4E89"/>
          </a:solidFill>
          <a:ln w="38100">
            <a:solidFill>
              <a:srgbClr val="F4F6FB"/>
            </a:solidFill>
          </a:ln>
        </p:spPr>
        <p:txBody>
          <a:bodyPr wrap="none" lIns="0" tIns="0" rIns="0" bIns="0" anchor="ctr"/>
          <a:lstStyle/>
          <a:p>
            <a:pPr algn="ctr"/>
            <a:r>
              <a:rPr lang="en-US" sz="1900" b="1" dirty="0">
                <a:solidFill>
                  <a:srgbClr val="FFFFFF"/>
                </a:solidFill>
                <a:latin typeface="Noto Serif KR"/>
                <a:ea typeface="Noto Serif KR"/>
              </a:rPr>
              <a:t>3</a:t>
            </a:r>
          </a:p>
        </p:txBody>
      </p:sp>
      <p:sp>
        <p:nvSpPr>
          <p:cNvPr id="106" name="t2"/>
          <p:cNvSpPr txBox="1"/>
          <p:nvPr/>
        </p:nvSpPr>
        <p:spPr>
          <a:xfrm>
            <a:off x="1905000" y="3987800"/>
            <a:ext cx="9461500" cy="914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spcAft>
                <a:spcPts val="300"/>
              </a:spcAft>
            </a:pPr>
            <a:r>
              <a:rPr lang="ko-KR" sz="1700" b="1" dirty="0">
                <a:solidFill>
                  <a:srgbClr val="14213D"/>
                </a:solidFill>
                <a:latin typeface="Pretendard"/>
                <a:ea typeface="Pretendard"/>
              </a:rPr>
              <a:t>1순위 표시</a:t>
            </a:r>
          </a:p>
          <a:p>
            <a:r>
              <a:rPr lang="ko-KR" sz="1400" dirty="0">
                <a:solidFill>
                  <a:srgbClr val="576176"/>
                </a:solidFill>
                <a:latin typeface="Pretendard"/>
                <a:ea typeface="Pretendard"/>
              </a:rPr>
              <a:t>반복성 高 · 창의성 低 = 자동화 1순위로 표시한다.</a:t>
            </a:r>
          </a:p>
        </p:txBody>
      </p:sp>
      <p:sp>
        <p:nvSpPr>
          <p:cNvPr id="107" name="c3"/>
          <p:cNvSpPr txBox="1"/>
          <p:nvPr/>
        </p:nvSpPr>
        <p:spPr>
          <a:xfrm>
            <a:off x="990600" y="5232400"/>
            <a:ext cx="609600" cy="609600"/>
          </a:xfrm>
          <a:prstGeom prst="ellipse">
            <a:avLst/>
          </a:prstGeom>
          <a:solidFill>
            <a:srgbClr val="1D4E89"/>
          </a:solidFill>
          <a:ln w="38100">
            <a:solidFill>
              <a:srgbClr val="F4F6FB"/>
            </a:solidFill>
          </a:ln>
        </p:spPr>
        <p:txBody>
          <a:bodyPr wrap="none" lIns="0" tIns="0" rIns="0" bIns="0" anchor="ctr"/>
          <a:lstStyle/>
          <a:p>
            <a:pPr algn="ctr"/>
            <a:r>
              <a:rPr lang="en-US" sz="1900" b="1" dirty="0">
                <a:solidFill>
                  <a:srgbClr val="FFFFFF"/>
                </a:solidFill>
                <a:latin typeface="Noto Serif KR"/>
                <a:ea typeface="Noto Serif KR"/>
              </a:rPr>
              <a:t>4</a:t>
            </a:r>
          </a:p>
        </p:txBody>
      </p:sp>
      <p:sp>
        <p:nvSpPr>
          <p:cNvPr id="108" name="t3"/>
          <p:cNvSpPr txBox="1"/>
          <p:nvPr/>
        </p:nvSpPr>
        <p:spPr>
          <a:xfrm>
            <a:off x="1905000" y="5080000"/>
            <a:ext cx="9461500" cy="914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spcAft>
                <a:spcPts val="300"/>
              </a:spcAft>
            </a:pPr>
            <a:r>
              <a:rPr lang="ko-KR" sz="1700" b="1" dirty="0">
                <a:solidFill>
                  <a:srgbClr val="14213D"/>
                </a:solidFill>
                <a:latin typeface="Pretendard"/>
                <a:ea typeface="Pretendard"/>
              </a:rPr>
              <a:t>시간 수치화</a:t>
            </a:r>
          </a:p>
          <a:p>
            <a:r>
              <a:rPr lang="ko-KR" sz="1400" dirty="0">
                <a:solidFill>
                  <a:srgbClr val="576176"/>
                </a:solidFill>
                <a:latin typeface="Pretendard"/>
                <a:ea typeface="Pretendard"/>
              </a:rPr>
              <a:t>현재 소요시간 vs AI 도입 후 예상시간을 숫자로 적는다.</a:t>
            </a:r>
          </a:p>
        </p:txBody>
      </p:sp>
    </p:spTree>
    <p:extLst>
      <p:ext uri="{BB962C8B-B14F-4D97-AF65-F5344CB8AC3E}">
        <p14:creationId xmlns:p14="http://schemas.microsoft.com/office/powerpoint/2010/main" val="38300232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프롬프트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업무 진단 보조 프롬프트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438400"/>
            <a:ext cx="10332720" cy="3810000"/>
          </a:xfrm>
          <a:prstGeom prst="rect">
            <a:avLst/>
          </a:prstGeom>
          <a:solidFill>
            <a:srgbClr val="10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11480" tIns="502920" rIns="365760" bIns="320040" rtlCol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너는 중소기업 홍보 담당자의 업무 컨설턴트야.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아래 업무 목록을 (1) 반복성 (2) AI 자동화 적합도 (3) 추천 도구로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1~5점 표를 만들어 정리하고, 자동화 우선순위를 제안해줘.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[업무 목록]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- 매주 인스타 게시글 3건 작성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- 월 1회 보도자료 작성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- 행사 안내 카드뉴스 제작</a:t>
            </a:r>
          </a:p>
        </p:txBody>
      </p:sp>
      <p:sp>
        <p:nvSpPr>
          <p:cNvPr id="120" name="hbar"/>
          <p:cNvSpPr txBox="1"/>
          <p:nvPr/>
        </p:nvSpPr>
        <p:spPr>
          <a:xfrm>
            <a:off x="914400" y="2006600"/>
            <a:ext cx="10337800" cy="431800"/>
          </a:xfrm>
          <a:prstGeom prst="rect">
            <a:avLst/>
          </a:prstGeom>
          <a:solidFill>
            <a:srgbClr val="0C1323"/>
          </a:solidFill>
          <a:ln>
            <a:noFill/>
          </a:ln>
        </p:spPr>
        <p:txBody>
          <a:bodyPr lIns="990600" tIns="0" rIns="203200" bIns="0" anchor="ctr"/>
          <a:lstStyle/>
          <a:p>
            <a:pPr algn="r"/>
            <a:r>
              <a:rPr lang="ko-KR" sz="1200" dirty="0">
                <a:solidFill>
                  <a:srgbClr val="BFD2EC"/>
                </a:solidFill>
                <a:latin typeface="JetBrains Mono"/>
                <a:ea typeface="JetBrains Mono"/>
              </a:rPr>
              <a:t>prompt.txt · 복사해서 그대로 사용</a:t>
            </a:r>
          </a:p>
        </p:txBody>
      </p:sp>
      <p:sp>
        <p:nvSpPr>
          <p:cNvPr id="121" name="dot0"/>
          <p:cNvSpPr/>
          <p:nvPr/>
        </p:nvSpPr>
        <p:spPr>
          <a:xfrm>
            <a:off x="1117600" y="2159000"/>
            <a:ext cx="127000" cy="127000"/>
          </a:xfrm>
          <a:prstGeom prst="ellipse">
            <a:avLst/>
          </a:prstGeom>
          <a:solidFill>
            <a:srgbClr val="E8A3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2" name="dot1"/>
          <p:cNvSpPr/>
          <p:nvPr/>
        </p:nvSpPr>
        <p:spPr>
          <a:xfrm>
            <a:off x="1320800" y="2159000"/>
            <a:ext cx="127000" cy="127000"/>
          </a:xfrm>
          <a:prstGeom prst="ellipse">
            <a:avLst/>
          </a:prstGeom>
          <a:solidFill>
            <a:srgbClr val="6E8FB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3" name="dot2"/>
          <p:cNvSpPr/>
          <p:nvPr/>
        </p:nvSpPr>
        <p:spPr>
          <a:xfrm>
            <a:off x="1524000" y="2159000"/>
            <a:ext cx="127000" cy="127000"/>
          </a:xfrm>
          <a:prstGeom prst="ellipse">
            <a:avLst/>
          </a:prstGeom>
          <a:solidFill>
            <a:srgbClr val="415F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4" name="cap"/>
          <p:cNvSpPr txBox="1"/>
          <p:nvPr/>
        </p:nvSpPr>
        <p:spPr>
          <a:xfrm>
            <a:off x="914400" y="1600200"/>
            <a:ext cx="10337800" cy="3302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r>
              <a:rPr lang="ko-KR" sz="1300" b="1" dirty="0">
                <a:solidFill>
                  <a:srgbClr val="C77F1A"/>
                </a:solidFill>
                <a:latin typeface="JetBrains Mono"/>
                <a:ea typeface="JetBrains Mono"/>
              </a:rPr>
              <a:t>TIP — </a:t>
            </a:r>
            <a:r>
              <a:rPr lang="ko-KR" sz="1300" dirty="0">
                <a:solidFill>
                  <a:srgbClr val="576176"/>
                </a:solidFill>
                <a:latin typeface="Pretendard"/>
                <a:ea typeface="Pretendard"/>
              </a:rPr>
              <a:t>[대괄호] 부분만 내 업무로 바꿔 그대로 붙여넣으세요.</a:t>
            </a:r>
          </a:p>
        </p:txBody>
      </p:sp>
    </p:spTree>
    <p:extLst>
      <p:ext uri="{BB962C8B-B14F-4D97-AF65-F5344CB8AC3E}">
        <p14:creationId xmlns:p14="http://schemas.microsoft.com/office/powerpoint/2010/main" val="5579766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실제 입력 → 출력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실제 예시 — 업무 진단표가 이렇게 나온다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783080"/>
            <a:ext cx="10332720" cy="1874519"/>
          </a:xfrm>
          <a:prstGeom prst="rect">
            <a:avLst/>
          </a:prstGeom>
          <a:solidFill>
            <a:srgbClr val="10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502920" rIns="320040" rtlCol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25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아래 업무를 (1)반복성 (2)AI 적합도 (3)추천도구로 1~5점 표로 만들고 우선순위를 제안해줘.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25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- 매주 인스타 게시글 3건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25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- 월 1회 보도자료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25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- 행사 카드뉴스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783080"/>
            <a:ext cx="2011680" cy="329184"/>
          </a:xfrm>
          <a:prstGeom prst="rect">
            <a:avLst/>
          </a:prstGeom>
          <a:solidFill>
            <a:srgbClr val="24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400"/>
              </a:spcAft>
            </a:pPr>
            <a:r>
              <a:rPr sz="1200" b="0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▸ 입력 프롬프트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794760"/>
            <a:ext cx="10332720" cy="2514600"/>
          </a:xfrm>
          <a:prstGeom prst="rect">
            <a:avLst/>
          </a:prstGeom>
          <a:solidFill>
            <a:srgbClr val="FBFCFE"/>
          </a:solidFill>
          <a:ln w="12700">
            <a:solidFill>
              <a:srgbClr val="E9EC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502920" rIns="320040" rtlCol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endParaRPr sz="1350">
              <a:solidFill>
                <a:srgbClr val="1D4E89"/>
              </a:solidFill>
              <a:latin typeface="Pretendard"/>
              <a:ea typeface="Pretendard"/>
              <a:cs typeface="Pretendard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14400" y="3794760"/>
            <a:ext cx="1828800" cy="329184"/>
          </a:xfrm>
          <a:prstGeom prst="rect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384048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400"/>
              </a:spcAft>
            </a:pPr>
            <a:r>
              <a:rPr sz="12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▸ 나온 결과(예)</a:t>
            </a:r>
          </a:p>
        </p:txBody>
      </p:sp>
      <p:sp>
        <p:nvSpPr>
          <p:cNvPr id="140" name="flowdot"/>
          <p:cNvSpPr txBox="1"/>
          <p:nvPr/>
        </p:nvSpPr>
        <p:spPr>
          <a:xfrm>
            <a:off x="5892800" y="3530600"/>
            <a:ext cx="381000" cy="381000"/>
          </a:xfrm>
          <a:prstGeom prst="ellipse">
            <a:avLst/>
          </a:prstGeom>
          <a:solidFill>
            <a:srgbClr val="E8A33D"/>
          </a:solidFill>
          <a:ln w="25400">
            <a:solidFill>
              <a:srgbClr val="F4F6FB"/>
            </a:solidFill>
          </a:ln>
        </p:spPr>
        <p:txBody>
          <a:bodyPr wrap="none" lIns="0" tIns="0" rIns="0" bIns="0" anchor="ctr"/>
          <a:lstStyle/>
          <a:p>
            <a:pPr algn="ctr"/>
            <a:r>
              <a:rPr lang="en-US" sz="1400" b="1" dirty="0">
                <a:solidFill>
                  <a:srgbClr val="14213D"/>
                </a:solidFill>
                <a:latin typeface="Pretendard"/>
                <a:ea typeface="Pretendard"/>
              </a:rPr>
              <a:t>↓</a:t>
            </a: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7B6DFE08-8B61-AD49-BB6C-12821FC2BE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7379237"/>
              </p:ext>
            </p:extLst>
          </p:nvPr>
        </p:nvGraphicFramePr>
        <p:xfrm>
          <a:off x="1117600" y="4267200"/>
          <a:ext cx="9931400" cy="132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>
                  <a:extLst>
                    <a:ext uri="{9D8B030D-6E8A-4147-A177-3AD203B41FA5}">
                      <a16:colId xmlns:a16="http://schemas.microsoft.com/office/drawing/2014/main" val="469249606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30386146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16539401"/>
                    </a:ext>
                  </a:extLst>
                </a:gridCol>
                <a:gridCol w="2692400">
                  <a:extLst>
                    <a:ext uri="{9D8B030D-6E8A-4147-A177-3AD203B41FA5}">
                      <a16:colId xmlns:a16="http://schemas.microsoft.com/office/drawing/2014/main" val="371071931"/>
                    </a:ext>
                  </a:extLst>
                </a:gridCol>
              </a:tblGrid>
              <a:tr h="3302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300" b="1">
                          <a:solidFill>
                            <a:srgbClr val="FFFFFF"/>
                          </a:solidFill>
                          <a:latin typeface="Pretendard"/>
                        </a:rPr>
                        <a:t>업무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300" b="1">
                          <a:solidFill>
                            <a:srgbClr val="FFFFFF"/>
                          </a:solidFill>
                          <a:latin typeface="Pretendard"/>
                        </a:rPr>
                        <a:t>반복성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300" b="1">
                          <a:solidFill>
                            <a:srgbClr val="FFFFFF"/>
                          </a:solidFill>
                          <a:latin typeface="Pretendard"/>
                        </a:rPr>
                        <a:t>AI 적합도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300" b="1">
                          <a:solidFill>
                            <a:srgbClr val="FFFFFF"/>
                          </a:solidFill>
                          <a:latin typeface="Pretendard"/>
                        </a:rPr>
                        <a:t>추천 도구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994859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300" b="1">
                          <a:solidFill>
                            <a:srgbClr val="14213D"/>
                          </a:solidFill>
                          <a:latin typeface="Pretendard"/>
                        </a:rPr>
                        <a:t>인스타 게시글</a:t>
                      </a:r>
                    </a:p>
                  </a:txBody>
                  <a:tcPr anchor="ctr">
                    <a:solidFill>
                      <a:srgbClr val="FBEF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300" b="0">
                          <a:solidFill>
                            <a:srgbClr val="14213D"/>
                          </a:solidFill>
                          <a:latin typeface="Pretendard"/>
                        </a:rPr>
                        <a:t>5</a:t>
                      </a:r>
                    </a:p>
                  </a:txBody>
                  <a:tcPr anchor="ctr">
                    <a:solidFill>
                      <a:srgbClr val="FBEF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300" b="0">
                          <a:solidFill>
                            <a:srgbClr val="14213D"/>
                          </a:solidFill>
                          <a:latin typeface="Pretendard"/>
                        </a:rPr>
                        <a:t>5</a:t>
                      </a:r>
                    </a:p>
                  </a:txBody>
                  <a:tcPr anchor="ctr">
                    <a:solidFill>
                      <a:srgbClr val="FBEFD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300" b="0">
                          <a:solidFill>
                            <a:srgbClr val="14213D"/>
                          </a:solidFill>
                          <a:latin typeface="Pretendard"/>
                        </a:rPr>
                        <a:t>ChatGPT</a:t>
                      </a:r>
                    </a:p>
                  </a:txBody>
                  <a:tcPr anchor="ctr">
                    <a:solidFill>
                      <a:srgbClr val="FBEF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5721320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300" b="1">
                          <a:solidFill>
                            <a:srgbClr val="14213D"/>
                          </a:solidFill>
                          <a:latin typeface="Pretendard"/>
                        </a:rPr>
                        <a:t>보도자료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300" b="0">
                          <a:solidFill>
                            <a:srgbClr val="14213D"/>
                          </a:solidFill>
                          <a:latin typeface="Pretendard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300" b="0">
                          <a:solidFill>
                            <a:srgbClr val="14213D"/>
                          </a:solidFill>
                          <a:latin typeface="Pretendard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300" b="0">
                          <a:solidFill>
                            <a:srgbClr val="14213D"/>
                          </a:solidFill>
                          <a:latin typeface="Pretendard"/>
                        </a:rPr>
                        <a:t>Claude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7316567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300" b="1">
                          <a:solidFill>
                            <a:srgbClr val="14213D"/>
                          </a:solidFill>
                          <a:latin typeface="Pretendard"/>
                        </a:rPr>
                        <a:t>행사 카드뉴스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300" b="0">
                          <a:solidFill>
                            <a:srgbClr val="14213D"/>
                          </a:solidFill>
                          <a:latin typeface="Pretendard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300" b="0">
                          <a:solidFill>
                            <a:srgbClr val="14213D"/>
                          </a:solidFill>
                          <a:latin typeface="Pretendard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300" b="0">
                          <a:solidFill>
                            <a:srgbClr val="14213D"/>
                          </a:solidFill>
                          <a:latin typeface="Pretendard"/>
                        </a:rPr>
                        <a:t>ChatGPT + Canva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6757662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D25D1517-766A-6745-A67E-3655C9E954F7}"/>
              </a:ext>
            </a:extLst>
          </p:cNvPr>
          <p:cNvSpPr txBox="1"/>
          <p:nvPr/>
        </p:nvSpPr>
        <p:spPr>
          <a:xfrm>
            <a:off x="1117600" y="5740400"/>
            <a:ext cx="9931400" cy="40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ko-KR" altLang="en-US" sz="1350" b="1">
                <a:solidFill>
                  <a:srgbClr val="1D4E89"/>
                </a:solidFill>
                <a:latin typeface="Pretendard"/>
              </a:rPr>
              <a:t>→ </a:t>
            </a:r>
            <a:r>
              <a:rPr lang="en-US" altLang="ko-KR" sz="1350" b="1">
                <a:solidFill>
                  <a:srgbClr val="1D4E89"/>
                </a:solidFill>
                <a:latin typeface="Pretendard"/>
              </a:rPr>
              <a:t>1</a:t>
            </a:r>
            <a:r>
              <a:rPr lang="ko-KR" altLang="en-US" sz="1350" b="1">
                <a:solidFill>
                  <a:srgbClr val="1D4E89"/>
                </a:solidFill>
                <a:latin typeface="Pretendard"/>
              </a:rPr>
              <a:t>순위</a:t>
            </a:r>
            <a:r>
              <a:rPr lang="en-US" altLang="ko-KR" sz="1350" b="1">
                <a:solidFill>
                  <a:srgbClr val="1D4E89"/>
                </a:solidFill>
                <a:latin typeface="Pretendard"/>
              </a:rPr>
              <a:t>: </a:t>
            </a:r>
            <a:r>
              <a:rPr lang="ko-KR" altLang="en-US" sz="1350" b="1">
                <a:solidFill>
                  <a:srgbClr val="1D4E89"/>
                </a:solidFill>
                <a:latin typeface="Pretendard"/>
              </a:rPr>
              <a:t>매주 인스타 게시글 </a:t>
            </a:r>
            <a:r>
              <a:rPr lang="en-US" altLang="ko-KR" sz="1350" b="1">
                <a:solidFill>
                  <a:srgbClr val="1D4E89"/>
                </a:solidFill>
                <a:latin typeface="Pretendard"/>
              </a:rPr>
              <a:t>(</a:t>
            </a:r>
            <a:r>
              <a:rPr lang="ko-KR" altLang="en-US" sz="1350" b="1">
                <a:solidFill>
                  <a:srgbClr val="1D4E89"/>
                </a:solidFill>
                <a:latin typeface="Pretendard"/>
              </a:rPr>
              <a:t>반복 </a:t>
            </a:r>
            <a:r>
              <a:rPr lang="en-US" altLang="ko-KR" sz="1350" b="1">
                <a:solidFill>
                  <a:srgbClr val="1D4E89"/>
                </a:solidFill>
                <a:latin typeface="Pretendard"/>
              </a:rPr>
              <a:t>5 · </a:t>
            </a:r>
            <a:r>
              <a:rPr lang="ko-KR" altLang="en-US" sz="1350" b="1">
                <a:solidFill>
                  <a:srgbClr val="1D4E89"/>
                </a:solidFill>
                <a:latin typeface="Pretendard"/>
              </a:rPr>
              <a:t>적합 </a:t>
            </a:r>
            <a:r>
              <a:rPr lang="en-US" altLang="ko-KR" sz="1350" b="1">
                <a:solidFill>
                  <a:srgbClr val="1D4E89"/>
                </a:solidFill>
                <a:latin typeface="Pretendard"/>
              </a:rPr>
              <a:t>5). </a:t>
            </a:r>
            <a:r>
              <a:rPr lang="ko-KR" altLang="en-US" sz="1350" b="1">
                <a:solidFill>
                  <a:srgbClr val="1D4E89"/>
                </a:solidFill>
                <a:latin typeface="Pretendard"/>
              </a:rPr>
              <a:t>여기부터 자동화 권장</a:t>
            </a:r>
            <a:r>
              <a:rPr lang="en-US" altLang="ko-KR" sz="1350" b="1">
                <a:solidFill>
                  <a:srgbClr val="1D4E89"/>
                </a:solidFill>
                <a:latin typeface="Pretendard"/>
              </a:rPr>
              <a:t>.</a:t>
            </a:r>
            <a:endParaRPr lang="ko-KR" altLang="en-US" sz="1350" b="1">
              <a:solidFill>
                <a:srgbClr val="1D4E89"/>
              </a:solidFill>
              <a:latin typeface="Pretendard"/>
            </a:endParaRPr>
          </a:p>
        </p:txBody>
      </p:sp>
    </p:spTree>
    <p:extLst>
      <p:ext uri="{BB962C8B-B14F-4D97-AF65-F5344CB8AC3E}">
        <p14:creationId xmlns:p14="http://schemas.microsoft.com/office/powerpoint/2010/main" val="42210688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정리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생성형 AI의 개념과 홍보 업무의 변화</a:t>
            </a:r>
          </a:p>
        </p:txBody>
      </p:sp>
      <p:sp>
        <p:nvSpPr>
          <p:cNvPr id="100" name="cardA"/>
          <p:cNvSpPr/>
          <p:nvPr/>
        </p:nvSpPr>
        <p:spPr>
          <a:xfrm>
            <a:off x="825500" y="1930400"/>
            <a:ext cx="10541000" cy="2489200"/>
          </a:xfrm>
          <a:prstGeom prst="roundRect">
            <a:avLst>
              <a:gd name="adj" fmla="val 4000"/>
            </a:avLst>
          </a:prstGeom>
          <a:solidFill>
            <a:srgbClr val="FBF3E3"/>
          </a:solidFill>
          <a:ln w="12700">
            <a:solidFill>
              <a:srgbClr val="EAC487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1" name="hA"/>
          <p:cNvSpPr txBox="1"/>
          <p:nvPr/>
        </p:nvSpPr>
        <p:spPr>
          <a:xfrm>
            <a:off x="1676400" y="2184400"/>
            <a:ext cx="5080000" cy="4064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r>
              <a:rPr lang="ko-KR" sz="1700" b="1" dirty="0">
                <a:solidFill>
                  <a:srgbClr val="B5781B"/>
                </a:solidFill>
                <a:latin typeface="Pretendard"/>
                <a:ea typeface="Pretendard"/>
              </a:rPr>
              <a:t>흔한 실수</a:t>
            </a:r>
          </a:p>
        </p:txBody>
      </p:sp>
      <p:sp>
        <p:nvSpPr>
          <p:cNvPr id="102" name="iA"/>
          <p:cNvSpPr txBox="1"/>
          <p:nvPr/>
        </p:nvSpPr>
        <p:spPr>
          <a:xfrm>
            <a:off x="1168400" y="2743200"/>
            <a:ext cx="9855200" cy="147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200025" indent="-200025">
              <a:lnSpc>
                <a:spcPct val="120000"/>
              </a:lnSpc>
              <a:spcAft>
                <a:spcPts val="700"/>
              </a:spcAft>
              <a:buFont typeface="Arial"/>
              <a:buChar char="•"/>
            </a:pPr>
            <a:r>
              <a:rPr lang="ko-KR" sz="1450" dirty="0">
                <a:solidFill>
                  <a:srgbClr val="14213D"/>
                </a:solidFill>
                <a:latin typeface="Pretendard"/>
                <a:ea typeface="Pretendard"/>
              </a:rPr>
              <a:t>AI 출력을 검수 없이 발행 → 환각·톤 불일치 사고. 발행 전 사람 검수는 비협상 원칙.</a:t>
            </a:r>
          </a:p>
          <a:p>
            <a:pPr marL="200025" indent="-200025">
              <a:lnSpc>
                <a:spcPct val="120000"/>
              </a:lnSpc>
              <a:spcAft>
                <a:spcPts val="700"/>
              </a:spcAft>
              <a:buFont typeface="Arial"/>
              <a:buChar char="•"/>
            </a:pPr>
            <a:r>
              <a:rPr lang="ko-KR" sz="1450" dirty="0">
                <a:solidFill>
                  <a:srgbClr val="14213D"/>
                </a:solidFill>
                <a:latin typeface="Pretendard"/>
                <a:ea typeface="Pretendard"/>
              </a:rPr>
              <a:t>“전부 자동화” 욕심 → 판단·창의 영역까지 맡기면 품질이 무너진다.</a:t>
            </a:r>
          </a:p>
        </p:txBody>
      </p:sp>
      <p:sp>
        <p:nvSpPr>
          <p:cNvPr id="103" name="cardB"/>
          <p:cNvSpPr/>
          <p:nvPr/>
        </p:nvSpPr>
        <p:spPr>
          <a:xfrm>
            <a:off x="825500" y="4724400"/>
            <a:ext cx="10541000" cy="1549400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B"/>
          <p:cNvSpPr txBox="1"/>
          <p:nvPr/>
        </p:nvSpPr>
        <p:spPr>
          <a:xfrm>
            <a:off x="1778000" y="4927600"/>
            <a:ext cx="9144000" cy="1143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spcAft>
                <a:spcPts val="300"/>
              </a:spcAft>
            </a:pPr>
            <a:r>
              <a:rPr lang="ko-KR" sz="1250" b="1" dirty="0">
                <a:solidFill>
                  <a:srgbClr val="E8A33D"/>
                </a:solidFill>
                <a:latin typeface="JetBrains Mono"/>
                <a:ea typeface="JetBrains Mono"/>
              </a:rPr>
              <a:t>이 세션의 결과물</a:t>
            </a:r>
          </a:p>
          <a:p>
            <a:pPr>
              <a:lnSpc>
                <a:spcPct val="118000"/>
              </a:lnSpc>
            </a:pPr>
            <a:r>
              <a:rPr lang="ko-KR" sz="1600" b="1" dirty="0">
                <a:solidFill>
                  <a:srgbClr val="FFFFFF"/>
                </a:solidFill>
                <a:latin typeface="Pretendard"/>
                <a:ea typeface="Pretendard"/>
              </a:rPr>
              <a:t>반복업무 진단표 1장 — 업무·반복성·자동화 적합도·추천 도구·예상 절감시간.</a:t>
            </a:r>
          </a:p>
        </p:txBody>
      </p:sp>
      <p:pic>
        <p:nvPicPr>
          <p:cNvPr id="105" name="Graphic 105" descr="흔한 실수 경고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400" y="2197100"/>
            <a:ext cx="381000" cy="381000"/>
          </a:xfrm>
          <a:prstGeom prst="rect">
            <a:avLst/>
          </a:prstGeom>
        </p:spPr>
      </p:pic>
      <p:pic>
        <p:nvPicPr>
          <p:cNvPr id="106" name="Graphic 106" descr="결과물 체크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8400" y="5308600"/>
            <a:ext cx="381000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42703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D4E8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2468880"/>
            <a:ext cx="822960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800"/>
              </a:spcAft>
            </a:pPr>
            <a:r>
              <a:rPr sz="1400" b="0">
                <a:solidFill>
                  <a:srgbClr val="BFD2EC"/>
                </a:solidFill>
                <a:latin typeface="JetBrains Mono"/>
                <a:ea typeface="JetBrains Mono"/>
                <a:cs typeface="JetBrains Mono"/>
              </a:rPr>
              <a:t>세션 2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1200"/>
              </a:spcAft>
            </a:pPr>
            <a:r>
              <a:rPr sz="32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중소기업 실무 적용 사례와 활용 포인트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DBE6F6"/>
                </a:solidFill>
                <a:latin typeface="Pretendard"/>
                <a:ea typeface="Pretendard"/>
                <a:cs typeface="Pretendard"/>
              </a:rPr>
              <a:t>중소기업 현장의 적용 사례로 "효과 큰 한 곳"을 먼저 찾는다(스몰 윈 전략).</a:t>
            </a:r>
          </a:p>
        </p:txBody>
      </p:sp>
      <p:sp>
        <p:nvSpPr>
          <p:cNvPr id="120" name="num"/>
          <p:cNvSpPr txBox="1"/>
          <p:nvPr/>
        </p:nvSpPr>
        <p:spPr>
          <a:xfrm>
            <a:off x="8890000" y="508000"/>
            <a:ext cx="2476500" cy="1905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r>
              <a:rPr lang="en-US" sz="11000" b="1" dirty="0">
                <a:solidFill>
                  <a:srgbClr val="386397"/>
                </a:solidFill>
                <a:latin typeface="Noto Serif KR"/>
                <a:ea typeface="Noto Serif KR"/>
              </a:rPr>
              <a:t>02</a:t>
            </a:r>
          </a:p>
        </p:txBody>
      </p:sp>
      <p:sp>
        <p:nvSpPr>
          <p:cNvPr id="121" name="cap"/>
          <p:cNvSpPr txBox="1"/>
          <p:nvPr/>
        </p:nvSpPr>
        <p:spPr>
          <a:xfrm>
            <a:off x="825500" y="5257800"/>
            <a:ext cx="5080000" cy="3048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r>
              <a:rPr lang="ko-KR" sz="1200" b="1" dirty="0">
                <a:solidFill>
                  <a:srgbClr val="E8A33D"/>
                </a:solidFill>
                <a:latin typeface="JetBrains Mono"/>
                <a:ea typeface="JetBrains Mono"/>
              </a:rPr>
              <a:t>이 세션의 흐름</a:t>
            </a:r>
          </a:p>
        </p:txBody>
      </p:sp>
      <p:sp>
        <p:nvSpPr>
          <p:cNvPr id="122" name="chip0"/>
          <p:cNvSpPr/>
          <p:nvPr/>
        </p:nvSpPr>
        <p:spPr>
          <a:xfrm>
            <a:off x="825500" y="5638800"/>
            <a:ext cx="2387600" cy="533400"/>
          </a:xfrm>
          <a:prstGeom prst="roundRect">
            <a:avLst>
              <a:gd name="adj" fmla="val 20000"/>
            </a:avLst>
          </a:prstGeom>
          <a:solidFill>
            <a:srgbClr val="466E9E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ko-KR" sz="1350" b="1" dirty="0">
                <a:solidFill>
                  <a:srgbClr val="FFFFFF"/>
                </a:solidFill>
                <a:latin typeface="Pretendard"/>
                <a:ea typeface="Pretendard"/>
              </a:rPr>
              <a:t>적용 사례</a:t>
            </a:r>
          </a:p>
        </p:txBody>
      </p:sp>
      <p:sp>
        <p:nvSpPr>
          <p:cNvPr id="123" name="arr0"/>
          <p:cNvSpPr/>
          <p:nvPr/>
        </p:nvSpPr>
        <p:spPr>
          <a:xfrm>
            <a:off x="3263900" y="5791200"/>
            <a:ext cx="228600" cy="228600"/>
          </a:xfrm>
          <a:prstGeom prst="rightArrow">
            <a:avLst/>
          </a:prstGeom>
          <a:solidFill>
            <a:srgbClr val="E8A3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4" name="chip1"/>
          <p:cNvSpPr/>
          <p:nvPr/>
        </p:nvSpPr>
        <p:spPr>
          <a:xfrm>
            <a:off x="3543300" y="5638800"/>
            <a:ext cx="2387600" cy="533400"/>
          </a:xfrm>
          <a:prstGeom prst="roundRect">
            <a:avLst>
              <a:gd name="adj" fmla="val 20000"/>
            </a:avLst>
          </a:prstGeom>
          <a:solidFill>
            <a:srgbClr val="466E9E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ko-KR" sz="1350" b="1" dirty="0">
                <a:solidFill>
                  <a:srgbClr val="FFFFFF"/>
                </a:solidFill>
                <a:latin typeface="Pretendard"/>
                <a:ea typeface="Pretendard"/>
              </a:rPr>
              <a:t>활용 포인트</a:t>
            </a:r>
          </a:p>
        </p:txBody>
      </p:sp>
      <p:sp>
        <p:nvSpPr>
          <p:cNvPr id="125" name="arr1"/>
          <p:cNvSpPr/>
          <p:nvPr/>
        </p:nvSpPr>
        <p:spPr>
          <a:xfrm>
            <a:off x="5981700" y="5791200"/>
            <a:ext cx="228600" cy="228600"/>
          </a:xfrm>
          <a:prstGeom prst="rightArrow">
            <a:avLst/>
          </a:prstGeom>
          <a:solidFill>
            <a:srgbClr val="E8A3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6" name="chip2"/>
          <p:cNvSpPr/>
          <p:nvPr/>
        </p:nvSpPr>
        <p:spPr>
          <a:xfrm>
            <a:off x="6261100" y="5638800"/>
            <a:ext cx="2387600" cy="533400"/>
          </a:xfrm>
          <a:prstGeom prst="roundRect">
            <a:avLst>
              <a:gd name="adj" fmla="val 20000"/>
            </a:avLst>
          </a:prstGeom>
          <a:solidFill>
            <a:srgbClr val="466E9E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ko-KR" sz="1350" b="1" dirty="0">
                <a:solidFill>
                  <a:srgbClr val="FFFFFF"/>
                </a:solidFill>
                <a:latin typeface="Pretendard"/>
                <a:ea typeface="Pretendard"/>
              </a:rPr>
              <a:t>실습 · 프롬프트</a:t>
            </a:r>
          </a:p>
        </p:txBody>
      </p:sp>
      <p:sp>
        <p:nvSpPr>
          <p:cNvPr id="127" name="arr2"/>
          <p:cNvSpPr/>
          <p:nvPr/>
        </p:nvSpPr>
        <p:spPr>
          <a:xfrm>
            <a:off x="8699500" y="5791200"/>
            <a:ext cx="228600" cy="228600"/>
          </a:xfrm>
          <a:prstGeom prst="rightArrow">
            <a:avLst/>
          </a:prstGeom>
          <a:solidFill>
            <a:srgbClr val="E8A3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8" name="chip3"/>
          <p:cNvSpPr/>
          <p:nvPr/>
        </p:nvSpPr>
        <p:spPr>
          <a:xfrm>
            <a:off x="8978900" y="5638800"/>
            <a:ext cx="2387600" cy="533400"/>
          </a:xfrm>
          <a:prstGeom prst="roundRect">
            <a:avLst>
              <a:gd name="adj" fmla="val 20000"/>
            </a:avLst>
          </a:prstGeom>
          <a:solidFill>
            <a:srgbClr val="466E9E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ko-KR" sz="1350" b="1" dirty="0">
                <a:solidFill>
                  <a:srgbClr val="FFFFFF"/>
                </a:solidFill>
                <a:latin typeface="Pretendard"/>
                <a:ea typeface="Pretendard"/>
              </a:rPr>
              <a:t>좋은예 vs 나쁜예</a:t>
            </a:r>
          </a:p>
        </p:txBody>
      </p:sp>
    </p:spTree>
    <p:extLst>
      <p:ext uri="{BB962C8B-B14F-4D97-AF65-F5344CB8AC3E}">
        <p14:creationId xmlns:p14="http://schemas.microsoft.com/office/powerpoint/2010/main" val="15898597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핵심 개념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핵심 개념</a:t>
            </a:r>
          </a:p>
        </p:txBody>
      </p:sp>
      <p:sp>
        <p:nvSpPr>
          <p:cNvPr id="100" name="card0"/>
          <p:cNvSpPr/>
          <p:nvPr/>
        </p:nvSpPr>
        <p:spPr>
          <a:xfrm>
            <a:off x="825500" y="1905000"/>
            <a:ext cx="10541000" cy="20955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E6F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1" name="circ0"/>
          <p:cNvSpPr/>
          <p:nvPr/>
        </p:nvSpPr>
        <p:spPr>
          <a:xfrm>
            <a:off x="1181100" y="2584450"/>
            <a:ext cx="736600" cy="736600"/>
          </a:xfrm>
          <a:prstGeom prst="ellipse">
            <a:avLst/>
          </a:prstGeom>
          <a:solidFill>
            <a:srgbClr val="E7EEF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txt0"/>
          <p:cNvSpPr txBox="1"/>
          <p:nvPr/>
        </p:nvSpPr>
        <p:spPr>
          <a:xfrm>
            <a:off x="2349500" y="2133600"/>
            <a:ext cx="8712200" cy="16383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spcAft>
                <a:spcPts val="500"/>
              </a:spcAft>
            </a:pPr>
            <a:r>
              <a:rPr lang="ko-KR" sz="1700" b="1" dirty="0">
                <a:solidFill>
                  <a:srgbClr val="14213D"/>
                </a:solidFill>
                <a:latin typeface="Pretendard"/>
                <a:ea typeface="Pretendard"/>
              </a:rPr>
              <a:t>업무효율화 ROI</a:t>
            </a:r>
          </a:p>
          <a:p>
            <a:pPr>
              <a:lnSpc>
                <a:spcPct val="124000"/>
              </a:lnSpc>
            </a:pPr>
            <a:r>
              <a:rPr lang="ko-KR" sz="1400" dirty="0">
                <a:solidFill>
                  <a:srgbClr val="576176"/>
                </a:solidFill>
                <a:latin typeface="Pretendard"/>
                <a:ea typeface="Pretendard"/>
              </a:rPr>
              <a:t>(절감 시간 × 빈도) − (도구 학습·검수 비용). 빈도가 높은 업무일수록 절감 효과가 복리처럼 누적된다.</a:t>
            </a:r>
          </a:p>
        </p:txBody>
      </p:sp>
      <p:sp>
        <p:nvSpPr>
          <p:cNvPr id="103" name="card1"/>
          <p:cNvSpPr/>
          <p:nvPr/>
        </p:nvSpPr>
        <p:spPr>
          <a:xfrm>
            <a:off x="825500" y="4305300"/>
            <a:ext cx="10541000" cy="20955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E6F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4" name="circ1"/>
          <p:cNvSpPr/>
          <p:nvPr/>
        </p:nvSpPr>
        <p:spPr>
          <a:xfrm>
            <a:off x="1181100" y="4984750"/>
            <a:ext cx="736600" cy="736600"/>
          </a:xfrm>
          <a:prstGeom prst="ellipse">
            <a:avLst/>
          </a:prstGeom>
          <a:solidFill>
            <a:srgbClr val="FBEFD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5" name="txt1"/>
          <p:cNvSpPr txBox="1"/>
          <p:nvPr/>
        </p:nvSpPr>
        <p:spPr>
          <a:xfrm>
            <a:off x="2349500" y="4533900"/>
            <a:ext cx="8712200" cy="16383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spcAft>
                <a:spcPts val="500"/>
              </a:spcAft>
            </a:pPr>
            <a:r>
              <a:rPr lang="ko-KR" sz="1700" b="1" dirty="0">
                <a:solidFill>
                  <a:srgbClr val="14213D"/>
                </a:solidFill>
                <a:latin typeface="Pretendard"/>
                <a:ea typeface="Pretendard"/>
              </a:rPr>
              <a:t>스몰 윈 (Small Win)</a:t>
            </a:r>
          </a:p>
          <a:p>
            <a:pPr>
              <a:lnSpc>
                <a:spcPct val="124000"/>
              </a:lnSpc>
            </a:pPr>
            <a:r>
              <a:rPr lang="ko-KR" sz="1400" dirty="0">
                <a:solidFill>
                  <a:srgbClr val="576176"/>
                </a:solidFill>
                <a:latin typeface="Pretendard"/>
                <a:ea typeface="Pretendard"/>
              </a:rPr>
              <a:t>전 과정을 한 번에 바꾸지 않고, 효과가 즉시 보이는 단일 업무부터 자동화해 조직의 신뢰를 먼저 쌓는다.</a:t>
            </a:r>
          </a:p>
        </p:txBody>
      </p:sp>
      <p:pic>
        <p:nvPicPr>
          <p:cNvPr id="106" name="Graphic 106" descr="ROI 차트 아이콘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20800" y="2717800"/>
            <a:ext cx="457200" cy="457200"/>
          </a:xfrm>
          <a:prstGeom prst="rect">
            <a:avLst/>
          </a:prstGeom>
        </p:spPr>
      </p:pic>
      <p:pic>
        <p:nvPicPr>
          <p:cNvPr id="107" name="Graphic 107" descr="스몰윈 트로피 아이콘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20800" y="5118100"/>
            <a:ext cx="4572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93838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개념 깊이 보기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개념을 예시로 — 우리 케이스에 적용하면</a:t>
            </a:r>
          </a:p>
        </p:txBody>
      </p:sp>
      <p:sp>
        <p:nvSpPr>
          <p:cNvPr id="100" name="card0"/>
          <p:cNvSpPr/>
          <p:nvPr/>
        </p:nvSpPr>
        <p:spPr>
          <a:xfrm>
            <a:off x="825500" y="1905000"/>
            <a:ext cx="10541000" cy="20955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E6F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1" name="circ0"/>
          <p:cNvSpPr/>
          <p:nvPr/>
        </p:nvSpPr>
        <p:spPr>
          <a:xfrm>
            <a:off x="1181100" y="2584450"/>
            <a:ext cx="736600" cy="736600"/>
          </a:xfrm>
          <a:prstGeom prst="ellipse">
            <a:avLst/>
          </a:prstGeom>
          <a:solidFill>
            <a:srgbClr val="FBEFD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txt0"/>
          <p:cNvSpPr txBox="1"/>
          <p:nvPr/>
        </p:nvSpPr>
        <p:spPr>
          <a:xfrm>
            <a:off x="2349500" y="2133600"/>
            <a:ext cx="8712200" cy="16383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spcAft>
                <a:spcPts val="500"/>
              </a:spcAft>
            </a:pPr>
            <a:r>
              <a:rPr lang="ko-KR" sz="1700" b="1" dirty="0">
                <a:solidFill>
                  <a:srgbClr val="14213D"/>
                </a:solidFill>
                <a:latin typeface="Pretendard"/>
                <a:ea typeface="Pretendard"/>
              </a:rPr>
              <a:t>스몰 윈 (Small Win)</a:t>
            </a:r>
          </a:p>
          <a:p>
            <a:pPr>
              <a:lnSpc>
                <a:spcPct val="124000"/>
              </a:lnSpc>
            </a:pPr>
            <a:r>
              <a:rPr lang="ko-KR" sz="1300" b="1" dirty="0">
                <a:solidFill>
                  <a:srgbClr val="E8A33D"/>
                </a:solidFill>
                <a:latin typeface="JetBrains Mono"/>
                <a:ea typeface="JetBrains Mono"/>
              </a:rPr>
              <a:t>예) </a:t>
            </a:r>
            <a:r>
              <a:rPr lang="ko-KR" sz="1400" dirty="0">
                <a:solidFill>
                  <a:srgbClr val="576176"/>
                </a:solidFill>
                <a:latin typeface="Pretendard"/>
                <a:ea typeface="Pretendard"/>
              </a:rPr>
              <a:t>“전 홍보를 AI로!”(X) → “매주 인스타 게시글만 먼저”(O). 한 곳에서 시간이 확 줄면 팀이 믿고 범위를 넓힌다.</a:t>
            </a:r>
          </a:p>
        </p:txBody>
      </p:sp>
      <p:sp>
        <p:nvSpPr>
          <p:cNvPr id="103" name="card1"/>
          <p:cNvSpPr/>
          <p:nvPr/>
        </p:nvSpPr>
        <p:spPr>
          <a:xfrm>
            <a:off x="825500" y="4305300"/>
            <a:ext cx="10541000" cy="20955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E6F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4" name="circ1"/>
          <p:cNvSpPr/>
          <p:nvPr/>
        </p:nvSpPr>
        <p:spPr>
          <a:xfrm>
            <a:off x="1181100" y="4984750"/>
            <a:ext cx="736600" cy="736600"/>
          </a:xfrm>
          <a:prstGeom prst="ellipse">
            <a:avLst/>
          </a:prstGeom>
          <a:solidFill>
            <a:srgbClr val="E7EEF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5" name="txt1"/>
          <p:cNvSpPr txBox="1"/>
          <p:nvPr/>
        </p:nvSpPr>
        <p:spPr>
          <a:xfrm>
            <a:off x="2349500" y="4533900"/>
            <a:ext cx="8712200" cy="16383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spcAft>
                <a:spcPts val="500"/>
              </a:spcAft>
            </a:pPr>
            <a:r>
              <a:rPr lang="ko-KR" sz="1700" b="1" dirty="0">
                <a:solidFill>
                  <a:srgbClr val="14213D"/>
                </a:solidFill>
                <a:latin typeface="Pretendard"/>
                <a:ea typeface="Pretendard"/>
              </a:rPr>
              <a:t>업무효율화 ROI</a:t>
            </a:r>
          </a:p>
          <a:p>
            <a:pPr>
              <a:lnSpc>
                <a:spcPct val="124000"/>
              </a:lnSpc>
            </a:pPr>
            <a:r>
              <a:rPr lang="ko-KR" sz="1300" b="1" dirty="0">
                <a:solidFill>
                  <a:srgbClr val="E8A33D"/>
                </a:solidFill>
                <a:latin typeface="JetBrains Mono"/>
                <a:ea typeface="JetBrains Mono"/>
              </a:rPr>
              <a:t>예) </a:t>
            </a:r>
            <a:r>
              <a:rPr lang="ko-KR" sz="1400" dirty="0">
                <a:solidFill>
                  <a:srgbClr val="576176"/>
                </a:solidFill>
                <a:latin typeface="Pretendard"/>
                <a:ea typeface="Pretendard"/>
              </a:rPr>
              <a:t>주간 카드뉴스 제작 2시간 → 40분. 주 1회 × 4주 = 월 약 5.3시간 절감. 빈도 높은 업무부터 골라야 효과가 쌓인다.</a:t>
            </a:r>
          </a:p>
        </p:txBody>
      </p:sp>
      <p:pic>
        <p:nvPicPr>
          <p:cNvPr id="106" name="Graphic 106" descr="스몰윈 트로피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20800" y="2717800"/>
            <a:ext cx="457200" cy="457200"/>
          </a:xfrm>
          <a:prstGeom prst="rect">
            <a:avLst/>
          </a:prstGeom>
        </p:spPr>
      </p:pic>
      <p:pic>
        <p:nvPicPr>
          <p:cNvPr id="107" name="Graphic 107" descr="ROI 차트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20800" y="5118100"/>
            <a:ext cx="4572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7101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절차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실습 절차 — 직접 해봅니다</a:t>
            </a:r>
          </a:p>
        </p:txBody>
      </p:sp>
      <p:sp>
        <p:nvSpPr>
          <p:cNvPr id="100" name="rail"/>
          <p:cNvSpPr/>
          <p:nvPr/>
        </p:nvSpPr>
        <p:spPr>
          <a:xfrm>
            <a:off x="1270000" y="2692400"/>
            <a:ext cx="50800" cy="2997200"/>
          </a:xfrm>
          <a:prstGeom prst="rect">
            <a:avLst/>
          </a:prstGeom>
          <a:solidFill>
            <a:srgbClr val="C9D6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1" name="c0"/>
          <p:cNvSpPr txBox="1"/>
          <p:nvPr/>
        </p:nvSpPr>
        <p:spPr>
          <a:xfrm>
            <a:off x="990600" y="2387600"/>
            <a:ext cx="609600" cy="609600"/>
          </a:xfrm>
          <a:prstGeom prst="ellipse">
            <a:avLst/>
          </a:prstGeom>
          <a:solidFill>
            <a:srgbClr val="1D4E89"/>
          </a:solidFill>
          <a:ln w="38100">
            <a:solidFill>
              <a:srgbClr val="F4F6FB"/>
            </a:solidFill>
          </a:ln>
        </p:spPr>
        <p:txBody>
          <a:bodyPr wrap="none" lIns="0" tIns="0" rIns="0" bIns="0" anchor="ctr"/>
          <a:lstStyle/>
          <a:p>
            <a:pPr algn="ctr"/>
            <a:r>
              <a:rPr lang="en-US" sz="1900" b="1" dirty="0">
                <a:solidFill>
                  <a:srgbClr val="FFFFFF"/>
                </a:solidFill>
                <a:latin typeface="Noto Serif KR"/>
                <a:ea typeface="Noto Serif KR"/>
              </a:rPr>
              <a:t>1</a:t>
            </a:r>
          </a:p>
        </p:txBody>
      </p:sp>
      <p:sp>
        <p:nvSpPr>
          <p:cNvPr id="102" name="t0"/>
          <p:cNvSpPr txBox="1"/>
          <p:nvPr/>
        </p:nvSpPr>
        <p:spPr>
          <a:xfrm>
            <a:off x="1905000" y="2184400"/>
            <a:ext cx="9461500" cy="1016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spcAft>
                <a:spcPts val="300"/>
              </a:spcAft>
            </a:pPr>
            <a:r>
              <a:rPr lang="ko-KR" sz="1800" b="1" dirty="0">
                <a:solidFill>
                  <a:srgbClr val="14213D"/>
                </a:solidFill>
                <a:latin typeface="Pretendard"/>
                <a:ea typeface="Pretendard"/>
              </a:rPr>
              <a:t>업무 선정</a:t>
            </a:r>
          </a:p>
          <a:p>
            <a:pPr>
              <a:lnSpc>
                <a:spcPct val="118000"/>
              </a:lnSpc>
            </a:pPr>
            <a:r>
              <a:rPr lang="ko-KR" sz="1450" dirty="0">
                <a:solidFill>
                  <a:srgbClr val="576176"/>
                </a:solidFill>
                <a:latin typeface="Pretendard"/>
                <a:ea typeface="Pretendard"/>
              </a:rPr>
              <a:t>진단표에서 ROI가 가장 큰 업무 1개를 고른다 (스몰 윈).</a:t>
            </a:r>
          </a:p>
        </p:txBody>
      </p:sp>
      <p:sp>
        <p:nvSpPr>
          <p:cNvPr id="103" name="c1"/>
          <p:cNvSpPr txBox="1"/>
          <p:nvPr/>
        </p:nvSpPr>
        <p:spPr>
          <a:xfrm>
            <a:off x="990600" y="3886200"/>
            <a:ext cx="609600" cy="609600"/>
          </a:xfrm>
          <a:prstGeom prst="ellipse">
            <a:avLst/>
          </a:prstGeom>
          <a:solidFill>
            <a:srgbClr val="1D4E89"/>
          </a:solidFill>
          <a:ln w="38100">
            <a:solidFill>
              <a:srgbClr val="F4F6FB"/>
            </a:solidFill>
          </a:ln>
        </p:spPr>
        <p:txBody>
          <a:bodyPr wrap="none" lIns="0" tIns="0" rIns="0" bIns="0" anchor="ctr"/>
          <a:lstStyle/>
          <a:p>
            <a:pPr algn="ctr"/>
            <a:r>
              <a:rPr lang="en-US" sz="1900" b="1" dirty="0">
                <a:solidFill>
                  <a:srgbClr val="FFFFFF"/>
                </a:solidFill>
                <a:latin typeface="Noto Serif KR"/>
                <a:ea typeface="Noto Serif KR"/>
              </a:rPr>
              <a:t>2</a:t>
            </a:r>
          </a:p>
        </p:txBody>
      </p:sp>
      <p:sp>
        <p:nvSpPr>
          <p:cNvPr id="104" name="t1"/>
          <p:cNvSpPr txBox="1"/>
          <p:nvPr/>
        </p:nvSpPr>
        <p:spPr>
          <a:xfrm>
            <a:off x="1905000" y="3683000"/>
            <a:ext cx="9461500" cy="1016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spcAft>
                <a:spcPts val="300"/>
              </a:spcAft>
            </a:pPr>
            <a:r>
              <a:rPr lang="ko-KR" sz="1800" b="1" dirty="0">
                <a:solidFill>
                  <a:srgbClr val="14213D"/>
                </a:solidFill>
                <a:latin typeface="Pretendard"/>
                <a:ea typeface="Pretendard"/>
              </a:rPr>
              <a:t>절차 기록</a:t>
            </a:r>
          </a:p>
          <a:p>
            <a:pPr>
              <a:lnSpc>
                <a:spcPct val="118000"/>
              </a:lnSpc>
            </a:pPr>
            <a:r>
              <a:rPr lang="ko-KR" sz="1450" dirty="0">
                <a:solidFill>
                  <a:srgbClr val="576176"/>
                </a:solidFill>
                <a:latin typeface="Pretendard"/>
                <a:ea typeface="Pretendard"/>
              </a:rPr>
              <a:t>현재 작업 절차를 글로 적는다. 이 글이 곧 프롬프트의 재료가 된다.</a:t>
            </a:r>
          </a:p>
        </p:txBody>
      </p:sp>
      <p:sp>
        <p:nvSpPr>
          <p:cNvPr id="105" name="c2"/>
          <p:cNvSpPr txBox="1"/>
          <p:nvPr/>
        </p:nvSpPr>
        <p:spPr>
          <a:xfrm>
            <a:off x="990600" y="5384800"/>
            <a:ext cx="609600" cy="609600"/>
          </a:xfrm>
          <a:prstGeom prst="ellipse">
            <a:avLst/>
          </a:prstGeom>
          <a:solidFill>
            <a:srgbClr val="1D4E89"/>
          </a:solidFill>
          <a:ln w="38100">
            <a:solidFill>
              <a:srgbClr val="F4F6FB"/>
            </a:solidFill>
          </a:ln>
        </p:spPr>
        <p:txBody>
          <a:bodyPr wrap="none" lIns="0" tIns="0" rIns="0" bIns="0" anchor="ctr"/>
          <a:lstStyle/>
          <a:p>
            <a:pPr algn="ctr"/>
            <a:r>
              <a:rPr lang="en-US" sz="1900" b="1" dirty="0">
                <a:solidFill>
                  <a:srgbClr val="FFFFFF"/>
                </a:solidFill>
                <a:latin typeface="Noto Serif KR"/>
                <a:ea typeface="Noto Serif KR"/>
              </a:rPr>
              <a:t>3</a:t>
            </a:r>
          </a:p>
        </p:txBody>
      </p:sp>
      <p:sp>
        <p:nvSpPr>
          <p:cNvPr id="106" name="t2"/>
          <p:cNvSpPr txBox="1"/>
          <p:nvPr/>
        </p:nvSpPr>
        <p:spPr>
          <a:xfrm>
            <a:off x="1905000" y="5181600"/>
            <a:ext cx="9461500" cy="1016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spcAft>
                <a:spcPts val="300"/>
              </a:spcAft>
            </a:pPr>
            <a:r>
              <a:rPr lang="ko-KR" sz="1800" b="1" dirty="0">
                <a:solidFill>
                  <a:srgbClr val="14213D"/>
                </a:solidFill>
                <a:latin typeface="Pretendard"/>
                <a:ea typeface="Pretendard"/>
              </a:rPr>
              <a:t>검수 지점 설계</a:t>
            </a:r>
          </a:p>
          <a:p>
            <a:pPr>
              <a:lnSpc>
                <a:spcPct val="118000"/>
              </a:lnSpc>
            </a:pPr>
            <a:r>
              <a:rPr lang="ko-KR" sz="1450" dirty="0">
                <a:solidFill>
                  <a:srgbClr val="576176"/>
                </a:solidFill>
                <a:latin typeface="Pretendard"/>
                <a:ea typeface="Pretendard"/>
              </a:rPr>
              <a:t>AI 도입 후 새 절차를 그리고, 사람이 개입할 검수 지점을 표시한다.</a:t>
            </a:r>
          </a:p>
        </p:txBody>
      </p:sp>
    </p:spTree>
    <p:extLst>
      <p:ext uri="{BB962C8B-B14F-4D97-AF65-F5344CB8AC3E}">
        <p14:creationId xmlns:p14="http://schemas.microsoft.com/office/powerpoint/2010/main" val="18825580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프롬프트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적용 시나리오 설계 프롬프트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438400"/>
            <a:ext cx="10332720" cy="3810000"/>
          </a:xfrm>
          <a:prstGeom prst="rect">
            <a:avLst/>
          </a:prstGeom>
          <a:solidFill>
            <a:srgbClr val="10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11480" tIns="502920" rIns="365760" bIns="320040" rtlCol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다음 업무를 AI로 자동화하는 단계별 절차를 만들어줘.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각 단계에 "AI가 하는 일"과 "사람이 검수할 점"을 구분해서 표시해줘.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업무: 매주 신제품 인스타 게시글 작성</a:t>
            </a:r>
          </a:p>
        </p:txBody>
      </p:sp>
      <p:sp>
        <p:nvSpPr>
          <p:cNvPr id="120" name="hbar"/>
          <p:cNvSpPr txBox="1"/>
          <p:nvPr/>
        </p:nvSpPr>
        <p:spPr>
          <a:xfrm>
            <a:off x="914400" y="2006600"/>
            <a:ext cx="10337800" cy="431800"/>
          </a:xfrm>
          <a:prstGeom prst="rect">
            <a:avLst/>
          </a:prstGeom>
          <a:solidFill>
            <a:srgbClr val="0C1323"/>
          </a:solidFill>
          <a:ln>
            <a:noFill/>
          </a:ln>
        </p:spPr>
        <p:txBody>
          <a:bodyPr lIns="990600" tIns="0" rIns="203200" bIns="0" anchor="ctr"/>
          <a:lstStyle/>
          <a:p>
            <a:pPr algn="r"/>
            <a:r>
              <a:rPr lang="ko-KR" sz="1200" dirty="0">
                <a:solidFill>
                  <a:srgbClr val="BFD2EC"/>
                </a:solidFill>
                <a:latin typeface="JetBrains Mono"/>
                <a:ea typeface="JetBrains Mono"/>
              </a:rPr>
              <a:t>prompt.txt · 복사해서 그대로 사용</a:t>
            </a:r>
          </a:p>
        </p:txBody>
      </p:sp>
      <p:sp>
        <p:nvSpPr>
          <p:cNvPr id="121" name="dot0"/>
          <p:cNvSpPr/>
          <p:nvPr/>
        </p:nvSpPr>
        <p:spPr>
          <a:xfrm>
            <a:off x="1117600" y="2159000"/>
            <a:ext cx="127000" cy="127000"/>
          </a:xfrm>
          <a:prstGeom prst="ellipse">
            <a:avLst/>
          </a:prstGeom>
          <a:solidFill>
            <a:srgbClr val="E8A3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2" name="dot1"/>
          <p:cNvSpPr/>
          <p:nvPr/>
        </p:nvSpPr>
        <p:spPr>
          <a:xfrm>
            <a:off x="1320800" y="2159000"/>
            <a:ext cx="127000" cy="127000"/>
          </a:xfrm>
          <a:prstGeom prst="ellipse">
            <a:avLst/>
          </a:prstGeom>
          <a:solidFill>
            <a:srgbClr val="6E8FB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3" name="dot2"/>
          <p:cNvSpPr/>
          <p:nvPr/>
        </p:nvSpPr>
        <p:spPr>
          <a:xfrm>
            <a:off x="1524000" y="2159000"/>
            <a:ext cx="127000" cy="127000"/>
          </a:xfrm>
          <a:prstGeom prst="ellipse">
            <a:avLst/>
          </a:prstGeom>
          <a:solidFill>
            <a:srgbClr val="415F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4" name="cap"/>
          <p:cNvSpPr txBox="1"/>
          <p:nvPr/>
        </p:nvSpPr>
        <p:spPr>
          <a:xfrm>
            <a:off x="914400" y="1600200"/>
            <a:ext cx="10337800" cy="3302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r>
              <a:rPr lang="ko-KR" sz="1300" b="1" dirty="0">
                <a:solidFill>
                  <a:srgbClr val="C77F1A"/>
                </a:solidFill>
                <a:latin typeface="JetBrains Mono"/>
                <a:ea typeface="JetBrains Mono"/>
              </a:rPr>
              <a:t>TIP — </a:t>
            </a:r>
            <a:r>
              <a:rPr lang="ko-KR" sz="1300" dirty="0">
                <a:solidFill>
                  <a:srgbClr val="576176"/>
                </a:solidFill>
                <a:latin typeface="Pretendard"/>
                <a:ea typeface="Pretendard"/>
              </a:rPr>
              <a:t>“업무:” 한 줄만 내 상황으로 바꾸면 단계별 절차 초안이 나옵니다.</a:t>
            </a:r>
          </a:p>
        </p:txBody>
      </p:sp>
    </p:spTree>
    <p:extLst>
      <p:ext uri="{BB962C8B-B14F-4D97-AF65-F5344CB8AC3E}">
        <p14:creationId xmlns:p14="http://schemas.microsoft.com/office/powerpoint/2010/main" val="36984568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좋은예 VS 나쁜예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비교 — 자동화 도입, 어떻게 시작할까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778000"/>
            <a:ext cx="5029200" cy="3810000"/>
          </a:xfrm>
          <a:prstGeom prst="rect">
            <a:avLst/>
          </a:prstGeom>
          <a:solidFill>
            <a:srgbClr val="FB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320040" rIns="320040" rtlCol="0" anchor="t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248400" y="1778000"/>
            <a:ext cx="5029200" cy="3810000"/>
          </a:xfrm>
          <a:prstGeom prst="rect">
            <a:avLst/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320040" rIns="320040" rtlCol="0" anchor="t"/>
          <a:lstStyle/>
          <a:p>
            <a:endParaRPr/>
          </a:p>
        </p:txBody>
      </p:sp>
      <p:sp>
        <p:nvSpPr>
          <p:cNvPr id="120" name="t121"/>
          <p:cNvSpPr txBox="1"/>
          <p:nvPr/>
        </p:nvSpPr>
        <p:spPr>
          <a:xfrm>
            <a:off x="1676400" y="19812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r>
              <a:rPr lang="ko-KR" sz="1700" b="1" dirty="0">
                <a:solidFill>
                  <a:srgbClr val="A63333"/>
                </a:solidFill>
                <a:latin typeface="Noto Serif KR"/>
                <a:ea typeface="Noto Serif KR"/>
              </a:rPr>
              <a:t>이렇게 하면 실패</a:t>
            </a:r>
          </a:p>
        </p:txBody>
      </p:sp>
      <p:sp>
        <p:nvSpPr>
          <p:cNvPr id="121" name="t122"/>
          <p:cNvSpPr txBox="1"/>
          <p:nvPr/>
        </p:nvSpPr>
        <p:spPr>
          <a:xfrm>
            <a:off x="7010400" y="19812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r>
              <a:rPr lang="ko-KR" sz="1700" b="1" dirty="0">
                <a:solidFill>
                  <a:srgbClr val="2C6B44"/>
                </a:solidFill>
                <a:latin typeface="Noto Serif KR"/>
                <a:ea typeface="Noto Serif KR"/>
              </a:rPr>
              <a:t>이렇게 시작하자</a:t>
            </a:r>
          </a:p>
        </p:txBody>
      </p:sp>
      <p:sp>
        <p:nvSpPr>
          <p:cNvPr id="122" name="r123"/>
          <p:cNvSpPr/>
          <p:nvPr/>
        </p:nvSpPr>
        <p:spPr>
          <a:xfrm>
            <a:off x="1193800" y="2565400"/>
            <a:ext cx="4470400" cy="25400"/>
          </a:xfrm>
          <a:prstGeom prst="rect">
            <a:avLst/>
          </a:prstGeom>
          <a:solidFill>
            <a:srgbClr val="E3C5C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3" name="r124"/>
          <p:cNvSpPr/>
          <p:nvPr/>
        </p:nvSpPr>
        <p:spPr>
          <a:xfrm>
            <a:off x="6527800" y="2565400"/>
            <a:ext cx="4470400" cy="25400"/>
          </a:xfrm>
          <a:prstGeom prst="rect">
            <a:avLst/>
          </a:prstGeom>
          <a:solidFill>
            <a:srgbClr val="C4DEC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4" name="t125"/>
          <p:cNvSpPr txBox="1"/>
          <p:nvPr/>
        </p:nvSpPr>
        <p:spPr>
          <a:xfrm>
            <a:off x="1193800" y="2794000"/>
            <a:ext cx="4470400" cy="1905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285750" indent="-28575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A63333"/>
                </a:solidFill>
                <a:latin typeface="Pretendard"/>
                <a:ea typeface="Pretendard"/>
              </a:rPr>
              <a:t>✕  </a:t>
            </a:r>
            <a:r>
              <a:rPr lang="ko-KR" sz="1500" dirty="0">
                <a:solidFill>
                  <a:srgbClr val="14213D"/>
                </a:solidFill>
                <a:latin typeface="Pretendard"/>
                <a:ea typeface="Pretendard"/>
              </a:rPr>
              <a:t>“모든 홍보 업무를 한 번에 자동화”</a:t>
            </a:r>
          </a:p>
          <a:p>
            <a:pPr marL="285750" indent="-28575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A63333"/>
                </a:solidFill>
                <a:latin typeface="Pretendard"/>
                <a:ea typeface="Pretendard"/>
              </a:rPr>
              <a:t>✕  </a:t>
            </a:r>
            <a:r>
              <a:rPr lang="ko-KR" sz="1500" dirty="0">
                <a:solidFill>
                  <a:srgbClr val="14213D"/>
                </a:solidFill>
                <a:latin typeface="Pretendard"/>
                <a:ea typeface="Pretendard"/>
              </a:rPr>
              <a:t>검수 지점 없이 AI가 바로 발행</a:t>
            </a:r>
          </a:p>
          <a:p>
            <a:pPr marL="285750" indent="-28575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A63333"/>
                </a:solidFill>
                <a:latin typeface="Pretendard"/>
                <a:ea typeface="Pretendard"/>
              </a:rPr>
              <a:t>✕  </a:t>
            </a:r>
            <a:r>
              <a:rPr lang="ko-KR" sz="1500" dirty="0">
                <a:solidFill>
                  <a:srgbClr val="14213D"/>
                </a:solidFill>
                <a:latin typeface="Pretendard"/>
                <a:ea typeface="Pretendard"/>
              </a:rPr>
              <a:t>효과 측정 없이 막연히 “편해졌다”</a:t>
            </a:r>
          </a:p>
        </p:txBody>
      </p:sp>
      <p:sp>
        <p:nvSpPr>
          <p:cNvPr id="125" name="t126"/>
          <p:cNvSpPr txBox="1"/>
          <p:nvPr/>
        </p:nvSpPr>
        <p:spPr>
          <a:xfrm>
            <a:off x="6527800" y="2794000"/>
            <a:ext cx="4470400" cy="1905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285750" indent="-28575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2C6B44"/>
                </a:solidFill>
                <a:latin typeface="Pretendard"/>
                <a:ea typeface="Pretendard"/>
              </a:rPr>
              <a:t>✓  </a:t>
            </a:r>
            <a:r>
              <a:rPr lang="ko-KR" sz="1500" dirty="0">
                <a:solidFill>
                  <a:srgbClr val="14213D"/>
                </a:solidFill>
                <a:latin typeface="Pretendard"/>
                <a:ea typeface="Pretendard"/>
              </a:rPr>
              <a:t>반복 5점짜리 업무 1개부터 (스몰 윈)</a:t>
            </a:r>
          </a:p>
          <a:p>
            <a:pPr marL="285750" indent="-28575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2C6B44"/>
                </a:solidFill>
                <a:latin typeface="Pretendard"/>
                <a:ea typeface="Pretendard"/>
              </a:rPr>
              <a:t>✓  </a:t>
            </a:r>
            <a:r>
              <a:rPr lang="ko-KR" sz="1500" dirty="0">
                <a:solidFill>
                  <a:srgbClr val="14213D"/>
                </a:solidFill>
                <a:latin typeface="Pretendard"/>
                <a:ea typeface="Pretendard"/>
              </a:rPr>
              <a:t>단계마다 사람 검수 게이트 배치</a:t>
            </a:r>
          </a:p>
          <a:p>
            <a:pPr marL="285750" indent="-28575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2C6B44"/>
                </a:solidFill>
                <a:latin typeface="Pretendard"/>
                <a:ea typeface="Pretendard"/>
              </a:rPr>
              <a:t>✓  </a:t>
            </a:r>
            <a:r>
              <a:rPr lang="ko-KR" sz="1500" dirty="0">
                <a:solidFill>
                  <a:srgbClr val="14213D"/>
                </a:solidFill>
                <a:latin typeface="Pretendard"/>
                <a:ea typeface="Pretendard"/>
              </a:rPr>
              <a:t>절감시간을 숫자로 기록 (주 3h→1h)</a:t>
            </a:r>
          </a:p>
        </p:txBody>
      </p:sp>
      <p:sp>
        <p:nvSpPr>
          <p:cNvPr id="126" name="t127"/>
          <p:cNvSpPr txBox="1"/>
          <p:nvPr/>
        </p:nvSpPr>
        <p:spPr>
          <a:xfrm>
            <a:off x="1193800" y="4978400"/>
            <a:ext cx="44704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r>
              <a:rPr lang="ko-KR" sz="1350" b="1" i="1" dirty="0">
                <a:solidFill>
                  <a:srgbClr val="A63333"/>
                </a:solidFill>
                <a:latin typeface="Pretendard"/>
                <a:ea typeface="Pretendard"/>
              </a:rPr>
              <a:t>→ 통제 불가 · 환각 사고 · ROI 불명</a:t>
            </a:r>
          </a:p>
        </p:txBody>
      </p:sp>
      <p:sp>
        <p:nvSpPr>
          <p:cNvPr id="127" name="t128"/>
          <p:cNvSpPr txBox="1"/>
          <p:nvPr/>
        </p:nvSpPr>
        <p:spPr>
          <a:xfrm>
            <a:off x="6527800" y="4978400"/>
            <a:ext cx="44704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r>
              <a:rPr lang="ko-KR" sz="1350" b="1" i="1" dirty="0">
                <a:solidFill>
                  <a:srgbClr val="2C6B44"/>
                </a:solidFill>
                <a:latin typeface="Pretendard"/>
                <a:ea typeface="Pretendard"/>
              </a:rPr>
              <a:t>→ 측정 가능한 성과 + 신뢰 축적</a:t>
            </a:r>
          </a:p>
        </p:txBody>
      </p:sp>
      <p:sp>
        <p:nvSpPr>
          <p:cNvPr id="128" name="r129"/>
          <p:cNvSpPr/>
          <p:nvPr/>
        </p:nvSpPr>
        <p:spPr>
          <a:xfrm>
            <a:off x="914400" y="5765800"/>
            <a:ext cx="10363200" cy="609600"/>
          </a:xfrm>
          <a:prstGeom prst="roundRect">
            <a:avLst>
              <a:gd name="adj" fmla="val 16000"/>
            </a:avLst>
          </a:prstGeom>
          <a:solidFill>
            <a:srgbClr val="1421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9" name="t130"/>
          <p:cNvSpPr txBox="1"/>
          <p:nvPr/>
        </p:nvSpPr>
        <p:spPr>
          <a:xfrm>
            <a:off x="1219200" y="5765800"/>
            <a:ext cx="9753600" cy="6096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ko-KR" sz="1450" b="1" dirty="0">
                <a:solidFill>
                  <a:srgbClr val="E8A33D"/>
                </a:solidFill>
                <a:latin typeface="Pretendard"/>
                <a:ea typeface="Pretendard"/>
              </a:rPr>
              <a:t>핵심 원칙  </a:t>
            </a:r>
            <a:r>
              <a:rPr lang="ko-KR" sz="1450" dirty="0">
                <a:solidFill>
                  <a:srgbClr val="FFFFFF"/>
                </a:solidFill>
                <a:latin typeface="Pretendard"/>
                <a:ea typeface="Pretendard"/>
              </a:rPr>
              <a:t>스몰 윈 1개 × 단계별 사람 검수 게이트 × 절감시간 수치화</a:t>
            </a:r>
          </a:p>
        </p:txBody>
      </p:sp>
      <p:pic>
        <p:nvPicPr>
          <p:cNvPr id="130" name="Graphic 130" descr="실패 경고 아이콘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93800" y="1981200"/>
            <a:ext cx="381000" cy="381000"/>
          </a:xfrm>
          <a:prstGeom prst="rect">
            <a:avLst/>
          </a:prstGeom>
        </p:spPr>
      </p:pic>
      <p:pic>
        <p:nvPicPr>
          <p:cNvPr id="131" name="Graphic 131" descr="성공 체크 아이콘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27800" y="1981200"/>
            <a:ext cx="381000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1433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정리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중소기업 실무 적용 사례와 활용 포인트</a:t>
            </a:r>
          </a:p>
        </p:txBody>
      </p:sp>
      <p:sp>
        <p:nvSpPr>
          <p:cNvPr id="100" name="cardA"/>
          <p:cNvSpPr/>
          <p:nvPr/>
        </p:nvSpPr>
        <p:spPr>
          <a:xfrm>
            <a:off x="825500" y="1930400"/>
            <a:ext cx="10541000" cy="2489200"/>
          </a:xfrm>
          <a:prstGeom prst="roundRect">
            <a:avLst>
              <a:gd name="adj" fmla="val 4000"/>
            </a:avLst>
          </a:prstGeom>
          <a:solidFill>
            <a:srgbClr val="FBF3E3"/>
          </a:solidFill>
          <a:ln w="12700">
            <a:solidFill>
              <a:srgbClr val="EAC487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1" name="hA"/>
          <p:cNvSpPr txBox="1"/>
          <p:nvPr/>
        </p:nvSpPr>
        <p:spPr>
          <a:xfrm>
            <a:off x="1676400" y="2184400"/>
            <a:ext cx="5080000" cy="4064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r>
              <a:rPr lang="ko-KR" sz="1700" b="1" dirty="0">
                <a:solidFill>
                  <a:srgbClr val="B5781B"/>
                </a:solidFill>
                <a:latin typeface="Pretendard"/>
                <a:ea typeface="Pretendard"/>
              </a:rPr>
              <a:t>흔한 실수</a:t>
            </a:r>
          </a:p>
        </p:txBody>
      </p:sp>
      <p:sp>
        <p:nvSpPr>
          <p:cNvPr id="102" name="iA"/>
          <p:cNvSpPr txBox="1"/>
          <p:nvPr/>
        </p:nvSpPr>
        <p:spPr>
          <a:xfrm>
            <a:off x="1168400" y="2743200"/>
            <a:ext cx="9855200" cy="147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200025" indent="-200025">
              <a:lnSpc>
                <a:spcPct val="120000"/>
              </a:lnSpc>
              <a:spcAft>
                <a:spcPts val="700"/>
              </a:spcAft>
              <a:buFont typeface="Arial"/>
              <a:buChar char="•"/>
            </a:pPr>
            <a:r>
              <a:rPr lang="ko-KR" sz="1450" dirty="0">
                <a:solidFill>
                  <a:srgbClr val="14213D"/>
                </a:solidFill>
                <a:latin typeface="Pretendard"/>
                <a:ea typeface="Pretendard"/>
              </a:rPr>
              <a:t>검수 지점을 정하지 않으면 자동화가 “통제 불가”가 된다. 단계마다 사람 게이트를 둔다.</a:t>
            </a:r>
          </a:p>
          <a:p>
            <a:pPr marL="200025" indent="-200025">
              <a:lnSpc>
                <a:spcPct val="120000"/>
              </a:lnSpc>
              <a:spcAft>
                <a:spcPts val="700"/>
              </a:spcAft>
              <a:buFont typeface="Arial"/>
              <a:buChar char="•"/>
            </a:pPr>
            <a:r>
              <a:rPr lang="ko-KR" sz="1450" dirty="0">
                <a:solidFill>
                  <a:srgbClr val="14213D"/>
                </a:solidFill>
                <a:latin typeface="Pretendard"/>
                <a:ea typeface="Pretendard"/>
              </a:rPr>
              <a:t>절감 시간을 숫자로 남기지 않으면 도입 효과를 설득할 근거가 사라진다.</a:t>
            </a:r>
          </a:p>
        </p:txBody>
      </p:sp>
      <p:sp>
        <p:nvSpPr>
          <p:cNvPr id="103" name="cardB"/>
          <p:cNvSpPr/>
          <p:nvPr/>
        </p:nvSpPr>
        <p:spPr>
          <a:xfrm>
            <a:off x="825500" y="4724400"/>
            <a:ext cx="10541000" cy="1549400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B"/>
          <p:cNvSpPr txBox="1"/>
          <p:nvPr/>
        </p:nvSpPr>
        <p:spPr>
          <a:xfrm>
            <a:off x="1778000" y="4927600"/>
            <a:ext cx="9144000" cy="1143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spcAft>
                <a:spcPts val="300"/>
              </a:spcAft>
            </a:pPr>
            <a:r>
              <a:rPr lang="ko-KR" sz="1250" b="1" dirty="0">
                <a:solidFill>
                  <a:srgbClr val="E8A33D"/>
                </a:solidFill>
                <a:latin typeface="JetBrains Mono"/>
                <a:ea typeface="JetBrains Mono"/>
              </a:rPr>
              <a:t>이 세션의 결과물</a:t>
            </a:r>
          </a:p>
          <a:p>
            <a:pPr>
              <a:lnSpc>
                <a:spcPct val="118000"/>
              </a:lnSpc>
            </a:pPr>
            <a:r>
              <a:rPr lang="ko-KR" sz="1600" b="1" dirty="0">
                <a:solidFill>
                  <a:srgbClr val="FFFFFF"/>
                </a:solidFill>
                <a:latin typeface="Pretendard"/>
                <a:ea typeface="Pretendard"/>
              </a:rPr>
              <a:t>1순위 자동화 시나리오 1건 — 현재 절차 → AI 절차 → 검수 지점.</a:t>
            </a:r>
          </a:p>
        </p:txBody>
      </p:sp>
      <p:pic>
        <p:nvPicPr>
          <p:cNvPr id="105" name="Graphic 105" descr="흔한 실수 경고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400" y="2197100"/>
            <a:ext cx="381000" cy="381000"/>
          </a:xfrm>
          <a:prstGeom prst="rect">
            <a:avLst/>
          </a:prstGeom>
        </p:spPr>
      </p:pic>
      <p:pic>
        <p:nvPicPr>
          <p:cNvPr id="106" name="Graphic 106" descr="결과물 체크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8400" y="5308600"/>
            <a:ext cx="381000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39965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도구 가이드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이 모듈에서 쓰는 도구</a:t>
            </a:r>
          </a:p>
        </p:txBody>
      </p:sp>
      <p:sp>
        <p:nvSpPr>
          <p:cNvPr id="100" name="tc0"/>
          <p:cNvSpPr/>
          <p:nvPr/>
        </p:nvSpPr>
        <p:spPr>
          <a:xfrm>
            <a:off x="825500" y="1981200"/>
            <a:ext cx="5080000" cy="3149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E6F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1" name="ci0"/>
          <p:cNvSpPr/>
          <p:nvPr/>
        </p:nvSpPr>
        <p:spPr>
          <a:xfrm>
            <a:off x="1181100" y="2311400"/>
            <a:ext cx="660400" cy="660400"/>
          </a:xfrm>
          <a:prstGeom prst="ellipse">
            <a:avLst/>
          </a:prstGeom>
          <a:solidFill>
            <a:srgbClr val="E7EEF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nm0"/>
          <p:cNvSpPr txBox="1"/>
          <p:nvPr/>
        </p:nvSpPr>
        <p:spPr>
          <a:xfrm>
            <a:off x="1993900" y="2311400"/>
            <a:ext cx="3683000" cy="6604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r>
              <a:rPr lang="en-US" sz="2000" b="1" dirty="0">
                <a:solidFill>
                  <a:srgbClr val="14213D"/>
                </a:solidFill>
                <a:latin typeface="Noto Serif KR"/>
                <a:ea typeface="Noto Serif KR"/>
              </a:rPr>
              <a:t>ChatGPT</a:t>
            </a:r>
          </a:p>
        </p:txBody>
      </p:sp>
      <p:sp>
        <p:nvSpPr>
          <p:cNvPr id="103" name="ds0"/>
          <p:cNvSpPr txBox="1"/>
          <p:nvPr/>
        </p:nvSpPr>
        <p:spPr>
          <a:xfrm>
            <a:off x="1181100" y="3200400"/>
            <a:ext cx="4368800" cy="1092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24000"/>
              </a:lnSpc>
            </a:pPr>
            <a:r>
              <a:rPr lang="ko-KR" sz="1450" dirty="0">
                <a:solidFill>
                  <a:srgbClr val="576176"/>
                </a:solidFill>
                <a:latin typeface="Pretendard"/>
                <a:ea typeface="Pretendard"/>
              </a:rPr>
              <a:t>범용 초안 생성·요약·분류. 무료(GPT-4o mini 등)로 시작할 수 있고 표·분류 작업에 강하다.</a:t>
            </a:r>
          </a:p>
        </p:txBody>
      </p:sp>
      <p:sp>
        <p:nvSpPr>
          <p:cNvPr id="104" name="us0"/>
          <p:cNvSpPr txBox="1"/>
          <p:nvPr/>
        </p:nvSpPr>
        <p:spPr>
          <a:xfrm>
            <a:off x="1181100" y="4495800"/>
            <a:ext cx="4368800" cy="482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ko-KR" sz="1350" b="1" dirty="0">
                <a:solidFill>
                  <a:srgbClr val="B5781B"/>
                </a:solidFill>
                <a:latin typeface="Pretendard"/>
                <a:ea typeface="Pretendard"/>
              </a:rPr>
              <a:t>이럴 때 → 업무 진단표·카피 후보 대량 생성</a:t>
            </a:r>
          </a:p>
        </p:txBody>
      </p:sp>
      <p:sp>
        <p:nvSpPr>
          <p:cNvPr id="105" name="tc1"/>
          <p:cNvSpPr/>
          <p:nvPr/>
        </p:nvSpPr>
        <p:spPr>
          <a:xfrm>
            <a:off x="6286500" y="1981200"/>
            <a:ext cx="5080000" cy="3149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E6F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6" name="ci1"/>
          <p:cNvSpPr/>
          <p:nvPr/>
        </p:nvSpPr>
        <p:spPr>
          <a:xfrm>
            <a:off x="6642100" y="2311400"/>
            <a:ext cx="660400" cy="660400"/>
          </a:xfrm>
          <a:prstGeom prst="ellipse">
            <a:avLst/>
          </a:prstGeom>
          <a:solidFill>
            <a:srgbClr val="FBEFD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7" name="nm1"/>
          <p:cNvSpPr txBox="1"/>
          <p:nvPr/>
        </p:nvSpPr>
        <p:spPr>
          <a:xfrm>
            <a:off x="7454900" y="2311400"/>
            <a:ext cx="3683000" cy="6604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r>
              <a:rPr lang="en-US" sz="2000" b="1" dirty="0">
                <a:solidFill>
                  <a:srgbClr val="14213D"/>
                </a:solidFill>
                <a:latin typeface="Noto Serif KR"/>
                <a:ea typeface="Noto Serif KR"/>
              </a:rPr>
              <a:t>Claude</a:t>
            </a:r>
          </a:p>
        </p:txBody>
      </p:sp>
      <p:sp>
        <p:nvSpPr>
          <p:cNvPr id="108" name="ds1"/>
          <p:cNvSpPr txBox="1"/>
          <p:nvPr/>
        </p:nvSpPr>
        <p:spPr>
          <a:xfrm>
            <a:off x="6642100" y="3200400"/>
            <a:ext cx="4368800" cy="1092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24000"/>
              </a:lnSpc>
            </a:pPr>
            <a:r>
              <a:rPr lang="ko-KR" sz="1450" dirty="0">
                <a:solidFill>
                  <a:srgbClr val="576176"/>
                </a:solidFill>
                <a:latin typeface="Pretendard"/>
                <a:ea typeface="Pretendard"/>
              </a:rPr>
              <a:t>긴 문서 이해와 일관된 톤 유지에 강점. 구조가 중요한 글에 적합하다.</a:t>
            </a:r>
          </a:p>
        </p:txBody>
      </p:sp>
      <p:sp>
        <p:nvSpPr>
          <p:cNvPr id="109" name="us1"/>
          <p:cNvSpPr txBox="1"/>
          <p:nvPr/>
        </p:nvSpPr>
        <p:spPr>
          <a:xfrm>
            <a:off x="6642100" y="4495800"/>
            <a:ext cx="4368800" cy="482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ko-KR" sz="1350" b="1" dirty="0">
                <a:solidFill>
                  <a:srgbClr val="B5781B"/>
                </a:solidFill>
                <a:latin typeface="Pretendard"/>
                <a:ea typeface="Pretendard"/>
              </a:rPr>
              <a:t>이럴 때 → 보도자료·장문 콘텐츠·톤 통일</a:t>
            </a:r>
          </a:p>
        </p:txBody>
      </p:sp>
      <p:sp>
        <p:nvSpPr>
          <p:cNvPr id="110" name="strip"/>
          <p:cNvSpPr/>
          <p:nvPr/>
        </p:nvSpPr>
        <p:spPr>
          <a:xfrm>
            <a:off x="825500" y="5384800"/>
            <a:ext cx="10541000" cy="914400"/>
          </a:xfrm>
          <a:prstGeom prst="roundRect">
            <a:avLst>
              <a:gd name="adj" fmla="val 10000"/>
            </a:avLst>
          </a:prstGeom>
          <a:solidFill>
            <a:srgbClr val="DCE6F2"/>
          </a:solidFill>
          <a:ln>
            <a:noFill/>
          </a:ln>
        </p:spPr>
        <p:txBody>
          <a:bodyPr wrap="square" lIns="304800" tIns="0" rIns="304800" bIns="0" anchor="ctr"/>
          <a:lstStyle/>
          <a:p>
            <a:pPr>
              <a:lnSpc>
                <a:spcPct val="118000"/>
              </a:lnSpc>
            </a:pPr>
            <a:r>
              <a:rPr lang="ko-KR" sz="1450" b="1" dirty="0">
                <a:solidFill>
                  <a:srgbClr val="1D4E89"/>
                </a:solidFill>
                <a:latin typeface="Pretendard"/>
                <a:ea typeface="Pretendard"/>
              </a:rPr>
              <a:t>선택 기준  </a:t>
            </a:r>
            <a:r>
              <a:rPr lang="ko-KR" sz="1450" dirty="0">
                <a:solidFill>
                  <a:srgbClr val="14213D"/>
                </a:solidFill>
                <a:latin typeface="Pretendard"/>
                <a:ea typeface="Pretendard"/>
              </a:rPr>
              <a:t>분류·표 작업은 ChatGPT, 긴 글·톤 일관성은 Claude. 둘 다 무료로 시작해 비교해 보세요.</a:t>
            </a:r>
          </a:p>
        </p:txBody>
      </p:sp>
      <p:pic>
        <p:nvPicPr>
          <p:cNvPr id="111" name="Graphic 111" descr="ChatGPT 아이콘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82700" y="2413000"/>
            <a:ext cx="457200" cy="457200"/>
          </a:xfrm>
          <a:prstGeom prst="rect">
            <a:avLst/>
          </a:prstGeom>
        </p:spPr>
      </p:pic>
      <p:pic>
        <p:nvPicPr>
          <p:cNvPr id="112" name="Graphic 112" descr="Claude 아이콘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43700" y="2413000"/>
            <a:ext cx="4572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74890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CHECKLIST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모듈 체크리스트</a:t>
            </a:r>
          </a:p>
        </p:txBody>
      </p:sp>
      <p:sp>
        <p:nvSpPr>
          <p:cNvPr id="100" name="row0"/>
          <p:cNvSpPr/>
          <p:nvPr/>
        </p:nvSpPr>
        <p:spPr>
          <a:xfrm>
            <a:off x="825500" y="1930400"/>
            <a:ext cx="10541000" cy="1219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6F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1" name="cb0"/>
          <p:cNvSpPr txBox="1"/>
          <p:nvPr/>
        </p:nvSpPr>
        <p:spPr>
          <a:xfrm>
            <a:off x="1155700" y="2311400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FBEFD8"/>
          </a:solidFill>
          <a:ln w="19050">
            <a:solidFill>
              <a:srgbClr val="E8A33D"/>
            </a:solidFill>
          </a:ln>
        </p:spPr>
        <p:txBody>
          <a:bodyPr wrap="none" lIns="0" tIns="0" rIns="0" bIns="0" anchor="ctr"/>
          <a:lstStyle/>
          <a:p>
            <a:pPr algn="ctr"/>
            <a:r>
              <a:rPr lang="en-US" sz="1600" b="1" dirty="0">
                <a:solidFill>
                  <a:srgbClr val="B5781B"/>
                </a:solidFill>
                <a:latin typeface="Pretendard"/>
                <a:ea typeface="Pretendard"/>
              </a:rPr>
              <a:t>✓</a:t>
            </a:r>
          </a:p>
        </p:txBody>
      </p:sp>
      <p:sp>
        <p:nvSpPr>
          <p:cNvPr id="102" name="tx0"/>
          <p:cNvSpPr txBox="1"/>
          <p:nvPr/>
        </p:nvSpPr>
        <p:spPr>
          <a:xfrm>
            <a:off x="1943100" y="2133600"/>
            <a:ext cx="9144000" cy="812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spcAft>
                <a:spcPts val="300"/>
              </a:spcAft>
            </a:pPr>
            <a:r>
              <a:rPr lang="ko-KR" sz="1700" b="1" dirty="0">
                <a:solidFill>
                  <a:srgbClr val="14213D"/>
                </a:solidFill>
                <a:latin typeface="Pretendard"/>
                <a:ea typeface="Pretendard"/>
              </a:rPr>
              <a:t>내 홍보 업무를 입력 → 처리 → 출력으로 분해했다.</a:t>
            </a:r>
          </a:p>
          <a:p>
            <a:r>
              <a:rPr lang="ko-KR" sz="1350" dirty="0">
                <a:solidFill>
                  <a:srgbClr val="576176"/>
                </a:solidFill>
                <a:latin typeface="Pretendard"/>
                <a:ea typeface="Pretendard"/>
              </a:rPr>
              <a:t>각 단계를 표로 정리 — 어디가 반복인지 한눈에 보인다.</a:t>
            </a:r>
          </a:p>
        </p:txBody>
      </p:sp>
      <p:sp>
        <p:nvSpPr>
          <p:cNvPr id="103" name="row1"/>
          <p:cNvSpPr/>
          <p:nvPr/>
        </p:nvSpPr>
        <p:spPr>
          <a:xfrm>
            <a:off x="825500" y="3429000"/>
            <a:ext cx="10541000" cy="1219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6F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4" name="cb1"/>
          <p:cNvSpPr txBox="1"/>
          <p:nvPr/>
        </p:nvSpPr>
        <p:spPr>
          <a:xfrm>
            <a:off x="1155700" y="3810000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FBEFD8"/>
          </a:solidFill>
          <a:ln w="19050">
            <a:solidFill>
              <a:srgbClr val="E8A33D"/>
            </a:solidFill>
          </a:ln>
        </p:spPr>
        <p:txBody>
          <a:bodyPr wrap="none" lIns="0" tIns="0" rIns="0" bIns="0" anchor="ctr"/>
          <a:lstStyle/>
          <a:p>
            <a:pPr algn="ctr"/>
            <a:r>
              <a:rPr lang="en-US" sz="1600" b="1" dirty="0">
                <a:solidFill>
                  <a:srgbClr val="B5781B"/>
                </a:solidFill>
                <a:latin typeface="Pretendard"/>
                <a:ea typeface="Pretendard"/>
              </a:rPr>
              <a:t>✓</a:t>
            </a:r>
          </a:p>
        </p:txBody>
      </p:sp>
      <p:sp>
        <p:nvSpPr>
          <p:cNvPr id="105" name="tx1"/>
          <p:cNvSpPr txBox="1"/>
          <p:nvPr/>
        </p:nvSpPr>
        <p:spPr>
          <a:xfrm>
            <a:off x="1943100" y="3632200"/>
            <a:ext cx="9144000" cy="812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spcAft>
                <a:spcPts val="300"/>
              </a:spcAft>
            </a:pPr>
            <a:r>
              <a:rPr lang="ko-KR" sz="1700" b="1" dirty="0">
                <a:solidFill>
                  <a:srgbClr val="14213D"/>
                </a:solidFill>
                <a:latin typeface="Pretendard"/>
                <a:ea typeface="Pretendard"/>
              </a:rPr>
              <a:t>반복업무 진단표를 만들었다.</a:t>
            </a:r>
          </a:p>
          <a:p>
            <a:r>
              <a:rPr lang="ko-KR" sz="1350" dirty="0">
                <a:solidFill>
                  <a:srgbClr val="576176"/>
                </a:solidFill>
                <a:latin typeface="Pretendard"/>
                <a:ea typeface="Pretendard"/>
              </a:rPr>
              <a:t>반복성 · 자동화 적합도 · 추천 도구 · 예상 절감시간 컬럼 포함.</a:t>
            </a:r>
          </a:p>
        </p:txBody>
      </p:sp>
      <p:sp>
        <p:nvSpPr>
          <p:cNvPr id="106" name="row2"/>
          <p:cNvSpPr/>
          <p:nvPr/>
        </p:nvSpPr>
        <p:spPr>
          <a:xfrm>
            <a:off x="825500" y="4927600"/>
            <a:ext cx="10541000" cy="1219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6F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7" name="cb2"/>
          <p:cNvSpPr txBox="1"/>
          <p:nvPr/>
        </p:nvSpPr>
        <p:spPr>
          <a:xfrm>
            <a:off x="1155700" y="5308600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FBEFD8"/>
          </a:solidFill>
          <a:ln w="19050">
            <a:solidFill>
              <a:srgbClr val="E8A33D"/>
            </a:solidFill>
          </a:ln>
        </p:spPr>
        <p:txBody>
          <a:bodyPr wrap="none" lIns="0" tIns="0" rIns="0" bIns="0" anchor="ctr"/>
          <a:lstStyle/>
          <a:p>
            <a:pPr algn="ctr"/>
            <a:r>
              <a:rPr lang="en-US" sz="1600" b="1" dirty="0">
                <a:solidFill>
                  <a:srgbClr val="B5781B"/>
                </a:solidFill>
                <a:latin typeface="Pretendard"/>
                <a:ea typeface="Pretendard"/>
              </a:rPr>
              <a:t>✓</a:t>
            </a:r>
          </a:p>
        </p:txBody>
      </p:sp>
      <p:sp>
        <p:nvSpPr>
          <p:cNvPr id="108" name="tx2"/>
          <p:cNvSpPr txBox="1"/>
          <p:nvPr/>
        </p:nvSpPr>
        <p:spPr>
          <a:xfrm>
            <a:off x="1943100" y="5130800"/>
            <a:ext cx="9144000" cy="812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spcAft>
                <a:spcPts val="300"/>
              </a:spcAft>
            </a:pPr>
            <a:r>
              <a:rPr lang="ko-KR" sz="1700" b="1" dirty="0">
                <a:solidFill>
                  <a:srgbClr val="14213D"/>
                </a:solidFill>
                <a:latin typeface="Pretendard"/>
                <a:ea typeface="Pretendard"/>
              </a:rPr>
              <a:t>ROI 1순위 업무의 자동화 시나리오를 그렸다.</a:t>
            </a:r>
          </a:p>
          <a:p>
            <a:r>
              <a:rPr lang="ko-KR" sz="1350" dirty="0">
                <a:solidFill>
                  <a:srgbClr val="576176"/>
                </a:solidFill>
                <a:latin typeface="Pretendard"/>
                <a:ea typeface="Pretendard"/>
              </a:rPr>
              <a:t>현재 절차 → AI 절차 → 사람 검수 지점까지 표시.</a:t>
            </a:r>
          </a:p>
        </p:txBody>
      </p:sp>
    </p:spTree>
    <p:extLst>
      <p:ext uri="{BB962C8B-B14F-4D97-AF65-F5344CB8AC3E}">
        <p14:creationId xmlns:p14="http://schemas.microsoft.com/office/powerpoint/2010/main" val="14537072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1371600"/>
            <a:ext cx="822960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600200"/>
            <a:ext cx="10515600" cy="152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lang="ko-KR" sz="1400" dirty="0">
                <a:solidFill>
                  <a:srgbClr val="E8A33D"/>
                </a:solidFill>
                <a:latin typeface="JetBrains Mono"/>
                <a:ea typeface="JetBrains Mono"/>
              </a:rPr>
              <a:t>MISSION · 도장깨기</a:t>
            </a:r>
          </a:p>
          <a:p>
            <a:r>
              <a:rPr lang="ko-KR" sz="3200" b="1" dirty="0">
                <a:solidFill>
                  <a:srgbClr val="FFFFFF"/>
                </a:solidFill>
                <a:latin typeface="Noto Serif KR"/>
                <a:ea typeface="Noto Serif KR"/>
              </a:rPr>
              <a:t>미션 01 — 반복 업무 찾기</a:t>
            </a:r>
          </a:p>
        </p:txBody>
      </p:sp>
      <p:sp>
        <p:nvSpPr>
          <p:cNvPr id="120" name="task"/>
          <p:cNvSpPr/>
          <p:nvPr/>
        </p:nvSpPr>
        <p:spPr>
          <a:xfrm>
            <a:off x="825500" y="3378200"/>
            <a:ext cx="10515600" cy="1371600"/>
          </a:xfrm>
          <a:prstGeom prst="roundRect">
            <a:avLst>
              <a:gd name="adj" fmla="val 7000"/>
            </a:avLst>
          </a:prstGeom>
          <a:solidFill>
            <a:srgbClr val="303C54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1" name="stripe"/>
          <p:cNvSpPr/>
          <p:nvPr/>
        </p:nvSpPr>
        <p:spPr>
          <a:xfrm>
            <a:off x="1003300" y="3606800"/>
            <a:ext cx="63500" cy="914400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2" name="ic"/>
          <p:cNvSpPr/>
          <p:nvPr/>
        </p:nvSpPr>
        <p:spPr>
          <a:xfrm>
            <a:off x="1320800" y="3683000"/>
            <a:ext cx="762000" cy="762000"/>
          </a:xfrm>
          <a:prstGeom prst="ellipse">
            <a:avLst/>
          </a:prstGeom>
          <a:solidFill>
            <a:srgbClr val="E8A3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3" name="tt"/>
          <p:cNvSpPr txBox="1"/>
          <p:nvPr/>
        </p:nvSpPr>
        <p:spPr>
          <a:xfrm>
            <a:off x="2489200" y="3581400"/>
            <a:ext cx="8509000" cy="965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spcAft>
                <a:spcPts val="300"/>
              </a:spcAft>
            </a:pPr>
            <a:r>
              <a:rPr lang="ko-KR" sz="1250" b="1" dirty="0">
                <a:solidFill>
                  <a:srgbClr val="E8A33D"/>
                </a:solidFill>
                <a:latin typeface="JetBrains Mono"/>
                <a:ea typeface="JetBrains Mono"/>
              </a:rPr>
              <a:t>이번 미션</a:t>
            </a:r>
          </a:p>
          <a:p>
            <a:pPr>
              <a:lnSpc>
                <a:spcPct val="116000"/>
              </a:lnSpc>
            </a:pPr>
            <a:r>
              <a:rPr lang="ko-KR" sz="1750" b="1" dirty="0">
                <a:solidFill>
                  <a:srgbClr val="FFFFFF"/>
                </a:solidFill>
                <a:latin typeface="Pretendard"/>
                <a:ea typeface="Pretendard"/>
              </a:rPr>
              <a:t>“매번 똑같이 하는 일”부터 — 자동화 1순위를 고른다.</a:t>
            </a:r>
          </a:p>
        </p:txBody>
      </p:sp>
      <p:sp>
        <p:nvSpPr>
          <p:cNvPr id="124" name="nextf"/>
          <p:cNvSpPr txBox="1"/>
          <p:nvPr/>
        </p:nvSpPr>
        <p:spPr>
          <a:xfrm>
            <a:off x="825500" y="5207000"/>
            <a:ext cx="10515600" cy="5080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r>
              <a:rPr lang="ko-KR" sz="1450" b="1" dirty="0">
                <a:solidFill>
                  <a:srgbClr val="E8A33D"/>
                </a:solidFill>
                <a:latin typeface="JetBrains Mono"/>
                <a:ea typeface="JetBrains Mono"/>
              </a:rPr>
              <a:t>▶  다음  </a:t>
            </a:r>
            <a:r>
              <a:rPr lang="ko-KR" sz="1700" b="1" dirty="0">
                <a:solidFill>
                  <a:srgbClr val="FFFFFF"/>
                </a:solidFill>
                <a:latin typeface="Pretendard"/>
                <a:ea typeface="Pretendard"/>
              </a:rPr>
              <a:t>M2. AI 기반 홍보 기획 실무</a:t>
            </a:r>
          </a:p>
        </p:txBody>
      </p:sp>
      <p:pic>
        <p:nvPicPr>
          <p:cNvPr id="125" name="Graphic 125" descr="미션 전구 아이콘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73200" y="3835400"/>
            <a:ext cx="4572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50234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D4E8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1554480"/>
            <a:ext cx="1005840" cy="128016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400" b="0">
                <a:solidFill>
                  <a:srgbClr val="BFD2EC"/>
                </a:solidFill>
                <a:latin typeface="JetBrains Mono"/>
                <a:ea typeface="JetBrains Mono"/>
                <a:cs typeface="JetBrains Mono"/>
              </a:rPr>
              <a:t>MODULE 2 · 2교시 · 10:00–10:50</a:t>
            </a:r>
          </a:p>
          <a:p>
            <a:pPr algn="l">
              <a:lnSpc>
                <a:spcPct val="110000"/>
              </a:lnSpc>
              <a:spcBef>
                <a:spcPts val="600"/>
              </a:spcBef>
              <a:spcAft>
                <a:spcPts val="1200"/>
              </a:spcAft>
            </a:pPr>
            <a:r>
              <a:rPr sz="38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M2. AI 기반 홍보 기획 실무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DBE6F6"/>
                </a:solidFill>
                <a:latin typeface="Pretendard"/>
                <a:ea typeface="Pretendard"/>
                <a:cs typeface="Pretendard"/>
              </a:rPr>
              <a:t>홍보 목적→타깃→핵심 메시지를 구조화하고, 결과 품질을 끌어올리는 프롬프트 작성 원리(역할·맥락·작업·형식 + few-shot)를 체득한다.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555958"/>
            <a:ext cx="10515600" cy="1707682"/>
          </a:xfrm>
          <a:prstGeom prst="rect">
            <a:avLst/>
          </a:prstGeom>
          <a:solidFill>
            <a:srgbClr val="184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20040" tIns="164592" rtlCol="0" anchor="ctr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300"/>
              </a:spcAft>
            </a:pPr>
            <a:r>
              <a:rPr sz="1400" b="1">
                <a:solidFill>
                  <a:srgbClr val="9FC0E6"/>
                </a:solidFill>
                <a:latin typeface="JetBrains Mono"/>
                <a:ea typeface="JetBrains Mono"/>
                <a:cs typeface="JetBrains Mono"/>
              </a:rPr>
              <a:t>이전  </a:t>
            </a:r>
            <a:r>
              <a:rPr sz="14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M1에서 자동화할 업무를 골랐다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300"/>
              </a:spcAft>
            </a:pPr>
            <a:r>
              <a:rPr sz="14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이번  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Night Off의 핵심 메시지와 좋은 프롬프트의 골격을 만든다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400"/>
              </a:spcAft>
            </a:pPr>
            <a:r>
              <a:rPr sz="1400" b="1">
                <a:solidFill>
                  <a:srgbClr val="9FC0E6"/>
                </a:solidFill>
                <a:latin typeface="JetBrains Mono"/>
                <a:ea typeface="JetBrains Mono"/>
                <a:cs typeface="JetBrains Mono"/>
              </a:rPr>
              <a:t>다음  </a:t>
            </a:r>
            <a:r>
              <a:rPr sz="14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 메시지를 실제 글로 → M3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학습 목표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이 모듈에서 할 수 있게 되는 것</a:t>
            </a: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A208712D-11EF-014B-9C2B-558CE55A694F}"/>
              </a:ext>
            </a:extLst>
          </p:cNvPr>
          <p:cNvSpPr/>
          <p:nvPr/>
        </p:nvSpPr>
        <p:spPr>
          <a:xfrm>
            <a:off x="825500" y="1905000"/>
            <a:ext cx="5080000" cy="4381500"/>
          </a:xfrm>
          <a:prstGeom prst="roundRect">
            <a:avLst/>
          </a:prstGeom>
          <a:solidFill>
            <a:srgbClr val="F1F5FA"/>
          </a:solidFill>
          <a:ln w="12700" cap="flat" cmpd="sng" algn="ctr">
            <a:solidFill>
              <a:srgbClr val="D9E2E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3F6400-350F-9344-A864-A39F106F0F9B}"/>
              </a:ext>
            </a:extLst>
          </p:cNvPr>
          <p:cNvSpPr txBox="1"/>
          <p:nvPr/>
        </p:nvSpPr>
        <p:spPr>
          <a:xfrm>
            <a:off x="1257300" y="2235200"/>
            <a:ext cx="1524000" cy="711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altLang="ko-KR" sz="4000" b="1">
                <a:solidFill>
                  <a:srgbClr val="E8A33D"/>
                </a:solidFill>
                <a:latin typeface="JetBrains Mono"/>
              </a:rPr>
              <a:t>01</a:t>
            </a:r>
            <a:endParaRPr lang="ko-KR" altLang="en-US" sz="4000" b="1">
              <a:solidFill>
                <a:srgbClr val="E8A33D"/>
              </a:solidFill>
              <a:latin typeface="JetBrains Mono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E80D89B-0D9E-F44B-BDDA-123AE040CC97}"/>
              </a:ext>
            </a:extLst>
          </p:cNvPr>
          <p:cNvSpPr/>
          <p:nvPr/>
        </p:nvSpPr>
        <p:spPr>
          <a:xfrm>
            <a:off x="1282700" y="3124200"/>
            <a:ext cx="685800" cy="50800"/>
          </a:xfrm>
          <a:prstGeom prst="rect">
            <a:avLst/>
          </a:prstGeom>
          <a:solidFill>
            <a:srgbClr val="E8A33D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72AA4A-7F74-A146-A3C3-970EC830D1CB}"/>
              </a:ext>
            </a:extLst>
          </p:cNvPr>
          <p:cNvSpPr txBox="1"/>
          <p:nvPr/>
        </p:nvSpPr>
        <p:spPr>
          <a:xfrm>
            <a:off x="1282700" y="3479800"/>
            <a:ext cx="4165600" cy="1651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ko-KR" altLang="en-US" sz="2000" b="1">
                <a:solidFill>
                  <a:srgbClr val="14213D"/>
                </a:solidFill>
                <a:latin typeface="Pretendard"/>
              </a:rPr>
              <a:t>홍보 목적</a:t>
            </a:r>
            <a:r>
              <a:rPr lang="en-US" altLang="ko-KR" sz="2000" b="1">
                <a:solidFill>
                  <a:srgbClr val="14213D"/>
                </a:solidFill>
                <a:latin typeface="Pretendard"/>
              </a:rPr>
              <a:t>·</a:t>
            </a:r>
            <a:r>
              <a:rPr lang="ko-KR" altLang="en-US" sz="2000" b="1">
                <a:solidFill>
                  <a:srgbClr val="14213D"/>
                </a:solidFill>
                <a:latin typeface="Pretendard"/>
              </a:rPr>
              <a:t>타깃</a:t>
            </a:r>
            <a:r>
              <a:rPr lang="en-US" altLang="ko-KR" sz="2000" b="1">
                <a:solidFill>
                  <a:srgbClr val="14213D"/>
                </a:solidFill>
                <a:latin typeface="Pretendard"/>
              </a:rPr>
              <a:t>·</a:t>
            </a:r>
            <a:r>
              <a:rPr lang="ko-KR" altLang="en-US" sz="2000" b="1">
                <a:solidFill>
                  <a:srgbClr val="14213D"/>
                </a:solidFill>
                <a:latin typeface="Pretendard"/>
              </a:rPr>
              <a:t>핵심 메시지를 한 문장으로 정리할 수 있다</a:t>
            </a:r>
            <a:r>
              <a:rPr lang="en-US" altLang="ko-KR" sz="2000" b="1">
                <a:solidFill>
                  <a:srgbClr val="14213D"/>
                </a:solidFill>
                <a:latin typeface="Pretendard"/>
              </a:rPr>
              <a:t>.</a:t>
            </a:r>
            <a:endParaRPr lang="ko-KR" altLang="en-US" sz="2000" b="1">
              <a:solidFill>
                <a:srgbClr val="14213D"/>
              </a:solidFill>
              <a:latin typeface="Pretendard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CB212D-F1E6-8C48-83AE-1DEF6EE7E092}"/>
              </a:ext>
            </a:extLst>
          </p:cNvPr>
          <p:cNvSpPr txBox="1"/>
          <p:nvPr/>
        </p:nvSpPr>
        <p:spPr>
          <a:xfrm>
            <a:off x="1282700" y="5613400"/>
            <a:ext cx="4165600" cy="381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ko-KR" altLang="en-US" sz="1400">
                <a:solidFill>
                  <a:srgbClr val="1D4E89"/>
                </a:solidFill>
                <a:latin typeface="JetBrains Mono"/>
              </a:rPr>
              <a:t>→ 메시지 하우스로 홍보의 뼈대 세우기</a:t>
            </a: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7A1E68FD-7D8E-E042-B227-91B4F00A37EC}"/>
              </a:ext>
            </a:extLst>
          </p:cNvPr>
          <p:cNvSpPr/>
          <p:nvPr/>
        </p:nvSpPr>
        <p:spPr>
          <a:xfrm>
            <a:off x="6286500" y="1905000"/>
            <a:ext cx="5080000" cy="4381500"/>
          </a:xfrm>
          <a:prstGeom prst="roundRect">
            <a:avLst/>
          </a:prstGeom>
          <a:solidFill>
            <a:srgbClr val="F1F5FA"/>
          </a:solidFill>
          <a:ln w="12700" cap="flat" cmpd="sng" algn="ctr">
            <a:solidFill>
              <a:srgbClr val="D9E2E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E3830CB-DEFB-6940-9D44-E6459E7D2F09}"/>
              </a:ext>
            </a:extLst>
          </p:cNvPr>
          <p:cNvSpPr txBox="1"/>
          <p:nvPr/>
        </p:nvSpPr>
        <p:spPr>
          <a:xfrm>
            <a:off x="6718300" y="2235200"/>
            <a:ext cx="1524000" cy="711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altLang="ko-KR" sz="4000" b="1">
                <a:solidFill>
                  <a:srgbClr val="E8A33D"/>
                </a:solidFill>
                <a:latin typeface="JetBrains Mono"/>
              </a:rPr>
              <a:t>02</a:t>
            </a:r>
            <a:endParaRPr lang="ko-KR" altLang="en-US" sz="4000" b="1">
              <a:solidFill>
                <a:srgbClr val="E8A33D"/>
              </a:solidFill>
              <a:latin typeface="JetBrains Mono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7099229-E247-EE4B-AC03-52944D88B55A}"/>
              </a:ext>
            </a:extLst>
          </p:cNvPr>
          <p:cNvSpPr/>
          <p:nvPr/>
        </p:nvSpPr>
        <p:spPr>
          <a:xfrm>
            <a:off x="6743700" y="3124200"/>
            <a:ext cx="685800" cy="50800"/>
          </a:xfrm>
          <a:prstGeom prst="rect">
            <a:avLst/>
          </a:prstGeom>
          <a:solidFill>
            <a:srgbClr val="E8A33D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D05C83D-ABA1-8349-BFA7-795DD2E4D8E9}"/>
              </a:ext>
            </a:extLst>
          </p:cNvPr>
          <p:cNvSpPr txBox="1"/>
          <p:nvPr/>
        </p:nvSpPr>
        <p:spPr>
          <a:xfrm>
            <a:off x="6743700" y="3479800"/>
            <a:ext cx="4165600" cy="1651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ko-KR" altLang="en-US" sz="2000" b="1">
                <a:solidFill>
                  <a:srgbClr val="14213D"/>
                </a:solidFill>
                <a:latin typeface="Pretendard"/>
              </a:rPr>
              <a:t>좋은 프롬프트의 구성 요소를 적용해 결과 품질을 높인다</a:t>
            </a:r>
            <a:r>
              <a:rPr lang="en-US" altLang="ko-KR" sz="2000" b="1">
                <a:solidFill>
                  <a:srgbClr val="14213D"/>
                </a:solidFill>
                <a:latin typeface="Pretendard"/>
              </a:rPr>
              <a:t>.</a:t>
            </a:r>
            <a:endParaRPr lang="ko-KR" altLang="en-US" sz="2000" b="1">
              <a:solidFill>
                <a:srgbClr val="14213D"/>
              </a:solidFill>
              <a:latin typeface="Pretendard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57A636-4C75-5C41-B2D6-73E5F888967F}"/>
              </a:ext>
            </a:extLst>
          </p:cNvPr>
          <p:cNvSpPr txBox="1"/>
          <p:nvPr/>
        </p:nvSpPr>
        <p:spPr>
          <a:xfrm>
            <a:off x="6743700" y="5613400"/>
            <a:ext cx="4165600" cy="381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altLang="ko-KR" sz="1400">
                <a:solidFill>
                  <a:srgbClr val="1D4E89"/>
                </a:solidFill>
                <a:latin typeface="JetBrains Mono"/>
              </a:rPr>
              <a:t>→ R-C-T-F + Few-shot </a:t>
            </a:r>
            <a:r>
              <a:rPr lang="ko-KR" altLang="en-US" sz="1400">
                <a:solidFill>
                  <a:srgbClr val="1D4E89"/>
                </a:solidFill>
                <a:latin typeface="JetBrains Mono"/>
              </a:rPr>
              <a:t>적용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D4E8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FB77B01-1DAA-A041-B933-1EE494B935E1}"/>
              </a:ext>
            </a:extLst>
          </p:cNvPr>
          <p:cNvSpPr txBox="1"/>
          <p:nvPr/>
        </p:nvSpPr>
        <p:spPr>
          <a:xfrm>
            <a:off x="0" y="2133600"/>
            <a:ext cx="12192000" cy="304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altLang="ko-KR" sz="1600" b="1">
                <a:solidFill>
                  <a:srgbClr val="E8A33D"/>
                </a:solidFill>
                <a:latin typeface="JetBrains Mono"/>
              </a:rPr>
              <a:t>SESSION 1</a:t>
            </a:r>
            <a:endParaRPr lang="ko-KR" altLang="en-US" sz="1600" b="1">
              <a:solidFill>
                <a:srgbClr val="E8A33D"/>
              </a:solidFill>
              <a:latin typeface="JetBrains Mono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591F4C-EBF1-C949-B691-323C30CAEA8C}"/>
              </a:ext>
            </a:extLst>
          </p:cNvPr>
          <p:cNvSpPr txBox="1"/>
          <p:nvPr/>
        </p:nvSpPr>
        <p:spPr>
          <a:xfrm>
            <a:off x="0" y="2540000"/>
            <a:ext cx="12192000" cy="660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ko-KR" altLang="en-US" sz="3200" b="1">
                <a:solidFill>
                  <a:srgbClr val="14213D"/>
                </a:solidFill>
                <a:latin typeface="Noto Serif KR"/>
              </a:rPr>
              <a:t>홍보 목적 → 타깃 → 핵심 메시지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6C87D5-6F43-AB4A-AE74-B5FBA63D90C5}"/>
              </a:ext>
            </a:extLst>
          </p:cNvPr>
          <p:cNvSpPr txBox="1"/>
          <p:nvPr/>
        </p:nvSpPr>
        <p:spPr>
          <a:xfrm>
            <a:off x="2286000" y="3327400"/>
            <a:ext cx="7620000" cy="609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ko-KR" altLang="en-US" sz="1600">
                <a:solidFill>
                  <a:srgbClr val="576176"/>
                </a:solidFill>
                <a:latin typeface="Pretendard"/>
              </a:rPr>
              <a:t>메시지 하우스</a:t>
            </a:r>
            <a:r>
              <a:rPr lang="en-US" altLang="ko-KR" sz="1600">
                <a:solidFill>
                  <a:srgbClr val="576176"/>
                </a:solidFill>
                <a:latin typeface="Pretendard"/>
              </a:rPr>
              <a:t>(</a:t>
            </a:r>
            <a:r>
              <a:rPr lang="ko-KR" altLang="en-US" sz="1600">
                <a:solidFill>
                  <a:srgbClr val="576176"/>
                </a:solidFill>
                <a:latin typeface="Pretendard"/>
              </a:rPr>
              <a:t>핵심 메시지 </a:t>
            </a:r>
            <a:r>
              <a:rPr lang="en-US" altLang="ko-KR" sz="1600">
                <a:solidFill>
                  <a:srgbClr val="576176"/>
                </a:solidFill>
                <a:latin typeface="Pretendard"/>
              </a:rPr>
              <a:t>1 + </a:t>
            </a:r>
            <a:r>
              <a:rPr lang="ko-KR" altLang="en-US" sz="1600">
                <a:solidFill>
                  <a:srgbClr val="576176"/>
                </a:solidFill>
                <a:latin typeface="Pretendard"/>
              </a:rPr>
              <a:t>근거 </a:t>
            </a:r>
            <a:r>
              <a:rPr lang="en-US" altLang="ko-KR" sz="1600">
                <a:solidFill>
                  <a:srgbClr val="576176"/>
                </a:solidFill>
                <a:latin typeface="Pretendard"/>
              </a:rPr>
              <a:t>3) </a:t>
            </a:r>
            <a:r>
              <a:rPr lang="ko-KR" altLang="en-US" sz="1600">
                <a:solidFill>
                  <a:srgbClr val="576176"/>
                </a:solidFill>
                <a:latin typeface="Pretendard"/>
              </a:rPr>
              <a:t>구조로 홍보의 뼈대를 먼저 세운다</a:t>
            </a:r>
            <a:r>
              <a:rPr lang="en-US" altLang="ko-KR" sz="1600">
                <a:solidFill>
                  <a:srgbClr val="576176"/>
                </a:solidFill>
                <a:latin typeface="Pretendard"/>
              </a:rPr>
              <a:t>.</a:t>
            </a:r>
            <a:endParaRPr lang="ko-KR" altLang="en-US" sz="1600">
              <a:solidFill>
                <a:srgbClr val="576176"/>
              </a:solidFill>
              <a:latin typeface="Pretendard"/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4F126847-5B67-564F-95EC-214040F5A60C}"/>
              </a:ext>
            </a:extLst>
          </p:cNvPr>
          <p:cNvSpPr/>
          <p:nvPr/>
        </p:nvSpPr>
        <p:spPr>
          <a:xfrm>
            <a:off x="1778000" y="4419600"/>
            <a:ext cx="2540000" cy="838200"/>
          </a:xfrm>
          <a:prstGeom prst="roundRect">
            <a:avLst/>
          </a:prstGeom>
          <a:solidFill>
            <a:srgbClr val="14213D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ko-KR" altLang="en-US" sz="1600" b="1">
                <a:solidFill>
                  <a:srgbClr val="FFFFFF"/>
                </a:solidFill>
                <a:latin typeface="Pretendard"/>
              </a:rPr>
              <a:t>홍보 목적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6A4058-6434-874E-9CEB-E5C4CA21B400}"/>
              </a:ext>
            </a:extLst>
          </p:cNvPr>
          <p:cNvSpPr txBox="1"/>
          <p:nvPr/>
        </p:nvSpPr>
        <p:spPr>
          <a:xfrm>
            <a:off x="4318000" y="4419600"/>
            <a:ext cx="508000" cy="838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ko-KR" altLang="en-US" sz="2400" b="1">
                <a:solidFill>
                  <a:srgbClr val="576176"/>
                </a:solidFill>
                <a:latin typeface="Pretendard"/>
              </a:rPr>
              <a:t>→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589E3894-49C3-2D44-B633-FF36E163FFED}"/>
              </a:ext>
            </a:extLst>
          </p:cNvPr>
          <p:cNvSpPr/>
          <p:nvPr/>
        </p:nvSpPr>
        <p:spPr>
          <a:xfrm>
            <a:off x="4826000" y="4419600"/>
            <a:ext cx="2540000" cy="838200"/>
          </a:xfrm>
          <a:prstGeom prst="roundRect">
            <a:avLst/>
          </a:prstGeom>
          <a:solidFill>
            <a:srgbClr val="1D4E89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ko-KR" altLang="en-US" sz="1600" b="1">
                <a:solidFill>
                  <a:srgbClr val="FFFFFF"/>
                </a:solidFill>
                <a:latin typeface="Pretendard"/>
              </a:rPr>
              <a:t>타깃 고객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831809-12B1-6C40-8753-54B2B95D7C61}"/>
              </a:ext>
            </a:extLst>
          </p:cNvPr>
          <p:cNvSpPr txBox="1"/>
          <p:nvPr/>
        </p:nvSpPr>
        <p:spPr>
          <a:xfrm>
            <a:off x="7366000" y="4419600"/>
            <a:ext cx="508000" cy="838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ko-KR" altLang="en-US" sz="2400" b="1">
                <a:solidFill>
                  <a:srgbClr val="576176"/>
                </a:solidFill>
                <a:latin typeface="Pretendard"/>
              </a:rPr>
              <a:t>→</a:t>
            </a: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3CB1126C-EFBB-E94A-B3D1-4A9061CDEEBC}"/>
              </a:ext>
            </a:extLst>
          </p:cNvPr>
          <p:cNvSpPr/>
          <p:nvPr/>
        </p:nvSpPr>
        <p:spPr>
          <a:xfrm>
            <a:off x="7874000" y="4419600"/>
            <a:ext cx="2540000" cy="838200"/>
          </a:xfrm>
          <a:prstGeom prst="roundRect">
            <a:avLst/>
          </a:prstGeom>
          <a:solidFill>
            <a:srgbClr val="E8A33D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ko-KR" altLang="en-US" sz="1600" b="1">
                <a:solidFill>
                  <a:srgbClr val="14213D"/>
                </a:solidFill>
                <a:latin typeface="Pretendard"/>
              </a:rPr>
              <a:t>핵심 메시지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핵심 개념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핵심 개념</a:t>
            </a: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9AF88D31-5C39-9C4D-B2D5-254C5B356DF2}"/>
              </a:ext>
            </a:extLst>
          </p:cNvPr>
          <p:cNvSpPr/>
          <p:nvPr/>
        </p:nvSpPr>
        <p:spPr>
          <a:xfrm>
            <a:off x="825500" y="1905000"/>
            <a:ext cx="3340100" cy="4381500"/>
          </a:xfrm>
          <a:prstGeom prst="roundRect">
            <a:avLst/>
          </a:prstGeom>
          <a:solidFill>
            <a:srgbClr val="F1F5FA"/>
          </a:solidFill>
          <a:ln w="12700" cap="flat" cmpd="sng" algn="ctr">
            <a:solidFill>
              <a:srgbClr val="D9E2E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3D182BD-F62D-BC43-98C0-8A839AD593C8}"/>
              </a:ext>
            </a:extLst>
          </p:cNvPr>
          <p:cNvSpPr/>
          <p:nvPr/>
        </p:nvSpPr>
        <p:spPr>
          <a:xfrm>
            <a:off x="825500" y="1905000"/>
            <a:ext cx="3340100" cy="88900"/>
          </a:xfrm>
          <a:prstGeom prst="rect">
            <a:avLst/>
          </a:prstGeom>
          <a:solidFill>
            <a:srgbClr val="14213D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F7523E22-3BDB-EC48-8BC6-64B868F11A30}"/>
              </a:ext>
            </a:extLst>
          </p:cNvPr>
          <p:cNvSpPr/>
          <p:nvPr/>
        </p:nvSpPr>
        <p:spPr>
          <a:xfrm>
            <a:off x="1130300" y="2286000"/>
            <a:ext cx="508000" cy="508000"/>
          </a:xfrm>
          <a:prstGeom prst="ellipse">
            <a:avLst/>
          </a:prstGeom>
          <a:solidFill>
            <a:srgbClr val="14213D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R" sz="1600" b="1">
                <a:solidFill>
                  <a:srgbClr val="FFFFFF"/>
                </a:solidFill>
                <a:latin typeface="JetBrains Mono"/>
              </a:rPr>
              <a:t>1</a:t>
            </a:r>
            <a:endParaRPr lang="ko-KR" altLang="en-US" sz="1600" b="1">
              <a:solidFill>
                <a:srgbClr val="FFFFFF"/>
              </a:solidFill>
              <a:latin typeface="JetBrains Mono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9866BD-7877-2B42-9C9F-4D5A9A3EB088}"/>
              </a:ext>
            </a:extLst>
          </p:cNvPr>
          <p:cNvSpPr txBox="1"/>
          <p:nvPr/>
        </p:nvSpPr>
        <p:spPr>
          <a:xfrm>
            <a:off x="1790700" y="2387600"/>
            <a:ext cx="21971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ko-KR" altLang="en-US" sz="1700" b="1">
                <a:solidFill>
                  <a:srgbClr val="14213D"/>
                </a:solidFill>
                <a:latin typeface="Pretendard"/>
              </a:rPr>
              <a:t>타깃 페르소나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E3189BB-372F-AB4A-B4BA-AD66FA3B5895}"/>
              </a:ext>
            </a:extLst>
          </p:cNvPr>
          <p:cNvSpPr/>
          <p:nvPr/>
        </p:nvSpPr>
        <p:spPr>
          <a:xfrm>
            <a:off x="1130300" y="3048000"/>
            <a:ext cx="2730500" cy="12700"/>
          </a:xfrm>
          <a:prstGeom prst="rect">
            <a:avLst/>
          </a:prstGeom>
          <a:solidFill>
            <a:srgbClr val="D9E2E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82E9CA-D44E-CB47-979C-91758994B299}"/>
              </a:ext>
            </a:extLst>
          </p:cNvPr>
          <p:cNvSpPr txBox="1"/>
          <p:nvPr/>
        </p:nvSpPr>
        <p:spPr>
          <a:xfrm>
            <a:off x="1130300" y="3251200"/>
            <a:ext cx="2730500" cy="2032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ko-KR" altLang="en-US" sz="1400">
                <a:solidFill>
                  <a:srgbClr val="576176"/>
                </a:solidFill>
                <a:latin typeface="Pretendard"/>
              </a:rPr>
              <a:t>연령</a:t>
            </a:r>
            <a:r>
              <a:rPr lang="en-US" altLang="ko-KR" sz="1400">
                <a:solidFill>
                  <a:srgbClr val="576176"/>
                </a:solidFill>
                <a:latin typeface="Pretendard"/>
              </a:rPr>
              <a:t>·</a:t>
            </a:r>
            <a:r>
              <a:rPr lang="ko-KR" altLang="en-US" sz="1400">
                <a:solidFill>
                  <a:srgbClr val="576176"/>
                </a:solidFill>
                <a:latin typeface="Pretendard"/>
              </a:rPr>
              <a:t>역할</a:t>
            </a:r>
            <a:r>
              <a:rPr lang="en-US" altLang="ko-KR" sz="1400">
                <a:solidFill>
                  <a:srgbClr val="576176"/>
                </a:solidFill>
                <a:latin typeface="Pretendard"/>
              </a:rPr>
              <a:t>·</a:t>
            </a:r>
            <a:r>
              <a:rPr lang="ko-KR" altLang="en-US" sz="1400">
                <a:solidFill>
                  <a:srgbClr val="576176"/>
                </a:solidFill>
                <a:latin typeface="Pretendard"/>
              </a:rPr>
              <a:t>고민</a:t>
            </a:r>
            <a:r>
              <a:rPr lang="en-US" altLang="ko-KR" sz="1400">
                <a:solidFill>
                  <a:srgbClr val="576176"/>
                </a:solidFill>
                <a:latin typeface="Pretendard"/>
              </a:rPr>
              <a:t>·</a:t>
            </a:r>
            <a:r>
              <a:rPr lang="ko-KR" altLang="en-US" sz="1400">
                <a:solidFill>
                  <a:srgbClr val="576176"/>
                </a:solidFill>
                <a:latin typeface="Pretendard"/>
              </a:rPr>
              <a:t>구매동기를 한 인물로 구체화한다</a:t>
            </a:r>
            <a:r>
              <a:rPr lang="en-US" altLang="ko-KR" sz="1400">
                <a:solidFill>
                  <a:srgbClr val="576176"/>
                </a:solidFill>
                <a:latin typeface="Pretendard"/>
              </a:rPr>
              <a:t>. </a:t>
            </a:r>
            <a:r>
              <a:rPr lang="ko-KR" altLang="en-US" sz="1400">
                <a:solidFill>
                  <a:srgbClr val="576176"/>
                </a:solidFill>
                <a:latin typeface="Pretendard"/>
              </a:rPr>
              <a:t>구체적일수록 카피가 날카로워진다</a:t>
            </a:r>
            <a:r>
              <a:rPr lang="en-US" altLang="ko-KR" sz="1400">
                <a:solidFill>
                  <a:srgbClr val="576176"/>
                </a:solidFill>
                <a:latin typeface="Pretendard"/>
              </a:rPr>
              <a:t>.</a:t>
            </a:r>
            <a:endParaRPr lang="ko-KR" altLang="en-US" sz="1400">
              <a:solidFill>
                <a:srgbClr val="576176"/>
              </a:solidFill>
              <a:latin typeface="Pretendard"/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5C42A97D-C862-4447-BA09-0AA3D0AE61B1}"/>
              </a:ext>
            </a:extLst>
          </p:cNvPr>
          <p:cNvSpPr/>
          <p:nvPr/>
        </p:nvSpPr>
        <p:spPr>
          <a:xfrm>
            <a:off x="1130300" y="5562600"/>
            <a:ext cx="2730500" cy="457200"/>
          </a:xfrm>
          <a:prstGeom prst="roundRect">
            <a:avLst/>
          </a:prstGeom>
          <a:solidFill>
            <a:srgbClr val="E7ECF4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EA6578D-99AE-C844-BDBE-A462100D8699}"/>
              </a:ext>
            </a:extLst>
          </p:cNvPr>
          <p:cNvSpPr txBox="1"/>
          <p:nvPr/>
        </p:nvSpPr>
        <p:spPr>
          <a:xfrm>
            <a:off x="1130300" y="5562600"/>
            <a:ext cx="2730500" cy="457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ko-KR" altLang="en-US" sz="1350" b="1">
                <a:solidFill>
                  <a:srgbClr val="14213D"/>
                </a:solidFill>
                <a:latin typeface="Pretendard"/>
              </a:rPr>
              <a:t>한 사람으로 좁히기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A552CFE5-2E7A-8543-BBF4-2DF3BE0A2E64}"/>
              </a:ext>
            </a:extLst>
          </p:cNvPr>
          <p:cNvSpPr/>
          <p:nvPr/>
        </p:nvSpPr>
        <p:spPr>
          <a:xfrm>
            <a:off x="4419600" y="1905000"/>
            <a:ext cx="3340100" cy="4381500"/>
          </a:xfrm>
          <a:prstGeom prst="roundRect">
            <a:avLst/>
          </a:prstGeom>
          <a:solidFill>
            <a:srgbClr val="F1F5FA"/>
          </a:solidFill>
          <a:ln w="12700" cap="flat" cmpd="sng" algn="ctr">
            <a:solidFill>
              <a:srgbClr val="D9E2E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3D50C89-3578-E14A-BF4D-FA1E51D21B99}"/>
              </a:ext>
            </a:extLst>
          </p:cNvPr>
          <p:cNvSpPr/>
          <p:nvPr/>
        </p:nvSpPr>
        <p:spPr>
          <a:xfrm>
            <a:off x="4419600" y="1905000"/>
            <a:ext cx="3340100" cy="88900"/>
          </a:xfrm>
          <a:prstGeom prst="rect">
            <a:avLst/>
          </a:prstGeom>
          <a:solidFill>
            <a:srgbClr val="1D4E89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1770731B-2DFD-A044-86D4-FED9C4986CAB}"/>
              </a:ext>
            </a:extLst>
          </p:cNvPr>
          <p:cNvSpPr/>
          <p:nvPr/>
        </p:nvSpPr>
        <p:spPr>
          <a:xfrm>
            <a:off x="4724400" y="2286000"/>
            <a:ext cx="508000" cy="508000"/>
          </a:xfrm>
          <a:prstGeom prst="ellipse">
            <a:avLst/>
          </a:prstGeom>
          <a:solidFill>
            <a:srgbClr val="14213D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R" sz="1600" b="1">
                <a:solidFill>
                  <a:srgbClr val="FFFFFF"/>
                </a:solidFill>
                <a:latin typeface="JetBrains Mono"/>
              </a:rPr>
              <a:t>2</a:t>
            </a:r>
            <a:endParaRPr lang="ko-KR" altLang="en-US" sz="1600" b="1">
              <a:solidFill>
                <a:srgbClr val="FFFFFF"/>
              </a:solidFill>
              <a:latin typeface="JetBrains Mono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E246534-9A82-6242-9EF6-21B080929F1C}"/>
              </a:ext>
            </a:extLst>
          </p:cNvPr>
          <p:cNvSpPr txBox="1"/>
          <p:nvPr/>
        </p:nvSpPr>
        <p:spPr>
          <a:xfrm>
            <a:off x="5384800" y="2387600"/>
            <a:ext cx="21971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ko-KR" altLang="en-US" sz="1700" b="1">
                <a:solidFill>
                  <a:srgbClr val="14213D"/>
                </a:solidFill>
                <a:latin typeface="Pretendard"/>
              </a:rPr>
              <a:t>메시지 하우스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5C24D14D-9CA0-8A4B-B2EE-78B5454277D5}"/>
              </a:ext>
            </a:extLst>
          </p:cNvPr>
          <p:cNvSpPr/>
          <p:nvPr/>
        </p:nvSpPr>
        <p:spPr>
          <a:xfrm>
            <a:off x="4724400" y="3048000"/>
            <a:ext cx="2730500" cy="12700"/>
          </a:xfrm>
          <a:prstGeom prst="rect">
            <a:avLst/>
          </a:prstGeom>
          <a:solidFill>
            <a:srgbClr val="D9E2E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D15BB4B-90BE-8C4D-866E-B3DF975DF83A}"/>
              </a:ext>
            </a:extLst>
          </p:cNvPr>
          <p:cNvSpPr txBox="1"/>
          <p:nvPr/>
        </p:nvSpPr>
        <p:spPr>
          <a:xfrm>
            <a:off x="4724400" y="3251200"/>
            <a:ext cx="2730500" cy="2032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ko-KR" altLang="en-US" sz="1400">
                <a:solidFill>
                  <a:srgbClr val="576176"/>
                </a:solidFill>
                <a:latin typeface="Pretendard"/>
              </a:rPr>
              <a:t>지붕</a:t>
            </a:r>
            <a:r>
              <a:rPr lang="en-US" altLang="ko-KR" sz="1400">
                <a:solidFill>
                  <a:srgbClr val="576176"/>
                </a:solidFill>
                <a:latin typeface="Pretendard"/>
              </a:rPr>
              <a:t>(</a:t>
            </a:r>
            <a:r>
              <a:rPr lang="ko-KR" altLang="en-US" sz="1400">
                <a:solidFill>
                  <a:srgbClr val="576176"/>
                </a:solidFill>
                <a:latin typeface="Pretendard"/>
              </a:rPr>
              <a:t>핵심 메시지 </a:t>
            </a:r>
            <a:r>
              <a:rPr lang="en-US" altLang="ko-KR" sz="1400">
                <a:solidFill>
                  <a:srgbClr val="576176"/>
                </a:solidFill>
                <a:latin typeface="Pretendard"/>
              </a:rPr>
              <a:t>1</a:t>
            </a:r>
            <a:r>
              <a:rPr lang="ko-KR" altLang="en-US" sz="1400">
                <a:solidFill>
                  <a:srgbClr val="576176"/>
                </a:solidFill>
                <a:latin typeface="Pretendard"/>
              </a:rPr>
              <a:t>문장</a:t>
            </a:r>
            <a:r>
              <a:rPr lang="en-US" altLang="ko-KR" sz="1400">
                <a:solidFill>
                  <a:srgbClr val="576176"/>
                </a:solidFill>
                <a:latin typeface="Pretendard"/>
              </a:rPr>
              <a:t>) + </a:t>
            </a:r>
            <a:r>
              <a:rPr lang="ko-KR" altLang="en-US" sz="1400">
                <a:solidFill>
                  <a:srgbClr val="576176"/>
                </a:solidFill>
                <a:latin typeface="Pretendard"/>
              </a:rPr>
              <a:t>기둥</a:t>
            </a:r>
            <a:r>
              <a:rPr lang="en-US" altLang="ko-KR" sz="1400">
                <a:solidFill>
                  <a:srgbClr val="576176"/>
                </a:solidFill>
                <a:latin typeface="Pretendard"/>
              </a:rPr>
              <a:t>(</a:t>
            </a:r>
            <a:r>
              <a:rPr lang="ko-KR" altLang="en-US" sz="1400">
                <a:solidFill>
                  <a:srgbClr val="576176"/>
                </a:solidFill>
                <a:latin typeface="Pretendard"/>
              </a:rPr>
              <a:t>근거 </a:t>
            </a:r>
            <a:r>
              <a:rPr lang="en-US" altLang="ko-KR" sz="1400">
                <a:solidFill>
                  <a:srgbClr val="576176"/>
                </a:solidFill>
                <a:latin typeface="Pretendard"/>
              </a:rPr>
              <a:t>3</a:t>
            </a:r>
            <a:r>
              <a:rPr lang="ko-KR" altLang="en-US" sz="1400">
                <a:solidFill>
                  <a:srgbClr val="576176"/>
                </a:solidFill>
                <a:latin typeface="Pretendard"/>
              </a:rPr>
              <a:t>개</a:t>
            </a:r>
            <a:r>
              <a:rPr lang="en-US" altLang="ko-KR" sz="1400">
                <a:solidFill>
                  <a:srgbClr val="576176"/>
                </a:solidFill>
                <a:latin typeface="Pretendard"/>
              </a:rPr>
              <a:t>). </a:t>
            </a:r>
            <a:r>
              <a:rPr lang="ko-KR" altLang="en-US" sz="1400">
                <a:solidFill>
                  <a:srgbClr val="576176"/>
                </a:solidFill>
                <a:latin typeface="Pretendard"/>
              </a:rPr>
              <a:t>모든 콘텐츠가 이 한 채에서 파생된다</a:t>
            </a:r>
            <a:r>
              <a:rPr lang="en-US" altLang="ko-KR" sz="1400">
                <a:solidFill>
                  <a:srgbClr val="576176"/>
                </a:solidFill>
                <a:latin typeface="Pretendard"/>
              </a:rPr>
              <a:t>.</a:t>
            </a:r>
            <a:endParaRPr lang="ko-KR" altLang="en-US" sz="1400">
              <a:solidFill>
                <a:srgbClr val="576176"/>
              </a:solidFill>
              <a:latin typeface="Pretendard"/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8F5BDFA4-5AB7-BD47-8974-FA5BE21DAA1F}"/>
              </a:ext>
            </a:extLst>
          </p:cNvPr>
          <p:cNvSpPr/>
          <p:nvPr/>
        </p:nvSpPr>
        <p:spPr>
          <a:xfrm>
            <a:off x="4724400" y="5562600"/>
            <a:ext cx="2730500" cy="457200"/>
          </a:xfrm>
          <a:prstGeom prst="roundRect">
            <a:avLst/>
          </a:prstGeom>
          <a:solidFill>
            <a:srgbClr val="E4ECF6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99959A3-06A6-A049-8CEB-2343B86E3787}"/>
              </a:ext>
            </a:extLst>
          </p:cNvPr>
          <p:cNvSpPr txBox="1"/>
          <p:nvPr/>
        </p:nvSpPr>
        <p:spPr>
          <a:xfrm>
            <a:off x="4724400" y="5562600"/>
            <a:ext cx="2730500" cy="457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ko-KR" altLang="en-US" sz="1350" b="1">
                <a:solidFill>
                  <a:srgbClr val="1D4E89"/>
                </a:solidFill>
                <a:latin typeface="Pretendard"/>
              </a:rPr>
              <a:t>지붕 </a:t>
            </a:r>
            <a:r>
              <a:rPr lang="en-US" altLang="ko-KR" sz="1350" b="1">
                <a:solidFill>
                  <a:srgbClr val="1D4E89"/>
                </a:solidFill>
                <a:latin typeface="Pretendard"/>
              </a:rPr>
              <a:t>1 · </a:t>
            </a:r>
            <a:r>
              <a:rPr lang="ko-KR" altLang="en-US" sz="1350" b="1">
                <a:solidFill>
                  <a:srgbClr val="1D4E89"/>
                </a:solidFill>
                <a:latin typeface="Pretendard"/>
              </a:rPr>
              <a:t>기둥 </a:t>
            </a:r>
            <a:r>
              <a:rPr lang="en-US" altLang="ko-KR" sz="1350" b="1">
                <a:solidFill>
                  <a:srgbClr val="1D4E89"/>
                </a:solidFill>
                <a:latin typeface="Pretendard"/>
              </a:rPr>
              <a:t>3</a:t>
            </a:r>
            <a:endParaRPr lang="ko-KR" altLang="en-US" sz="1350" b="1">
              <a:solidFill>
                <a:srgbClr val="1D4E89"/>
              </a:solidFill>
              <a:latin typeface="Pretendard"/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E02778AD-B32F-424C-B783-8867DDF79897}"/>
              </a:ext>
            </a:extLst>
          </p:cNvPr>
          <p:cNvSpPr/>
          <p:nvPr/>
        </p:nvSpPr>
        <p:spPr>
          <a:xfrm>
            <a:off x="8013700" y="1905000"/>
            <a:ext cx="3340100" cy="4381500"/>
          </a:xfrm>
          <a:prstGeom prst="roundRect">
            <a:avLst/>
          </a:prstGeom>
          <a:solidFill>
            <a:srgbClr val="F1F5FA"/>
          </a:solidFill>
          <a:ln w="12700" cap="flat" cmpd="sng" algn="ctr">
            <a:solidFill>
              <a:srgbClr val="D9E2E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967ABEE7-4571-2445-87F0-0D0199B1566E}"/>
              </a:ext>
            </a:extLst>
          </p:cNvPr>
          <p:cNvSpPr/>
          <p:nvPr/>
        </p:nvSpPr>
        <p:spPr>
          <a:xfrm>
            <a:off x="8013700" y="1905000"/>
            <a:ext cx="3340100" cy="88900"/>
          </a:xfrm>
          <a:prstGeom prst="rect">
            <a:avLst/>
          </a:prstGeom>
          <a:solidFill>
            <a:srgbClr val="E8A33D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950BA16C-36A3-1B47-A89F-6415E2522176}"/>
              </a:ext>
            </a:extLst>
          </p:cNvPr>
          <p:cNvSpPr/>
          <p:nvPr/>
        </p:nvSpPr>
        <p:spPr>
          <a:xfrm>
            <a:off x="8318500" y="2286000"/>
            <a:ext cx="508000" cy="508000"/>
          </a:xfrm>
          <a:prstGeom prst="ellipse">
            <a:avLst/>
          </a:prstGeom>
          <a:solidFill>
            <a:srgbClr val="14213D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R" sz="1600" b="1">
                <a:solidFill>
                  <a:srgbClr val="FFFFFF"/>
                </a:solidFill>
                <a:latin typeface="JetBrains Mono"/>
              </a:rPr>
              <a:t>3</a:t>
            </a:r>
            <a:endParaRPr lang="ko-KR" altLang="en-US" sz="1600" b="1">
              <a:solidFill>
                <a:srgbClr val="FFFFFF"/>
              </a:solidFill>
              <a:latin typeface="JetBrains Mono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5E71E80-5D26-C34B-A661-344C02D5E1A8}"/>
              </a:ext>
            </a:extLst>
          </p:cNvPr>
          <p:cNvSpPr txBox="1"/>
          <p:nvPr/>
        </p:nvSpPr>
        <p:spPr>
          <a:xfrm>
            <a:off x="8978900" y="2387600"/>
            <a:ext cx="21971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ko-KR" altLang="en-US" sz="1700" b="1">
                <a:solidFill>
                  <a:srgbClr val="14213D"/>
                </a:solidFill>
                <a:latin typeface="Pretendard"/>
              </a:rPr>
              <a:t>가치 제안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D16C456D-6F91-7443-912D-B8089796CE52}"/>
              </a:ext>
            </a:extLst>
          </p:cNvPr>
          <p:cNvSpPr/>
          <p:nvPr/>
        </p:nvSpPr>
        <p:spPr>
          <a:xfrm>
            <a:off x="8318500" y="3048000"/>
            <a:ext cx="2730500" cy="12700"/>
          </a:xfrm>
          <a:prstGeom prst="rect">
            <a:avLst/>
          </a:prstGeom>
          <a:solidFill>
            <a:srgbClr val="D9E2E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1C5DA35-41E4-6141-B870-5B3C22275315}"/>
              </a:ext>
            </a:extLst>
          </p:cNvPr>
          <p:cNvSpPr txBox="1"/>
          <p:nvPr/>
        </p:nvSpPr>
        <p:spPr>
          <a:xfrm>
            <a:off x="8318500" y="3251200"/>
            <a:ext cx="2730500" cy="2032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ko-KR" altLang="en-US" sz="1400">
                <a:solidFill>
                  <a:srgbClr val="576176"/>
                </a:solidFill>
                <a:latin typeface="Pretendard"/>
              </a:rPr>
              <a:t>‘누구에게</a:t>
            </a:r>
            <a:r>
              <a:rPr lang="en-US" altLang="ko-KR" sz="1400">
                <a:solidFill>
                  <a:srgbClr val="576176"/>
                </a:solidFill>
                <a:latin typeface="Pretendard"/>
              </a:rPr>
              <a:t>·</a:t>
            </a:r>
            <a:r>
              <a:rPr lang="ko-KR" altLang="en-US" sz="1400">
                <a:solidFill>
                  <a:srgbClr val="576176"/>
                </a:solidFill>
                <a:latin typeface="Pretendard"/>
              </a:rPr>
              <a:t>어떤 문제를</a:t>
            </a:r>
            <a:r>
              <a:rPr lang="en-US" altLang="ko-KR" sz="1400">
                <a:solidFill>
                  <a:srgbClr val="576176"/>
                </a:solidFill>
                <a:latin typeface="Pretendard"/>
              </a:rPr>
              <a:t>·</a:t>
            </a:r>
            <a:r>
              <a:rPr lang="ko-KR" altLang="en-US" sz="1400">
                <a:solidFill>
                  <a:srgbClr val="576176"/>
                </a:solidFill>
                <a:latin typeface="Pretendard"/>
              </a:rPr>
              <a:t>어떻게 해결’ 한 문장</a:t>
            </a:r>
            <a:r>
              <a:rPr lang="en-US" altLang="ko-KR" sz="1400">
                <a:solidFill>
                  <a:srgbClr val="576176"/>
                </a:solidFill>
                <a:latin typeface="Pretendard"/>
              </a:rPr>
              <a:t>. </a:t>
            </a:r>
            <a:r>
              <a:rPr lang="ko-KR" altLang="en-US" sz="1400">
                <a:solidFill>
                  <a:srgbClr val="576176"/>
                </a:solidFill>
                <a:latin typeface="Pretendard"/>
              </a:rPr>
              <a:t>기능이 아니라 고객이 얻는 결과로 말한다</a:t>
            </a:r>
            <a:r>
              <a:rPr lang="en-US" altLang="ko-KR" sz="1400">
                <a:solidFill>
                  <a:srgbClr val="576176"/>
                </a:solidFill>
                <a:latin typeface="Pretendard"/>
              </a:rPr>
              <a:t>.</a:t>
            </a:r>
            <a:endParaRPr lang="ko-KR" altLang="en-US" sz="1400">
              <a:solidFill>
                <a:srgbClr val="576176"/>
              </a:solidFill>
              <a:latin typeface="Pretendard"/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B8C18D01-A8CD-4F47-A5EF-499DB577A5FA}"/>
              </a:ext>
            </a:extLst>
          </p:cNvPr>
          <p:cNvSpPr/>
          <p:nvPr/>
        </p:nvSpPr>
        <p:spPr>
          <a:xfrm>
            <a:off x="8318500" y="5562600"/>
            <a:ext cx="2730500" cy="457200"/>
          </a:xfrm>
          <a:prstGeom prst="roundRect">
            <a:avLst/>
          </a:prstGeom>
          <a:solidFill>
            <a:srgbClr val="FBEF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94F3C99-B4F4-B849-A8B1-54D430AD8881}"/>
              </a:ext>
            </a:extLst>
          </p:cNvPr>
          <p:cNvSpPr txBox="1"/>
          <p:nvPr/>
        </p:nvSpPr>
        <p:spPr>
          <a:xfrm>
            <a:off x="8318500" y="5562600"/>
            <a:ext cx="2730500" cy="457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ko-KR" altLang="en-US" sz="1350" b="1">
                <a:solidFill>
                  <a:srgbClr val="9A6B12"/>
                </a:solidFill>
                <a:latin typeface="Pretendard"/>
              </a:rPr>
              <a:t>결과로 말하기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개념 깊이 보기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개념을 예시로 — 우리 케이스에 적용하면</a:t>
            </a: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BBD8F524-24CD-FD48-B1A2-56568F170452}"/>
              </a:ext>
            </a:extLst>
          </p:cNvPr>
          <p:cNvSpPr/>
          <p:nvPr/>
        </p:nvSpPr>
        <p:spPr>
          <a:xfrm>
            <a:off x="825500" y="1905000"/>
            <a:ext cx="5461000" cy="4381500"/>
          </a:xfrm>
          <a:prstGeom prst="roundRect">
            <a:avLst>
              <a:gd name="adj" fmla="val 8246"/>
            </a:avLst>
          </a:prstGeom>
          <a:solidFill>
            <a:srgbClr val="F1F5FA"/>
          </a:solidFill>
          <a:ln w="12700" cap="flat" cmpd="sng" algn="ctr">
            <a:solidFill>
              <a:srgbClr val="D9E2E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B5FBAF9-250E-0343-90CE-4CD998ADCAF0}"/>
              </a:ext>
            </a:extLst>
          </p:cNvPr>
          <p:cNvSpPr txBox="1"/>
          <p:nvPr/>
        </p:nvSpPr>
        <p:spPr>
          <a:xfrm>
            <a:off x="1181100" y="2159000"/>
            <a:ext cx="4749800" cy="355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ko-KR" altLang="en-US" b="1">
                <a:solidFill>
                  <a:srgbClr val="14213D"/>
                </a:solidFill>
                <a:latin typeface="Pretendard"/>
              </a:rPr>
              <a:t>타깃 페르소나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E56A7C-FF88-314C-A398-A6E2659D402C}"/>
              </a:ext>
            </a:extLst>
          </p:cNvPr>
          <p:cNvSpPr txBox="1"/>
          <p:nvPr/>
        </p:nvSpPr>
        <p:spPr>
          <a:xfrm>
            <a:off x="1181100" y="2540000"/>
            <a:ext cx="47498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ko-KR" altLang="en-US" sz="1250">
                <a:solidFill>
                  <a:srgbClr val="576176"/>
                </a:solidFill>
                <a:latin typeface="Pretendard"/>
              </a:rPr>
              <a:t>막연 → 구체로 좁히기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7608B8-5647-2C4A-98BA-B4C09B8B2208}"/>
              </a:ext>
            </a:extLst>
          </p:cNvPr>
          <p:cNvSpPr txBox="1"/>
          <p:nvPr/>
        </p:nvSpPr>
        <p:spPr>
          <a:xfrm>
            <a:off x="1181100" y="2946400"/>
            <a:ext cx="4749800" cy="228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altLang="ko-KR" sz="1100" b="1">
                <a:solidFill>
                  <a:srgbClr val="576176"/>
                </a:solidFill>
                <a:latin typeface="JetBrains Mono"/>
              </a:rPr>
              <a:t>BEFORE · </a:t>
            </a:r>
            <a:r>
              <a:rPr lang="ko-KR" altLang="en-US" sz="1100" b="1">
                <a:solidFill>
                  <a:srgbClr val="576176"/>
                </a:solidFill>
                <a:latin typeface="JetBrains Mono"/>
              </a:rPr>
              <a:t>막연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622FFD31-8E8B-5F4D-86D2-DC439372F655}"/>
              </a:ext>
            </a:extLst>
          </p:cNvPr>
          <p:cNvSpPr/>
          <p:nvPr/>
        </p:nvSpPr>
        <p:spPr>
          <a:xfrm>
            <a:off x="1181100" y="3200400"/>
            <a:ext cx="4749800" cy="533400"/>
          </a:xfrm>
          <a:prstGeom prst="roundRect">
            <a:avLst/>
          </a:prstGeom>
          <a:solidFill>
            <a:srgbClr val="ECEFF3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EF13210-2ED8-A84D-B231-AF80AC3FF4BA}"/>
              </a:ext>
            </a:extLst>
          </p:cNvPr>
          <p:cNvSpPr txBox="1"/>
          <p:nvPr/>
        </p:nvSpPr>
        <p:spPr>
          <a:xfrm>
            <a:off x="1181100" y="3200400"/>
            <a:ext cx="4749800" cy="533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ko-KR" altLang="en-US" sz="1500">
                <a:solidFill>
                  <a:srgbClr val="576176"/>
                </a:solidFill>
                <a:latin typeface="Pretendard"/>
              </a:rPr>
              <a:t>“</a:t>
            </a:r>
            <a:r>
              <a:rPr lang="en-US" altLang="ko-KR" sz="1500">
                <a:solidFill>
                  <a:srgbClr val="576176"/>
                </a:solidFill>
                <a:latin typeface="Pretendard"/>
              </a:rPr>
              <a:t>30</a:t>
            </a:r>
            <a:r>
              <a:rPr lang="ko-KR" altLang="en-US" sz="1500">
                <a:solidFill>
                  <a:srgbClr val="576176"/>
                </a:solidFill>
                <a:latin typeface="Pretendard"/>
              </a:rPr>
              <a:t>대 직장인”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C6A4171-C62A-0048-892A-F1F605D3A9D0}"/>
              </a:ext>
            </a:extLst>
          </p:cNvPr>
          <p:cNvSpPr txBox="1"/>
          <p:nvPr/>
        </p:nvSpPr>
        <p:spPr>
          <a:xfrm>
            <a:off x="1181100" y="3810000"/>
            <a:ext cx="4749800" cy="330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ko-KR" altLang="en-US" sz="2000" b="1">
                <a:solidFill>
                  <a:srgbClr val="E8A33D"/>
                </a:solidFill>
                <a:latin typeface="Pretendard"/>
              </a:rPr>
              <a:t>↓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CD23ABC-5DAE-5C40-A8F3-C053475DEA29}"/>
              </a:ext>
            </a:extLst>
          </p:cNvPr>
          <p:cNvSpPr txBox="1"/>
          <p:nvPr/>
        </p:nvSpPr>
        <p:spPr>
          <a:xfrm>
            <a:off x="1181100" y="4191000"/>
            <a:ext cx="4749800" cy="228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altLang="ko-KR" sz="1100" b="1">
                <a:solidFill>
                  <a:srgbClr val="B5781B"/>
                </a:solidFill>
                <a:latin typeface="JetBrains Mono"/>
              </a:rPr>
              <a:t>AFTER · </a:t>
            </a:r>
            <a:r>
              <a:rPr lang="ko-KR" altLang="en-US" sz="1100" b="1">
                <a:solidFill>
                  <a:srgbClr val="B5781B"/>
                </a:solidFill>
                <a:latin typeface="JetBrains Mono"/>
              </a:rPr>
              <a:t>구체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5276CDE7-06A7-A647-9A3D-665977883844}"/>
              </a:ext>
            </a:extLst>
          </p:cNvPr>
          <p:cNvSpPr/>
          <p:nvPr/>
        </p:nvSpPr>
        <p:spPr>
          <a:xfrm>
            <a:off x="1181100" y="4445000"/>
            <a:ext cx="4749800" cy="990600"/>
          </a:xfrm>
          <a:prstGeom prst="roundRect">
            <a:avLst/>
          </a:prstGeom>
          <a:solidFill>
            <a:srgbClr val="FBEF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4BBB17B-E8CF-D548-A7AE-0F31E6A32AAD}"/>
              </a:ext>
            </a:extLst>
          </p:cNvPr>
          <p:cNvSpPr txBox="1"/>
          <p:nvPr/>
        </p:nvSpPr>
        <p:spPr>
          <a:xfrm>
            <a:off x="1333500" y="4445000"/>
            <a:ext cx="4445000" cy="990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ko-KR" altLang="en-US" sz="1450" b="1">
                <a:solidFill>
                  <a:srgbClr val="14213D"/>
                </a:solidFill>
                <a:latin typeface="Pretendard"/>
              </a:rPr>
              <a:t>“퇴근 후 혼술하지만 다음날 컨디션이 걱정인 </a:t>
            </a:r>
            <a:r>
              <a:rPr lang="en-US" altLang="ko-KR" sz="1450" b="1">
                <a:solidFill>
                  <a:srgbClr val="14213D"/>
                </a:solidFill>
                <a:latin typeface="Pretendard"/>
              </a:rPr>
              <a:t>33</a:t>
            </a:r>
            <a:r>
              <a:rPr lang="ko-KR" altLang="en-US" sz="1450" b="1">
                <a:solidFill>
                  <a:srgbClr val="14213D"/>
                </a:solidFill>
                <a:latin typeface="Pretendard"/>
              </a:rPr>
              <a:t>세 회사원 지현”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DB86448-6B53-E249-BD4F-F921A6B36458}"/>
              </a:ext>
            </a:extLst>
          </p:cNvPr>
          <p:cNvSpPr txBox="1"/>
          <p:nvPr/>
        </p:nvSpPr>
        <p:spPr>
          <a:xfrm>
            <a:off x="1181100" y="5588000"/>
            <a:ext cx="4749800" cy="304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ko-KR" altLang="en-US" sz="1250" i="1">
                <a:solidFill>
                  <a:srgbClr val="1D4E89"/>
                </a:solidFill>
                <a:latin typeface="JetBrains Mono"/>
              </a:rPr>
              <a:t>→ 구체적일수록 카피가 날카로워진다</a:t>
            </a:r>
            <a:r>
              <a:rPr lang="en-US" altLang="ko-KR" sz="1250" i="1">
                <a:solidFill>
                  <a:srgbClr val="1D4E89"/>
                </a:solidFill>
                <a:latin typeface="JetBrains Mono"/>
              </a:rPr>
              <a:t>.</a:t>
            </a:r>
            <a:endParaRPr lang="ko-KR" altLang="en-US" sz="1250" i="1">
              <a:solidFill>
                <a:srgbClr val="1D4E89"/>
              </a:solidFill>
              <a:latin typeface="JetBrains Mono"/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07818F2C-7E27-3143-8129-90A86291B08A}"/>
              </a:ext>
            </a:extLst>
          </p:cNvPr>
          <p:cNvSpPr/>
          <p:nvPr/>
        </p:nvSpPr>
        <p:spPr>
          <a:xfrm>
            <a:off x="6540500" y="1905000"/>
            <a:ext cx="4826000" cy="4381500"/>
          </a:xfrm>
          <a:prstGeom prst="roundRect">
            <a:avLst>
              <a:gd name="adj" fmla="val 6781"/>
            </a:avLst>
          </a:prstGeom>
          <a:solidFill>
            <a:srgbClr val="14213D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4A24927-5650-AC4E-9FD8-94CA5706CC85}"/>
              </a:ext>
            </a:extLst>
          </p:cNvPr>
          <p:cNvSpPr txBox="1"/>
          <p:nvPr/>
        </p:nvSpPr>
        <p:spPr>
          <a:xfrm>
            <a:off x="6845300" y="2159000"/>
            <a:ext cx="4216400" cy="355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ko-KR" altLang="en-US" b="1">
                <a:solidFill>
                  <a:srgbClr val="FFFFFF"/>
                </a:solidFill>
                <a:latin typeface="Pretendard"/>
              </a:rPr>
              <a:t>메시지 하우스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FBAD918-4B20-D54F-9E28-A329664DFE27}"/>
              </a:ext>
            </a:extLst>
          </p:cNvPr>
          <p:cNvSpPr txBox="1"/>
          <p:nvPr/>
        </p:nvSpPr>
        <p:spPr>
          <a:xfrm>
            <a:off x="6845300" y="2540000"/>
            <a:ext cx="42164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ko-KR" altLang="en-US" sz="1250">
                <a:solidFill>
                  <a:srgbClr val="E8A33D"/>
                </a:solidFill>
                <a:latin typeface="Pretendard"/>
              </a:rPr>
              <a:t>지붕 </a:t>
            </a:r>
            <a:r>
              <a:rPr lang="en-US" altLang="ko-KR" sz="1250">
                <a:solidFill>
                  <a:srgbClr val="E8A33D"/>
                </a:solidFill>
                <a:latin typeface="Pretendard"/>
              </a:rPr>
              <a:t>1</a:t>
            </a:r>
            <a:r>
              <a:rPr lang="ko-KR" altLang="en-US" sz="1250">
                <a:solidFill>
                  <a:srgbClr val="E8A33D"/>
                </a:solidFill>
                <a:latin typeface="Pretendard"/>
              </a:rPr>
              <a:t>문장 </a:t>
            </a:r>
            <a:r>
              <a:rPr lang="en-US" altLang="ko-KR" sz="1250">
                <a:solidFill>
                  <a:srgbClr val="E8A33D"/>
                </a:solidFill>
                <a:latin typeface="Pretendard"/>
              </a:rPr>
              <a:t>+ </a:t>
            </a:r>
            <a:r>
              <a:rPr lang="ko-KR" altLang="en-US" sz="1250">
                <a:solidFill>
                  <a:srgbClr val="E8A33D"/>
                </a:solidFill>
                <a:latin typeface="Pretendard"/>
              </a:rPr>
              <a:t>기둥 </a:t>
            </a:r>
            <a:r>
              <a:rPr lang="en-US" altLang="ko-KR" sz="1250">
                <a:solidFill>
                  <a:srgbClr val="E8A33D"/>
                </a:solidFill>
                <a:latin typeface="Pretendard"/>
              </a:rPr>
              <a:t>3</a:t>
            </a:r>
            <a:r>
              <a:rPr lang="ko-KR" altLang="en-US" sz="1250">
                <a:solidFill>
                  <a:srgbClr val="E8A33D"/>
                </a:solidFill>
                <a:latin typeface="Pretendard"/>
              </a:rPr>
              <a:t>개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1307FD7-5BF8-4448-894E-574F61ABAC0F}"/>
              </a:ext>
            </a:extLst>
          </p:cNvPr>
          <p:cNvSpPr txBox="1"/>
          <p:nvPr/>
        </p:nvSpPr>
        <p:spPr>
          <a:xfrm>
            <a:off x="6845300" y="2921000"/>
            <a:ext cx="4216400" cy="203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ko-KR" altLang="en-US" sz="1100" b="1">
                <a:solidFill>
                  <a:srgbClr val="E8A33D"/>
                </a:solidFill>
                <a:latin typeface="JetBrains Mono"/>
              </a:rPr>
              <a:t>지붕 </a:t>
            </a:r>
            <a:r>
              <a:rPr lang="en-US" altLang="ko-KR" sz="1100" b="1">
                <a:solidFill>
                  <a:srgbClr val="E8A33D"/>
                </a:solidFill>
                <a:latin typeface="JetBrains Mono"/>
              </a:rPr>
              <a:t>· </a:t>
            </a:r>
            <a:r>
              <a:rPr lang="ko-KR" altLang="en-US" sz="1100" b="1">
                <a:solidFill>
                  <a:srgbClr val="E8A33D"/>
                </a:solidFill>
                <a:latin typeface="JetBrains Mono"/>
              </a:rPr>
              <a:t>핵심 메시지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72F96CB0-2D42-F34B-A7EE-4C6DB47D9E71}"/>
              </a:ext>
            </a:extLst>
          </p:cNvPr>
          <p:cNvSpPr/>
          <p:nvPr/>
        </p:nvSpPr>
        <p:spPr>
          <a:xfrm>
            <a:off x="6845300" y="3175000"/>
            <a:ext cx="4216400" cy="685800"/>
          </a:xfrm>
          <a:prstGeom prst="roundRect">
            <a:avLst/>
          </a:prstGeom>
          <a:solidFill>
            <a:srgbClr val="E8A33D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8D4B382-1AFC-FE4D-B040-F1336FF2D2AC}"/>
              </a:ext>
            </a:extLst>
          </p:cNvPr>
          <p:cNvSpPr txBox="1"/>
          <p:nvPr/>
        </p:nvSpPr>
        <p:spPr>
          <a:xfrm>
            <a:off x="6845300" y="3175000"/>
            <a:ext cx="4216400" cy="685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ko-KR" altLang="en-US" sz="1500" b="1">
                <a:solidFill>
                  <a:srgbClr val="14213D"/>
                </a:solidFill>
                <a:latin typeface="Pretendard"/>
              </a:rPr>
              <a:t>부담 없이 즐기는 진짜 맥주맛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53A17BB-63F9-F94E-BEA8-B7C4F7228297}"/>
              </a:ext>
            </a:extLst>
          </p:cNvPr>
          <p:cNvSpPr txBox="1"/>
          <p:nvPr/>
        </p:nvSpPr>
        <p:spPr>
          <a:xfrm>
            <a:off x="6845300" y="4038600"/>
            <a:ext cx="4216400" cy="203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ko-KR" altLang="en-US" sz="1100" b="1">
                <a:solidFill>
                  <a:srgbClr val="E8A33D"/>
                </a:solidFill>
                <a:latin typeface="JetBrains Mono"/>
              </a:rPr>
              <a:t>기둥 </a:t>
            </a:r>
            <a:r>
              <a:rPr lang="en-US" altLang="ko-KR" sz="1100" b="1">
                <a:solidFill>
                  <a:srgbClr val="E8A33D"/>
                </a:solidFill>
                <a:latin typeface="JetBrains Mono"/>
              </a:rPr>
              <a:t>· </a:t>
            </a:r>
            <a:r>
              <a:rPr lang="ko-KR" altLang="en-US" sz="1100" b="1">
                <a:solidFill>
                  <a:srgbClr val="E8A33D"/>
                </a:solidFill>
                <a:latin typeface="JetBrains Mono"/>
              </a:rPr>
              <a:t>근거 </a:t>
            </a:r>
            <a:r>
              <a:rPr lang="en-US" altLang="ko-KR" sz="1100" b="1">
                <a:solidFill>
                  <a:srgbClr val="E8A33D"/>
                </a:solidFill>
                <a:latin typeface="JetBrains Mono"/>
              </a:rPr>
              <a:t>3</a:t>
            </a:r>
            <a:endParaRPr lang="ko-KR" altLang="en-US" sz="1100" b="1">
              <a:solidFill>
                <a:srgbClr val="E8A33D"/>
              </a:solidFill>
              <a:latin typeface="JetBrains Mono"/>
            </a:endParaRP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F1138FBE-55ED-F94E-8596-AA59F5911F27}"/>
              </a:ext>
            </a:extLst>
          </p:cNvPr>
          <p:cNvSpPr/>
          <p:nvPr/>
        </p:nvSpPr>
        <p:spPr>
          <a:xfrm>
            <a:off x="6845300" y="4318000"/>
            <a:ext cx="1320800" cy="1676400"/>
          </a:xfrm>
          <a:prstGeom prst="roundRect">
            <a:avLst/>
          </a:prstGeom>
          <a:solidFill>
            <a:srgbClr val="20314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ADA6E6E-07F8-2C4A-9B7F-CB1947ADCA2D}"/>
              </a:ext>
            </a:extLst>
          </p:cNvPr>
          <p:cNvSpPr txBox="1"/>
          <p:nvPr/>
        </p:nvSpPr>
        <p:spPr>
          <a:xfrm>
            <a:off x="6921500" y="4318000"/>
            <a:ext cx="1168400" cy="167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ko-KR" altLang="en-US" sz="1400" b="1" dirty="0">
                <a:solidFill>
                  <a:srgbClr val="FFFFFF"/>
                </a:solidFill>
                <a:latin typeface="Pretendard"/>
              </a:rPr>
              <a:t>진짜 </a:t>
            </a:r>
            <a:endParaRPr lang="en-US" altLang="ko-KR" sz="1400" b="1" dirty="0">
              <a:solidFill>
                <a:srgbClr val="FFFFFF"/>
              </a:solidFill>
              <a:latin typeface="Pretendard"/>
            </a:endParaRPr>
          </a:p>
          <a:p>
            <a:pPr algn="ctr"/>
            <a:r>
              <a:rPr lang="ko-KR" altLang="en-US" sz="1400" b="1" dirty="0">
                <a:solidFill>
                  <a:srgbClr val="FFFFFF"/>
                </a:solidFill>
                <a:latin typeface="Pretendard"/>
              </a:rPr>
              <a:t>발효 공법</a:t>
            </a: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5CD5E224-196B-3948-8C6E-B56B34B8A98B}"/>
              </a:ext>
            </a:extLst>
          </p:cNvPr>
          <p:cNvSpPr/>
          <p:nvPr/>
        </p:nvSpPr>
        <p:spPr>
          <a:xfrm>
            <a:off x="8293100" y="4318000"/>
            <a:ext cx="1320800" cy="1676400"/>
          </a:xfrm>
          <a:prstGeom prst="roundRect">
            <a:avLst/>
          </a:prstGeom>
          <a:solidFill>
            <a:srgbClr val="20314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9E49AD4-AF9F-3245-B6D7-F36E4BA246DA}"/>
              </a:ext>
            </a:extLst>
          </p:cNvPr>
          <p:cNvSpPr txBox="1"/>
          <p:nvPr/>
        </p:nvSpPr>
        <p:spPr>
          <a:xfrm>
            <a:off x="8369300" y="4318000"/>
            <a:ext cx="1168400" cy="167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ko-KR" altLang="en-US" sz="1400" b="1" dirty="0">
                <a:solidFill>
                  <a:srgbClr val="FFFFFF"/>
                </a:solidFill>
                <a:latin typeface="Pretendard"/>
              </a:rPr>
              <a:t>칼로리 </a:t>
            </a:r>
            <a:r>
              <a:rPr lang="en-US" altLang="ko-KR" sz="1400" b="1" dirty="0">
                <a:solidFill>
                  <a:srgbClr val="FFFFFF"/>
                </a:solidFill>
                <a:latin typeface="Pretendard"/>
              </a:rPr>
              <a:t>30% ↓</a:t>
            </a:r>
            <a:endParaRPr lang="ko-KR" altLang="en-US" sz="1400" b="1" dirty="0">
              <a:solidFill>
                <a:srgbClr val="FFFFFF"/>
              </a:solidFill>
              <a:latin typeface="Pretendard"/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4429EC28-712A-F947-A862-741DEF008987}"/>
              </a:ext>
            </a:extLst>
          </p:cNvPr>
          <p:cNvSpPr/>
          <p:nvPr/>
        </p:nvSpPr>
        <p:spPr>
          <a:xfrm>
            <a:off x="9740900" y="4318000"/>
            <a:ext cx="1320800" cy="1676400"/>
          </a:xfrm>
          <a:prstGeom prst="roundRect">
            <a:avLst/>
          </a:prstGeom>
          <a:solidFill>
            <a:srgbClr val="20314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1268CA0-4656-AA4B-9B78-7D1093F60E34}"/>
              </a:ext>
            </a:extLst>
          </p:cNvPr>
          <p:cNvSpPr txBox="1"/>
          <p:nvPr/>
        </p:nvSpPr>
        <p:spPr>
          <a:xfrm>
            <a:off x="9817100" y="4318000"/>
            <a:ext cx="1168400" cy="1676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ko-KR" altLang="en-US" sz="1400" b="1">
                <a:solidFill>
                  <a:srgbClr val="FFFFFF"/>
                </a:solidFill>
                <a:latin typeface="Pretendard"/>
              </a:rPr>
              <a:t>알코올 </a:t>
            </a:r>
            <a:r>
              <a:rPr lang="en-US" altLang="ko-KR" sz="1400" b="1">
                <a:solidFill>
                  <a:srgbClr val="FFFFFF"/>
                </a:solidFill>
                <a:latin typeface="Pretendard"/>
              </a:rPr>
              <a:t>0.0%</a:t>
            </a:r>
            <a:endParaRPr lang="ko-KR" altLang="en-US" sz="1400" b="1">
              <a:solidFill>
                <a:srgbClr val="FFFFFF"/>
              </a:solidFill>
              <a:latin typeface="Pretendard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개념 심화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메시지 하우스를 먼저 세우는 이유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011680"/>
            <a:ext cx="10332720" cy="2743200"/>
          </a:xfrm>
          <a:prstGeom prst="rect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365760" rIns="457200" rtlCol="0" anchor="ctr"/>
          <a:lstStyle/>
          <a:p>
            <a:pPr algn="l">
              <a:lnSpc>
                <a:spcPct val="150000"/>
              </a:lnSpc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뼈대 없이 콘텐츠부터 만들면 채널마다 말이 달라진다. 지붕(핵심 1문장) 하나를 정하면 SNS·블로그·페이지가 모두 한 목소리를 낸다.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절차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실습 절차 — 직접 해봅니다</a:t>
            </a: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17C72293-BAD6-DB45-99BD-B9D7BCDE6F52}"/>
              </a:ext>
            </a:extLst>
          </p:cNvPr>
          <p:cNvSpPr/>
          <p:nvPr/>
        </p:nvSpPr>
        <p:spPr>
          <a:xfrm>
            <a:off x="825500" y="1930400"/>
            <a:ext cx="10541000" cy="939800"/>
          </a:xfrm>
          <a:prstGeom prst="roundRect">
            <a:avLst/>
          </a:prstGeom>
          <a:solidFill>
            <a:srgbClr val="F1F5FA"/>
          </a:solidFill>
          <a:ln w="12700" cap="flat" cmpd="sng" algn="ctr">
            <a:solidFill>
              <a:srgbClr val="D9E2E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38EF43D-3217-CE48-B148-49A905A67060}"/>
              </a:ext>
            </a:extLst>
          </p:cNvPr>
          <p:cNvSpPr/>
          <p:nvPr/>
        </p:nvSpPr>
        <p:spPr>
          <a:xfrm>
            <a:off x="825500" y="1930400"/>
            <a:ext cx="76200" cy="939800"/>
          </a:xfrm>
          <a:prstGeom prst="rect">
            <a:avLst/>
          </a:prstGeom>
          <a:solidFill>
            <a:srgbClr val="E8A33D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0DC9C86-1D21-794E-825A-9869A32C4BC8}"/>
              </a:ext>
            </a:extLst>
          </p:cNvPr>
          <p:cNvSpPr/>
          <p:nvPr/>
        </p:nvSpPr>
        <p:spPr>
          <a:xfrm>
            <a:off x="1143000" y="2159000"/>
            <a:ext cx="482600" cy="482600"/>
          </a:xfrm>
          <a:prstGeom prst="ellipse">
            <a:avLst/>
          </a:prstGeom>
          <a:solidFill>
            <a:srgbClr val="14213D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R" sz="1600" b="1">
                <a:solidFill>
                  <a:srgbClr val="FFFFFF"/>
                </a:solidFill>
                <a:latin typeface="JetBrains Mono"/>
              </a:rPr>
              <a:t>1</a:t>
            </a:r>
            <a:endParaRPr lang="ko-KR" altLang="en-US" sz="1600" b="1">
              <a:solidFill>
                <a:srgbClr val="FFFFFF"/>
              </a:solidFill>
              <a:latin typeface="JetBrains Mono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B7AC8E3-1F6B-B847-8066-902469B3E482}"/>
              </a:ext>
            </a:extLst>
          </p:cNvPr>
          <p:cNvSpPr txBox="1"/>
          <p:nvPr/>
        </p:nvSpPr>
        <p:spPr>
          <a:xfrm>
            <a:off x="1905000" y="2095500"/>
            <a:ext cx="2286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ko-KR" altLang="en-US" sz="1600" b="1">
                <a:solidFill>
                  <a:srgbClr val="14213D"/>
                </a:solidFill>
                <a:latin typeface="Pretendard"/>
              </a:rPr>
              <a:t>타깃 페르소나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3EC1E2D-94EA-B846-8A4D-879D0E51CE56}"/>
              </a:ext>
            </a:extLst>
          </p:cNvPr>
          <p:cNvSpPr txBox="1"/>
          <p:nvPr/>
        </p:nvSpPr>
        <p:spPr>
          <a:xfrm>
            <a:off x="4318000" y="2057400"/>
            <a:ext cx="6858000" cy="685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ko-KR" altLang="en-US" sz="1400">
                <a:solidFill>
                  <a:srgbClr val="576176"/>
                </a:solidFill>
                <a:latin typeface="Pretendard"/>
              </a:rPr>
              <a:t>연령</a:t>
            </a:r>
            <a:r>
              <a:rPr lang="en-US" altLang="ko-KR" sz="1400">
                <a:solidFill>
                  <a:srgbClr val="576176"/>
                </a:solidFill>
                <a:latin typeface="Pretendard"/>
              </a:rPr>
              <a:t>·</a:t>
            </a:r>
            <a:r>
              <a:rPr lang="ko-KR" altLang="en-US" sz="1400">
                <a:solidFill>
                  <a:srgbClr val="576176"/>
                </a:solidFill>
                <a:latin typeface="Pretendard"/>
              </a:rPr>
              <a:t>역할</a:t>
            </a:r>
            <a:r>
              <a:rPr lang="en-US" altLang="ko-KR" sz="1400">
                <a:solidFill>
                  <a:srgbClr val="576176"/>
                </a:solidFill>
                <a:latin typeface="Pretendard"/>
              </a:rPr>
              <a:t>·</a:t>
            </a:r>
            <a:r>
              <a:rPr lang="ko-KR" altLang="en-US" sz="1400">
                <a:solidFill>
                  <a:srgbClr val="576176"/>
                </a:solidFill>
                <a:latin typeface="Pretendard"/>
              </a:rPr>
              <a:t>고민</a:t>
            </a:r>
            <a:r>
              <a:rPr lang="en-US" altLang="ko-KR" sz="1400">
                <a:solidFill>
                  <a:srgbClr val="576176"/>
                </a:solidFill>
                <a:latin typeface="Pretendard"/>
              </a:rPr>
              <a:t>·</a:t>
            </a:r>
            <a:r>
              <a:rPr lang="ko-KR" altLang="en-US" sz="1400">
                <a:solidFill>
                  <a:srgbClr val="576176"/>
                </a:solidFill>
                <a:latin typeface="Pretendard"/>
              </a:rPr>
              <a:t>구매동기 중 </a:t>
            </a:r>
            <a:r>
              <a:rPr lang="en-US" altLang="ko-KR" sz="1400">
                <a:solidFill>
                  <a:srgbClr val="576176"/>
                </a:solidFill>
                <a:latin typeface="Pretendard"/>
              </a:rPr>
              <a:t>3~4</a:t>
            </a:r>
            <a:r>
              <a:rPr lang="ko-KR" altLang="en-US" sz="1400">
                <a:solidFill>
                  <a:srgbClr val="576176"/>
                </a:solidFill>
                <a:latin typeface="Pretendard"/>
              </a:rPr>
              <a:t>개 속성으로 한 인물을 적는다</a:t>
            </a:r>
            <a:r>
              <a:rPr lang="en-US" altLang="ko-KR" sz="1400">
                <a:solidFill>
                  <a:srgbClr val="576176"/>
                </a:solidFill>
                <a:latin typeface="Pretendard"/>
              </a:rPr>
              <a:t>.</a:t>
            </a:r>
            <a:endParaRPr lang="ko-KR" altLang="en-US" sz="1400">
              <a:solidFill>
                <a:srgbClr val="576176"/>
              </a:solidFill>
              <a:latin typeface="Pretendard"/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13189982-046C-7449-9F0A-BA890030C72E}"/>
              </a:ext>
            </a:extLst>
          </p:cNvPr>
          <p:cNvSpPr/>
          <p:nvPr/>
        </p:nvSpPr>
        <p:spPr>
          <a:xfrm>
            <a:off x="825500" y="2971800"/>
            <a:ext cx="10541000" cy="939800"/>
          </a:xfrm>
          <a:prstGeom prst="roundRect">
            <a:avLst/>
          </a:prstGeom>
          <a:solidFill>
            <a:srgbClr val="F1F5FA"/>
          </a:solidFill>
          <a:ln w="12700" cap="flat" cmpd="sng" algn="ctr">
            <a:solidFill>
              <a:srgbClr val="D9E2E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A18AC96-318A-4F40-BE8B-9E9141827907}"/>
              </a:ext>
            </a:extLst>
          </p:cNvPr>
          <p:cNvSpPr/>
          <p:nvPr/>
        </p:nvSpPr>
        <p:spPr>
          <a:xfrm>
            <a:off x="825500" y="2971800"/>
            <a:ext cx="76200" cy="939800"/>
          </a:xfrm>
          <a:prstGeom prst="rect">
            <a:avLst/>
          </a:prstGeom>
          <a:solidFill>
            <a:srgbClr val="E8A33D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7760F5A0-E420-734F-9E11-7B50AA3C7B50}"/>
              </a:ext>
            </a:extLst>
          </p:cNvPr>
          <p:cNvSpPr/>
          <p:nvPr/>
        </p:nvSpPr>
        <p:spPr>
          <a:xfrm>
            <a:off x="1143000" y="3200400"/>
            <a:ext cx="482600" cy="482600"/>
          </a:xfrm>
          <a:prstGeom prst="ellipse">
            <a:avLst/>
          </a:prstGeom>
          <a:solidFill>
            <a:srgbClr val="14213D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R" sz="1600" b="1">
                <a:solidFill>
                  <a:srgbClr val="FFFFFF"/>
                </a:solidFill>
                <a:latin typeface="JetBrains Mono"/>
              </a:rPr>
              <a:t>2</a:t>
            </a:r>
            <a:endParaRPr lang="ko-KR" altLang="en-US" sz="1600" b="1">
              <a:solidFill>
                <a:srgbClr val="FFFFFF"/>
              </a:solidFill>
              <a:latin typeface="JetBrains Mono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87998EB-4F16-D543-886E-DAD3788AAF38}"/>
              </a:ext>
            </a:extLst>
          </p:cNvPr>
          <p:cNvSpPr txBox="1"/>
          <p:nvPr/>
        </p:nvSpPr>
        <p:spPr>
          <a:xfrm>
            <a:off x="1905000" y="3136900"/>
            <a:ext cx="2286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ko-KR" altLang="en-US" sz="1600" b="1">
                <a:solidFill>
                  <a:srgbClr val="14213D"/>
                </a:solidFill>
                <a:latin typeface="Pretendard"/>
              </a:rPr>
              <a:t>핵심 메시지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2E3E2B8-55FC-DC46-B500-C5DA1EFEDC23}"/>
              </a:ext>
            </a:extLst>
          </p:cNvPr>
          <p:cNvSpPr txBox="1"/>
          <p:nvPr/>
        </p:nvSpPr>
        <p:spPr>
          <a:xfrm>
            <a:off x="4318000" y="3098800"/>
            <a:ext cx="6858000" cy="685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ko-KR" altLang="en-US" sz="1400">
                <a:solidFill>
                  <a:srgbClr val="576176"/>
                </a:solidFill>
                <a:latin typeface="Pretendard"/>
              </a:rPr>
              <a:t>가치 제안 형식</a:t>
            </a:r>
            <a:r>
              <a:rPr lang="en-US" altLang="ko-KR" sz="1400">
                <a:solidFill>
                  <a:srgbClr val="576176"/>
                </a:solidFill>
                <a:latin typeface="Pretendard"/>
              </a:rPr>
              <a:t>(</a:t>
            </a:r>
            <a:r>
              <a:rPr lang="ko-KR" altLang="en-US" sz="1400">
                <a:solidFill>
                  <a:srgbClr val="576176"/>
                </a:solidFill>
                <a:latin typeface="Pretendard"/>
              </a:rPr>
              <a:t>누구에게</a:t>
            </a:r>
            <a:r>
              <a:rPr lang="en-US" altLang="ko-KR" sz="1400">
                <a:solidFill>
                  <a:srgbClr val="576176"/>
                </a:solidFill>
                <a:latin typeface="Pretendard"/>
              </a:rPr>
              <a:t>·</a:t>
            </a:r>
            <a:r>
              <a:rPr lang="ko-KR" altLang="en-US" sz="1400">
                <a:solidFill>
                  <a:srgbClr val="576176"/>
                </a:solidFill>
                <a:latin typeface="Pretendard"/>
              </a:rPr>
              <a:t>무엇을</a:t>
            </a:r>
            <a:r>
              <a:rPr lang="en-US" altLang="ko-KR" sz="1400">
                <a:solidFill>
                  <a:srgbClr val="576176"/>
                </a:solidFill>
                <a:latin typeface="Pretendard"/>
              </a:rPr>
              <a:t>·</a:t>
            </a:r>
            <a:r>
              <a:rPr lang="ko-KR" altLang="en-US" sz="1400">
                <a:solidFill>
                  <a:srgbClr val="576176"/>
                </a:solidFill>
                <a:latin typeface="Pretendard"/>
              </a:rPr>
              <a:t>어떻게</a:t>
            </a:r>
            <a:r>
              <a:rPr lang="en-US" altLang="ko-KR" sz="1400">
                <a:solidFill>
                  <a:srgbClr val="576176"/>
                </a:solidFill>
                <a:latin typeface="Pretendard"/>
              </a:rPr>
              <a:t>)</a:t>
            </a:r>
            <a:r>
              <a:rPr lang="ko-KR" altLang="en-US" sz="1400">
                <a:solidFill>
                  <a:srgbClr val="576176"/>
                </a:solidFill>
                <a:latin typeface="Pretendard"/>
              </a:rPr>
              <a:t>으로 한 문장에 담는다</a:t>
            </a:r>
            <a:r>
              <a:rPr lang="en-US" altLang="ko-KR" sz="1400">
                <a:solidFill>
                  <a:srgbClr val="576176"/>
                </a:solidFill>
                <a:latin typeface="Pretendard"/>
              </a:rPr>
              <a:t>.</a:t>
            </a:r>
            <a:endParaRPr lang="ko-KR" altLang="en-US" sz="1400">
              <a:solidFill>
                <a:srgbClr val="576176"/>
              </a:solidFill>
              <a:latin typeface="Pretendard"/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508DBFF8-3917-DF4A-A0AE-41B337F6EBAD}"/>
              </a:ext>
            </a:extLst>
          </p:cNvPr>
          <p:cNvSpPr/>
          <p:nvPr/>
        </p:nvSpPr>
        <p:spPr>
          <a:xfrm>
            <a:off x="825500" y="4013200"/>
            <a:ext cx="10541000" cy="939800"/>
          </a:xfrm>
          <a:prstGeom prst="roundRect">
            <a:avLst/>
          </a:prstGeom>
          <a:solidFill>
            <a:srgbClr val="F1F5FA"/>
          </a:solidFill>
          <a:ln w="12700" cap="flat" cmpd="sng" algn="ctr">
            <a:solidFill>
              <a:srgbClr val="D9E2E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650B38C2-8EEA-2A49-949D-D788FAF4064D}"/>
              </a:ext>
            </a:extLst>
          </p:cNvPr>
          <p:cNvSpPr/>
          <p:nvPr/>
        </p:nvSpPr>
        <p:spPr>
          <a:xfrm>
            <a:off x="825500" y="4013200"/>
            <a:ext cx="76200" cy="939800"/>
          </a:xfrm>
          <a:prstGeom prst="rect">
            <a:avLst/>
          </a:prstGeom>
          <a:solidFill>
            <a:srgbClr val="E8A33D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C4C76A6B-FF36-0D49-BF2D-377D8AA806DC}"/>
              </a:ext>
            </a:extLst>
          </p:cNvPr>
          <p:cNvSpPr/>
          <p:nvPr/>
        </p:nvSpPr>
        <p:spPr>
          <a:xfrm>
            <a:off x="1143000" y="4241800"/>
            <a:ext cx="482600" cy="482600"/>
          </a:xfrm>
          <a:prstGeom prst="ellipse">
            <a:avLst/>
          </a:prstGeom>
          <a:solidFill>
            <a:srgbClr val="14213D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R" sz="1600" b="1">
                <a:solidFill>
                  <a:srgbClr val="FFFFFF"/>
                </a:solidFill>
                <a:latin typeface="JetBrains Mono"/>
              </a:rPr>
              <a:t>3</a:t>
            </a:r>
            <a:endParaRPr lang="ko-KR" altLang="en-US" sz="1600" b="1">
              <a:solidFill>
                <a:srgbClr val="FFFFFF"/>
              </a:solidFill>
              <a:latin typeface="JetBrains Mono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2CEA1E7-F75C-8040-81D1-98E812255D0E}"/>
              </a:ext>
            </a:extLst>
          </p:cNvPr>
          <p:cNvSpPr txBox="1"/>
          <p:nvPr/>
        </p:nvSpPr>
        <p:spPr>
          <a:xfrm>
            <a:off x="1905000" y="4178300"/>
            <a:ext cx="2286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ko-KR" altLang="en-US" sz="1600" b="1">
                <a:solidFill>
                  <a:srgbClr val="14213D"/>
                </a:solidFill>
                <a:latin typeface="Pretendard"/>
              </a:rPr>
              <a:t>근거 </a:t>
            </a:r>
            <a:r>
              <a:rPr lang="en-US" altLang="ko-KR" sz="1600" b="1">
                <a:solidFill>
                  <a:srgbClr val="14213D"/>
                </a:solidFill>
                <a:latin typeface="Pretendard"/>
              </a:rPr>
              <a:t>3</a:t>
            </a:r>
            <a:r>
              <a:rPr lang="ko-KR" altLang="en-US" sz="1600" b="1">
                <a:solidFill>
                  <a:srgbClr val="14213D"/>
                </a:solidFill>
                <a:latin typeface="Pretendard"/>
              </a:rPr>
              <a:t>개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F9290E9-4A5D-FC4D-8222-7FBA60E865B6}"/>
              </a:ext>
            </a:extLst>
          </p:cNvPr>
          <p:cNvSpPr txBox="1"/>
          <p:nvPr/>
        </p:nvSpPr>
        <p:spPr>
          <a:xfrm>
            <a:off x="4318000" y="4140200"/>
            <a:ext cx="6858000" cy="685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ko-KR" altLang="en-US" sz="1400">
                <a:solidFill>
                  <a:srgbClr val="576176"/>
                </a:solidFill>
                <a:latin typeface="Pretendard"/>
              </a:rPr>
              <a:t>핵심 메시지를 떠받칠 근거</a:t>
            </a:r>
            <a:r>
              <a:rPr lang="en-US" altLang="ko-KR" sz="1400">
                <a:solidFill>
                  <a:srgbClr val="576176"/>
                </a:solidFill>
                <a:latin typeface="Pretendard"/>
              </a:rPr>
              <a:t>(</a:t>
            </a:r>
            <a:r>
              <a:rPr lang="ko-KR" altLang="en-US" sz="1400">
                <a:solidFill>
                  <a:srgbClr val="576176"/>
                </a:solidFill>
                <a:latin typeface="Pretendard"/>
              </a:rPr>
              <a:t>기둥</a:t>
            </a:r>
            <a:r>
              <a:rPr lang="en-US" altLang="ko-KR" sz="1400">
                <a:solidFill>
                  <a:srgbClr val="576176"/>
                </a:solidFill>
                <a:latin typeface="Pretendard"/>
              </a:rPr>
              <a:t>)</a:t>
            </a:r>
            <a:r>
              <a:rPr lang="ko-KR" altLang="en-US" sz="1400">
                <a:solidFill>
                  <a:srgbClr val="576176"/>
                </a:solidFill>
                <a:latin typeface="Pretendard"/>
              </a:rPr>
              <a:t>를 세 가지로 정리한다</a:t>
            </a:r>
            <a:r>
              <a:rPr lang="en-US" altLang="ko-KR" sz="1400">
                <a:solidFill>
                  <a:srgbClr val="576176"/>
                </a:solidFill>
                <a:latin typeface="Pretendard"/>
              </a:rPr>
              <a:t>.</a:t>
            </a:r>
            <a:endParaRPr lang="ko-KR" altLang="en-US" sz="1400">
              <a:solidFill>
                <a:srgbClr val="576176"/>
              </a:solidFill>
              <a:latin typeface="Pretendard"/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A0582051-88CE-8044-913D-BB3B66815B36}"/>
              </a:ext>
            </a:extLst>
          </p:cNvPr>
          <p:cNvSpPr/>
          <p:nvPr/>
        </p:nvSpPr>
        <p:spPr>
          <a:xfrm>
            <a:off x="825500" y="5054600"/>
            <a:ext cx="10541000" cy="939800"/>
          </a:xfrm>
          <a:prstGeom prst="roundRect">
            <a:avLst/>
          </a:prstGeom>
          <a:solidFill>
            <a:srgbClr val="F1F5FA"/>
          </a:solidFill>
          <a:ln w="12700" cap="flat" cmpd="sng" algn="ctr">
            <a:solidFill>
              <a:srgbClr val="D9E2E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9E28A7B-D328-E044-8A03-016A29F52938}"/>
              </a:ext>
            </a:extLst>
          </p:cNvPr>
          <p:cNvSpPr/>
          <p:nvPr/>
        </p:nvSpPr>
        <p:spPr>
          <a:xfrm>
            <a:off x="825500" y="5054600"/>
            <a:ext cx="76200" cy="939800"/>
          </a:xfrm>
          <a:prstGeom prst="rect">
            <a:avLst/>
          </a:prstGeom>
          <a:solidFill>
            <a:srgbClr val="E8A33D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AE6BB367-5FC0-4B42-B2B4-E70B700DA413}"/>
              </a:ext>
            </a:extLst>
          </p:cNvPr>
          <p:cNvSpPr/>
          <p:nvPr/>
        </p:nvSpPr>
        <p:spPr>
          <a:xfrm>
            <a:off x="1143000" y="5283200"/>
            <a:ext cx="482600" cy="482600"/>
          </a:xfrm>
          <a:prstGeom prst="ellipse">
            <a:avLst/>
          </a:prstGeom>
          <a:solidFill>
            <a:srgbClr val="14213D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R" sz="1600" b="1">
                <a:solidFill>
                  <a:srgbClr val="FFFFFF"/>
                </a:solidFill>
                <a:latin typeface="JetBrains Mono"/>
              </a:rPr>
              <a:t>4</a:t>
            </a:r>
            <a:endParaRPr lang="ko-KR" altLang="en-US" sz="1600" b="1">
              <a:solidFill>
                <a:srgbClr val="FFFFFF"/>
              </a:solidFill>
              <a:latin typeface="JetBrains Mono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3571F65-3016-094D-A0C5-F7CB2954512F}"/>
              </a:ext>
            </a:extLst>
          </p:cNvPr>
          <p:cNvSpPr txBox="1"/>
          <p:nvPr/>
        </p:nvSpPr>
        <p:spPr>
          <a:xfrm>
            <a:off x="1905000" y="5219700"/>
            <a:ext cx="2286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altLang="ko-KR" sz="1600" b="1">
                <a:solidFill>
                  <a:srgbClr val="14213D"/>
                </a:solidFill>
                <a:latin typeface="Pretendard"/>
              </a:rPr>
              <a:t>AI </a:t>
            </a:r>
            <a:r>
              <a:rPr lang="ko-KR" altLang="en-US" sz="1600" b="1">
                <a:solidFill>
                  <a:srgbClr val="14213D"/>
                </a:solidFill>
                <a:latin typeface="Pretendard"/>
              </a:rPr>
              <a:t>검토</a:t>
            </a:r>
            <a:r>
              <a:rPr lang="en-US" altLang="ko-KR" sz="1600" b="1">
                <a:solidFill>
                  <a:srgbClr val="14213D"/>
                </a:solidFill>
                <a:latin typeface="Pretendard"/>
              </a:rPr>
              <a:t>·</a:t>
            </a:r>
            <a:r>
              <a:rPr lang="ko-KR" altLang="en-US" sz="1600" b="1">
                <a:solidFill>
                  <a:srgbClr val="14213D"/>
                </a:solidFill>
                <a:latin typeface="Pretendard"/>
              </a:rPr>
              <a:t>보강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9B325D1-E3ED-7A4A-BA63-EEC2A4A3DB33}"/>
              </a:ext>
            </a:extLst>
          </p:cNvPr>
          <p:cNvSpPr txBox="1"/>
          <p:nvPr/>
        </p:nvSpPr>
        <p:spPr>
          <a:xfrm>
            <a:off x="4318000" y="5181600"/>
            <a:ext cx="6858000" cy="685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ko-KR" altLang="en-US" sz="1400">
                <a:solidFill>
                  <a:srgbClr val="576176"/>
                </a:solidFill>
                <a:latin typeface="Pretendard"/>
              </a:rPr>
              <a:t>완성한 메시지 하우스를 </a:t>
            </a:r>
            <a:r>
              <a:rPr lang="en-US" altLang="ko-KR" sz="1400">
                <a:solidFill>
                  <a:srgbClr val="576176"/>
                </a:solidFill>
                <a:latin typeface="Pretendard"/>
              </a:rPr>
              <a:t>AI</a:t>
            </a:r>
            <a:r>
              <a:rPr lang="ko-KR" altLang="en-US" sz="1400">
                <a:solidFill>
                  <a:srgbClr val="576176"/>
                </a:solidFill>
                <a:latin typeface="Pretendard"/>
              </a:rPr>
              <a:t>에게 검토</a:t>
            </a:r>
            <a:r>
              <a:rPr lang="en-US" altLang="ko-KR" sz="1400">
                <a:solidFill>
                  <a:srgbClr val="576176"/>
                </a:solidFill>
                <a:latin typeface="Pretendard"/>
              </a:rPr>
              <a:t>·</a:t>
            </a:r>
            <a:r>
              <a:rPr lang="ko-KR" altLang="en-US" sz="1400">
                <a:solidFill>
                  <a:srgbClr val="576176"/>
                </a:solidFill>
                <a:latin typeface="Pretendard"/>
              </a:rPr>
              <a:t>보강하도록 요청한다</a:t>
            </a:r>
            <a:r>
              <a:rPr lang="en-US" altLang="ko-KR" sz="1400">
                <a:solidFill>
                  <a:srgbClr val="576176"/>
                </a:solidFill>
                <a:latin typeface="Pretendard"/>
              </a:rPr>
              <a:t>.</a:t>
            </a:r>
            <a:endParaRPr lang="ko-KR" altLang="en-US" sz="1400">
              <a:solidFill>
                <a:srgbClr val="576176"/>
              </a:solidFill>
              <a:latin typeface="Pretendard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프롬프트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메시지 하우스 도출 프롬프트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74519"/>
            <a:ext cx="10332720" cy="4434840"/>
          </a:xfrm>
          <a:prstGeom prst="rect">
            <a:avLst/>
          </a:prstGeom>
          <a:solidFill>
            <a:srgbClr val="10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11480" tIns="502920" rIns="365760" bIns="320040" rtlCol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너는 브랜드 전략가야. 아래 정보를 바탕으로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핵심 메시지 1문장 + 이를 뒷받침하는 근거 3개(메시지 하우스)를 만들어줘.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- 제품: (예) 무알콜 수제 맥주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- 타깃: 30대 직장인, 건강은 챙기되 분위기는 즐기고 싶은 사람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- 차별점: 진짜 맥주 맛, 칼로리 30%↓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2103120"/>
            <a:ext cx="109728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실제 입력 → 출력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실제 예시 — 메시지 하우스 산출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783080"/>
            <a:ext cx="10332720" cy="1874519"/>
          </a:xfrm>
          <a:prstGeom prst="rect">
            <a:avLst/>
          </a:prstGeom>
          <a:solidFill>
            <a:srgbClr val="10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502920" rIns="320040" rtlCol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25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너는 브랜드 전략가야. 아래로 핵심 메시지 1문장 + 근거 3개(메시지 하우스)를 만들어줘.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25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- 제품: 무알콜 수제 맥주 Night Off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25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- 타깃: 건강 챙기되 분위기 즐기는 30대 직장인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25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- 차별점: 진짜 맥주 맛, 칼로리 30%↓, 알코올 0.0%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783080"/>
            <a:ext cx="2011680" cy="329184"/>
          </a:xfrm>
          <a:prstGeom prst="rect">
            <a:avLst/>
          </a:prstGeom>
          <a:solidFill>
            <a:srgbClr val="24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400"/>
              </a:spcAft>
            </a:pPr>
            <a:r>
              <a:rPr sz="1200" b="0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▸ 입력 프롬프트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794760"/>
            <a:ext cx="10332720" cy="2514600"/>
          </a:xfrm>
          <a:prstGeom prst="rect">
            <a:avLst/>
          </a:prstGeom>
          <a:solidFill>
            <a:srgbClr val="FBFCFE"/>
          </a:solidFill>
          <a:ln w="12700">
            <a:solidFill>
              <a:srgbClr val="E9EC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502920" rIns="320040" rtlCol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5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[핵심 메시지]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5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"내일을 망치지 않고, 오늘 밤을 제대로 즐긴다."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5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 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5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[근거 3]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5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① 진짜 발효 공법 — 무알콜인데 맥주 본연의 풍미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5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② 칼로리 30%↓ — 죄책감 없는 한 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5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③ 알코올 0.0% — 운전·내일 출근도 문제없음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794760"/>
            <a:ext cx="1828800" cy="329184"/>
          </a:xfrm>
          <a:prstGeom prst="rect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384048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400"/>
              </a:spcAft>
            </a:pPr>
            <a:r>
              <a:rPr sz="12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▸ 나온 결과(예)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정리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홍보 목적 → 타깃고객 → 핵심 메시지 도출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20240"/>
            <a:ext cx="10332720" cy="1636776"/>
          </a:xfrm>
          <a:prstGeom prst="rect">
            <a:avLst/>
          </a:prstGeom>
          <a:solidFill>
            <a:srgbClr val="FB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228600" rIns="365760" bIns="182880" rtlCol="0" anchor="t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600"/>
              </a:spcAft>
            </a:pPr>
            <a:r>
              <a:rPr sz="1500" b="1">
                <a:solidFill>
                  <a:srgbClr val="B57A1A"/>
                </a:solidFill>
                <a:latin typeface="JetBrains Mono"/>
                <a:ea typeface="JetBrains Mono"/>
                <a:cs typeface="JetBrains Mono"/>
              </a:rPr>
              <a:t>⚠  흔한 실수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핵심 메시지가 2개 이상이면 흐려진다. 지붕은 반드시 하나.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기능 나열("효모 무첨가")만 하면 안 된다 → 고객 이득("부담 없이 즐기는")으로 번역.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739896"/>
            <a:ext cx="10332720" cy="1005840"/>
          </a:xfrm>
          <a:prstGeom prst="rect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201168" rIns="365760" bIns="182880" rtlCol="0" anchor="t"/>
          <a:lstStyle/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📦  결과물  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메시지 하우스 1장(핵심 메시지 + 근거 3) · 타깃 페르소나 1명.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D4E8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98D333C-B786-1E45-BE21-4A46124CEBF2}"/>
              </a:ext>
            </a:extLst>
          </p:cNvPr>
          <p:cNvSpPr txBox="1"/>
          <p:nvPr/>
        </p:nvSpPr>
        <p:spPr>
          <a:xfrm>
            <a:off x="0" y="2133600"/>
            <a:ext cx="12192000" cy="304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altLang="ko-KR" sz="1600" b="1">
                <a:solidFill>
                  <a:srgbClr val="E8A33D"/>
                </a:solidFill>
                <a:latin typeface="JetBrains Mono"/>
              </a:rPr>
              <a:t>SESSION 2</a:t>
            </a:r>
            <a:endParaRPr lang="ko-KR" altLang="en-US" sz="1600" b="1">
              <a:solidFill>
                <a:srgbClr val="E8A33D"/>
              </a:solidFill>
              <a:latin typeface="JetBrains Mono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D7DAC9-48DB-8B4C-83AD-7A0C3288E5D4}"/>
              </a:ext>
            </a:extLst>
          </p:cNvPr>
          <p:cNvSpPr txBox="1"/>
          <p:nvPr/>
        </p:nvSpPr>
        <p:spPr>
          <a:xfrm>
            <a:off x="0" y="2540000"/>
            <a:ext cx="12192000" cy="660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ko-KR" altLang="en-US" sz="3200" b="1">
                <a:solidFill>
                  <a:srgbClr val="14213D"/>
                </a:solidFill>
                <a:latin typeface="Noto Serif KR"/>
              </a:rPr>
              <a:t>프롬프트로 결과 품질을 통제한다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B93FA1-DA80-9647-A9C2-E8E5EBDD1DDD}"/>
              </a:ext>
            </a:extLst>
          </p:cNvPr>
          <p:cNvSpPr txBox="1"/>
          <p:nvPr/>
        </p:nvSpPr>
        <p:spPr>
          <a:xfrm>
            <a:off x="2286000" y="3327400"/>
            <a:ext cx="7620000" cy="609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ko-KR" altLang="en-US" sz="1600">
                <a:solidFill>
                  <a:srgbClr val="576176"/>
                </a:solidFill>
                <a:latin typeface="Pretendard"/>
              </a:rPr>
              <a:t>같은 요청도 프롬프트 구조에 따라 결과가 갈린다</a:t>
            </a:r>
            <a:r>
              <a:rPr lang="en-US" altLang="ko-KR" sz="1600">
                <a:solidFill>
                  <a:srgbClr val="576176"/>
                </a:solidFill>
                <a:latin typeface="Pretendard"/>
              </a:rPr>
              <a:t>. R-C-T-F + </a:t>
            </a:r>
            <a:r>
              <a:rPr lang="ko-KR" altLang="en-US" sz="1600">
                <a:solidFill>
                  <a:srgbClr val="576176"/>
                </a:solidFill>
                <a:latin typeface="Pretendard"/>
              </a:rPr>
              <a:t>예시로 품질을 통제한다</a:t>
            </a:r>
            <a:r>
              <a:rPr lang="en-US" altLang="ko-KR" sz="1600">
                <a:solidFill>
                  <a:srgbClr val="576176"/>
                </a:solidFill>
                <a:latin typeface="Pretendard"/>
              </a:rPr>
              <a:t>.</a:t>
            </a:r>
            <a:endParaRPr lang="ko-KR" altLang="en-US" sz="1600">
              <a:solidFill>
                <a:srgbClr val="576176"/>
              </a:solidFill>
              <a:latin typeface="Pretendard"/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5F510DBB-BC62-F444-9F1A-D18A910167FE}"/>
              </a:ext>
            </a:extLst>
          </p:cNvPr>
          <p:cNvSpPr/>
          <p:nvPr/>
        </p:nvSpPr>
        <p:spPr>
          <a:xfrm>
            <a:off x="1778000" y="4419600"/>
            <a:ext cx="2540000" cy="838200"/>
          </a:xfrm>
          <a:prstGeom prst="roundRect">
            <a:avLst/>
          </a:prstGeom>
          <a:solidFill>
            <a:srgbClr val="14213D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ko-KR" altLang="en-US" sz="1600" b="1">
                <a:solidFill>
                  <a:srgbClr val="FFFFFF"/>
                </a:solidFill>
                <a:latin typeface="Pretendard"/>
              </a:rPr>
              <a:t>막연한 요청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027571E-6E52-0B45-821F-B05F36CB16BB}"/>
              </a:ext>
            </a:extLst>
          </p:cNvPr>
          <p:cNvSpPr txBox="1"/>
          <p:nvPr/>
        </p:nvSpPr>
        <p:spPr>
          <a:xfrm>
            <a:off x="4318000" y="4419600"/>
            <a:ext cx="508000" cy="838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ko-KR" altLang="en-US" sz="2400" b="1">
                <a:solidFill>
                  <a:srgbClr val="576176"/>
                </a:solidFill>
                <a:latin typeface="Pretendard"/>
              </a:rPr>
              <a:t>→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958985DE-828F-7A42-BC39-EFB0C67B5E35}"/>
              </a:ext>
            </a:extLst>
          </p:cNvPr>
          <p:cNvSpPr/>
          <p:nvPr/>
        </p:nvSpPr>
        <p:spPr>
          <a:xfrm>
            <a:off x="4826000" y="4419600"/>
            <a:ext cx="2540000" cy="838200"/>
          </a:xfrm>
          <a:prstGeom prst="roundRect">
            <a:avLst/>
          </a:prstGeom>
          <a:solidFill>
            <a:srgbClr val="1D4E89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R" sz="1600" b="1">
                <a:solidFill>
                  <a:srgbClr val="FFFFFF"/>
                </a:solidFill>
                <a:latin typeface="Pretendard"/>
              </a:rPr>
              <a:t>R-C-T-F + </a:t>
            </a:r>
            <a:r>
              <a:rPr lang="ko-KR" altLang="en-US" sz="1600" b="1">
                <a:solidFill>
                  <a:srgbClr val="FFFFFF"/>
                </a:solidFill>
                <a:latin typeface="Pretendard"/>
              </a:rPr>
              <a:t>예시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8EBD82D-AC04-054B-8DBE-C5C92889082C}"/>
              </a:ext>
            </a:extLst>
          </p:cNvPr>
          <p:cNvSpPr txBox="1"/>
          <p:nvPr/>
        </p:nvSpPr>
        <p:spPr>
          <a:xfrm>
            <a:off x="7366000" y="4419600"/>
            <a:ext cx="508000" cy="838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ko-KR" altLang="en-US" sz="2400" b="1">
                <a:solidFill>
                  <a:srgbClr val="576176"/>
                </a:solidFill>
                <a:latin typeface="Pretendard"/>
              </a:rPr>
              <a:t>→</a:t>
            </a: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0DCEE902-126B-CE45-8180-707878B71E6D}"/>
              </a:ext>
            </a:extLst>
          </p:cNvPr>
          <p:cNvSpPr/>
          <p:nvPr/>
        </p:nvSpPr>
        <p:spPr>
          <a:xfrm>
            <a:off x="7874000" y="4419600"/>
            <a:ext cx="2540000" cy="838200"/>
          </a:xfrm>
          <a:prstGeom prst="roundRect">
            <a:avLst/>
          </a:prstGeom>
          <a:solidFill>
            <a:srgbClr val="E8A33D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ko-KR" altLang="en-US" sz="1600" b="1">
                <a:solidFill>
                  <a:srgbClr val="14213D"/>
                </a:solidFill>
                <a:latin typeface="Pretendard"/>
              </a:rPr>
              <a:t>통제된 결과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핵심 개념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핵심 개념</a:t>
            </a: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E46FBD25-2820-9446-93FF-A1410BCB1091}"/>
              </a:ext>
            </a:extLst>
          </p:cNvPr>
          <p:cNvSpPr/>
          <p:nvPr/>
        </p:nvSpPr>
        <p:spPr>
          <a:xfrm>
            <a:off x="825500" y="1905000"/>
            <a:ext cx="3340100" cy="4381500"/>
          </a:xfrm>
          <a:prstGeom prst="roundRect">
            <a:avLst/>
          </a:prstGeom>
          <a:solidFill>
            <a:srgbClr val="F1F5FA"/>
          </a:solidFill>
          <a:ln w="12700" cap="flat" cmpd="sng" algn="ctr">
            <a:solidFill>
              <a:srgbClr val="D9E2E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011061B-C631-414E-91E9-C7C6909950A4}"/>
              </a:ext>
            </a:extLst>
          </p:cNvPr>
          <p:cNvSpPr/>
          <p:nvPr/>
        </p:nvSpPr>
        <p:spPr>
          <a:xfrm>
            <a:off x="825500" y="1905000"/>
            <a:ext cx="3340100" cy="88900"/>
          </a:xfrm>
          <a:prstGeom prst="rect">
            <a:avLst/>
          </a:prstGeom>
          <a:solidFill>
            <a:srgbClr val="14213D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EF08AB08-9F22-8A47-BED3-C0BE339B24F6}"/>
              </a:ext>
            </a:extLst>
          </p:cNvPr>
          <p:cNvSpPr/>
          <p:nvPr/>
        </p:nvSpPr>
        <p:spPr>
          <a:xfrm>
            <a:off x="1130300" y="2311400"/>
            <a:ext cx="939800" cy="431800"/>
          </a:xfrm>
          <a:prstGeom prst="roundRect">
            <a:avLst/>
          </a:prstGeom>
          <a:solidFill>
            <a:srgbClr val="14213D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R" sz="1300" b="1">
                <a:solidFill>
                  <a:srgbClr val="FFFFFF"/>
                </a:solidFill>
                <a:latin typeface="JetBrains Mono"/>
              </a:rPr>
              <a:t>R·C·T·F</a:t>
            </a:r>
            <a:endParaRPr lang="ko-KR" altLang="en-US" sz="1300" b="1">
              <a:solidFill>
                <a:srgbClr val="FFFFFF"/>
              </a:solidFill>
              <a:latin typeface="JetBrains Mono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D63ABBA-602F-CA4C-B6EC-F57857AA59DA}"/>
              </a:ext>
            </a:extLst>
          </p:cNvPr>
          <p:cNvSpPr txBox="1"/>
          <p:nvPr/>
        </p:nvSpPr>
        <p:spPr>
          <a:xfrm>
            <a:off x="1130300" y="2895600"/>
            <a:ext cx="2730500" cy="381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altLang="ko-KR" b="1">
                <a:solidFill>
                  <a:srgbClr val="14213D"/>
                </a:solidFill>
                <a:latin typeface="Pretendard"/>
              </a:rPr>
              <a:t>R-C-T-F</a:t>
            </a:r>
            <a:endParaRPr lang="ko-KR" altLang="en-US" b="1">
              <a:solidFill>
                <a:srgbClr val="14213D"/>
              </a:solidFill>
              <a:latin typeface="Pretendard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52E27C8-F983-7340-A4FE-D45FD0F141F2}"/>
              </a:ext>
            </a:extLst>
          </p:cNvPr>
          <p:cNvSpPr/>
          <p:nvPr/>
        </p:nvSpPr>
        <p:spPr>
          <a:xfrm>
            <a:off x="1130300" y="3378200"/>
            <a:ext cx="2730500" cy="12700"/>
          </a:xfrm>
          <a:prstGeom prst="rect">
            <a:avLst/>
          </a:prstGeom>
          <a:solidFill>
            <a:srgbClr val="D9E2E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CC83FC-6717-5B49-BF55-67F83FA6D835}"/>
              </a:ext>
            </a:extLst>
          </p:cNvPr>
          <p:cNvSpPr txBox="1"/>
          <p:nvPr/>
        </p:nvSpPr>
        <p:spPr>
          <a:xfrm>
            <a:off x="1130300" y="3581400"/>
            <a:ext cx="2730500" cy="1905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altLang="ko-KR" sz="1400">
                <a:solidFill>
                  <a:srgbClr val="576176"/>
                </a:solidFill>
                <a:latin typeface="Pretendard"/>
              </a:rPr>
              <a:t>Role·Context·Task·Format</a:t>
            </a:r>
            <a:r>
              <a:rPr lang="ko-KR" altLang="en-US" sz="1400">
                <a:solidFill>
                  <a:srgbClr val="576176"/>
                </a:solidFill>
                <a:latin typeface="Pretendard"/>
              </a:rPr>
              <a:t>을 명시하면 톤</a:t>
            </a:r>
            <a:r>
              <a:rPr lang="en-US" altLang="ko-KR" sz="1400">
                <a:solidFill>
                  <a:srgbClr val="576176"/>
                </a:solidFill>
                <a:latin typeface="Pretendard"/>
              </a:rPr>
              <a:t>·</a:t>
            </a:r>
            <a:r>
              <a:rPr lang="ko-KR" altLang="en-US" sz="1400">
                <a:solidFill>
                  <a:srgbClr val="576176"/>
                </a:solidFill>
                <a:latin typeface="Pretendard"/>
              </a:rPr>
              <a:t>범위</a:t>
            </a:r>
            <a:r>
              <a:rPr lang="en-US" altLang="ko-KR" sz="1400">
                <a:solidFill>
                  <a:srgbClr val="576176"/>
                </a:solidFill>
                <a:latin typeface="Pretendard"/>
              </a:rPr>
              <a:t>·</a:t>
            </a:r>
            <a:r>
              <a:rPr lang="ko-KR" altLang="en-US" sz="1400">
                <a:solidFill>
                  <a:srgbClr val="576176"/>
                </a:solidFill>
                <a:latin typeface="Pretendard"/>
              </a:rPr>
              <a:t>형태가 안정된다</a:t>
            </a:r>
            <a:r>
              <a:rPr lang="en-US" altLang="ko-KR" sz="1400">
                <a:solidFill>
                  <a:srgbClr val="576176"/>
                </a:solidFill>
                <a:latin typeface="Pretendard"/>
              </a:rPr>
              <a:t>.</a:t>
            </a:r>
            <a:endParaRPr lang="ko-KR" altLang="en-US" sz="1400">
              <a:solidFill>
                <a:srgbClr val="576176"/>
              </a:solidFill>
              <a:latin typeface="Pretendard"/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BE21BD43-DB1B-B842-BD64-9AC9AF4D04B7}"/>
              </a:ext>
            </a:extLst>
          </p:cNvPr>
          <p:cNvSpPr/>
          <p:nvPr/>
        </p:nvSpPr>
        <p:spPr>
          <a:xfrm>
            <a:off x="1130300" y="5562600"/>
            <a:ext cx="2730500" cy="457200"/>
          </a:xfrm>
          <a:prstGeom prst="roundRect">
            <a:avLst/>
          </a:prstGeom>
          <a:solidFill>
            <a:srgbClr val="E7ECF4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45EC2C-4F49-0B42-823F-0F9E5934DAB0}"/>
              </a:ext>
            </a:extLst>
          </p:cNvPr>
          <p:cNvSpPr txBox="1"/>
          <p:nvPr/>
        </p:nvSpPr>
        <p:spPr>
          <a:xfrm>
            <a:off x="1130300" y="5562600"/>
            <a:ext cx="2730500" cy="457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altLang="ko-KR" sz="1350" b="1">
                <a:solidFill>
                  <a:srgbClr val="14213D"/>
                </a:solidFill>
                <a:latin typeface="Pretendard"/>
              </a:rPr>
              <a:t>4</a:t>
            </a:r>
            <a:r>
              <a:rPr lang="ko-KR" altLang="en-US" sz="1350" b="1">
                <a:solidFill>
                  <a:srgbClr val="14213D"/>
                </a:solidFill>
                <a:latin typeface="Pretendard"/>
              </a:rPr>
              <a:t>칸을 채운다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63F4C276-662A-E340-BCBD-C9446D61F426}"/>
              </a:ext>
            </a:extLst>
          </p:cNvPr>
          <p:cNvSpPr/>
          <p:nvPr/>
        </p:nvSpPr>
        <p:spPr>
          <a:xfrm>
            <a:off x="4419600" y="1905000"/>
            <a:ext cx="3340100" cy="4381500"/>
          </a:xfrm>
          <a:prstGeom prst="roundRect">
            <a:avLst/>
          </a:prstGeom>
          <a:solidFill>
            <a:srgbClr val="F1F5FA"/>
          </a:solidFill>
          <a:ln w="12700" cap="flat" cmpd="sng" algn="ctr">
            <a:solidFill>
              <a:srgbClr val="D9E2E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EEB198F-E280-434A-88E6-4A6048A1CECF}"/>
              </a:ext>
            </a:extLst>
          </p:cNvPr>
          <p:cNvSpPr/>
          <p:nvPr/>
        </p:nvSpPr>
        <p:spPr>
          <a:xfrm>
            <a:off x="4419600" y="1905000"/>
            <a:ext cx="3340100" cy="88900"/>
          </a:xfrm>
          <a:prstGeom prst="rect">
            <a:avLst/>
          </a:prstGeom>
          <a:solidFill>
            <a:srgbClr val="1D4E89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4A7BBBA3-6648-2B4E-9024-0AD12C46EA91}"/>
              </a:ext>
            </a:extLst>
          </p:cNvPr>
          <p:cNvSpPr/>
          <p:nvPr/>
        </p:nvSpPr>
        <p:spPr>
          <a:xfrm>
            <a:off x="4724400" y="2311400"/>
            <a:ext cx="939800" cy="431800"/>
          </a:xfrm>
          <a:prstGeom prst="roundRect">
            <a:avLst/>
          </a:prstGeom>
          <a:solidFill>
            <a:srgbClr val="14213D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R" sz="1300" b="1">
                <a:solidFill>
                  <a:srgbClr val="FFFFFF"/>
                </a:solidFill>
                <a:latin typeface="JetBrains Mono"/>
              </a:rPr>
              <a:t>Few</a:t>
            </a:r>
            <a:endParaRPr lang="ko-KR" altLang="en-US" sz="1300" b="1">
              <a:solidFill>
                <a:srgbClr val="FFFFFF"/>
              </a:solidFill>
              <a:latin typeface="JetBrains Mono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A043EC9-B24E-4749-A89F-BD15A8D498C6}"/>
              </a:ext>
            </a:extLst>
          </p:cNvPr>
          <p:cNvSpPr txBox="1"/>
          <p:nvPr/>
        </p:nvSpPr>
        <p:spPr>
          <a:xfrm>
            <a:off x="4724400" y="2895600"/>
            <a:ext cx="2730500" cy="381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altLang="ko-KR" b="1">
                <a:solidFill>
                  <a:srgbClr val="14213D"/>
                </a:solidFill>
                <a:latin typeface="Pretendard"/>
              </a:rPr>
              <a:t>Few-shot</a:t>
            </a:r>
            <a:endParaRPr lang="ko-KR" altLang="en-US" b="1">
              <a:solidFill>
                <a:srgbClr val="14213D"/>
              </a:solidFill>
              <a:latin typeface="Pretendard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5F23AD4B-39E1-BE47-B4F0-8FEE0FA94F58}"/>
              </a:ext>
            </a:extLst>
          </p:cNvPr>
          <p:cNvSpPr/>
          <p:nvPr/>
        </p:nvSpPr>
        <p:spPr>
          <a:xfrm>
            <a:off x="4724400" y="3378200"/>
            <a:ext cx="2730500" cy="12700"/>
          </a:xfrm>
          <a:prstGeom prst="rect">
            <a:avLst/>
          </a:prstGeom>
          <a:solidFill>
            <a:srgbClr val="D9E2E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1BD5812-219E-BF4D-9EB6-D483A5935FF1}"/>
              </a:ext>
            </a:extLst>
          </p:cNvPr>
          <p:cNvSpPr txBox="1"/>
          <p:nvPr/>
        </p:nvSpPr>
        <p:spPr>
          <a:xfrm>
            <a:off x="4724400" y="3581400"/>
            <a:ext cx="2730500" cy="1905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ko-KR" altLang="en-US" sz="1400">
                <a:solidFill>
                  <a:srgbClr val="576176"/>
                </a:solidFill>
                <a:latin typeface="Pretendard"/>
              </a:rPr>
              <a:t>예시 </a:t>
            </a:r>
            <a:r>
              <a:rPr lang="en-US" altLang="ko-KR" sz="1400">
                <a:solidFill>
                  <a:srgbClr val="576176"/>
                </a:solidFill>
                <a:latin typeface="Pretendard"/>
              </a:rPr>
              <a:t>1~3</a:t>
            </a:r>
            <a:r>
              <a:rPr lang="ko-KR" altLang="en-US" sz="1400">
                <a:solidFill>
                  <a:srgbClr val="576176"/>
                </a:solidFill>
                <a:latin typeface="Pretendard"/>
              </a:rPr>
              <a:t>개를 주면 </a:t>
            </a:r>
            <a:r>
              <a:rPr lang="en-US" altLang="ko-KR" sz="1400">
                <a:solidFill>
                  <a:srgbClr val="576176"/>
                </a:solidFill>
                <a:latin typeface="Pretendard"/>
              </a:rPr>
              <a:t>AI</a:t>
            </a:r>
            <a:r>
              <a:rPr lang="ko-KR" altLang="en-US" sz="1400">
                <a:solidFill>
                  <a:srgbClr val="576176"/>
                </a:solidFill>
                <a:latin typeface="Pretendard"/>
              </a:rPr>
              <a:t>가 스타일을 모방한다</a:t>
            </a:r>
            <a:r>
              <a:rPr lang="en-US" altLang="ko-KR" sz="1400">
                <a:solidFill>
                  <a:srgbClr val="576176"/>
                </a:solidFill>
                <a:latin typeface="Pretendard"/>
              </a:rPr>
              <a:t>. </a:t>
            </a:r>
            <a:r>
              <a:rPr lang="ko-KR" altLang="en-US" sz="1400">
                <a:solidFill>
                  <a:srgbClr val="576176"/>
                </a:solidFill>
                <a:latin typeface="Pretendard"/>
              </a:rPr>
              <a:t>톤을 통일하는 강력한 장치</a:t>
            </a:r>
            <a:r>
              <a:rPr lang="en-US" altLang="ko-KR" sz="1400">
                <a:solidFill>
                  <a:srgbClr val="576176"/>
                </a:solidFill>
                <a:latin typeface="Pretendard"/>
              </a:rPr>
              <a:t>.</a:t>
            </a:r>
            <a:endParaRPr lang="ko-KR" altLang="en-US" sz="1400">
              <a:solidFill>
                <a:srgbClr val="576176"/>
              </a:solidFill>
              <a:latin typeface="Pretendard"/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26BF14B3-E048-9746-B1D5-C9622E7BBE1B}"/>
              </a:ext>
            </a:extLst>
          </p:cNvPr>
          <p:cNvSpPr/>
          <p:nvPr/>
        </p:nvSpPr>
        <p:spPr>
          <a:xfrm>
            <a:off x="4724400" y="5562600"/>
            <a:ext cx="2730500" cy="457200"/>
          </a:xfrm>
          <a:prstGeom prst="roundRect">
            <a:avLst/>
          </a:prstGeom>
          <a:solidFill>
            <a:srgbClr val="E4ECF6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79B291E-CE37-AC4F-A7BA-F5DB3C1235BD}"/>
              </a:ext>
            </a:extLst>
          </p:cNvPr>
          <p:cNvSpPr txBox="1"/>
          <p:nvPr/>
        </p:nvSpPr>
        <p:spPr>
          <a:xfrm>
            <a:off x="4724400" y="5562600"/>
            <a:ext cx="2730500" cy="457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ko-KR" altLang="en-US" sz="1350" b="1">
                <a:solidFill>
                  <a:srgbClr val="1D4E89"/>
                </a:solidFill>
                <a:latin typeface="Pretendard"/>
              </a:rPr>
              <a:t>예시로 톤 학습</a:t>
            </a: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5115EF7D-428B-D344-8A7B-32AC025B7A56}"/>
              </a:ext>
            </a:extLst>
          </p:cNvPr>
          <p:cNvSpPr/>
          <p:nvPr/>
        </p:nvSpPr>
        <p:spPr>
          <a:xfrm>
            <a:off x="8013700" y="1905000"/>
            <a:ext cx="3340100" cy="4381500"/>
          </a:xfrm>
          <a:prstGeom prst="roundRect">
            <a:avLst/>
          </a:prstGeom>
          <a:solidFill>
            <a:srgbClr val="F1F5FA"/>
          </a:solidFill>
          <a:ln w="12700" cap="flat" cmpd="sng" algn="ctr">
            <a:solidFill>
              <a:srgbClr val="D9E2E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F1781386-2CB3-734E-A2F3-91206E77D35B}"/>
              </a:ext>
            </a:extLst>
          </p:cNvPr>
          <p:cNvSpPr/>
          <p:nvPr/>
        </p:nvSpPr>
        <p:spPr>
          <a:xfrm>
            <a:off x="8013700" y="1905000"/>
            <a:ext cx="3340100" cy="88900"/>
          </a:xfrm>
          <a:prstGeom prst="rect">
            <a:avLst/>
          </a:prstGeom>
          <a:solidFill>
            <a:srgbClr val="E8A33D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70BB1BE7-642A-BF4C-8D59-E22CF8674298}"/>
              </a:ext>
            </a:extLst>
          </p:cNvPr>
          <p:cNvSpPr/>
          <p:nvPr/>
        </p:nvSpPr>
        <p:spPr>
          <a:xfrm>
            <a:off x="8318500" y="2311400"/>
            <a:ext cx="939800" cy="431800"/>
          </a:xfrm>
          <a:prstGeom prst="roundRect">
            <a:avLst/>
          </a:prstGeom>
          <a:solidFill>
            <a:srgbClr val="14213D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R" sz="1300" b="1">
                <a:solidFill>
                  <a:srgbClr val="FFFFFF"/>
                </a:solidFill>
                <a:latin typeface="JetBrains Mono"/>
              </a:rPr>
              <a:t>Lim</a:t>
            </a:r>
            <a:endParaRPr lang="ko-KR" altLang="en-US" sz="1300" b="1">
              <a:solidFill>
                <a:srgbClr val="FFFFFF"/>
              </a:solidFill>
              <a:latin typeface="JetBrains Mono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EF231F2-2EB0-4041-A239-D2CCEC1F57AB}"/>
              </a:ext>
            </a:extLst>
          </p:cNvPr>
          <p:cNvSpPr txBox="1"/>
          <p:nvPr/>
        </p:nvSpPr>
        <p:spPr>
          <a:xfrm>
            <a:off x="8318500" y="2895600"/>
            <a:ext cx="2730500" cy="381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ko-KR" altLang="en-US" b="1">
                <a:solidFill>
                  <a:srgbClr val="14213D"/>
                </a:solidFill>
                <a:latin typeface="Pretendard"/>
              </a:rPr>
              <a:t>제약 조건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2D0F1195-E2F4-244D-97FA-60CF2BB4BDA8}"/>
              </a:ext>
            </a:extLst>
          </p:cNvPr>
          <p:cNvSpPr/>
          <p:nvPr/>
        </p:nvSpPr>
        <p:spPr>
          <a:xfrm>
            <a:off x="8318500" y="3378200"/>
            <a:ext cx="2730500" cy="12700"/>
          </a:xfrm>
          <a:prstGeom prst="rect">
            <a:avLst/>
          </a:prstGeom>
          <a:solidFill>
            <a:srgbClr val="D9E2E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4009446-99F7-6643-A9E4-10FAEF60B6F6}"/>
              </a:ext>
            </a:extLst>
          </p:cNvPr>
          <p:cNvSpPr txBox="1"/>
          <p:nvPr/>
        </p:nvSpPr>
        <p:spPr>
          <a:xfrm>
            <a:off x="8318500" y="3581400"/>
            <a:ext cx="2730500" cy="1905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ko-KR" altLang="en-US" sz="1400">
                <a:solidFill>
                  <a:srgbClr val="576176"/>
                </a:solidFill>
                <a:latin typeface="Pretendard"/>
              </a:rPr>
              <a:t>글자수</a:t>
            </a:r>
            <a:r>
              <a:rPr lang="en-US" altLang="ko-KR" sz="1400">
                <a:solidFill>
                  <a:srgbClr val="576176"/>
                </a:solidFill>
                <a:latin typeface="Pretendard"/>
              </a:rPr>
              <a:t>·</a:t>
            </a:r>
            <a:r>
              <a:rPr lang="ko-KR" altLang="en-US" sz="1400">
                <a:solidFill>
                  <a:srgbClr val="576176"/>
                </a:solidFill>
                <a:latin typeface="Pretendard"/>
              </a:rPr>
              <a:t>금지어</a:t>
            </a:r>
            <a:r>
              <a:rPr lang="en-US" altLang="ko-KR" sz="1400">
                <a:solidFill>
                  <a:srgbClr val="576176"/>
                </a:solidFill>
                <a:latin typeface="Pretendard"/>
              </a:rPr>
              <a:t>·</a:t>
            </a:r>
            <a:r>
              <a:rPr lang="ko-KR" altLang="en-US" sz="1400">
                <a:solidFill>
                  <a:srgbClr val="576176"/>
                </a:solidFill>
                <a:latin typeface="Pretendard"/>
              </a:rPr>
              <a:t>필수 키워드</a:t>
            </a:r>
            <a:r>
              <a:rPr lang="en-US" altLang="ko-KR" sz="1400">
                <a:solidFill>
                  <a:srgbClr val="576176"/>
                </a:solidFill>
                <a:latin typeface="Pretendard"/>
              </a:rPr>
              <a:t>·</a:t>
            </a:r>
            <a:r>
              <a:rPr lang="ko-KR" altLang="en-US" sz="1400">
                <a:solidFill>
                  <a:srgbClr val="576176"/>
                </a:solidFill>
                <a:latin typeface="Pretendard"/>
              </a:rPr>
              <a:t>말투를 명시한다</a:t>
            </a:r>
            <a:r>
              <a:rPr lang="en-US" altLang="ko-KR" sz="1400">
                <a:solidFill>
                  <a:srgbClr val="576176"/>
                </a:solidFill>
                <a:latin typeface="Pretendard"/>
              </a:rPr>
              <a:t>. </a:t>
            </a:r>
            <a:r>
              <a:rPr lang="ko-KR" altLang="en-US" sz="1400">
                <a:solidFill>
                  <a:srgbClr val="576176"/>
                </a:solidFill>
                <a:latin typeface="Pretendard"/>
              </a:rPr>
              <a:t>빈칸을 남기면 </a:t>
            </a:r>
            <a:r>
              <a:rPr lang="en-US" altLang="ko-KR" sz="1400">
                <a:solidFill>
                  <a:srgbClr val="576176"/>
                </a:solidFill>
                <a:latin typeface="Pretendard"/>
              </a:rPr>
              <a:t>AI</a:t>
            </a:r>
            <a:r>
              <a:rPr lang="ko-KR" altLang="en-US" sz="1400">
                <a:solidFill>
                  <a:srgbClr val="576176"/>
                </a:solidFill>
                <a:latin typeface="Pretendard"/>
              </a:rPr>
              <a:t>가 임의로 채운다</a:t>
            </a:r>
            <a:r>
              <a:rPr lang="en-US" altLang="ko-KR" sz="1400">
                <a:solidFill>
                  <a:srgbClr val="576176"/>
                </a:solidFill>
                <a:latin typeface="Pretendard"/>
              </a:rPr>
              <a:t>.</a:t>
            </a:r>
            <a:endParaRPr lang="ko-KR" altLang="en-US" sz="1400">
              <a:solidFill>
                <a:srgbClr val="576176"/>
              </a:solidFill>
              <a:latin typeface="Pretendard"/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C49F3649-50A4-574B-8A0B-59D0525289DF}"/>
              </a:ext>
            </a:extLst>
          </p:cNvPr>
          <p:cNvSpPr/>
          <p:nvPr/>
        </p:nvSpPr>
        <p:spPr>
          <a:xfrm>
            <a:off x="8318500" y="5562600"/>
            <a:ext cx="2730500" cy="457200"/>
          </a:xfrm>
          <a:prstGeom prst="roundRect">
            <a:avLst/>
          </a:prstGeom>
          <a:solidFill>
            <a:srgbClr val="FBEFD8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90709CB-A922-D148-8F45-E09479395DFC}"/>
              </a:ext>
            </a:extLst>
          </p:cNvPr>
          <p:cNvSpPr txBox="1"/>
          <p:nvPr/>
        </p:nvSpPr>
        <p:spPr>
          <a:xfrm>
            <a:off x="8318500" y="5562600"/>
            <a:ext cx="2730500" cy="457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ko-KR" altLang="en-US" sz="1350" b="1">
                <a:solidFill>
                  <a:srgbClr val="9A6B12"/>
                </a:solidFill>
                <a:latin typeface="Pretendard"/>
              </a:rPr>
              <a:t>빈칸을 남기지 마라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개념 깊이 보기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개념을 예시로 — 우리 케이스에 적용하면</a:t>
            </a: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4DB00536-9337-4049-901B-916F5938922D}"/>
              </a:ext>
            </a:extLst>
          </p:cNvPr>
          <p:cNvSpPr/>
          <p:nvPr/>
        </p:nvSpPr>
        <p:spPr>
          <a:xfrm>
            <a:off x="825500" y="1905000"/>
            <a:ext cx="5461000" cy="4381500"/>
          </a:xfrm>
          <a:prstGeom prst="roundRect">
            <a:avLst>
              <a:gd name="adj" fmla="val 6415"/>
            </a:avLst>
          </a:prstGeom>
          <a:solidFill>
            <a:srgbClr val="F1F5FA"/>
          </a:solidFill>
          <a:ln w="12700" cap="flat" cmpd="sng" algn="ctr">
            <a:solidFill>
              <a:srgbClr val="D9E2E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83D8DF-F30A-D149-BCDF-A7F56EBEE794}"/>
              </a:ext>
            </a:extLst>
          </p:cNvPr>
          <p:cNvSpPr txBox="1"/>
          <p:nvPr/>
        </p:nvSpPr>
        <p:spPr>
          <a:xfrm>
            <a:off x="1168400" y="2133600"/>
            <a:ext cx="4826000" cy="381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altLang="ko-KR" sz="1900" b="1">
                <a:solidFill>
                  <a:srgbClr val="14213D"/>
                </a:solidFill>
                <a:latin typeface="Pretendard"/>
              </a:rPr>
              <a:t>R-C-T-F</a:t>
            </a:r>
            <a:endParaRPr lang="ko-KR" altLang="en-US" sz="1900" b="1">
              <a:solidFill>
                <a:srgbClr val="14213D"/>
              </a:solidFill>
              <a:latin typeface="Pretendard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C29508-D7E9-5D41-9E72-C7A1BC769037}"/>
              </a:ext>
            </a:extLst>
          </p:cNvPr>
          <p:cNvSpPr txBox="1"/>
          <p:nvPr/>
        </p:nvSpPr>
        <p:spPr>
          <a:xfrm>
            <a:off x="1168400" y="2552700"/>
            <a:ext cx="4826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ko-KR" altLang="en-US" sz="1250">
                <a:solidFill>
                  <a:srgbClr val="576176"/>
                </a:solidFill>
                <a:latin typeface="Pretendard"/>
              </a:rPr>
              <a:t>프롬프트를 채우는 </a:t>
            </a:r>
            <a:r>
              <a:rPr lang="en-US" altLang="ko-KR" sz="1250">
                <a:solidFill>
                  <a:srgbClr val="576176"/>
                </a:solidFill>
                <a:latin typeface="Pretendard"/>
              </a:rPr>
              <a:t>4</a:t>
            </a:r>
            <a:r>
              <a:rPr lang="ko-KR" altLang="en-US" sz="1250">
                <a:solidFill>
                  <a:srgbClr val="576176"/>
                </a:solidFill>
                <a:latin typeface="Pretendard"/>
              </a:rPr>
              <a:t>개의 칸</a:t>
            </a: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1C5F35DC-1E9F-CF4C-ACD3-7F086B5A5AFD}"/>
              </a:ext>
            </a:extLst>
          </p:cNvPr>
          <p:cNvSpPr/>
          <p:nvPr/>
        </p:nvSpPr>
        <p:spPr>
          <a:xfrm>
            <a:off x="1168400" y="2997200"/>
            <a:ext cx="508000" cy="508000"/>
          </a:xfrm>
          <a:prstGeom prst="ellipse">
            <a:avLst/>
          </a:prstGeom>
          <a:solidFill>
            <a:srgbClr val="14213D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R" sz="1600" b="1">
                <a:solidFill>
                  <a:srgbClr val="FFFFFF"/>
                </a:solidFill>
                <a:latin typeface="JetBrains Mono"/>
              </a:rPr>
              <a:t>R</a:t>
            </a:r>
            <a:endParaRPr lang="ko-KR" altLang="en-US" sz="1600" b="1">
              <a:solidFill>
                <a:srgbClr val="FFFFFF"/>
              </a:solidFill>
              <a:latin typeface="JetBrains Mono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E3CB7D-BC29-2C4B-B3A9-EDCA33996E8A}"/>
              </a:ext>
            </a:extLst>
          </p:cNvPr>
          <p:cNvSpPr txBox="1"/>
          <p:nvPr/>
        </p:nvSpPr>
        <p:spPr>
          <a:xfrm>
            <a:off x="1854200" y="2971800"/>
            <a:ext cx="990600" cy="558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ko-KR" altLang="en-US" sz="1500" b="1">
                <a:solidFill>
                  <a:srgbClr val="14213D"/>
                </a:solidFill>
                <a:latin typeface="Pretendard"/>
              </a:rPr>
              <a:t>역할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58547C5-7E49-5A4B-8E10-899CEC52E62C}"/>
              </a:ext>
            </a:extLst>
          </p:cNvPr>
          <p:cNvSpPr txBox="1"/>
          <p:nvPr/>
        </p:nvSpPr>
        <p:spPr>
          <a:xfrm>
            <a:off x="2870200" y="2971800"/>
            <a:ext cx="3175000" cy="558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altLang="ko-KR" sz="1350">
                <a:solidFill>
                  <a:srgbClr val="576176"/>
                </a:solidFill>
                <a:latin typeface="Pretendard"/>
              </a:rPr>
              <a:t>15</a:t>
            </a:r>
            <a:r>
              <a:rPr lang="ko-KR" altLang="en-US" sz="1350">
                <a:solidFill>
                  <a:srgbClr val="576176"/>
                </a:solidFill>
                <a:latin typeface="Pretendard"/>
              </a:rPr>
              <a:t>년차 카피라이터</a:t>
            </a: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96817B43-4DEB-F246-A4E3-D461C9F9B98E}"/>
              </a:ext>
            </a:extLst>
          </p:cNvPr>
          <p:cNvSpPr/>
          <p:nvPr/>
        </p:nvSpPr>
        <p:spPr>
          <a:xfrm>
            <a:off x="1168400" y="3784600"/>
            <a:ext cx="508000" cy="508000"/>
          </a:xfrm>
          <a:prstGeom prst="ellipse">
            <a:avLst/>
          </a:prstGeom>
          <a:solidFill>
            <a:srgbClr val="E8A33D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R" sz="1600" b="1">
                <a:solidFill>
                  <a:srgbClr val="FFFFFF"/>
                </a:solidFill>
                <a:latin typeface="JetBrains Mono"/>
              </a:rPr>
              <a:t>C</a:t>
            </a:r>
            <a:endParaRPr lang="ko-KR" altLang="en-US" sz="1600" b="1">
              <a:solidFill>
                <a:srgbClr val="FFFFFF"/>
              </a:solidFill>
              <a:latin typeface="JetBrains Mono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A53BF36-3406-604A-BE61-FD6158DBACEA}"/>
              </a:ext>
            </a:extLst>
          </p:cNvPr>
          <p:cNvSpPr txBox="1"/>
          <p:nvPr/>
        </p:nvSpPr>
        <p:spPr>
          <a:xfrm>
            <a:off x="1854200" y="3759200"/>
            <a:ext cx="990600" cy="558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ko-KR" altLang="en-US" sz="1500" b="1">
                <a:solidFill>
                  <a:srgbClr val="14213D"/>
                </a:solidFill>
                <a:latin typeface="Pretendard"/>
              </a:rPr>
              <a:t>맥락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1E6C61A-F2DC-D349-8877-50221CCE519A}"/>
              </a:ext>
            </a:extLst>
          </p:cNvPr>
          <p:cNvSpPr txBox="1"/>
          <p:nvPr/>
        </p:nvSpPr>
        <p:spPr>
          <a:xfrm>
            <a:off x="2870200" y="3759200"/>
            <a:ext cx="3175000" cy="558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altLang="ko-KR" sz="1350">
                <a:solidFill>
                  <a:srgbClr val="576176"/>
                </a:solidFill>
                <a:latin typeface="Pretendard"/>
              </a:rPr>
              <a:t>30</a:t>
            </a:r>
            <a:r>
              <a:rPr lang="ko-KR" altLang="en-US" sz="1350">
                <a:solidFill>
                  <a:srgbClr val="576176"/>
                </a:solidFill>
                <a:latin typeface="Pretendard"/>
              </a:rPr>
              <a:t>대 타깃</a:t>
            </a:r>
            <a:r>
              <a:rPr lang="en-US" altLang="ko-KR" sz="1350">
                <a:solidFill>
                  <a:srgbClr val="576176"/>
                </a:solidFill>
                <a:latin typeface="Pretendard"/>
              </a:rPr>
              <a:t>, </a:t>
            </a:r>
            <a:r>
              <a:rPr lang="ko-KR" altLang="en-US" sz="1350">
                <a:solidFill>
                  <a:srgbClr val="576176"/>
                </a:solidFill>
                <a:latin typeface="Pretendard"/>
              </a:rPr>
              <a:t>위트</a:t>
            </a: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BC210F9D-7756-FF49-AFF6-935DF0BA484D}"/>
              </a:ext>
            </a:extLst>
          </p:cNvPr>
          <p:cNvSpPr/>
          <p:nvPr/>
        </p:nvSpPr>
        <p:spPr>
          <a:xfrm>
            <a:off x="1168400" y="4572000"/>
            <a:ext cx="508000" cy="508000"/>
          </a:xfrm>
          <a:prstGeom prst="ellipse">
            <a:avLst/>
          </a:prstGeom>
          <a:solidFill>
            <a:srgbClr val="14213D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R" sz="1600" b="1">
                <a:solidFill>
                  <a:srgbClr val="FFFFFF"/>
                </a:solidFill>
                <a:latin typeface="JetBrains Mono"/>
              </a:rPr>
              <a:t>T</a:t>
            </a:r>
            <a:endParaRPr lang="ko-KR" altLang="en-US" sz="1600" b="1">
              <a:solidFill>
                <a:srgbClr val="FFFFFF"/>
              </a:solidFill>
              <a:latin typeface="JetBrains Mono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A5D6AE-9ED8-5849-8FFA-65A54EFDEED6}"/>
              </a:ext>
            </a:extLst>
          </p:cNvPr>
          <p:cNvSpPr txBox="1"/>
          <p:nvPr/>
        </p:nvSpPr>
        <p:spPr>
          <a:xfrm>
            <a:off x="1854200" y="4546600"/>
            <a:ext cx="990600" cy="558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ko-KR" altLang="en-US" sz="1500" b="1">
                <a:solidFill>
                  <a:srgbClr val="14213D"/>
                </a:solidFill>
                <a:latin typeface="Pretendard"/>
              </a:rPr>
              <a:t>작업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1850E47-B70C-704C-B2B0-A4CCA228F962}"/>
              </a:ext>
            </a:extLst>
          </p:cNvPr>
          <p:cNvSpPr txBox="1"/>
          <p:nvPr/>
        </p:nvSpPr>
        <p:spPr>
          <a:xfrm>
            <a:off x="2870200" y="4546600"/>
            <a:ext cx="3175000" cy="558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ko-KR" altLang="en-US" sz="1350">
                <a:solidFill>
                  <a:srgbClr val="576176"/>
                </a:solidFill>
                <a:latin typeface="Pretendard"/>
              </a:rPr>
              <a:t>헤드라인 </a:t>
            </a:r>
            <a:r>
              <a:rPr lang="en-US" altLang="ko-KR" sz="1350">
                <a:solidFill>
                  <a:srgbClr val="576176"/>
                </a:solidFill>
                <a:latin typeface="Pretendard"/>
              </a:rPr>
              <a:t>5</a:t>
            </a:r>
            <a:r>
              <a:rPr lang="ko-KR" altLang="en-US" sz="1350">
                <a:solidFill>
                  <a:srgbClr val="576176"/>
                </a:solidFill>
                <a:latin typeface="Pretendard"/>
              </a:rPr>
              <a:t>개</a:t>
            </a: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605CC879-ABB9-4C4A-91C2-C7C2BD222247}"/>
              </a:ext>
            </a:extLst>
          </p:cNvPr>
          <p:cNvSpPr/>
          <p:nvPr/>
        </p:nvSpPr>
        <p:spPr>
          <a:xfrm>
            <a:off x="1168400" y="5359400"/>
            <a:ext cx="508000" cy="508000"/>
          </a:xfrm>
          <a:prstGeom prst="ellipse">
            <a:avLst/>
          </a:prstGeom>
          <a:solidFill>
            <a:srgbClr val="E8A33D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R" sz="1600" b="1">
                <a:solidFill>
                  <a:srgbClr val="FFFFFF"/>
                </a:solidFill>
                <a:latin typeface="JetBrains Mono"/>
              </a:rPr>
              <a:t>F</a:t>
            </a:r>
            <a:endParaRPr lang="ko-KR" altLang="en-US" sz="1600" b="1">
              <a:solidFill>
                <a:srgbClr val="FFFFFF"/>
              </a:solidFill>
              <a:latin typeface="JetBrains Mono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9EBE9B5-354D-8E47-BD3C-23370611103B}"/>
              </a:ext>
            </a:extLst>
          </p:cNvPr>
          <p:cNvSpPr txBox="1"/>
          <p:nvPr/>
        </p:nvSpPr>
        <p:spPr>
          <a:xfrm>
            <a:off x="1854200" y="5334000"/>
            <a:ext cx="990600" cy="558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ko-KR" altLang="en-US" sz="1500" b="1">
                <a:solidFill>
                  <a:srgbClr val="14213D"/>
                </a:solidFill>
                <a:latin typeface="Pretendard"/>
              </a:rPr>
              <a:t>형식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BDED580-201F-514F-BFA4-2FDD4F4B48DA}"/>
              </a:ext>
            </a:extLst>
          </p:cNvPr>
          <p:cNvSpPr txBox="1"/>
          <p:nvPr/>
        </p:nvSpPr>
        <p:spPr>
          <a:xfrm>
            <a:off x="2870200" y="5334000"/>
            <a:ext cx="3175000" cy="558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altLang="ko-KR" sz="1350">
                <a:solidFill>
                  <a:srgbClr val="576176"/>
                </a:solidFill>
                <a:latin typeface="Pretendard"/>
              </a:rPr>
              <a:t>25</a:t>
            </a:r>
            <a:r>
              <a:rPr lang="ko-KR" altLang="en-US" sz="1350">
                <a:solidFill>
                  <a:srgbClr val="576176"/>
                </a:solidFill>
                <a:latin typeface="Pretendard"/>
              </a:rPr>
              <a:t>자</a:t>
            </a:r>
            <a:r>
              <a:rPr lang="en-US" altLang="ko-KR" sz="1350">
                <a:solidFill>
                  <a:srgbClr val="576176"/>
                </a:solidFill>
                <a:latin typeface="Pretendard"/>
              </a:rPr>
              <a:t>, </a:t>
            </a:r>
            <a:r>
              <a:rPr lang="ko-KR" altLang="en-US" sz="1350">
                <a:solidFill>
                  <a:srgbClr val="576176"/>
                </a:solidFill>
                <a:latin typeface="Pretendard"/>
              </a:rPr>
              <a:t>이모지 금지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7BDE9DC-A40B-AB4A-BF28-E3239D93FD70}"/>
              </a:ext>
            </a:extLst>
          </p:cNvPr>
          <p:cNvSpPr txBox="1"/>
          <p:nvPr/>
        </p:nvSpPr>
        <p:spPr>
          <a:xfrm>
            <a:off x="1168400" y="5918200"/>
            <a:ext cx="50800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ko-KR" altLang="en-US" sz="1250" i="1">
                <a:solidFill>
                  <a:srgbClr val="1D4E89"/>
                </a:solidFill>
                <a:latin typeface="JetBrains Mono"/>
              </a:rPr>
              <a:t>→ </a:t>
            </a:r>
            <a:r>
              <a:rPr lang="en-US" altLang="ko-KR" sz="1250" i="1">
                <a:solidFill>
                  <a:srgbClr val="1D4E89"/>
                </a:solidFill>
                <a:latin typeface="JetBrains Mono"/>
              </a:rPr>
              <a:t>4</a:t>
            </a:r>
            <a:r>
              <a:rPr lang="ko-KR" altLang="en-US" sz="1250" i="1">
                <a:solidFill>
                  <a:srgbClr val="1D4E89"/>
                </a:solidFill>
                <a:latin typeface="JetBrains Mono"/>
              </a:rPr>
              <a:t>칸을 다 채울수록 결과가 정확해진다</a:t>
            </a: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CAE6A6AC-3B36-7C43-9210-8AB8566F748C}"/>
              </a:ext>
            </a:extLst>
          </p:cNvPr>
          <p:cNvSpPr/>
          <p:nvPr/>
        </p:nvSpPr>
        <p:spPr>
          <a:xfrm>
            <a:off x="6540500" y="1905000"/>
            <a:ext cx="4826000" cy="4381500"/>
          </a:xfrm>
          <a:prstGeom prst="roundRect">
            <a:avLst>
              <a:gd name="adj" fmla="val 3852"/>
            </a:avLst>
          </a:prstGeom>
          <a:solidFill>
            <a:srgbClr val="14213D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240AA5-1FCC-9147-9FA5-F973059B3DCD}"/>
              </a:ext>
            </a:extLst>
          </p:cNvPr>
          <p:cNvSpPr txBox="1"/>
          <p:nvPr/>
        </p:nvSpPr>
        <p:spPr>
          <a:xfrm>
            <a:off x="6896100" y="2184400"/>
            <a:ext cx="4064000" cy="355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altLang="ko-KR" sz="1900" b="1">
                <a:solidFill>
                  <a:srgbClr val="FFFFFF"/>
                </a:solidFill>
                <a:latin typeface="Pretendard"/>
              </a:rPr>
              <a:t>Few-shot</a:t>
            </a:r>
            <a:endParaRPr lang="ko-KR" altLang="en-US" sz="1900" b="1">
              <a:solidFill>
                <a:srgbClr val="FFFFFF"/>
              </a:solidFill>
              <a:latin typeface="Pretendard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CC76702-0151-C947-BC8C-2CD8DC1D92A0}"/>
              </a:ext>
            </a:extLst>
          </p:cNvPr>
          <p:cNvSpPr txBox="1"/>
          <p:nvPr/>
        </p:nvSpPr>
        <p:spPr>
          <a:xfrm>
            <a:off x="6896100" y="2578100"/>
            <a:ext cx="4064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ko-KR" altLang="en-US" sz="1250">
                <a:solidFill>
                  <a:srgbClr val="E8A33D"/>
                </a:solidFill>
                <a:latin typeface="Pretendard"/>
              </a:rPr>
              <a:t>예시 한 줄로 톤을 학습시킨다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C0242EA-007D-0F4C-A63C-45E1576CDD18}"/>
              </a:ext>
            </a:extLst>
          </p:cNvPr>
          <p:cNvSpPr/>
          <p:nvPr/>
        </p:nvSpPr>
        <p:spPr>
          <a:xfrm>
            <a:off x="6896100" y="3175000"/>
            <a:ext cx="3962400" cy="1219200"/>
          </a:xfrm>
          <a:prstGeom prst="roundRect">
            <a:avLst/>
          </a:prstGeom>
          <a:solidFill>
            <a:srgbClr val="20314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BE25DF6-5E2E-9D4D-A15C-8AE52B4474FF}"/>
              </a:ext>
            </a:extLst>
          </p:cNvPr>
          <p:cNvSpPr txBox="1"/>
          <p:nvPr/>
        </p:nvSpPr>
        <p:spPr>
          <a:xfrm>
            <a:off x="7048500" y="3175000"/>
            <a:ext cx="3657600" cy="1219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ko-KR" altLang="en-US" sz="1700" b="1" i="1">
                <a:solidFill>
                  <a:srgbClr val="E8A33D"/>
                </a:solidFill>
                <a:latin typeface="Pretendard"/>
              </a:rPr>
              <a:t>“퇴근 후 한 캔</a:t>
            </a:r>
            <a:r>
              <a:rPr lang="en-US" altLang="ko-KR" sz="1700" b="1" i="1">
                <a:solidFill>
                  <a:srgbClr val="E8A33D"/>
                </a:solidFill>
                <a:latin typeface="Pretendard"/>
              </a:rPr>
              <a:t>, </a:t>
            </a:r>
            <a:r>
              <a:rPr lang="ko-KR" altLang="en-US" sz="1700" b="1" i="1">
                <a:solidFill>
                  <a:srgbClr val="E8A33D"/>
                </a:solidFill>
                <a:latin typeface="Pretendard"/>
              </a:rPr>
              <a:t>죄책감은 빼고”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45E1287-D8FB-714C-9CC0-34903CA1BCF8}"/>
              </a:ext>
            </a:extLst>
          </p:cNvPr>
          <p:cNvSpPr txBox="1"/>
          <p:nvPr/>
        </p:nvSpPr>
        <p:spPr>
          <a:xfrm>
            <a:off x="6896100" y="4572000"/>
            <a:ext cx="3962400" cy="889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ko-KR" altLang="en-US" sz="1400">
                <a:solidFill>
                  <a:srgbClr val="C9D3E2"/>
                </a:solidFill>
                <a:latin typeface="Pretendard"/>
              </a:rPr>
              <a:t>예시 한 줄만 줘도</a:t>
            </a:r>
            <a:r>
              <a:rPr lang="en-US" altLang="ko-KR" sz="1400">
                <a:solidFill>
                  <a:srgbClr val="C9D3E2"/>
                </a:solidFill>
                <a:latin typeface="Pretendard"/>
              </a:rPr>
              <a:t>, </a:t>
            </a:r>
            <a:r>
              <a:rPr lang="ko-KR" altLang="en-US" sz="1400">
                <a:solidFill>
                  <a:srgbClr val="C9D3E2"/>
                </a:solidFill>
                <a:latin typeface="Pretendard"/>
              </a:rPr>
              <a:t>이후 카피의 톤이 그 결을 그대로 따라온다</a:t>
            </a:r>
            <a:r>
              <a:rPr lang="en-US" altLang="ko-KR" sz="1400">
                <a:solidFill>
                  <a:srgbClr val="C9D3E2"/>
                </a:solidFill>
                <a:latin typeface="Pretendard"/>
              </a:rPr>
              <a:t>.</a:t>
            </a:r>
            <a:endParaRPr lang="ko-KR" altLang="en-US" sz="1400">
              <a:solidFill>
                <a:srgbClr val="C9D3E2"/>
              </a:solidFill>
              <a:latin typeface="Pretendard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983362E-2D03-544F-B2CC-FBA9FA2AEF93}"/>
              </a:ext>
            </a:extLst>
          </p:cNvPr>
          <p:cNvSpPr txBox="1"/>
          <p:nvPr/>
        </p:nvSpPr>
        <p:spPr>
          <a:xfrm>
            <a:off x="6896100" y="5740400"/>
            <a:ext cx="3175000" cy="304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ko-KR" altLang="en-US" sz="1300" b="1">
                <a:solidFill>
                  <a:srgbClr val="E8A33D"/>
                </a:solidFill>
                <a:latin typeface="JetBrains Mono"/>
              </a:rPr>
              <a:t>결과 톤 일관성 ↑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절차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실습 절차 — 직접 해봅니다</a:t>
            </a: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965C5D74-4A17-A34C-AE55-8C497B0BAF29}"/>
              </a:ext>
            </a:extLst>
          </p:cNvPr>
          <p:cNvSpPr/>
          <p:nvPr/>
        </p:nvSpPr>
        <p:spPr>
          <a:xfrm>
            <a:off x="825500" y="1930400"/>
            <a:ext cx="10541000" cy="939800"/>
          </a:xfrm>
          <a:prstGeom prst="roundRect">
            <a:avLst/>
          </a:prstGeom>
          <a:solidFill>
            <a:srgbClr val="F1F5FA"/>
          </a:solidFill>
          <a:ln w="12700" cap="flat" cmpd="sng" algn="ctr">
            <a:solidFill>
              <a:srgbClr val="D9E2E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01FCD50-2B2E-1B43-9B45-2EA9BFC840AB}"/>
              </a:ext>
            </a:extLst>
          </p:cNvPr>
          <p:cNvSpPr/>
          <p:nvPr/>
        </p:nvSpPr>
        <p:spPr>
          <a:xfrm>
            <a:off x="825500" y="1930400"/>
            <a:ext cx="76200" cy="939800"/>
          </a:xfrm>
          <a:prstGeom prst="rect">
            <a:avLst/>
          </a:prstGeom>
          <a:solidFill>
            <a:srgbClr val="E8A33D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2C111519-9996-5F44-A4BC-31CAB2C29A86}"/>
              </a:ext>
            </a:extLst>
          </p:cNvPr>
          <p:cNvSpPr/>
          <p:nvPr/>
        </p:nvSpPr>
        <p:spPr>
          <a:xfrm>
            <a:off x="1143000" y="2159000"/>
            <a:ext cx="482600" cy="482600"/>
          </a:xfrm>
          <a:prstGeom prst="ellipse">
            <a:avLst/>
          </a:prstGeom>
          <a:solidFill>
            <a:srgbClr val="14213D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R" sz="1600" b="1">
                <a:solidFill>
                  <a:srgbClr val="FFFFFF"/>
                </a:solidFill>
                <a:latin typeface="JetBrains Mono"/>
              </a:rPr>
              <a:t>1</a:t>
            </a:r>
            <a:endParaRPr lang="ko-KR" altLang="en-US" sz="1600" b="1">
              <a:solidFill>
                <a:srgbClr val="FFFFFF"/>
              </a:solidFill>
              <a:latin typeface="JetBrains Mono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FCB596-880C-6B46-B6E3-E83BFC741C6C}"/>
              </a:ext>
            </a:extLst>
          </p:cNvPr>
          <p:cNvSpPr txBox="1"/>
          <p:nvPr/>
        </p:nvSpPr>
        <p:spPr>
          <a:xfrm>
            <a:off x="1905000" y="2095500"/>
            <a:ext cx="2413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ko-KR" altLang="en-US" sz="1600" b="1">
                <a:solidFill>
                  <a:srgbClr val="14213D"/>
                </a:solidFill>
                <a:latin typeface="Pretendard"/>
              </a:rPr>
              <a:t>막연하게 </a:t>
            </a:r>
            <a:r>
              <a:rPr lang="en-US" altLang="ko-KR" sz="1600" b="1">
                <a:solidFill>
                  <a:srgbClr val="14213D"/>
                </a:solidFill>
                <a:latin typeface="Pretendard"/>
              </a:rPr>
              <a:t>1</a:t>
            </a:r>
            <a:r>
              <a:rPr lang="ko-KR" altLang="en-US" sz="1600" b="1">
                <a:solidFill>
                  <a:srgbClr val="14213D"/>
                </a:solidFill>
                <a:latin typeface="Pretendard"/>
              </a:rPr>
              <a:t>번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C96CAC-0C76-C34A-BB6B-D6AFC8C9F6D0}"/>
              </a:ext>
            </a:extLst>
          </p:cNvPr>
          <p:cNvSpPr txBox="1"/>
          <p:nvPr/>
        </p:nvSpPr>
        <p:spPr>
          <a:xfrm>
            <a:off x="4419600" y="2057400"/>
            <a:ext cx="6756400" cy="685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ko-KR" altLang="en-US" sz="1400">
                <a:solidFill>
                  <a:srgbClr val="576176"/>
                </a:solidFill>
                <a:latin typeface="Pretendard"/>
              </a:rPr>
              <a:t>먼저 “카피 써줘”처럼 막연한 프롬프트로 한 번 생성해 본다</a:t>
            </a:r>
            <a:r>
              <a:rPr lang="en-US" altLang="ko-KR" sz="1400">
                <a:solidFill>
                  <a:srgbClr val="576176"/>
                </a:solidFill>
                <a:latin typeface="Pretendard"/>
              </a:rPr>
              <a:t>.</a:t>
            </a:r>
            <a:endParaRPr lang="ko-KR" altLang="en-US" sz="1400">
              <a:solidFill>
                <a:srgbClr val="576176"/>
              </a:solidFill>
              <a:latin typeface="Pretendard"/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BA7CEC8F-BF1A-4D43-A0F4-82B0849C47BB}"/>
              </a:ext>
            </a:extLst>
          </p:cNvPr>
          <p:cNvSpPr/>
          <p:nvPr/>
        </p:nvSpPr>
        <p:spPr>
          <a:xfrm>
            <a:off x="825500" y="2971800"/>
            <a:ext cx="10541000" cy="939800"/>
          </a:xfrm>
          <a:prstGeom prst="roundRect">
            <a:avLst/>
          </a:prstGeom>
          <a:solidFill>
            <a:srgbClr val="F1F5FA"/>
          </a:solidFill>
          <a:ln w="12700" cap="flat" cmpd="sng" algn="ctr">
            <a:solidFill>
              <a:srgbClr val="D9E2E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953EF51-900E-D343-B9F8-143E6C54DBCF}"/>
              </a:ext>
            </a:extLst>
          </p:cNvPr>
          <p:cNvSpPr/>
          <p:nvPr/>
        </p:nvSpPr>
        <p:spPr>
          <a:xfrm>
            <a:off x="825500" y="2971800"/>
            <a:ext cx="76200" cy="939800"/>
          </a:xfrm>
          <a:prstGeom prst="rect">
            <a:avLst/>
          </a:prstGeom>
          <a:solidFill>
            <a:srgbClr val="E8A33D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B4A348A2-E1C0-9648-9913-DB14FC22C87E}"/>
              </a:ext>
            </a:extLst>
          </p:cNvPr>
          <p:cNvSpPr/>
          <p:nvPr/>
        </p:nvSpPr>
        <p:spPr>
          <a:xfrm>
            <a:off x="1143000" y="3200400"/>
            <a:ext cx="482600" cy="482600"/>
          </a:xfrm>
          <a:prstGeom prst="ellipse">
            <a:avLst/>
          </a:prstGeom>
          <a:solidFill>
            <a:srgbClr val="14213D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R" sz="1600" b="1">
                <a:solidFill>
                  <a:srgbClr val="FFFFFF"/>
                </a:solidFill>
                <a:latin typeface="JetBrains Mono"/>
              </a:rPr>
              <a:t>2</a:t>
            </a:r>
            <a:endParaRPr lang="ko-KR" altLang="en-US" sz="1600" b="1">
              <a:solidFill>
                <a:srgbClr val="FFFFFF"/>
              </a:solidFill>
              <a:latin typeface="JetBrains Mono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933297D-3B87-1F49-8FFE-FFC4999E5571}"/>
              </a:ext>
            </a:extLst>
          </p:cNvPr>
          <p:cNvSpPr txBox="1"/>
          <p:nvPr/>
        </p:nvSpPr>
        <p:spPr>
          <a:xfrm>
            <a:off x="1905000" y="3136900"/>
            <a:ext cx="2413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ko-KR" altLang="en-US" sz="1600" b="1">
                <a:solidFill>
                  <a:srgbClr val="14213D"/>
                </a:solidFill>
                <a:latin typeface="Pretendard"/>
              </a:rPr>
              <a:t>구조 넣어 재생성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44F74E-CA22-D04C-8695-81B39A4D5C15}"/>
              </a:ext>
            </a:extLst>
          </p:cNvPr>
          <p:cNvSpPr txBox="1"/>
          <p:nvPr/>
        </p:nvSpPr>
        <p:spPr>
          <a:xfrm>
            <a:off x="4419600" y="3098800"/>
            <a:ext cx="6756400" cy="685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altLang="ko-KR" sz="1400">
                <a:solidFill>
                  <a:srgbClr val="576176"/>
                </a:solidFill>
                <a:latin typeface="Pretendard"/>
              </a:rPr>
              <a:t>R-C-T-F + </a:t>
            </a:r>
            <a:r>
              <a:rPr lang="ko-KR" altLang="en-US" sz="1400">
                <a:solidFill>
                  <a:srgbClr val="576176"/>
                </a:solidFill>
                <a:latin typeface="Pretendard"/>
              </a:rPr>
              <a:t>제약 조건 </a:t>
            </a:r>
            <a:r>
              <a:rPr lang="en-US" altLang="ko-KR" sz="1400">
                <a:solidFill>
                  <a:srgbClr val="576176"/>
                </a:solidFill>
                <a:latin typeface="Pretendard"/>
              </a:rPr>
              <a:t>+ </a:t>
            </a:r>
            <a:r>
              <a:rPr lang="ko-KR" altLang="en-US" sz="1400">
                <a:solidFill>
                  <a:srgbClr val="576176"/>
                </a:solidFill>
                <a:latin typeface="Pretendard"/>
              </a:rPr>
              <a:t>예시 </a:t>
            </a:r>
            <a:r>
              <a:rPr lang="en-US" altLang="ko-KR" sz="1400">
                <a:solidFill>
                  <a:srgbClr val="576176"/>
                </a:solidFill>
                <a:latin typeface="Pretendard"/>
              </a:rPr>
              <a:t>1</a:t>
            </a:r>
            <a:r>
              <a:rPr lang="ko-KR" altLang="en-US" sz="1400">
                <a:solidFill>
                  <a:srgbClr val="576176"/>
                </a:solidFill>
                <a:latin typeface="Pretendard"/>
              </a:rPr>
              <a:t>개를 넣어 다시 생성한다</a:t>
            </a:r>
            <a:r>
              <a:rPr lang="en-US" altLang="ko-KR" sz="1400">
                <a:solidFill>
                  <a:srgbClr val="576176"/>
                </a:solidFill>
                <a:latin typeface="Pretendard"/>
              </a:rPr>
              <a:t>.</a:t>
            </a:r>
            <a:endParaRPr lang="ko-KR" altLang="en-US" sz="1400">
              <a:solidFill>
                <a:srgbClr val="576176"/>
              </a:solidFill>
              <a:latin typeface="Pretendard"/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B2827204-0302-3F4E-BB83-C8644F09B873}"/>
              </a:ext>
            </a:extLst>
          </p:cNvPr>
          <p:cNvSpPr/>
          <p:nvPr/>
        </p:nvSpPr>
        <p:spPr>
          <a:xfrm>
            <a:off x="825500" y="4013200"/>
            <a:ext cx="10541000" cy="939800"/>
          </a:xfrm>
          <a:prstGeom prst="roundRect">
            <a:avLst/>
          </a:prstGeom>
          <a:solidFill>
            <a:srgbClr val="F1F5FA"/>
          </a:solidFill>
          <a:ln w="12700" cap="flat" cmpd="sng" algn="ctr">
            <a:solidFill>
              <a:srgbClr val="D9E2E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AFB2195-27FB-3846-B645-703F1D5830AC}"/>
              </a:ext>
            </a:extLst>
          </p:cNvPr>
          <p:cNvSpPr/>
          <p:nvPr/>
        </p:nvSpPr>
        <p:spPr>
          <a:xfrm>
            <a:off x="825500" y="4013200"/>
            <a:ext cx="76200" cy="939800"/>
          </a:xfrm>
          <a:prstGeom prst="rect">
            <a:avLst/>
          </a:prstGeom>
          <a:solidFill>
            <a:srgbClr val="E8A33D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844AD126-C642-4B4A-8E56-6C1EDD7326A1}"/>
              </a:ext>
            </a:extLst>
          </p:cNvPr>
          <p:cNvSpPr/>
          <p:nvPr/>
        </p:nvSpPr>
        <p:spPr>
          <a:xfrm>
            <a:off x="1143000" y="4241800"/>
            <a:ext cx="482600" cy="482600"/>
          </a:xfrm>
          <a:prstGeom prst="ellipse">
            <a:avLst/>
          </a:prstGeom>
          <a:solidFill>
            <a:srgbClr val="14213D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R" sz="1600" b="1">
                <a:solidFill>
                  <a:srgbClr val="FFFFFF"/>
                </a:solidFill>
                <a:latin typeface="JetBrains Mono"/>
              </a:rPr>
              <a:t>3</a:t>
            </a:r>
            <a:endParaRPr lang="ko-KR" altLang="en-US" sz="1600" b="1">
              <a:solidFill>
                <a:srgbClr val="FFFFFF"/>
              </a:solidFill>
              <a:latin typeface="JetBrains Mono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4367406-AF8D-1E43-9B53-4046A61484BE}"/>
              </a:ext>
            </a:extLst>
          </p:cNvPr>
          <p:cNvSpPr txBox="1"/>
          <p:nvPr/>
        </p:nvSpPr>
        <p:spPr>
          <a:xfrm>
            <a:off x="1905000" y="4178300"/>
            <a:ext cx="2413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ko-KR" altLang="en-US" sz="1600" b="1">
                <a:solidFill>
                  <a:srgbClr val="14213D"/>
                </a:solidFill>
                <a:latin typeface="Pretendard"/>
              </a:rPr>
              <a:t>나란히 비교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4641EB6-97BE-D540-922F-AABDC63CCEFA}"/>
              </a:ext>
            </a:extLst>
          </p:cNvPr>
          <p:cNvSpPr txBox="1"/>
          <p:nvPr/>
        </p:nvSpPr>
        <p:spPr>
          <a:xfrm>
            <a:off x="4419600" y="4140200"/>
            <a:ext cx="6756400" cy="685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ko-KR" altLang="en-US" sz="1400">
                <a:solidFill>
                  <a:srgbClr val="576176"/>
                </a:solidFill>
                <a:latin typeface="Pretendard"/>
              </a:rPr>
              <a:t>두 결과를 나란히 놓고 톤</a:t>
            </a:r>
            <a:r>
              <a:rPr lang="en-US" altLang="ko-KR" sz="1400">
                <a:solidFill>
                  <a:srgbClr val="576176"/>
                </a:solidFill>
                <a:latin typeface="Pretendard"/>
              </a:rPr>
              <a:t>·</a:t>
            </a:r>
            <a:r>
              <a:rPr lang="ko-KR" altLang="en-US" sz="1400">
                <a:solidFill>
                  <a:srgbClr val="576176"/>
                </a:solidFill>
                <a:latin typeface="Pretendard"/>
              </a:rPr>
              <a:t>구체성의 차이를 기록한다</a:t>
            </a:r>
            <a:r>
              <a:rPr lang="en-US" altLang="ko-KR" sz="1400">
                <a:solidFill>
                  <a:srgbClr val="576176"/>
                </a:solidFill>
                <a:latin typeface="Pretendard"/>
              </a:rPr>
              <a:t>.</a:t>
            </a:r>
            <a:endParaRPr lang="ko-KR" altLang="en-US" sz="1400">
              <a:solidFill>
                <a:srgbClr val="576176"/>
              </a:solidFill>
              <a:latin typeface="Pretendard"/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2D37F606-9342-E443-B008-1992C070D855}"/>
              </a:ext>
            </a:extLst>
          </p:cNvPr>
          <p:cNvSpPr/>
          <p:nvPr/>
        </p:nvSpPr>
        <p:spPr>
          <a:xfrm>
            <a:off x="825500" y="5054600"/>
            <a:ext cx="10541000" cy="939800"/>
          </a:xfrm>
          <a:prstGeom prst="roundRect">
            <a:avLst/>
          </a:prstGeom>
          <a:solidFill>
            <a:srgbClr val="F1F5FA"/>
          </a:solidFill>
          <a:ln w="12700" cap="flat" cmpd="sng" algn="ctr">
            <a:solidFill>
              <a:srgbClr val="D9E2E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BB65AC88-6A9E-AD40-B16B-AE7D2EA6CEE1}"/>
              </a:ext>
            </a:extLst>
          </p:cNvPr>
          <p:cNvSpPr/>
          <p:nvPr/>
        </p:nvSpPr>
        <p:spPr>
          <a:xfrm>
            <a:off x="825500" y="5054600"/>
            <a:ext cx="76200" cy="939800"/>
          </a:xfrm>
          <a:prstGeom prst="rect">
            <a:avLst/>
          </a:prstGeom>
          <a:solidFill>
            <a:srgbClr val="E8A33D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EF49BFF5-96BC-544D-936D-70F4166C3FFD}"/>
              </a:ext>
            </a:extLst>
          </p:cNvPr>
          <p:cNvSpPr/>
          <p:nvPr/>
        </p:nvSpPr>
        <p:spPr>
          <a:xfrm>
            <a:off x="1143000" y="5283200"/>
            <a:ext cx="482600" cy="482600"/>
          </a:xfrm>
          <a:prstGeom prst="ellipse">
            <a:avLst/>
          </a:prstGeom>
          <a:solidFill>
            <a:srgbClr val="14213D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altLang="ko-KR" sz="1600" b="1">
                <a:solidFill>
                  <a:srgbClr val="FFFFFF"/>
                </a:solidFill>
                <a:latin typeface="JetBrains Mono"/>
              </a:rPr>
              <a:t>4</a:t>
            </a:r>
            <a:endParaRPr lang="ko-KR" altLang="en-US" sz="1600" b="1">
              <a:solidFill>
                <a:srgbClr val="FFFFFF"/>
              </a:solidFill>
              <a:latin typeface="JetBrains Mono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0017E20-17D7-AB4A-82FC-6B60E4789762}"/>
              </a:ext>
            </a:extLst>
          </p:cNvPr>
          <p:cNvSpPr txBox="1"/>
          <p:nvPr/>
        </p:nvSpPr>
        <p:spPr>
          <a:xfrm>
            <a:off x="1905000" y="5219700"/>
            <a:ext cx="24130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ko-KR" altLang="en-US" sz="1600" b="1">
                <a:solidFill>
                  <a:srgbClr val="14213D"/>
                </a:solidFill>
                <a:latin typeface="Pretendard"/>
              </a:rPr>
              <a:t>템플릿으로 저장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5D60F04-A4CD-4E42-A2E5-4FBA86872434}"/>
              </a:ext>
            </a:extLst>
          </p:cNvPr>
          <p:cNvSpPr txBox="1"/>
          <p:nvPr/>
        </p:nvSpPr>
        <p:spPr>
          <a:xfrm>
            <a:off x="4419600" y="5181600"/>
            <a:ext cx="6756400" cy="685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ko-KR" altLang="en-US" sz="1400">
                <a:solidFill>
                  <a:srgbClr val="576176"/>
                </a:solidFill>
                <a:latin typeface="Pretendard"/>
              </a:rPr>
              <a:t>잘 나온 프롬프트를 ‘내 템플릿’으로 저장해 재사용한다</a:t>
            </a:r>
            <a:r>
              <a:rPr lang="en-US" altLang="ko-KR" sz="1400">
                <a:solidFill>
                  <a:srgbClr val="576176"/>
                </a:solidFill>
                <a:latin typeface="Pretendard"/>
              </a:rPr>
              <a:t>.</a:t>
            </a:r>
            <a:endParaRPr lang="ko-KR" altLang="en-US" sz="1400">
              <a:solidFill>
                <a:srgbClr val="576176"/>
              </a:solidFill>
              <a:latin typeface="Pretendard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프롬프트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R-C-T-F 프롬프트 골격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74519"/>
            <a:ext cx="10332720" cy="4434840"/>
          </a:xfrm>
          <a:prstGeom prst="rect">
            <a:avLst/>
          </a:prstGeom>
          <a:solidFill>
            <a:srgbClr val="10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11480" tIns="502920" rIns="365760" bIns="320040" rtlCol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[역할] 너는 15년차 카피라이터야.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[맥락] 타깃은 30대 직장인, 톤은 위트있지만 과하지 않게.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[작업] 아래 제품의 인스타 헤드라인 5개를 써줘.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[형식] 각 줄 25자 이내, 끝에 어울리는 이모지 금지(텍스트만).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[예시] "퇴근 후 한 캔, 죄책감은 빼고"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제품: 무알콜 수제 맥주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2103120"/>
            <a:ext cx="109728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실제 입력 → 출력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실제 예시 — R-C-T-F로 나온 헤드라인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783080"/>
            <a:ext cx="10332720" cy="1874519"/>
          </a:xfrm>
          <a:prstGeom prst="rect">
            <a:avLst/>
          </a:prstGeom>
          <a:solidFill>
            <a:srgbClr val="10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502920" rIns="320040" rtlCol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25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[역할] 15년차 카피라이터 [맥락] 30대 직장인, 위트있지만 과하지 않게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25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[작업] 인스타 헤드라인 5개 [형식] 각 25자 이내, 이모지 금지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25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[예시] "퇴근 후 한 캔, 죄책감은 빼고"  제품: 무알콜 수제 맥주 Night 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783080"/>
            <a:ext cx="2011680" cy="329184"/>
          </a:xfrm>
          <a:prstGeom prst="rect">
            <a:avLst/>
          </a:prstGeom>
          <a:solidFill>
            <a:srgbClr val="24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400"/>
              </a:spcAft>
            </a:pPr>
            <a:r>
              <a:rPr sz="1200" b="0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▸ 입력 프롬프트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794760"/>
            <a:ext cx="10332720" cy="2514600"/>
          </a:xfrm>
          <a:prstGeom prst="rect">
            <a:avLst/>
          </a:prstGeom>
          <a:solidFill>
            <a:srgbClr val="FBFCFE"/>
          </a:solidFill>
          <a:ln w="12700">
            <a:solidFill>
              <a:srgbClr val="E9EC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502920" rIns="320040" rtlCol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5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1. 퇴근길 무게, 한 캔에 내려놓다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5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2. 오늘 밤은 즐기고, 내일은 멀쩡하게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5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3. 알코올 0.0, 분위기 100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5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4. 죄책감 빼고, 맥주 맛만 더하고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5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5. 한 잔의 여유, 숙취 없는 자유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794760"/>
            <a:ext cx="1828800" cy="329184"/>
          </a:xfrm>
          <a:prstGeom prst="rect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384048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400"/>
              </a:spcAft>
            </a:pPr>
            <a:r>
              <a:rPr sz="12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▸ 나온 결과(예)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좋은예 VS 나쁜예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비교 — 같은 요청, 프롬프트 차이가 결과를 가른다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20240"/>
            <a:ext cx="5029200" cy="4114800"/>
          </a:xfrm>
          <a:prstGeom prst="rect">
            <a:avLst/>
          </a:prstGeom>
          <a:solidFill>
            <a:srgbClr val="F7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320040" rIns="320040" rtlCol="0" anchor="t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700" b="1">
                <a:solidFill>
                  <a:srgbClr val="A63333"/>
                </a:solidFill>
                <a:latin typeface="Noto Serif KR"/>
                <a:ea typeface="Noto Serif KR"/>
                <a:cs typeface="Noto Serif KR"/>
              </a:rPr>
              <a:t>🚫 막연한 프롬프트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A6333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입력: "무알콜 맥주 카피 써줘"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A6333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출력(예): "건강한 선택, 무알콜 맥주!"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A6333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→ 누구에게? 톤은? 길이는? 매번 다르게 나옴</a:t>
            </a:r>
          </a:p>
        </p:txBody>
      </p:sp>
      <p:sp>
        <p:nvSpPr>
          <p:cNvPr id="5" name="Rectangle 4"/>
          <p:cNvSpPr/>
          <p:nvPr/>
        </p:nvSpPr>
        <p:spPr>
          <a:xfrm>
            <a:off x="6245352" y="1920240"/>
            <a:ext cx="5029200" cy="4114800"/>
          </a:xfrm>
          <a:prstGeom prst="rect">
            <a:avLst/>
          </a:prstGeom>
          <a:solidFill>
            <a:srgbClr val="E7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320040" rIns="320040" rtlCol="0" anchor="t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700" b="1">
                <a:solidFill>
                  <a:srgbClr val="2C6B44"/>
                </a:solidFill>
                <a:latin typeface="Noto Serif KR"/>
                <a:ea typeface="Noto Serif KR"/>
                <a:cs typeface="Noto Serif KR"/>
              </a:rPr>
              <a:t>✅ R-C-T-F + 예시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2C6B44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입력: 역할·맥락·작업·형식·예시 모두 명시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2C6B44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출력(예): "퇴근길 무게, 한 캔에 내려놓다"(23자) 외 4개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2C6B44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→ 톤·길이·개수가 의도대로, 재작업 ↓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정리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결과 품질을 높이는 프롬프트 작성 원리와 실습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20240"/>
            <a:ext cx="10332720" cy="1636776"/>
          </a:xfrm>
          <a:prstGeom prst="rect">
            <a:avLst/>
          </a:prstGeom>
          <a:solidFill>
            <a:srgbClr val="FB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228600" rIns="365760" bIns="182880" rtlCol="0" anchor="t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600"/>
              </a:spcAft>
            </a:pPr>
            <a:r>
              <a:rPr sz="1500" b="1">
                <a:solidFill>
                  <a:srgbClr val="B57A1A"/>
                </a:solidFill>
                <a:latin typeface="JetBrains Mono"/>
                <a:ea typeface="JetBrains Mono"/>
                <a:cs typeface="JetBrains Mono"/>
              </a:rPr>
              <a:t>⚠  흔한 실수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형식(글자 수·금지어)을 안 주면 매번 길이·톤이 달라져 재작업이 는다.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예시를 안 주면 톤이 들쭉날쭉 → few-shot 1개만 넣어도 안정된다.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739896"/>
            <a:ext cx="10332720" cy="1005840"/>
          </a:xfrm>
          <a:prstGeom prst="rect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201168" rIns="365760" bIns="182880" rtlCol="0" anchor="t"/>
          <a:lstStyle/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📦  결과물  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나만의 카피 프롬프트 템플릿 1개(R-C-T-F + 예시 슬롯).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도구 가이드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이 모듈에서 쓰는 도구</a:t>
            </a: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4DA0A97E-ED37-B745-8EB7-AA095F1358EC}"/>
              </a:ext>
            </a:extLst>
          </p:cNvPr>
          <p:cNvSpPr/>
          <p:nvPr/>
        </p:nvSpPr>
        <p:spPr>
          <a:xfrm>
            <a:off x="825500" y="1905000"/>
            <a:ext cx="5080000" cy="4381500"/>
          </a:xfrm>
          <a:prstGeom prst="roundRect">
            <a:avLst/>
          </a:prstGeom>
          <a:solidFill>
            <a:srgbClr val="F1F5FA"/>
          </a:solidFill>
          <a:ln w="12700" cap="flat" cmpd="sng" algn="ctr">
            <a:solidFill>
              <a:srgbClr val="D9E2E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93437854-2AE2-1D4E-A5CF-BBA1044E10F8}"/>
              </a:ext>
            </a:extLst>
          </p:cNvPr>
          <p:cNvSpPr/>
          <p:nvPr/>
        </p:nvSpPr>
        <p:spPr>
          <a:xfrm>
            <a:off x="1130300" y="2209800"/>
            <a:ext cx="4470400" cy="736600"/>
          </a:xfrm>
          <a:prstGeom prst="roundRect">
            <a:avLst/>
          </a:prstGeom>
          <a:solidFill>
            <a:srgbClr val="14213D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3869AD-32CC-BE48-9DDE-3E595993EEAD}"/>
              </a:ext>
            </a:extLst>
          </p:cNvPr>
          <p:cNvSpPr txBox="1"/>
          <p:nvPr/>
        </p:nvSpPr>
        <p:spPr>
          <a:xfrm>
            <a:off x="1130300" y="2209800"/>
            <a:ext cx="4470400" cy="736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altLang="ko-KR" sz="2300" b="1">
                <a:solidFill>
                  <a:srgbClr val="FFFFFF"/>
                </a:solidFill>
                <a:latin typeface="Pretendard"/>
              </a:rPr>
              <a:t>ChatGPT</a:t>
            </a:r>
            <a:endParaRPr lang="ko-KR" altLang="en-US" sz="2300" b="1">
              <a:solidFill>
                <a:srgbClr val="FFFFFF"/>
              </a:solidFill>
              <a:latin typeface="Pretendar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72D8837-D2DC-344A-ACED-C774E42B3F17}"/>
              </a:ext>
            </a:extLst>
          </p:cNvPr>
          <p:cNvSpPr txBox="1"/>
          <p:nvPr/>
        </p:nvSpPr>
        <p:spPr>
          <a:xfrm>
            <a:off x="1181100" y="3200400"/>
            <a:ext cx="4368800" cy="228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altLang="ko-KR" sz="1150" b="1">
                <a:solidFill>
                  <a:srgbClr val="576176"/>
                </a:solidFill>
                <a:latin typeface="JetBrains Mono"/>
              </a:rPr>
              <a:t>STRENGTH · </a:t>
            </a:r>
            <a:r>
              <a:rPr lang="ko-KR" altLang="en-US" sz="1150" b="1">
                <a:solidFill>
                  <a:srgbClr val="576176"/>
                </a:solidFill>
                <a:latin typeface="JetBrains Mono"/>
              </a:rPr>
              <a:t>강점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09B449-983C-9743-8A6B-29FF3FC0DAC9}"/>
              </a:ext>
            </a:extLst>
          </p:cNvPr>
          <p:cNvSpPr txBox="1"/>
          <p:nvPr/>
        </p:nvSpPr>
        <p:spPr>
          <a:xfrm>
            <a:off x="1181100" y="3530600"/>
            <a:ext cx="4368800" cy="1397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ko-KR" altLang="en-US" sz="1500">
                <a:solidFill>
                  <a:srgbClr val="2A3B57"/>
                </a:solidFill>
                <a:latin typeface="Pretendard"/>
              </a:rPr>
              <a:t>아이디어 발산과 변형이 빠르다</a:t>
            </a:r>
            <a:r>
              <a:rPr lang="en-US" altLang="ko-KR" sz="1500">
                <a:solidFill>
                  <a:srgbClr val="2A3B57"/>
                </a:solidFill>
                <a:latin typeface="Pretendard"/>
              </a:rPr>
              <a:t>. ‘10</a:t>
            </a:r>
            <a:r>
              <a:rPr lang="ko-KR" altLang="en-US" sz="1500">
                <a:solidFill>
                  <a:srgbClr val="2A3B57"/>
                </a:solidFill>
                <a:latin typeface="Pretendard"/>
              </a:rPr>
              <a:t>개 더’</a:t>
            </a:r>
            <a:r>
              <a:rPr lang="en-US" altLang="ko-KR" sz="1500">
                <a:solidFill>
                  <a:srgbClr val="2A3B57"/>
                </a:solidFill>
                <a:latin typeface="Pretendard"/>
              </a:rPr>
              <a:t>, ‘</a:t>
            </a:r>
            <a:r>
              <a:rPr lang="ko-KR" altLang="en-US" sz="1500">
                <a:solidFill>
                  <a:srgbClr val="2A3B57"/>
                </a:solidFill>
                <a:latin typeface="Pretendard"/>
              </a:rPr>
              <a:t>더 짧게’처럼 반복 지시로 후보를 좁혀간다</a:t>
            </a:r>
            <a:r>
              <a:rPr lang="en-US" altLang="ko-KR" sz="1500">
                <a:solidFill>
                  <a:srgbClr val="2A3B57"/>
                </a:solidFill>
                <a:latin typeface="Pretendard"/>
              </a:rPr>
              <a:t>.</a:t>
            </a:r>
            <a:endParaRPr lang="ko-KR" altLang="en-US" sz="1500">
              <a:solidFill>
                <a:srgbClr val="2A3B57"/>
              </a:solidFill>
              <a:latin typeface="Pretendard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8D6DC2-94E6-4641-82AF-B880ABC6C008}"/>
              </a:ext>
            </a:extLst>
          </p:cNvPr>
          <p:cNvSpPr txBox="1"/>
          <p:nvPr/>
        </p:nvSpPr>
        <p:spPr>
          <a:xfrm>
            <a:off x="1181100" y="5054600"/>
            <a:ext cx="4368800" cy="228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ko-KR" altLang="en-US" sz="1150" b="1">
                <a:solidFill>
                  <a:srgbClr val="14213D"/>
                </a:solidFill>
                <a:latin typeface="JetBrains Mono"/>
              </a:rPr>
              <a:t>이렇게 쓰세요</a:t>
            </a: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0AD110B3-A5E5-A341-9599-447E31E12608}"/>
              </a:ext>
            </a:extLst>
          </p:cNvPr>
          <p:cNvSpPr/>
          <p:nvPr/>
        </p:nvSpPr>
        <p:spPr>
          <a:xfrm>
            <a:off x="1181100" y="5334000"/>
            <a:ext cx="4368800" cy="685800"/>
          </a:xfrm>
          <a:prstGeom prst="roundRect">
            <a:avLst/>
          </a:prstGeom>
          <a:solidFill>
            <a:srgbClr val="E7ECF4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E061F5D-D02C-2748-9C92-7CED6CFECBE3}"/>
              </a:ext>
            </a:extLst>
          </p:cNvPr>
          <p:cNvSpPr txBox="1"/>
          <p:nvPr/>
        </p:nvSpPr>
        <p:spPr>
          <a:xfrm>
            <a:off x="1181100" y="5334000"/>
            <a:ext cx="4368800" cy="685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ko-KR" altLang="en-US" sz="1450" b="1">
                <a:solidFill>
                  <a:srgbClr val="14213D"/>
                </a:solidFill>
                <a:latin typeface="Pretendard"/>
              </a:rPr>
              <a:t>브레인스토밍 </a:t>
            </a:r>
            <a:r>
              <a:rPr lang="en-US" altLang="ko-KR" sz="1450" b="1">
                <a:solidFill>
                  <a:srgbClr val="14213D"/>
                </a:solidFill>
                <a:latin typeface="Pretendard"/>
              </a:rPr>
              <a:t>· </a:t>
            </a:r>
            <a:r>
              <a:rPr lang="ko-KR" altLang="en-US" sz="1450" b="1">
                <a:solidFill>
                  <a:srgbClr val="14213D"/>
                </a:solidFill>
                <a:latin typeface="Pretendard"/>
              </a:rPr>
              <a:t>대량 변형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3766B420-893F-0D46-8F73-8444C1ED8739}"/>
              </a:ext>
            </a:extLst>
          </p:cNvPr>
          <p:cNvSpPr/>
          <p:nvPr/>
        </p:nvSpPr>
        <p:spPr>
          <a:xfrm>
            <a:off x="6286500" y="1905000"/>
            <a:ext cx="5080000" cy="4381500"/>
          </a:xfrm>
          <a:prstGeom prst="roundRect">
            <a:avLst/>
          </a:prstGeom>
          <a:solidFill>
            <a:srgbClr val="F1F5FA"/>
          </a:solidFill>
          <a:ln w="12700" cap="flat" cmpd="sng" algn="ctr">
            <a:solidFill>
              <a:srgbClr val="D9E2E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7CBFA8CA-9CD2-8A41-BD05-4095F82CBC26}"/>
              </a:ext>
            </a:extLst>
          </p:cNvPr>
          <p:cNvSpPr/>
          <p:nvPr/>
        </p:nvSpPr>
        <p:spPr>
          <a:xfrm>
            <a:off x="6591300" y="2209800"/>
            <a:ext cx="4470400" cy="736600"/>
          </a:xfrm>
          <a:prstGeom prst="roundRect">
            <a:avLst/>
          </a:prstGeom>
          <a:solidFill>
            <a:srgbClr val="1D4E89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A65D001-1EF5-D640-BE8D-B45E36827E56}"/>
              </a:ext>
            </a:extLst>
          </p:cNvPr>
          <p:cNvSpPr txBox="1"/>
          <p:nvPr/>
        </p:nvSpPr>
        <p:spPr>
          <a:xfrm>
            <a:off x="6591300" y="2209800"/>
            <a:ext cx="4470400" cy="736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altLang="ko-KR" sz="2300" b="1">
                <a:solidFill>
                  <a:srgbClr val="FFFFFF"/>
                </a:solidFill>
                <a:latin typeface="Pretendard"/>
              </a:rPr>
              <a:t>Claude</a:t>
            </a:r>
            <a:endParaRPr lang="ko-KR" altLang="en-US" sz="2300" b="1">
              <a:solidFill>
                <a:srgbClr val="FFFFFF"/>
              </a:solidFill>
              <a:latin typeface="Pretendard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1633F2-9120-264A-A363-346B63B13862}"/>
              </a:ext>
            </a:extLst>
          </p:cNvPr>
          <p:cNvSpPr txBox="1"/>
          <p:nvPr/>
        </p:nvSpPr>
        <p:spPr>
          <a:xfrm>
            <a:off x="6642100" y="3200400"/>
            <a:ext cx="4368800" cy="228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altLang="ko-KR" sz="1150" b="1">
                <a:solidFill>
                  <a:srgbClr val="576176"/>
                </a:solidFill>
                <a:latin typeface="JetBrains Mono"/>
              </a:rPr>
              <a:t>STRENGTH · </a:t>
            </a:r>
            <a:r>
              <a:rPr lang="ko-KR" altLang="en-US" sz="1150" b="1">
                <a:solidFill>
                  <a:srgbClr val="576176"/>
                </a:solidFill>
                <a:latin typeface="JetBrains Mono"/>
              </a:rPr>
              <a:t>강점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6086536-7E5D-8C4A-BF65-DCEAD0DA6440}"/>
              </a:ext>
            </a:extLst>
          </p:cNvPr>
          <p:cNvSpPr txBox="1"/>
          <p:nvPr/>
        </p:nvSpPr>
        <p:spPr>
          <a:xfrm>
            <a:off x="6642100" y="3530600"/>
            <a:ext cx="4368800" cy="1397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ko-KR" altLang="en-US" sz="1500">
                <a:solidFill>
                  <a:srgbClr val="2A3B57"/>
                </a:solidFill>
                <a:latin typeface="Pretendard"/>
              </a:rPr>
              <a:t>긴 맥락을 잘 유지하고 톤이 일관적이다</a:t>
            </a:r>
            <a:r>
              <a:rPr lang="en-US" altLang="ko-KR" sz="1500">
                <a:solidFill>
                  <a:srgbClr val="2A3B57"/>
                </a:solidFill>
                <a:latin typeface="Pretendard"/>
              </a:rPr>
              <a:t>. </a:t>
            </a:r>
            <a:r>
              <a:rPr lang="ko-KR" altLang="en-US" sz="1500">
                <a:solidFill>
                  <a:srgbClr val="2A3B57"/>
                </a:solidFill>
                <a:latin typeface="Pretendard"/>
              </a:rPr>
              <a:t>메시지 하우스처럼 구조를 지키는 작업에 유리하다</a:t>
            </a:r>
            <a:r>
              <a:rPr lang="en-US" altLang="ko-KR" sz="1500">
                <a:solidFill>
                  <a:srgbClr val="2A3B57"/>
                </a:solidFill>
                <a:latin typeface="Pretendard"/>
              </a:rPr>
              <a:t>.</a:t>
            </a:r>
            <a:endParaRPr lang="ko-KR" altLang="en-US" sz="1500">
              <a:solidFill>
                <a:srgbClr val="2A3B57"/>
              </a:solidFill>
              <a:latin typeface="Pretendard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BCF940C-B4FA-5145-A49A-3A1A8B770630}"/>
              </a:ext>
            </a:extLst>
          </p:cNvPr>
          <p:cNvSpPr txBox="1"/>
          <p:nvPr/>
        </p:nvSpPr>
        <p:spPr>
          <a:xfrm>
            <a:off x="6642100" y="5054600"/>
            <a:ext cx="4368800" cy="228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ko-KR" altLang="en-US" sz="1150" b="1">
                <a:solidFill>
                  <a:srgbClr val="1D4E89"/>
                </a:solidFill>
                <a:latin typeface="JetBrains Mono"/>
              </a:rPr>
              <a:t>이렇게 쓰세요</a:t>
            </a: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54EE7D80-004A-7946-B4AE-7CDA7981A665}"/>
              </a:ext>
            </a:extLst>
          </p:cNvPr>
          <p:cNvSpPr/>
          <p:nvPr/>
        </p:nvSpPr>
        <p:spPr>
          <a:xfrm>
            <a:off x="6642100" y="5334000"/>
            <a:ext cx="4368800" cy="685800"/>
          </a:xfrm>
          <a:prstGeom prst="roundRect">
            <a:avLst/>
          </a:prstGeom>
          <a:solidFill>
            <a:srgbClr val="E4ECF6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16370C1-12F6-4F4D-8737-34D80DD71183}"/>
              </a:ext>
            </a:extLst>
          </p:cNvPr>
          <p:cNvSpPr txBox="1"/>
          <p:nvPr/>
        </p:nvSpPr>
        <p:spPr>
          <a:xfrm>
            <a:off x="6642100" y="5334000"/>
            <a:ext cx="4368800" cy="685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ko-KR" altLang="en-US" sz="1450" b="1">
                <a:solidFill>
                  <a:srgbClr val="1D4E89"/>
                </a:solidFill>
                <a:latin typeface="Pretendard"/>
              </a:rPr>
              <a:t>긴 문서 </a:t>
            </a:r>
            <a:r>
              <a:rPr lang="en-US" altLang="ko-KR" sz="1450" b="1">
                <a:solidFill>
                  <a:srgbClr val="1D4E89"/>
                </a:solidFill>
                <a:latin typeface="Pretendard"/>
              </a:rPr>
              <a:t>· </a:t>
            </a:r>
            <a:r>
              <a:rPr lang="ko-KR" altLang="en-US" sz="1450" b="1">
                <a:solidFill>
                  <a:srgbClr val="1D4E89"/>
                </a:solidFill>
                <a:latin typeface="Pretendard"/>
              </a:rPr>
              <a:t>톤 일관성 작업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CHECKLIST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모듈 체크리스트</a:t>
            </a: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42493D61-81B8-0445-93B8-BA0EBD6B96A2}"/>
              </a:ext>
            </a:extLst>
          </p:cNvPr>
          <p:cNvSpPr/>
          <p:nvPr/>
        </p:nvSpPr>
        <p:spPr>
          <a:xfrm>
            <a:off x="825500" y="2006600"/>
            <a:ext cx="10541000" cy="1219200"/>
          </a:xfrm>
          <a:prstGeom prst="roundRect">
            <a:avLst/>
          </a:prstGeom>
          <a:solidFill>
            <a:srgbClr val="F1F5FA"/>
          </a:solidFill>
          <a:ln w="12700" cap="flat" cmpd="sng" algn="ctr">
            <a:solidFill>
              <a:srgbClr val="D9E2E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9405E114-D535-CA4A-87C1-E757FBCE5AE4}"/>
              </a:ext>
            </a:extLst>
          </p:cNvPr>
          <p:cNvSpPr/>
          <p:nvPr/>
        </p:nvSpPr>
        <p:spPr>
          <a:xfrm>
            <a:off x="825500" y="2006600"/>
            <a:ext cx="76200" cy="1219200"/>
          </a:xfrm>
          <a:prstGeom prst="roundRect">
            <a:avLst/>
          </a:prstGeom>
          <a:solidFill>
            <a:srgbClr val="E8A33D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F4F56B71-FB4E-994A-9CCD-17E1B11664EB}"/>
              </a:ext>
            </a:extLst>
          </p:cNvPr>
          <p:cNvSpPr/>
          <p:nvPr/>
        </p:nvSpPr>
        <p:spPr>
          <a:xfrm>
            <a:off x="1270000" y="2362200"/>
            <a:ext cx="508000" cy="508000"/>
          </a:xfrm>
          <a:prstGeom prst="roundRect">
            <a:avLst/>
          </a:prstGeom>
          <a:solidFill>
            <a:srgbClr val="FFFFFF"/>
          </a:solidFill>
          <a:ln w="22225" cap="flat" cmpd="sng" algn="ctr">
            <a:solidFill>
              <a:srgbClr val="14213D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ko-KR" altLang="en-US" sz="2200" b="1">
                <a:solidFill>
                  <a:srgbClr val="E8A33D"/>
                </a:solidFill>
              </a:rPr>
              <a:t>✓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411C35-721E-8E42-9072-506D7CFC6B27}"/>
              </a:ext>
            </a:extLst>
          </p:cNvPr>
          <p:cNvSpPr txBox="1"/>
          <p:nvPr/>
        </p:nvSpPr>
        <p:spPr>
          <a:xfrm>
            <a:off x="2082800" y="2286000"/>
            <a:ext cx="8890000" cy="355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ko-KR" altLang="en-US" b="1">
                <a:solidFill>
                  <a:srgbClr val="14213D"/>
                </a:solidFill>
                <a:latin typeface="Pretendard"/>
              </a:rPr>
              <a:t>타깃 페르소나 </a:t>
            </a:r>
            <a:r>
              <a:rPr lang="en-US" altLang="ko-KR" b="1">
                <a:solidFill>
                  <a:srgbClr val="14213D"/>
                </a:solidFill>
                <a:latin typeface="Pretendard"/>
              </a:rPr>
              <a:t>· </a:t>
            </a:r>
            <a:r>
              <a:rPr lang="ko-KR" altLang="en-US" b="1">
                <a:solidFill>
                  <a:srgbClr val="14213D"/>
                </a:solidFill>
                <a:latin typeface="Pretendard"/>
              </a:rPr>
              <a:t>메시지 하우스 완성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B2513E-2BDF-9C48-A2C4-158E35ABD4DF}"/>
              </a:ext>
            </a:extLst>
          </p:cNvPr>
          <p:cNvSpPr txBox="1"/>
          <p:nvPr/>
        </p:nvSpPr>
        <p:spPr>
          <a:xfrm>
            <a:off x="2082800" y="2667000"/>
            <a:ext cx="88900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ko-KR" altLang="en-US" sz="1350">
                <a:solidFill>
                  <a:srgbClr val="576176"/>
                </a:solidFill>
                <a:latin typeface="Pretendard"/>
              </a:rPr>
              <a:t>한 인물로 구체화 </a:t>
            </a:r>
            <a:r>
              <a:rPr lang="en-US" altLang="ko-KR" sz="1350">
                <a:solidFill>
                  <a:srgbClr val="576176"/>
                </a:solidFill>
                <a:latin typeface="Pretendard"/>
              </a:rPr>
              <a:t>+ </a:t>
            </a:r>
            <a:r>
              <a:rPr lang="ko-KR" altLang="en-US" sz="1350">
                <a:solidFill>
                  <a:srgbClr val="576176"/>
                </a:solidFill>
                <a:latin typeface="Pretendard"/>
              </a:rPr>
              <a:t>지붕 </a:t>
            </a:r>
            <a:r>
              <a:rPr lang="en-US" altLang="ko-KR" sz="1350">
                <a:solidFill>
                  <a:srgbClr val="576176"/>
                </a:solidFill>
                <a:latin typeface="Pretendard"/>
              </a:rPr>
              <a:t>1 · </a:t>
            </a:r>
            <a:r>
              <a:rPr lang="ko-KR" altLang="en-US" sz="1350">
                <a:solidFill>
                  <a:srgbClr val="576176"/>
                </a:solidFill>
                <a:latin typeface="Pretendard"/>
              </a:rPr>
              <a:t>기둥 </a:t>
            </a:r>
            <a:r>
              <a:rPr lang="en-US" altLang="ko-KR" sz="1350">
                <a:solidFill>
                  <a:srgbClr val="576176"/>
                </a:solidFill>
                <a:latin typeface="Pretendard"/>
              </a:rPr>
              <a:t>3</a:t>
            </a:r>
            <a:endParaRPr lang="ko-KR" altLang="en-US" sz="1350">
              <a:solidFill>
                <a:srgbClr val="576176"/>
              </a:solidFill>
              <a:latin typeface="Pretendard"/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ED34A7DA-9BA4-224E-A2D8-F8C554DB1894}"/>
              </a:ext>
            </a:extLst>
          </p:cNvPr>
          <p:cNvSpPr/>
          <p:nvPr/>
        </p:nvSpPr>
        <p:spPr>
          <a:xfrm>
            <a:off x="825500" y="3403600"/>
            <a:ext cx="10541000" cy="1219200"/>
          </a:xfrm>
          <a:prstGeom prst="roundRect">
            <a:avLst/>
          </a:prstGeom>
          <a:solidFill>
            <a:srgbClr val="F1F5FA"/>
          </a:solidFill>
          <a:ln w="12700" cap="flat" cmpd="sng" algn="ctr">
            <a:solidFill>
              <a:srgbClr val="D9E2E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7623B597-C45D-AD4C-8912-DE43B835F621}"/>
              </a:ext>
            </a:extLst>
          </p:cNvPr>
          <p:cNvSpPr/>
          <p:nvPr/>
        </p:nvSpPr>
        <p:spPr>
          <a:xfrm>
            <a:off x="825500" y="3403600"/>
            <a:ext cx="76200" cy="1219200"/>
          </a:xfrm>
          <a:prstGeom prst="roundRect">
            <a:avLst/>
          </a:prstGeom>
          <a:solidFill>
            <a:srgbClr val="E8A33D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13E3F79A-F09B-1146-8C1E-2C015C4F6CEB}"/>
              </a:ext>
            </a:extLst>
          </p:cNvPr>
          <p:cNvSpPr/>
          <p:nvPr/>
        </p:nvSpPr>
        <p:spPr>
          <a:xfrm>
            <a:off x="1270000" y="3759200"/>
            <a:ext cx="508000" cy="508000"/>
          </a:xfrm>
          <a:prstGeom prst="roundRect">
            <a:avLst/>
          </a:prstGeom>
          <a:solidFill>
            <a:srgbClr val="FFFFFF"/>
          </a:solidFill>
          <a:ln w="22225" cap="flat" cmpd="sng" algn="ctr">
            <a:solidFill>
              <a:srgbClr val="14213D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ko-KR" altLang="en-US" sz="2200" b="1">
                <a:solidFill>
                  <a:srgbClr val="E8A33D"/>
                </a:solidFill>
              </a:rPr>
              <a:t>✓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9F6C416-F4CA-2941-AED0-960FD2EC3134}"/>
              </a:ext>
            </a:extLst>
          </p:cNvPr>
          <p:cNvSpPr txBox="1"/>
          <p:nvPr/>
        </p:nvSpPr>
        <p:spPr>
          <a:xfrm>
            <a:off x="2082800" y="3683000"/>
            <a:ext cx="8890000" cy="355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altLang="ko-KR" b="1">
                <a:solidFill>
                  <a:srgbClr val="14213D"/>
                </a:solidFill>
                <a:latin typeface="Pretendard"/>
              </a:rPr>
              <a:t>R-C-T-F </a:t>
            </a:r>
            <a:r>
              <a:rPr lang="ko-KR" altLang="en-US" b="1">
                <a:solidFill>
                  <a:srgbClr val="14213D"/>
                </a:solidFill>
                <a:latin typeface="Pretendard"/>
              </a:rPr>
              <a:t>구조로 프롬프트 작성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0DB575D-DB69-F64B-BB1D-8F006C87C067}"/>
              </a:ext>
            </a:extLst>
          </p:cNvPr>
          <p:cNvSpPr txBox="1"/>
          <p:nvPr/>
        </p:nvSpPr>
        <p:spPr>
          <a:xfrm>
            <a:off x="2082800" y="4064000"/>
            <a:ext cx="88900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ko-KR" altLang="en-US" sz="1350">
                <a:solidFill>
                  <a:srgbClr val="576176"/>
                </a:solidFill>
                <a:latin typeface="Pretendard"/>
              </a:rPr>
              <a:t>역할 </a:t>
            </a:r>
            <a:r>
              <a:rPr lang="en-US" altLang="ko-KR" sz="1350">
                <a:solidFill>
                  <a:srgbClr val="576176"/>
                </a:solidFill>
                <a:latin typeface="Pretendard"/>
              </a:rPr>
              <a:t>· </a:t>
            </a:r>
            <a:r>
              <a:rPr lang="ko-KR" altLang="en-US" sz="1350">
                <a:solidFill>
                  <a:srgbClr val="576176"/>
                </a:solidFill>
                <a:latin typeface="Pretendard"/>
              </a:rPr>
              <a:t>맥락 </a:t>
            </a:r>
            <a:r>
              <a:rPr lang="en-US" altLang="ko-KR" sz="1350">
                <a:solidFill>
                  <a:srgbClr val="576176"/>
                </a:solidFill>
                <a:latin typeface="Pretendard"/>
              </a:rPr>
              <a:t>· </a:t>
            </a:r>
            <a:r>
              <a:rPr lang="ko-KR" altLang="en-US" sz="1350">
                <a:solidFill>
                  <a:srgbClr val="576176"/>
                </a:solidFill>
                <a:latin typeface="Pretendard"/>
              </a:rPr>
              <a:t>작업 </a:t>
            </a:r>
            <a:r>
              <a:rPr lang="en-US" altLang="ko-KR" sz="1350">
                <a:solidFill>
                  <a:srgbClr val="576176"/>
                </a:solidFill>
                <a:latin typeface="Pretendard"/>
              </a:rPr>
              <a:t>· </a:t>
            </a:r>
            <a:r>
              <a:rPr lang="ko-KR" altLang="en-US" sz="1350">
                <a:solidFill>
                  <a:srgbClr val="576176"/>
                </a:solidFill>
                <a:latin typeface="Pretendard"/>
              </a:rPr>
              <a:t>형식 </a:t>
            </a:r>
            <a:r>
              <a:rPr lang="en-US" altLang="ko-KR" sz="1350">
                <a:solidFill>
                  <a:srgbClr val="576176"/>
                </a:solidFill>
                <a:latin typeface="Pretendard"/>
              </a:rPr>
              <a:t>+ </a:t>
            </a:r>
            <a:r>
              <a:rPr lang="ko-KR" altLang="en-US" sz="1350">
                <a:solidFill>
                  <a:srgbClr val="576176"/>
                </a:solidFill>
                <a:latin typeface="Pretendard"/>
              </a:rPr>
              <a:t>예시 </a:t>
            </a:r>
            <a:r>
              <a:rPr lang="en-US" altLang="ko-KR" sz="1350">
                <a:solidFill>
                  <a:srgbClr val="576176"/>
                </a:solidFill>
                <a:latin typeface="Pretendard"/>
              </a:rPr>
              <a:t>1</a:t>
            </a:r>
            <a:r>
              <a:rPr lang="ko-KR" altLang="en-US" sz="1350">
                <a:solidFill>
                  <a:srgbClr val="576176"/>
                </a:solidFill>
                <a:latin typeface="Pretendard"/>
              </a:rPr>
              <a:t>개</a:t>
            </a: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74D262BF-F002-DD42-8C11-C9353147C2A1}"/>
              </a:ext>
            </a:extLst>
          </p:cNvPr>
          <p:cNvSpPr/>
          <p:nvPr/>
        </p:nvSpPr>
        <p:spPr>
          <a:xfrm>
            <a:off x="825500" y="4800600"/>
            <a:ext cx="10541000" cy="1219200"/>
          </a:xfrm>
          <a:prstGeom prst="roundRect">
            <a:avLst/>
          </a:prstGeom>
          <a:solidFill>
            <a:srgbClr val="F1F5FA"/>
          </a:solidFill>
          <a:ln w="12700" cap="flat" cmpd="sng" algn="ctr">
            <a:solidFill>
              <a:srgbClr val="D9E2E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07C9D5FD-3DFE-3D4D-B955-6F81E37F6610}"/>
              </a:ext>
            </a:extLst>
          </p:cNvPr>
          <p:cNvSpPr/>
          <p:nvPr/>
        </p:nvSpPr>
        <p:spPr>
          <a:xfrm>
            <a:off x="825500" y="4800600"/>
            <a:ext cx="76200" cy="1219200"/>
          </a:xfrm>
          <a:prstGeom prst="roundRect">
            <a:avLst/>
          </a:prstGeom>
          <a:solidFill>
            <a:srgbClr val="E8A33D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CEB40E86-25DB-494C-ACB4-0185C0D9CFDE}"/>
              </a:ext>
            </a:extLst>
          </p:cNvPr>
          <p:cNvSpPr/>
          <p:nvPr/>
        </p:nvSpPr>
        <p:spPr>
          <a:xfrm>
            <a:off x="1270000" y="5156200"/>
            <a:ext cx="508000" cy="508000"/>
          </a:xfrm>
          <a:prstGeom prst="roundRect">
            <a:avLst/>
          </a:prstGeom>
          <a:solidFill>
            <a:srgbClr val="FFFFFF"/>
          </a:solidFill>
          <a:ln w="22225" cap="flat" cmpd="sng" algn="ctr">
            <a:solidFill>
              <a:srgbClr val="14213D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ko-KR" altLang="en-US" sz="2200" b="1">
                <a:solidFill>
                  <a:srgbClr val="E8A33D"/>
                </a:solidFill>
              </a:rPr>
              <a:t>✓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44BA06-2091-494D-A21D-3B630DCF8A13}"/>
              </a:ext>
            </a:extLst>
          </p:cNvPr>
          <p:cNvSpPr txBox="1"/>
          <p:nvPr/>
        </p:nvSpPr>
        <p:spPr>
          <a:xfrm>
            <a:off x="2082800" y="5080000"/>
            <a:ext cx="8890000" cy="355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ko-KR" altLang="en-US" b="1">
                <a:solidFill>
                  <a:srgbClr val="14213D"/>
                </a:solidFill>
                <a:latin typeface="Pretendard"/>
              </a:rPr>
              <a:t>재사용 프롬프트 템플릿 저장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0C240CF-C9FD-CA4C-8A05-542A11B5653A}"/>
              </a:ext>
            </a:extLst>
          </p:cNvPr>
          <p:cNvSpPr txBox="1"/>
          <p:nvPr/>
        </p:nvSpPr>
        <p:spPr>
          <a:xfrm>
            <a:off x="2082800" y="5461000"/>
            <a:ext cx="88900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ko-KR" altLang="en-US" sz="1350">
                <a:solidFill>
                  <a:srgbClr val="576176"/>
                </a:solidFill>
                <a:latin typeface="Pretendard"/>
              </a:rPr>
              <a:t>잘 나온 프롬프트를 ‘내 템플릿’으로 보관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539484BA-22FE-7748-A83C-9C0062D91DD1}"/>
              </a:ext>
            </a:extLst>
          </p:cNvPr>
          <p:cNvSpPr/>
          <p:nvPr/>
        </p:nvSpPr>
        <p:spPr>
          <a:xfrm>
            <a:off x="825500" y="1905000"/>
            <a:ext cx="10541000" cy="3175000"/>
          </a:xfrm>
          <a:prstGeom prst="roundRect">
            <a:avLst/>
          </a:prstGeom>
          <a:solidFill>
            <a:srgbClr val="14213D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39690883-043A-764B-BCF1-3C5266F87B45}"/>
              </a:ext>
            </a:extLst>
          </p:cNvPr>
          <p:cNvSpPr/>
          <p:nvPr/>
        </p:nvSpPr>
        <p:spPr>
          <a:xfrm>
            <a:off x="825500" y="1905000"/>
            <a:ext cx="101600" cy="3175000"/>
          </a:xfrm>
          <a:prstGeom prst="roundRect">
            <a:avLst/>
          </a:prstGeom>
          <a:solidFill>
            <a:srgbClr val="E8A33D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DB9300-4206-7B43-81F7-E45A81F659CD}"/>
              </a:ext>
            </a:extLst>
          </p:cNvPr>
          <p:cNvSpPr txBox="1"/>
          <p:nvPr/>
        </p:nvSpPr>
        <p:spPr>
          <a:xfrm>
            <a:off x="1333500" y="2286000"/>
            <a:ext cx="88900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altLang="ko-KR" sz="1500" b="1">
                <a:solidFill>
                  <a:srgbClr val="E8A33D"/>
                </a:solidFill>
                <a:latin typeface="JetBrains Mono"/>
              </a:rPr>
              <a:t>MISSION 02 · </a:t>
            </a:r>
            <a:r>
              <a:rPr lang="ko-KR" altLang="en-US" sz="1500" b="1">
                <a:solidFill>
                  <a:srgbClr val="E8A33D"/>
                </a:solidFill>
                <a:latin typeface="JetBrains Mono"/>
              </a:rPr>
              <a:t>도장깨기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07DE77-A082-8741-BDDA-67184D6440B3}"/>
              </a:ext>
            </a:extLst>
          </p:cNvPr>
          <p:cNvSpPr txBox="1"/>
          <p:nvPr/>
        </p:nvSpPr>
        <p:spPr>
          <a:xfrm>
            <a:off x="1333500" y="2641600"/>
            <a:ext cx="8890000" cy="584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ko-KR" altLang="en-US" sz="3000" b="1">
                <a:solidFill>
                  <a:srgbClr val="FFFFFF"/>
                </a:solidFill>
                <a:latin typeface="Noto Serif KR"/>
              </a:rPr>
              <a:t>홍보 메시지 정의</a:t>
            </a: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5125D7D7-A6C9-394F-A270-8652BDEF5DCD}"/>
              </a:ext>
            </a:extLst>
          </p:cNvPr>
          <p:cNvSpPr/>
          <p:nvPr/>
        </p:nvSpPr>
        <p:spPr>
          <a:xfrm>
            <a:off x="1333500" y="3454400"/>
            <a:ext cx="9525000" cy="1320800"/>
          </a:xfrm>
          <a:prstGeom prst="roundRect">
            <a:avLst/>
          </a:prstGeom>
          <a:solidFill>
            <a:srgbClr val="20314F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12A33F-9032-B74A-AEFE-89B2F64554EF}"/>
              </a:ext>
            </a:extLst>
          </p:cNvPr>
          <p:cNvSpPr txBox="1"/>
          <p:nvPr/>
        </p:nvSpPr>
        <p:spPr>
          <a:xfrm>
            <a:off x="1587500" y="3657600"/>
            <a:ext cx="9017000" cy="381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ko-KR" altLang="en-US" b="1">
                <a:solidFill>
                  <a:srgbClr val="FFFFFF"/>
                </a:solidFill>
                <a:latin typeface="Pretendard"/>
              </a:rPr>
              <a:t>“누구에게 </a:t>
            </a:r>
            <a:r>
              <a:rPr lang="en-US" altLang="ko-KR" b="1">
                <a:solidFill>
                  <a:srgbClr val="FFFFFF"/>
                </a:solidFill>
                <a:latin typeface="Pretendard"/>
              </a:rPr>
              <a:t>· </a:t>
            </a:r>
            <a:r>
              <a:rPr lang="ko-KR" altLang="en-US" b="1">
                <a:solidFill>
                  <a:srgbClr val="FFFFFF"/>
                </a:solidFill>
                <a:latin typeface="Pretendard"/>
              </a:rPr>
              <a:t>무엇을 </a:t>
            </a:r>
            <a:r>
              <a:rPr lang="en-US" altLang="ko-KR" b="1">
                <a:solidFill>
                  <a:srgbClr val="FFFFFF"/>
                </a:solidFill>
                <a:latin typeface="Pretendard"/>
              </a:rPr>
              <a:t>· </a:t>
            </a:r>
            <a:r>
              <a:rPr lang="ko-KR" altLang="en-US" b="1">
                <a:solidFill>
                  <a:srgbClr val="FFFFFF"/>
                </a:solidFill>
                <a:latin typeface="Pretendard"/>
              </a:rPr>
              <a:t>왜”를 한 줄로 정의한다</a:t>
            </a:r>
            <a:r>
              <a:rPr lang="en-US" altLang="ko-KR" b="1">
                <a:solidFill>
                  <a:srgbClr val="FFFFFF"/>
                </a:solidFill>
                <a:latin typeface="Pretendard"/>
              </a:rPr>
              <a:t>.</a:t>
            </a:r>
            <a:endParaRPr lang="ko-KR" altLang="en-US" b="1">
              <a:solidFill>
                <a:srgbClr val="FFFFFF"/>
              </a:solidFill>
              <a:latin typeface="Pretendard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D59A01-FA61-5043-93AF-4669ACF64AB3}"/>
              </a:ext>
            </a:extLst>
          </p:cNvPr>
          <p:cNvSpPr txBox="1"/>
          <p:nvPr/>
        </p:nvSpPr>
        <p:spPr>
          <a:xfrm>
            <a:off x="1587500" y="4140200"/>
            <a:ext cx="9017000" cy="355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ko-KR" altLang="en-US" sz="1450">
                <a:solidFill>
                  <a:srgbClr val="E8A33D"/>
                </a:solidFill>
                <a:latin typeface="Pretendard"/>
              </a:rPr>
              <a:t>→ 이 한 줄이 오늘 만드는 모든 프롬프트의 출발점이 된다</a:t>
            </a:r>
            <a:r>
              <a:rPr lang="en-US" altLang="ko-KR" sz="1450">
                <a:solidFill>
                  <a:srgbClr val="E8A33D"/>
                </a:solidFill>
                <a:latin typeface="Pretendard"/>
              </a:rPr>
              <a:t>.</a:t>
            </a:r>
            <a:endParaRPr lang="ko-KR" altLang="en-US" sz="1450">
              <a:solidFill>
                <a:srgbClr val="E8A33D"/>
              </a:solidFill>
              <a:latin typeface="Pretendard"/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F26B0976-4A6B-8B4F-A04E-F68F482242B6}"/>
              </a:ext>
            </a:extLst>
          </p:cNvPr>
          <p:cNvSpPr/>
          <p:nvPr/>
        </p:nvSpPr>
        <p:spPr>
          <a:xfrm>
            <a:off x="825500" y="5283200"/>
            <a:ext cx="10541000" cy="939800"/>
          </a:xfrm>
          <a:prstGeom prst="roundRect">
            <a:avLst/>
          </a:prstGeom>
          <a:solidFill>
            <a:srgbClr val="F1F5FA"/>
          </a:solidFill>
          <a:ln w="12700" cap="flat" cmpd="sng" algn="ctr">
            <a:solidFill>
              <a:srgbClr val="D9E2E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E40E382-C91A-774F-B91B-2E8A2F83BB93}"/>
              </a:ext>
            </a:extLst>
          </p:cNvPr>
          <p:cNvSpPr txBox="1"/>
          <p:nvPr/>
        </p:nvSpPr>
        <p:spPr>
          <a:xfrm>
            <a:off x="1206500" y="5486400"/>
            <a:ext cx="1778000" cy="254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altLang="ko-KR" sz="1300" b="1">
                <a:solidFill>
                  <a:srgbClr val="E8A33D"/>
                </a:solidFill>
                <a:latin typeface="JetBrains Mono"/>
              </a:rPr>
              <a:t>▶  NEXT</a:t>
            </a:r>
            <a:endParaRPr lang="ko-KR" altLang="en-US" sz="1300" b="1">
              <a:solidFill>
                <a:srgbClr val="E8A33D"/>
              </a:solidFill>
              <a:latin typeface="JetBrains Mono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7FB5839-0C41-014C-A3D6-D2F89CB775C8}"/>
              </a:ext>
            </a:extLst>
          </p:cNvPr>
          <p:cNvSpPr txBox="1"/>
          <p:nvPr/>
        </p:nvSpPr>
        <p:spPr>
          <a:xfrm>
            <a:off x="1206500" y="5740400"/>
            <a:ext cx="9652000" cy="330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altLang="ko-KR" b="1">
                <a:solidFill>
                  <a:srgbClr val="14213D"/>
                </a:solidFill>
                <a:latin typeface="Pretendard"/>
              </a:rPr>
              <a:t>M3 · AI </a:t>
            </a:r>
            <a:r>
              <a:rPr lang="ko-KR" altLang="en-US" b="1">
                <a:solidFill>
                  <a:srgbClr val="14213D"/>
                </a:solidFill>
                <a:latin typeface="Pretendard"/>
              </a:rPr>
              <a:t>기반 콘텐츠 작성 실습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D4E8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1554480"/>
            <a:ext cx="1005840" cy="128016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400" b="0">
                <a:solidFill>
                  <a:srgbClr val="BFD2EC"/>
                </a:solidFill>
                <a:latin typeface="JetBrains Mono"/>
                <a:ea typeface="JetBrains Mono"/>
                <a:cs typeface="JetBrains Mono"/>
              </a:rPr>
              <a:t>MODULE 3 · 3교시 · 11:00–11:50</a:t>
            </a:r>
          </a:p>
          <a:p>
            <a:pPr algn="l">
              <a:lnSpc>
                <a:spcPct val="110000"/>
              </a:lnSpc>
              <a:spcBef>
                <a:spcPts val="600"/>
              </a:spcBef>
              <a:spcAft>
                <a:spcPts val="1200"/>
              </a:spcAft>
            </a:pPr>
            <a:r>
              <a:rPr sz="38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M3. AI 기반 콘텐츠 작성 실습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DBE6F6"/>
                </a:solidFill>
                <a:latin typeface="Pretendard"/>
                <a:ea typeface="Pretendard"/>
                <a:cs typeface="Pretendard"/>
              </a:rPr>
              <a:t>메시지 하우스를 출발점으로, 채널별(소개문·SNS·블로그·카드뉴스) 문안을 톤을 유지한 채 대량 생성·검수한다.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5212080"/>
            <a:ext cx="10515600" cy="1051560"/>
          </a:xfrm>
          <a:prstGeom prst="rect">
            <a:avLst/>
          </a:prstGeom>
          <a:solidFill>
            <a:srgbClr val="184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20040" tIns="164592" rtlCol="0" anchor="ctr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300"/>
              </a:spcAft>
            </a:pPr>
            <a:r>
              <a:rPr sz="1200" b="1">
                <a:solidFill>
                  <a:srgbClr val="9FC0E6"/>
                </a:solidFill>
                <a:latin typeface="JetBrains Mono"/>
                <a:ea typeface="JetBrains Mono"/>
                <a:cs typeface="JetBrains Mono"/>
              </a:rPr>
              <a:t>이전  </a:t>
            </a:r>
            <a:r>
              <a:rPr sz="13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M2의 메시지 하우스를 손에 쥐었다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300"/>
              </a:spcAft>
            </a:pPr>
            <a:r>
              <a:rPr sz="12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이번  </a:t>
            </a: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그 메시지를 소개문·SNS·블로그·카드뉴스로 변주한다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400"/>
              </a:spcAft>
            </a:pPr>
            <a:r>
              <a:rPr sz="1200" b="1">
                <a:solidFill>
                  <a:srgbClr val="9FC0E6"/>
                </a:solidFill>
                <a:latin typeface="JetBrains Mono"/>
                <a:ea typeface="JetBrains Mono"/>
                <a:cs typeface="JetBrains Mono"/>
              </a:rPr>
              <a:t>다음  </a:t>
            </a:r>
            <a:r>
              <a:rPr sz="13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 문구에 어울리는 비주얼로 → M4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학습 목표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이 모듈에서 할 수 있게 되는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제품·서비스 소개문을 톤을 유지하며 작성할 수 있다.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채널별 홍보 문안(SNS·블로그·카드뉴스)을 한 번에 생성할 수 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D4E8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2468880"/>
            <a:ext cx="822960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800"/>
              </a:spcAft>
            </a:pPr>
            <a:r>
              <a:rPr sz="1400" b="0">
                <a:solidFill>
                  <a:srgbClr val="BFD2EC"/>
                </a:solidFill>
                <a:latin typeface="JetBrains Mono"/>
                <a:ea typeface="JetBrains Mono"/>
                <a:cs typeface="JetBrains Mono"/>
              </a:rPr>
              <a:t>세션 1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1200"/>
              </a:spcAft>
            </a:pPr>
            <a:r>
              <a:rPr sz="32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제품·서비스 소개문과 홍보 문안 작성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DBE6F6"/>
                </a:solidFill>
                <a:latin typeface="Pretendard"/>
                <a:ea typeface="Pretendard"/>
                <a:cs typeface="Pretendard"/>
              </a:rPr>
              <a:t>제품 소개문은 "고객 문제 → 해결 → 근거 → 행동유도(CTA)" 흐름으로 구조화한다.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핵심 개념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핵심 개념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PAS 구조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Problem(문제)·Agitate(공감·증폭)·Solution(해결). 짧은 홍보문에서 가장 잘 먹히는 골격.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특징 vs 이득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특징(무엇인가)을 이득(고객이 얻는 것)으로 번역해야 설득된다. "용량 2배"→"두 번 살 일이 없다".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톤 가이드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말투·존댓말 여부·금지 표현을 1줄로 고정해 프롬프트에 항상 포함한다.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개념 깊이 보기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개념을 예시로 — 우리 케이스에 적용하면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1000"/>
              </a:spcBef>
              <a:spcAft>
                <a:spcPts val="200"/>
              </a:spcAft>
            </a:pPr>
            <a:r>
              <a:rPr sz="1500" b="1">
                <a:solidFill>
                  <a:srgbClr val="1D4E89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PAS 구조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    예) </a:t>
            </a:r>
            <a:r>
              <a:rPr sz="14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P:"혼술은 늘고 싶은데 내일이 걱정" → A:"숙취·칼로리 때문에 망설인다" → S:"Night Off면 부담 없이 즐긴다".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  <a:spcAft>
                <a:spcPts val="200"/>
              </a:spcAft>
            </a:pPr>
            <a:r>
              <a:rPr sz="1500" b="1">
                <a:solidFill>
                  <a:srgbClr val="1D4E89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특징 vs 이득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    예) </a:t>
            </a:r>
            <a:r>
              <a:rPr sz="14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"칼로리 30%↓"(특징) → "한 캔 더 마셔도 죄책감 없다"(이득)로 번역해야 설득된다.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절차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실습 절차 — 직접 해봅니다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1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M2의 메시지 하우스와 톤 가이드를 프롬프트에 붙여 넣는다.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2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PAS 구조로 소개문 초안을 생성한다.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3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특징 표현을 이득 표현으로 바꾸도록 1차 수정 지시한다.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4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사실(수치·기능)을 원본과 대조해 검수한다.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프롬프트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제품 소개문 생성 프롬프트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74519"/>
            <a:ext cx="10332720" cy="4434840"/>
          </a:xfrm>
          <a:prstGeom prst="rect">
            <a:avLst/>
          </a:prstGeom>
          <a:solidFill>
            <a:srgbClr val="10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11480" tIns="502920" rIns="365760" bIns="320040" rtlCol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[톤] 친근한 반말 금지, 정중하지만 가벼운 존댓말.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[구조] PAS(문제→공감→해결)로, 280자 내외.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[필수] 핵심 메시지: "부담 없이 즐기는 진짜 맥주맛"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특징을 고객 이득으로 바꿔서 써줘.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제품 정보: 무알콜 수제 맥주, 칼로리 30%↓, 진짜 발효 공법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2103120"/>
            <a:ext cx="109728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실제 입력 → 출력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실제 예시 — PAS 소개문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783080"/>
            <a:ext cx="10332720" cy="1874519"/>
          </a:xfrm>
          <a:prstGeom prst="rect">
            <a:avLst/>
          </a:prstGeom>
          <a:solidFill>
            <a:srgbClr val="10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502920" rIns="320040" rtlCol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25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[톤] 정중하지만 가벼운 존댓말 [구조] PAS, 280자 내외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25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[필수] 핵심 메시지 "부담 없이 즐기는 진짜 맥주맛", 특징을 이득으로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25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제품: 무알콜 수제 맥주 Night Off (칼로리 30%↓, 발효공법, 알코올 0.0%)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783080"/>
            <a:ext cx="2011680" cy="329184"/>
          </a:xfrm>
          <a:prstGeom prst="rect">
            <a:avLst/>
          </a:prstGeom>
          <a:solidFill>
            <a:srgbClr val="24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400"/>
              </a:spcAft>
            </a:pPr>
            <a:r>
              <a:rPr sz="1200" b="0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▸ 입력 프롬프트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794760"/>
            <a:ext cx="10332720" cy="2514600"/>
          </a:xfrm>
          <a:prstGeom prst="rect">
            <a:avLst/>
          </a:prstGeom>
          <a:solidFill>
            <a:srgbClr val="FBFCFE"/>
          </a:solidFill>
          <a:ln w="12700">
            <a:solidFill>
              <a:srgbClr val="E9EC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502920" rIns="320040" rtlCol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5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하루를 끝내고 한 잔이 간절한 밤, 그런데 내일 아침이 걱정이신가요?(P)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5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숙취도, 칼로리도, 운전 걱정도 매번 한 캔을 망설이게 합니다.(A)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5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Night Off는 진짜 발효 공법으로 맥주 본연의 맛은 살리고 알코올은 0.0%.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5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칼로리는 30% 낮춰, 오늘 밤을 제대로 즐기고도 내일을 멀쩡하게 시작합니다.(S)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794760"/>
            <a:ext cx="1828800" cy="329184"/>
          </a:xfrm>
          <a:prstGeom prst="rect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384048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400"/>
              </a:spcAft>
            </a:pPr>
            <a:r>
              <a:rPr sz="12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▸ 나온 결과(예)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정리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제품·서비스 소개문과 홍보 문안 작성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20240"/>
            <a:ext cx="10332720" cy="1636776"/>
          </a:xfrm>
          <a:prstGeom prst="rect">
            <a:avLst/>
          </a:prstGeom>
          <a:solidFill>
            <a:srgbClr val="FB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228600" rIns="365760" bIns="182880" rtlCol="0" anchor="t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600"/>
              </a:spcAft>
            </a:pPr>
            <a:r>
              <a:rPr sz="1500" b="1">
                <a:solidFill>
                  <a:srgbClr val="B57A1A"/>
                </a:solidFill>
                <a:latin typeface="JetBrains Mono"/>
                <a:ea typeface="JetBrains Mono"/>
                <a:cs typeface="JetBrains Mono"/>
              </a:rPr>
              <a:t>⚠  흔한 실수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사실 검증 누락 → 칼로리·성분 수치는 반드시 원본 대조.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톤 가이드를 매번 안 넣으면 글마다 말투가 바뀐다.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739896"/>
            <a:ext cx="10332720" cy="1005840"/>
          </a:xfrm>
          <a:prstGeom prst="rect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201168" rIns="365760" bIns="182880" rtlCol="0" anchor="t"/>
          <a:lstStyle/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📦  결과물  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제품·서비스 소개문 1편(PAS · 톤 일관 · 사실 검수 완료).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D4E8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2468880"/>
            <a:ext cx="822960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800"/>
              </a:spcAft>
            </a:pPr>
            <a:r>
              <a:rPr sz="1400" b="0">
                <a:solidFill>
                  <a:srgbClr val="BFD2EC"/>
                </a:solidFill>
                <a:latin typeface="JetBrains Mono"/>
                <a:ea typeface="JetBrains Mono"/>
                <a:cs typeface="JetBrains Mono"/>
              </a:rPr>
              <a:t>세션 2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1200"/>
              </a:spcAft>
            </a:pPr>
            <a:r>
              <a:rPr sz="32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SNS 게시글·블로그 초안·행사 안내문·카드뉴스 문구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DBE6F6"/>
                </a:solidFill>
                <a:latin typeface="Pretendard"/>
                <a:ea typeface="Pretendard"/>
                <a:cs typeface="Pretendard"/>
              </a:rPr>
              <a:t>같은 메시지를 채널 규격(글자 수·해시태그·말투)에 맞춰 한 번에 변주한다.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핵심 개념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핵심 개념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채널 규격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인스타(짧고 빠르게)·블로그(검색 키워드 길게)·카드뉴스(장당 한 문장). 채널마다 호흡이 다르다.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해시태그 믹스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대형(노출)·중형(관련성)·롱테일(전환)을 섞는다. 대형만 쓰면 묻힌다.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원소스 멀티유즈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하나의 메시지 하우스에서 모든 채널을 파생 → 톤 일관 + 제작 속도.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개념 깊이 보기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개념을 예시로 — 우리 케이스에 적용하면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1000"/>
              </a:spcBef>
              <a:spcAft>
                <a:spcPts val="200"/>
              </a:spcAft>
            </a:pPr>
            <a:r>
              <a:rPr sz="1500" b="1">
                <a:solidFill>
                  <a:srgbClr val="1D4E89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해시태그 믹스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    예) </a:t>
            </a:r>
            <a:r>
              <a:rPr sz="14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대형 #무알콜맥주 / 중형 #혼술추천 / 롱테일 #내일출근혼술 처럼 섞어야 노출+전환을 같이 잡는다.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  <a:spcAft>
                <a:spcPts val="200"/>
              </a:spcAft>
            </a:pPr>
            <a:r>
              <a:rPr sz="1500" b="1">
                <a:solidFill>
                  <a:srgbClr val="1D4E89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원소스 멀티유즈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    예) </a:t>
            </a:r>
            <a:r>
              <a:rPr sz="14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M2 메시지 하우스 1개 → 인스타·블로그·카드뉴스가 모두 거기서 파생되어 톤이 안 흔들린다.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절차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실습 절차 — 직접 해봅니다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1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소개문(M3-1)을 입력으로 준다.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2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"인스타 캡션 / 블로그 도입부 / 카드뉴스 5장 문구"로 동시 변주를 지시한다.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3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해시태그를 대·중·롱테일로 분류해 10개 받는다.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4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각 채널 규격(길이·금지어)에 맞는지 검수한다.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프롬프트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채널 멀티유즈 변주 프롬프트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74519"/>
            <a:ext cx="10332720" cy="4434840"/>
          </a:xfrm>
          <a:prstGeom prst="rect">
            <a:avLst/>
          </a:prstGeom>
          <a:solidFill>
            <a:srgbClr val="10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11480" tIns="502920" rIns="365760" bIns="320040" rtlCol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아래 소개문을 3개 채널용으로 변주해줘. 톤은 동일하게 유지.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1) 인스타 캡션: 120자 이내 + 해시태그 10개(대형3·중형4·롱테일3)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2) 블로그 도입부: 검색 키워드 "무알콜 맥주" 포함, 3문단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3) 카드뉴스: 5장, 장당 한 문장(15자 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[소개문]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{여기에 M3-1 결과 붙여넣기}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2103120"/>
            <a:ext cx="109728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좋은예 VS 나쁜예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비교 — 해시태그, 대형만 쓰면?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20240"/>
            <a:ext cx="5029200" cy="4114800"/>
          </a:xfrm>
          <a:prstGeom prst="rect">
            <a:avLst/>
          </a:prstGeom>
          <a:solidFill>
            <a:srgbClr val="F7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320040" rIns="320040" rtlCol="0" anchor="t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700" b="1">
                <a:solidFill>
                  <a:srgbClr val="A63333"/>
                </a:solidFill>
                <a:latin typeface="Noto Serif KR"/>
                <a:ea typeface="Noto Serif KR"/>
                <a:cs typeface="Noto Serif KR"/>
              </a:rPr>
              <a:t>🚫 대형 태그만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A6333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#맥주 #술 #혼술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A6333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경쟁 글 수십만 개에 묻힘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A6333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도달은 넓지만 전환은 거의 0</a:t>
            </a:r>
          </a:p>
        </p:txBody>
      </p:sp>
      <p:sp>
        <p:nvSpPr>
          <p:cNvPr id="5" name="Rectangle 4"/>
          <p:cNvSpPr/>
          <p:nvPr/>
        </p:nvSpPr>
        <p:spPr>
          <a:xfrm>
            <a:off x="6245352" y="1920240"/>
            <a:ext cx="5029200" cy="4114800"/>
          </a:xfrm>
          <a:prstGeom prst="rect">
            <a:avLst/>
          </a:prstGeom>
          <a:solidFill>
            <a:srgbClr val="E7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320040" rIns="320040" rtlCol="0" anchor="t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700" b="1">
                <a:solidFill>
                  <a:srgbClr val="2C6B44"/>
                </a:solidFill>
                <a:latin typeface="Noto Serif KR"/>
                <a:ea typeface="Noto Serif KR"/>
                <a:cs typeface="Noto Serif KR"/>
              </a:rPr>
              <a:t>✅ 대·중·롱테일 믹스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2C6B44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대형 #무알콜맥주 (노출)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2C6B44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중형 #혼술추천 #홈술 (관련성)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2C6B44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롱테일 #내일출근혼술 #숙취없는맥주 (전환)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정리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SNS 게시글·블로그 초안·행사 안내문·카드뉴스 문구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20240"/>
            <a:ext cx="10332720" cy="1636776"/>
          </a:xfrm>
          <a:prstGeom prst="rect">
            <a:avLst/>
          </a:prstGeom>
          <a:solidFill>
            <a:srgbClr val="FB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228600" rIns="365760" bIns="182880" rtlCol="0" anchor="t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600"/>
              </a:spcAft>
            </a:pPr>
            <a:r>
              <a:rPr sz="1500" b="1">
                <a:solidFill>
                  <a:srgbClr val="B57A1A"/>
                </a:solidFill>
                <a:latin typeface="JetBrains Mono"/>
                <a:ea typeface="JetBrains Mono"/>
                <a:cs typeface="JetBrains Mono"/>
              </a:rPr>
              <a:t>⚠  흔한 실수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채널별 글자수 제약을 빼먹으면 규격 초과로 재작업.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해시태그를 대형만 넣으면 경쟁에 묻힌다 → 롱테일 필수.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739896"/>
            <a:ext cx="10332720" cy="1005840"/>
          </a:xfrm>
          <a:prstGeom prst="rect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201168" rIns="365760" bIns="182880" rtlCol="0" anchor="t"/>
          <a:lstStyle/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📦  결과물  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SNS 캡션 + 해시태그 10개 + 블로그 도입부 + 카드뉴스 5장 문구 세트.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도구 가이드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이 모듈에서 쓰는 도구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ChatGPT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빠른 변주·해시태그 생성. "표로", "더 짧게" 반복 지시로 다듬는다.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Claude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블로그·보도자료처럼 길고 구조적인 글에서 톤 유지가 안정적.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CHECKLIST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모듈 체크리스트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☐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톤 가이드를 고정해 소개문을 작성했다.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☐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한 메시지를 3개 채널로 변주했다.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☐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해시태그를 대·중·롱테일로 구성했다.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1371600"/>
            <a:ext cx="822960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51560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400" b="0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MISSION · 도장깨기</a:t>
            </a:r>
          </a:p>
          <a:p>
            <a:pPr algn="l">
              <a:lnSpc>
                <a:spcPct val="110000"/>
              </a:lnSpc>
              <a:spcBef>
                <a:spcPts val="600"/>
              </a:spcBef>
              <a:spcAft>
                <a:spcPts val="1200"/>
              </a:spcAft>
            </a:pPr>
            <a:r>
              <a:rPr sz="30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미션 03 — 홍보 콘텐츠 작성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2400"/>
              </a:spcAft>
            </a:pPr>
            <a:r>
              <a:rPr sz="1600" b="0">
                <a:solidFill>
                  <a:srgbClr val="C7D2E6"/>
                </a:solidFill>
                <a:latin typeface="Pretendard"/>
                <a:ea typeface="Pretendard"/>
                <a:cs typeface="Pretendard"/>
              </a:rPr>
              <a:t>💡 톤앤매너 키워드를 고정하면 채널이 달라도 톤이 유지된다.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▶  다음  </a:t>
            </a: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M4. AI 기반 시각자료 제작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D4E8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1554480"/>
            <a:ext cx="1005840" cy="128016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400" b="0">
                <a:solidFill>
                  <a:srgbClr val="BFD2EC"/>
                </a:solidFill>
                <a:latin typeface="JetBrains Mono"/>
                <a:ea typeface="JetBrains Mono"/>
                <a:cs typeface="JetBrains Mono"/>
              </a:rPr>
              <a:t>MODULE 4 · 4교시 · 13:00–13:50</a:t>
            </a:r>
          </a:p>
          <a:p>
            <a:pPr algn="l">
              <a:lnSpc>
                <a:spcPct val="110000"/>
              </a:lnSpc>
              <a:spcBef>
                <a:spcPts val="600"/>
              </a:spcBef>
              <a:spcAft>
                <a:spcPts val="1200"/>
              </a:spcAft>
            </a:pPr>
            <a:r>
              <a:rPr sz="38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M4. AI 기반 시각자료 제작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DBE6F6"/>
                </a:solidFill>
                <a:latin typeface="Pretendard"/>
                <a:ea typeface="Pretendard"/>
                <a:cs typeface="Pretendard"/>
              </a:rPr>
              <a:t>이미지 생성 AI의 프롬프트 구조(피사체·스타일·구도·색·금지)를 이해하고, 문구와 톤이 일치하는 홍보 시각자료를 만든다.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5212080"/>
            <a:ext cx="10515600" cy="1051560"/>
          </a:xfrm>
          <a:prstGeom prst="rect">
            <a:avLst/>
          </a:prstGeom>
          <a:solidFill>
            <a:srgbClr val="184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20040" tIns="164592" rtlCol="0" anchor="ctr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300"/>
              </a:spcAft>
            </a:pPr>
            <a:r>
              <a:rPr sz="1200" b="1">
                <a:solidFill>
                  <a:srgbClr val="9FC0E6"/>
                </a:solidFill>
                <a:latin typeface="JetBrains Mono"/>
                <a:ea typeface="JetBrains Mono"/>
                <a:cs typeface="JetBrains Mono"/>
              </a:rPr>
              <a:t>이전  </a:t>
            </a:r>
            <a:r>
              <a:rPr sz="13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M3의 카드뉴스 문구가 준비됐다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300"/>
              </a:spcAft>
            </a:pPr>
            <a:r>
              <a:rPr sz="12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이번  </a:t>
            </a: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문구와 톤이 맞는 시각자료를 만든다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400"/>
              </a:spcAft>
            </a:pPr>
            <a:r>
              <a:rPr sz="1200" b="1">
                <a:solidFill>
                  <a:srgbClr val="9FC0E6"/>
                </a:solidFill>
                <a:latin typeface="JetBrains Mono"/>
                <a:ea typeface="JetBrains Mono"/>
                <a:cs typeface="JetBrains Mono"/>
              </a:rPr>
              <a:t>다음  </a:t>
            </a:r>
            <a:r>
              <a:rPr sz="13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콘텐츠·비주얼을 담을 화면을 설계하러 → M5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학습 목표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이 모듈에서 할 수 있게 되는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이미지 생성 AI로 홍보용 시각자료 초안을 만들 수 있다.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이미지와 카피의 톤을 일치시킬 수 있다.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D4E8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2468880"/>
            <a:ext cx="822960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800"/>
              </a:spcAft>
            </a:pPr>
            <a:r>
              <a:rPr sz="1400" b="0">
                <a:solidFill>
                  <a:srgbClr val="BFD2EC"/>
                </a:solidFill>
                <a:latin typeface="JetBrains Mono"/>
                <a:ea typeface="JetBrains Mono"/>
                <a:cs typeface="JetBrains Mono"/>
              </a:rPr>
              <a:t>세션 1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1200"/>
              </a:spcAft>
            </a:pPr>
            <a:r>
              <a:rPr sz="32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배너·카드뉴스·썸네일 등 시각자료 초안 제작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DBE6F6"/>
                </a:solidFill>
                <a:latin typeface="Pretendard"/>
                <a:ea typeface="Pretendard"/>
                <a:cs typeface="Pretendard"/>
              </a:rPr>
              <a:t>이미지 프롬프트는 "무엇을 + 어떤 스타일 + 구도/조명 + 색 + 금지요소" 순서로 쓴다.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핵심 개념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핵심 개념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프롬프트 구조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[피사체]+[스타일/매체]+[구도·조명]+[색 팔레트]+[--no 금지요소]. 디테일은 영어가 유리할 때가 많다.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종횡비(Aspect Ratio)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인스타 1:1, 스토리/릴스 9:16, 썸네일 16:9, 배너 가로형. 채널 규격을 먼저 정한다.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저작권·상업적 이용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도구별 약관·초상권 확인. 로고·실제 인물·타사 상표는 생성에 넣지 않는다.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개념 깊이 보기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개념을 예시로 — 우리 케이스에 적용하면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1000"/>
              </a:spcBef>
              <a:spcAft>
                <a:spcPts val="200"/>
              </a:spcAft>
            </a:pPr>
            <a:r>
              <a:rPr sz="1500" b="1">
                <a:solidFill>
                  <a:srgbClr val="1D4E89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프롬프트 구조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    예) </a:t>
            </a:r>
            <a:r>
              <a:rPr sz="14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[피사체] 무알콜 맥주 캔 + [스타일] 미니멀 스튜디오 + [조명] 부드러운 측광 + [색] amber+navy + [--no] 글자·로고.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  <a:spcAft>
                <a:spcPts val="200"/>
              </a:spcAft>
            </a:pPr>
            <a:r>
              <a:rPr sz="1500" b="1">
                <a:solidFill>
                  <a:srgbClr val="1D4E89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종횡비(Aspect Ratio)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    예) </a:t>
            </a:r>
            <a:r>
              <a:rPr sz="14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인스타 피드 1:1, 릴스 9:16, 유튜브 썸네일 16:9 — 만들기 전에 어디 쓸지부터 정한다.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절차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실습 절차 — 직접 해봅니다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1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만들 비주얼의 용도와 종횡비를 정한다.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2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프롬프트를 5요소 구조로 작성한다(텍스트는 편집 도구에서 얹는다).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3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2~3장 변형 생성 후 가장 의도에 맞는 1장을 고른다.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4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상업적 이용 가능 여부를 확인한다.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프롬프트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홍보 배너 이미지 프롬프트(영문 예시)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74519"/>
            <a:ext cx="10332720" cy="4434840"/>
          </a:xfrm>
          <a:prstGeom prst="rect">
            <a:avLst/>
          </a:prstGeom>
          <a:solidFill>
            <a:srgbClr val="10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11480" tIns="502920" rIns="365760" bIns="320040" rtlCol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minimal product banner background for a craft non-alcoholic beer,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soft studio side-light, warm amber + deep navy palette,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clean negative space on the left for text, 16:9,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--no text, logo, real people, neon, watermark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2103120"/>
            <a:ext cx="109728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실제 입력 → 출력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실제 예시 — 배너 이미지 프롬프트(영문)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783080"/>
            <a:ext cx="10332720" cy="1874519"/>
          </a:xfrm>
          <a:prstGeom prst="rect">
            <a:avLst/>
          </a:prstGeom>
          <a:solidFill>
            <a:srgbClr val="10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502920" rIns="320040" rtlCol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25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minimal product banner for a craft non-alcoholic beer "Night Off",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25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soft studio side-light, warm amber + deep navy palette,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25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clean negative space on the left for text, 16:9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25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--no text, logo, real people, neon, watermark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783080"/>
            <a:ext cx="2011680" cy="329184"/>
          </a:xfrm>
          <a:prstGeom prst="rect">
            <a:avLst/>
          </a:prstGeom>
          <a:solidFill>
            <a:srgbClr val="24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400"/>
              </a:spcAft>
            </a:pPr>
            <a:r>
              <a:rPr sz="1200" b="0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▸ 입력 프롬프트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794760"/>
            <a:ext cx="10332720" cy="2514600"/>
          </a:xfrm>
          <a:prstGeom prst="rect">
            <a:avLst/>
          </a:prstGeom>
          <a:solidFill>
            <a:srgbClr val="FBFCFE"/>
          </a:solidFill>
          <a:ln w="12700">
            <a:solidFill>
              <a:srgbClr val="E9EC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502920" rIns="320040" rtlCol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5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결과(기대): 좌측 1/3이 비어 헤드라인 얹기 좋은 배너.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5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호박빛 조명 아래 캔이 중앙, 짙은 남색 배경, 글자·로고 없이 깔끔.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50">
                <a:solidFill>
                  <a:srgbClr val="1D4E89"/>
                </a:solidFill>
                <a:latin typeface="Pretendard"/>
                <a:ea typeface="Pretendard"/>
                <a:cs typeface="Pretendard"/>
              </a:rPr>
              <a:t>→ Canva로 가져가 M2 헤드라인 "오늘 밤은 즐기고, 내일은 멀쩡하게"를 좌측에 얹는다.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794760"/>
            <a:ext cx="1828800" cy="329184"/>
          </a:xfrm>
          <a:prstGeom prst="rect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384048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400"/>
              </a:spcAft>
            </a:pPr>
            <a:r>
              <a:rPr sz="12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▸ 나온 결과(예)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좋은예 VS 나쁜예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비교 — 이미지 프롬프트, 디테일이 결과를 만든다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20240"/>
            <a:ext cx="5029200" cy="4114800"/>
          </a:xfrm>
          <a:prstGeom prst="rect">
            <a:avLst/>
          </a:prstGeom>
          <a:solidFill>
            <a:srgbClr val="F7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320040" rIns="320040" rtlCol="0" anchor="t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700" b="1">
                <a:solidFill>
                  <a:srgbClr val="A63333"/>
                </a:solidFill>
                <a:latin typeface="Noto Serif KR"/>
                <a:ea typeface="Noto Serif KR"/>
                <a:cs typeface="Noto Serif KR"/>
              </a:rPr>
              <a:t>🚫 막연한 프롬프트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A6333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"맥주 광고 이미지 만들어줘"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A6333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글자가 박힌 깨진 이미지, 랜덤 색감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A6333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워터마크·이상한 손이 섞임</a:t>
            </a:r>
          </a:p>
        </p:txBody>
      </p:sp>
      <p:sp>
        <p:nvSpPr>
          <p:cNvPr id="5" name="Rectangle 4"/>
          <p:cNvSpPr/>
          <p:nvPr/>
        </p:nvSpPr>
        <p:spPr>
          <a:xfrm>
            <a:off x="6245352" y="1920240"/>
            <a:ext cx="5029200" cy="4114800"/>
          </a:xfrm>
          <a:prstGeom prst="rect">
            <a:avLst/>
          </a:prstGeom>
          <a:solidFill>
            <a:srgbClr val="E7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320040" rIns="320040" rtlCol="0" anchor="t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700" b="1">
                <a:solidFill>
                  <a:srgbClr val="2C6B44"/>
                </a:solidFill>
                <a:latin typeface="Noto Serif KR"/>
                <a:ea typeface="Noto Serif KR"/>
                <a:cs typeface="Noto Serif KR"/>
              </a:rPr>
              <a:t>✅ 5요소 구조 + 금지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2C6B44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피사체·스타일·조명·색·종횡비 명시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2C6B44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warm amber + deep navy, 16:9, 좌측 여백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2C6B44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--no text, logo, watermark 로 노이즈 제거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정리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배너·카드뉴스·썸네일 등 시각자료 초안 제작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20240"/>
            <a:ext cx="10332720" cy="1636776"/>
          </a:xfrm>
          <a:prstGeom prst="rect">
            <a:avLst/>
          </a:prstGeom>
          <a:solidFill>
            <a:srgbClr val="FB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228600" rIns="365760" bIns="182880" rtlCol="0" anchor="t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600"/>
              </a:spcAft>
            </a:pPr>
            <a:r>
              <a:rPr sz="1500" b="1">
                <a:solidFill>
                  <a:srgbClr val="B57A1A"/>
                </a:solidFill>
                <a:latin typeface="JetBrains Mono"/>
                <a:ea typeface="JetBrains Mono"/>
                <a:cs typeface="JetBrains Mono"/>
              </a:rPr>
              <a:t>⚠  흔한 실수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이미지에 글자를 생성시키면 깨진 글자가 나온다 → 텍스트는 Canva 등에서 얹는다.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금지요소(--no)를 안 주면 워터마크·이상한 손·로고가 섞인다.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739896"/>
            <a:ext cx="10332720" cy="1005840"/>
          </a:xfrm>
          <a:prstGeom prst="rect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201168" rIns="365760" bIns="182880" rtlCol="0" anchor="t"/>
          <a:lstStyle/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📦  결과물  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배너 또는 썸네일 1종(채널 규격 · 상업적 이용 확인).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D4E8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2468880"/>
            <a:ext cx="822960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800"/>
              </a:spcAft>
            </a:pPr>
            <a:r>
              <a:rPr sz="1400" b="0">
                <a:solidFill>
                  <a:srgbClr val="BFD2EC"/>
                </a:solidFill>
                <a:latin typeface="JetBrains Mono"/>
                <a:ea typeface="JetBrains Mono"/>
                <a:cs typeface="JetBrains Mono"/>
              </a:rPr>
              <a:t>세션 2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1200"/>
              </a:spcAft>
            </a:pPr>
            <a:r>
              <a:rPr sz="32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이미지와 문구의 일관성 확보 방법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DBE6F6"/>
                </a:solidFill>
                <a:latin typeface="Pretendard"/>
                <a:ea typeface="Pretendard"/>
                <a:cs typeface="Pretendard"/>
              </a:rPr>
              <a:t>카드뉴스 세트는 "같은 스타일 키워드 재사용 + 동일 레이아웃"으로 톤을 통일한다.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핵심 개념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핵심 개념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스타일 시드(Seed) 고정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같은 스타일 키워드(또는 seed)를 재사용하면 여러 장의 톤이 일관된다.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그리드·여백 시스템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카드마다 제목 위치·여백·폰트를 고정해 시리즈처럼 보이게 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문구-비주얼 정합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M3 카드뉴스 문구를 그대로 얹어 메시지와 이미지가 따로 놀지 않게.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개념 깊이 보기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개념을 예시로 — 우리 케이스에 적용하면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1000"/>
              </a:spcBef>
              <a:spcAft>
                <a:spcPts val="200"/>
              </a:spcAft>
            </a:pPr>
            <a:r>
              <a:rPr sz="1500" b="1">
                <a:solidFill>
                  <a:srgbClr val="1D4E89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스타일 시드(Seed) 고정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    예) </a:t>
            </a:r>
            <a:r>
              <a:rPr sz="14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카드 1~5장에 같은 스타일 문장(warm amber+navy, flat minimal)을 재사용 → 한 시리즈처럼 보인다.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절차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실습 절차 — 직접 해봅니다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1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M4-1의 스타일 키워드를 그대로 재사용해 배경 2~3장을 생성한다.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2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편집 도구(Canva)에서 동일 템플릿에 M3 문구를 얹는다.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3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제목 위치·폰트·색을 카드 간 통일한다.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4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채널 종횡비로 일괄 내보내기 한다.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프롬프트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카드뉴스 배경 일관성 프롬프트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74519"/>
            <a:ext cx="10332720" cy="4434840"/>
          </a:xfrm>
          <a:prstGeom prst="rect">
            <a:avLst/>
          </a:prstGeom>
          <a:solidFill>
            <a:srgbClr val="10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11480" tIns="502920" rIns="365760" bIns="320040" rtlCol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same visual style as before: warm amber + navy, flat minimal,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soft grain, generous top margin for a one-line title, 1:1,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make 3 variations keeping identical mood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--no text, busy background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2103120"/>
            <a:ext cx="109728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좋은예 VS 나쁜예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비교 — 카드뉴스 5장, 톤이 따로 노는 이유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20240"/>
            <a:ext cx="5029200" cy="4114800"/>
          </a:xfrm>
          <a:prstGeom prst="rect">
            <a:avLst/>
          </a:prstGeom>
          <a:solidFill>
            <a:srgbClr val="F7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320040" rIns="320040" rtlCol="0" anchor="t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700" b="1">
                <a:solidFill>
                  <a:srgbClr val="A63333"/>
                </a:solidFill>
                <a:latin typeface="Noto Serif KR"/>
                <a:ea typeface="Noto Serif KR"/>
                <a:cs typeface="Noto Serif KR"/>
              </a:rPr>
              <a:t>🚫 매번 새 스타일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A6333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장마다 다른 색·질감으로 생성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A6333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5장이 제각각, 시리즈 느낌 X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A6333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문구 가독성 낮은 화려한 배경</a:t>
            </a:r>
          </a:p>
        </p:txBody>
      </p:sp>
      <p:sp>
        <p:nvSpPr>
          <p:cNvPr id="5" name="Rectangle 4"/>
          <p:cNvSpPr/>
          <p:nvPr/>
        </p:nvSpPr>
        <p:spPr>
          <a:xfrm>
            <a:off x="6245352" y="1920240"/>
            <a:ext cx="5029200" cy="4114800"/>
          </a:xfrm>
          <a:prstGeom prst="rect">
            <a:avLst/>
          </a:prstGeom>
          <a:solidFill>
            <a:srgbClr val="E7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320040" rIns="320040" rtlCol="0" anchor="t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700" b="1">
                <a:solidFill>
                  <a:srgbClr val="2C6B44"/>
                </a:solidFill>
                <a:latin typeface="Noto Serif KR"/>
                <a:ea typeface="Noto Serif KR"/>
                <a:cs typeface="Noto Serif KR"/>
              </a:rPr>
              <a:t>✅ 키워드 재사용 + 여백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2C6B44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동일 스타일 키워드로 3변형 생성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2C6B44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제목 위치·폰트·색 카드 간 통일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2C6B44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상단 여백 확보로 한 줄 문구 또렷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정리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이미지와 문구의 일관성 확보 방법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20240"/>
            <a:ext cx="10332720" cy="1636776"/>
          </a:xfrm>
          <a:prstGeom prst="rect">
            <a:avLst/>
          </a:prstGeom>
          <a:solidFill>
            <a:srgbClr val="FB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228600" rIns="365760" bIns="182880" rtlCol="0" anchor="t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600"/>
              </a:spcAft>
            </a:pPr>
            <a:r>
              <a:rPr sz="1500" b="1">
                <a:solidFill>
                  <a:srgbClr val="B57A1A"/>
                </a:solidFill>
                <a:latin typeface="JetBrains Mono"/>
                <a:ea typeface="JetBrains Mono"/>
                <a:cs typeface="JetBrains Mono"/>
              </a:rPr>
              <a:t>⚠  흔한 실수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카드마다 스타일을 새로 지정하면 시리즈가 따로 논다 → 키워드 재사용.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배경이 너무 화려하면 문구 가독성이 떨어진다 → 여백 확보.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739896"/>
            <a:ext cx="10332720" cy="1005840"/>
          </a:xfrm>
          <a:prstGeom prst="rect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201168" rIns="365760" bIns="182880" rtlCol="0" anchor="t"/>
          <a:lstStyle/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📦  결과물  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문구·톤이 일치하는 카드뉴스 1세트(2~3장).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도구 가이드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이 모듈에서 쓰는 도구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18224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ImageFX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Google의 무료 이미지 생성. 한글 프롬프트도 가능, 빠른 시안에 적합.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Midjourney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사진급 퀄리티와 일관된 무드의 강자(유료). --ar 비율·--no 제외 파라미터로 디테일을 정교하게 제어.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DALL·E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ChatGPT 내장. 구도·컨셉 잡기에 편리. 텍스트 렌더는 여전히 약함.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Canva AI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생성+편집+규격 내보내기를 한 곳에서. 문구 얹기·배경 제거·리사이즈에 강하다.</a:t>
            </a:r>
          </a:p>
        </p:txBody>
      </p:sp>
    </p:spTree>
    <p:extLst>
      <p:ext uri="{BB962C8B-B14F-4D97-AF65-F5344CB8AC3E}">
        <p14:creationId xmlns:p14="http://schemas.microsoft.com/office/powerpoint/2010/main" val="120999190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CHECKLIST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모듈 체크리스트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☐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용도에 맞는 종횡비로 배너/썸네일을 만들었다.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☐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같은 스타일로 카드뉴스 세트를 통일했다.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☐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상업적 이용 가능 여부를 확인했다.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1371600"/>
            <a:ext cx="822960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51560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400" b="0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MISSION · 도장깨기</a:t>
            </a:r>
          </a:p>
          <a:p>
            <a:pPr algn="l">
              <a:lnSpc>
                <a:spcPct val="110000"/>
              </a:lnSpc>
              <a:spcBef>
                <a:spcPts val="600"/>
              </a:spcBef>
              <a:spcAft>
                <a:spcPts val="1200"/>
              </a:spcAft>
            </a:pPr>
            <a:r>
              <a:rPr sz="30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미션 04 — 홍보 시각자료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2400"/>
              </a:spcAft>
            </a:pPr>
            <a:r>
              <a:rPr sz="1600" b="0">
                <a:solidFill>
                  <a:srgbClr val="C7D2E6"/>
                </a:solidFill>
                <a:latin typeface="Pretendard"/>
                <a:ea typeface="Pretendard"/>
                <a:cs typeface="Pretendard"/>
              </a:rPr>
              <a:t>💡 문구와 톤을 맞추려면 같은 스타일 키워드를 재사용한다.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▶  다음  </a:t>
            </a: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M5. AI 기반 UI 시안 제작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D4E8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1554480"/>
            <a:ext cx="1005840" cy="128016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400" b="0">
                <a:solidFill>
                  <a:srgbClr val="BFD2EC"/>
                </a:solidFill>
                <a:latin typeface="JetBrains Mono"/>
                <a:ea typeface="JetBrains Mono"/>
                <a:cs typeface="JetBrains Mono"/>
              </a:rPr>
              <a:t>MODULE 5 · 5교시 · 14:00–14:50</a:t>
            </a:r>
          </a:p>
          <a:p>
            <a:pPr algn="l">
              <a:lnSpc>
                <a:spcPct val="110000"/>
              </a:lnSpc>
              <a:spcBef>
                <a:spcPts val="600"/>
              </a:spcBef>
              <a:spcAft>
                <a:spcPts val="1200"/>
              </a:spcAft>
            </a:pPr>
            <a:r>
              <a:rPr sz="38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M5. AI 기반 UI 시안 제작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DBE6F6"/>
                </a:solidFill>
                <a:latin typeface="Pretendard"/>
                <a:ea typeface="Pretendard"/>
                <a:cs typeface="Pretendard"/>
              </a:rPr>
              <a:t>Google Stitch로 자연어 설명만으로 홍보용 UI 시안을 생성하고, 랜딩/이벤트 페이지의 화면 구조와 흐름을 설계한다.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5212080"/>
            <a:ext cx="10515600" cy="1051560"/>
          </a:xfrm>
          <a:prstGeom prst="rect">
            <a:avLst/>
          </a:prstGeom>
          <a:solidFill>
            <a:srgbClr val="184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20040" tIns="164592" rtlCol="0" anchor="ctr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300"/>
              </a:spcAft>
            </a:pPr>
            <a:r>
              <a:rPr sz="1200" b="1">
                <a:solidFill>
                  <a:srgbClr val="9FC0E6"/>
                </a:solidFill>
                <a:latin typeface="JetBrains Mono"/>
                <a:ea typeface="JetBrains Mono"/>
                <a:cs typeface="JetBrains Mono"/>
              </a:rPr>
              <a:t>이전  </a:t>
            </a:r>
            <a:r>
              <a:rPr sz="13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M3·M4의 콘텐츠·비주얼이 모였다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300"/>
              </a:spcAft>
            </a:pPr>
            <a:r>
              <a:rPr sz="12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이번  </a:t>
            </a: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이것들을 담을 홍보 페이지 UI 시안을 만든다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400"/>
              </a:spcAft>
            </a:pPr>
            <a:r>
              <a:rPr sz="1200" b="1">
                <a:solidFill>
                  <a:srgbClr val="9FC0E6"/>
                </a:solidFill>
                <a:latin typeface="JetBrains Mono"/>
                <a:ea typeface="JetBrains Mono"/>
                <a:cs typeface="JetBrains Mono"/>
              </a:rPr>
              <a:t>다음  </a:t>
            </a:r>
            <a:r>
              <a:rPr sz="13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시안에 카피·이미지를 채워 실제 페이지로 → M6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학습 목표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이 모듈에서 할 수 있게 되는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자연어 설명으로 홍보용 UI 시안을 생성할 수 있다.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홍보 페이지의 화면 구조와 흐름을 설계할 수 있다.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D4E8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2468880"/>
            <a:ext cx="822960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800"/>
              </a:spcAft>
            </a:pPr>
            <a:r>
              <a:rPr sz="1400" b="0">
                <a:solidFill>
                  <a:srgbClr val="BFD2EC"/>
                </a:solidFill>
                <a:latin typeface="JetBrains Mono"/>
                <a:ea typeface="JetBrains Mono"/>
                <a:cs typeface="JetBrains Mono"/>
              </a:rPr>
              <a:t>세션 1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1200"/>
              </a:spcAft>
            </a:pPr>
            <a:r>
              <a:rPr sz="32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자연어 기반 UI 시안 생성 (Google Stitch)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DBE6F6"/>
                </a:solidFill>
                <a:latin typeface="Pretendard"/>
                <a:ea typeface="Pretendard"/>
                <a:cs typeface="Pretendard"/>
              </a:rPr>
              <a:t>Stitch는 자연어 프롬프트 → UI 시안 생성 도구. "무엇을 위한 화면인지"를 명확히 주는 게 핵심.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핵심 개념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핵심 개념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Google Stitch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자연어로 앱/웹 UI 시안을 생성하는 구글 도구. 화면 목적·섹션·톤을 주면 시안과 레이아웃을 만든다.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디자인 브리프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목적·타깃·핵심 행동(CTA)·톤·필수 섹션을 한 문단으로. 시안 품질은 브리프 품질에 비례.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반복(Iteration)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한 번에 완성하지 않고 "히어로를 더 크게", "후기 섹션 추가"처럼 부분 수정으로 다듬는다.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개념 깊이 보기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개념을 예시로 — 우리 케이스에 적용하면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1000"/>
              </a:spcBef>
              <a:spcAft>
                <a:spcPts val="200"/>
              </a:spcAft>
            </a:pPr>
            <a:r>
              <a:rPr sz="1500" b="1">
                <a:solidFill>
                  <a:srgbClr val="1D4E89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디자인 브리프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    예) </a:t>
            </a:r>
            <a:r>
              <a:rPr sz="14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목적(사전예약)·톤(warm premium)·섹션(히어로·특징·후기·FAQ·CTA)을 한 문단으로 주면 시안 품질이 확 오른다.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  <a:spcAft>
                <a:spcPts val="200"/>
              </a:spcAft>
            </a:pPr>
            <a:r>
              <a:rPr sz="1500" b="1">
                <a:solidFill>
                  <a:srgbClr val="1D4E89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반복(Iteration)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    예) </a:t>
            </a:r>
            <a:r>
              <a:rPr sz="14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"히어로를 더 크게", "후기 섹션 추가"처럼 부분 지시로 2~3회 다듬는 게 정석.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절차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실습 절차 — 직접 해봅니다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1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페이지 목적과 핵심 행동(CTA)을 한 문장으로 정한다.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2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필수 섹션 목록을 적는다(히어로·특징·후기·CTA 등).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3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Stitch에 디자인 브리프를 입력해 첫 시안을 생성한다.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4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부분 수정 지시로 2~3회 반복해 다듬는다.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프롬프트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Stitch 디자인 브리프 예시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74519"/>
            <a:ext cx="10332720" cy="4434840"/>
          </a:xfrm>
          <a:prstGeom prst="rect">
            <a:avLst/>
          </a:prstGeom>
          <a:solidFill>
            <a:srgbClr val="10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11480" tIns="502920" rIns="365760" bIns="320040" rtlCol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Create a landing page for a craft non-alcoholic beer brand.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Goal: get visitors to pre-order.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Tone: warm, premium, minimal (amber + navy).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Sections: hero with one-line headline + CTA button,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3 feature cards, customer quotes, FAQ, final CTA.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Mobile-first layout.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2103120"/>
            <a:ext cx="109728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실제 입력 → 출력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실제 예시 — Stitch 브리프 → 생성 화면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783080"/>
            <a:ext cx="10332720" cy="1874519"/>
          </a:xfrm>
          <a:prstGeom prst="rect">
            <a:avLst/>
          </a:prstGeom>
          <a:solidFill>
            <a:srgbClr val="10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502920" rIns="320040" rtlCol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25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Create a landing page for "Night Off", a craft non-alcoholic beer.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25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Goal: pre-order. Tone: warm, premium, minimal (amber + navy).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25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Sections: hero(headline+CTA), 3 features, customer quotes, FAQ, final CTA.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25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Mobile-first.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783080"/>
            <a:ext cx="2011680" cy="329184"/>
          </a:xfrm>
          <a:prstGeom prst="rect">
            <a:avLst/>
          </a:prstGeom>
          <a:solidFill>
            <a:srgbClr val="24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400"/>
              </a:spcAft>
            </a:pPr>
            <a:r>
              <a:rPr sz="1200" b="0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▸ 입력 프롬프트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794760"/>
            <a:ext cx="10332720" cy="2514600"/>
          </a:xfrm>
          <a:prstGeom prst="rect">
            <a:avLst/>
          </a:prstGeom>
          <a:solidFill>
            <a:srgbClr val="FBFCFE"/>
          </a:solidFill>
          <a:ln w="12700">
            <a:solidFill>
              <a:srgbClr val="E9EC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502920" rIns="320040" rtlCol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5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결과(기대): 위→아래로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5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① 히어로(한 줄 헤드라인 + "사전예약" 버튼)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5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② 특징 3카드(발효공법·저칼로리·0.0%)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5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③ 고객 후기 ④ FAQ ⑤ 하단 CTA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50">
                <a:solidFill>
                  <a:srgbClr val="1D4E89"/>
                </a:solidFill>
                <a:latin typeface="Pretendard"/>
                <a:ea typeface="Pretendard"/>
                <a:cs typeface="Pretendard"/>
              </a:rPr>
              <a:t>→ "특징을 2개로 줄여줘"처럼 부분 수정으로 다듬는다.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794760"/>
            <a:ext cx="1828800" cy="329184"/>
          </a:xfrm>
          <a:prstGeom prst="rect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384048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400"/>
              </a:spcAft>
            </a:pPr>
            <a:r>
              <a:rPr sz="12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▸ 나온 결과(예)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정리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자연어 기반 UI 시안 생성 (Google Stitch)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20240"/>
            <a:ext cx="10332720" cy="1636776"/>
          </a:xfrm>
          <a:prstGeom prst="rect">
            <a:avLst/>
          </a:prstGeom>
          <a:solidFill>
            <a:srgbClr val="FB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228600" rIns="365760" bIns="182880" rtlCol="0" anchor="t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600"/>
              </a:spcAft>
            </a:pPr>
            <a:r>
              <a:rPr sz="1500" b="1">
                <a:solidFill>
                  <a:srgbClr val="B57A1A"/>
                </a:solidFill>
                <a:latin typeface="JetBrains Mono"/>
                <a:ea typeface="JetBrains Mono"/>
                <a:cs typeface="JetBrains Mono"/>
              </a:rPr>
              <a:t>⚠  흔한 실수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목적/CTA 없이 "예쁘게"만 요청하면 방향 없는 시안이 나온다.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한 번에 완벽 기대 금지 → 부분 수정 반복이 정석.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739896"/>
            <a:ext cx="10332720" cy="1005840"/>
          </a:xfrm>
          <a:prstGeom prst="rect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201168" rIns="365760" bIns="182880" rtlCol="0" anchor="t"/>
          <a:lstStyle/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📦  결과물  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홍보용 페이지 UI 시안 1개(히어로·특징·CTA 포함).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D4E8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2468880"/>
            <a:ext cx="822960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800"/>
              </a:spcAft>
            </a:pPr>
            <a:r>
              <a:rPr sz="1400" b="0">
                <a:solidFill>
                  <a:srgbClr val="BFD2EC"/>
                </a:solidFill>
                <a:latin typeface="JetBrains Mono"/>
                <a:ea typeface="JetBrains Mono"/>
                <a:cs typeface="JetBrains Mono"/>
              </a:rPr>
              <a:t>세션 2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1200"/>
              </a:spcAft>
            </a:pPr>
            <a:r>
              <a:rPr sz="32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랜딩페이지·이벤트 페이지 구조 설계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DBE6F6"/>
                </a:solidFill>
                <a:latin typeface="Pretendard"/>
                <a:ea typeface="Pretendard"/>
                <a:cs typeface="Pretendard"/>
              </a:rPr>
              <a:t>랜딩/이벤트 페이지는 "한 페이지 = 하나의 목표"로 화면 흐름을 설계한다.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핵심 개념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핵심 개념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랜딩페이지 1목표 원칙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한 페이지는 하나의 전환 목표(구매·신청·문의)만. 목표가 여러 개면 전환율이 떨어진다.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시각적 흐름(F/Z 패턴)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시선 동선을 고려해 핵심 메시지와 CTA를 동선 위에 배치한다.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와이어프레임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색·이미지 전에 박스로 구조를 먼저 잡는 저해상도 설계.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개념 깊이 보기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개념을 예시로 — 우리 케이스에 적용하면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1000"/>
              </a:spcBef>
              <a:spcAft>
                <a:spcPts val="200"/>
              </a:spcAft>
            </a:pPr>
            <a:r>
              <a:rPr sz="1500" b="1">
                <a:solidFill>
                  <a:srgbClr val="1D4E89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랜딩페이지 1목표 원칙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    예) </a:t>
            </a:r>
            <a:r>
              <a:rPr sz="14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Night Off 페이지의 목표는 오직 "사전예약". 구매·뉴스레터·문의를 한 페이지에 다 넣으면 전환이 분산된다.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절차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실습 절차 — 직접 해봅니다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1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페이지의 단일 목표를 적는다.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2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섹션 순서를 와이어프레임(박스)으로 배치한다.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3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Stitch 시안을 이 구조에 맞춰 조정한다.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4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CTA가 첫 화면과 마지막에 반복되는지 확인한다.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프롬프트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구조 조정 지시 예시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74519"/>
            <a:ext cx="10332720" cy="4434840"/>
          </a:xfrm>
          <a:prstGeom prst="rect">
            <a:avLst/>
          </a:prstGeom>
          <a:solidFill>
            <a:srgbClr val="10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11480" tIns="502920" rIns="365760" bIns="320040" rtlCol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Refine the page: move the primary CTA into the hero,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add a sticky top bar with the CTA,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reduce sections to: hero, 3 benefits, social proof, CTA.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Keep it single-goal: pre-order.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2103120"/>
            <a:ext cx="109728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좋은예 VS 나쁜예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비교 — 한 페이지, 목표가 몇 개?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20240"/>
            <a:ext cx="5029200" cy="4114800"/>
          </a:xfrm>
          <a:prstGeom prst="rect">
            <a:avLst/>
          </a:prstGeom>
          <a:solidFill>
            <a:srgbClr val="F7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320040" rIns="320040" rtlCol="0" anchor="t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700" b="1">
                <a:solidFill>
                  <a:srgbClr val="A63333"/>
                </a:solidFill>
                <a:latin typeface="Noto Serif KR"/>
                <a:ea typeface="Noto Serif KR"/>
                <a:cs typeface="Noto Serif KR"/>
              </a:rPr>
              <a:t>🚫 목표 여럿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A6333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사전예약+뉴스레터+매장찾기+문의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A6333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방문자가 뭘 해야 할지 혼란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A6333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CTA가 흩어져 전환율 ↓</a:t>
            </a:r>
          </a:p>
        </p:txBody>
      </p:sp>
      <p:sp>
        <p:nvSpPr>
          <p:cNvPr id="5" name="Rectangle 4"/>
          <p:cNvSpPr/>
          <p:nvPr/>
        </p:nvSpPr>
        <p:spPr>
          <a:xfrm>
            <a:off x="6245352" y="1920240"/>
            <a:ext cx="5029200" cy="4114800"/>
          </a:xfrm>
          <a:prstGeom prst="rect">
            <a:avLst/>
          </a:prstGeom>
          <a:solidFill>
            <a:srgbClr val="E7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320040" rIns="320040" rtlCol="0" anchor="t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700" b="1">
                <a:solidFill>
                  <a:srgbClr val="2C6B44"/>
                </a:solidFill>
                <a:latin typeface="Noto Serif KR"/>
                <a:ea typeface="Noto Serif KR"/>
                <a:cs typeface="Noto Serif KR"/>
              </a:rPr>
              <a:t>✅ 1페이지 1목표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2C6B44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목표는 "사전예약" 하나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2C6B44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CTA를 히어로·하단에 반복 배치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2C6B44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나머지는 과감히 덜어냄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정리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랜딩페이지·이벤트 페이지 구조 설계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20240"/>
            <a:ext cx="10332720" cy="1636776"/>
          </a:xfrm>
          <a:prstGeom prst="rect">
            <a:avLst/>
          </a:prstGeom>
          <a:solidFill>
            <a:srgbClr val="FB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228600" rIns="365760" bIns="182880" rtlCol="0" anchor="t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600"/>
              </a:spcAft>
            </a:pPr>
            <a:r>
              <a:rPr sz="1500" b="1">
                <a:solidFill>
                  <a:srgbClr val="B57A1A"/>
                </a:solidFill>
                <a:latin typeface="JetBrains Mono"/>
                <a:ea typeface="JetBrains Mono"/>
                <a:cs typeface="JetBrains Mono"/>
              </a:rPr>
              <a:t>⚠  흔한 실수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한 페이지에 목표가 여럿이면 전환이 분산된다 → 1페이지 1목표.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CTA가 한 번만 있으면 놓친다 → 상단·하단 반복 배치.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739896"/>
            <a:ext cx="10332720" cy="1005840"/>
          </a:xfrm>
          <a:prstGeom prst="rect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201168" rIns="365760" bIns="182880" rtlCol="0" anchor="t"/>
          <a:lstStyle/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📦  결과물  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캠페인용 페이지 구조(와이어프레임) + 조정된 Stitch 시안.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도구 가이드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이 모듈에서 쓰는 도구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Google Stitch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자연어→UI 시안. 디자인 브리프를 영어로 주면 안정적. 부분 수정 반복으로 완성도를 올린다.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Figma(선택)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시안을 더 정교하게 다듬고 싶을 때 내보내 편집.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CHECKLIST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모듈 체크리스트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☐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페이지 목적·CTA를 한 문장으로 정의했다.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☐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Stitch로 시안을 생성하고 반복 수정했다.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☐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단일 목표 원칙으로 섹션을 정리했다.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1371600"/>
            <a:ext cx="822960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51560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400" b="0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MISSION · 도장깨기</a:t>
            </a:r>
          </a:p>
          <a:p>
            <a:pPr algn="l">
              <a:lnSpc>
                <a:spcPct val="110000"/>
              </a:lnSpc>
              <a:spcBef>
                <a:spcPts val="600"/>
              </a:spcBef>
              <a:spcAft>
                <a:spcPts val="1200"/>
              </a:spcAft>
            </a:pPr>
            <a:r>
              <a:rPr sz="30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미션 05 — UI 시안(Stitch)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2400"/>
              </a:spcAft>
            </a:pPr>
            <a:r>
              <a:rPr sz="1600" b="0">
                <a:solidFill>
                  <a:srgbClr val="C7D2E6"/>
                </a:solidFill>
                <a:latin typeface="Pretendard"/>
                <a:ea typeface="Pretendard"/>
                <a:cs typeface="Pretendard"/>
              </a:rPr>
              <a:t>💡 원하는 화면을 자연어로 설명하고, 시안을 반복 수정한다.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▶  다음  </a:t>
            </a: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M6. AI 기반 페이지 구성 실무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D4E8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1554480"/>
            <a:ext cx="1005840" cy="128016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400" b="0">
                <a:solidFill>
                  <a:srgbClr val="BFD2EC"/>
                </a:solidFill>
                <a:latin typeface="JetBrains Mono"/>
                <a:ea typeface="JetBrains Mono"/>
                <a:cs typeface="JetBrains Mono"/>
              </a:rPr>
              <a:t>MODULE 6 · 6교시 · 15:00–15:50</a:t>
            </a:r>
          </a:p>
          <a:p>
            <a:pPr algn="l">
              <a:lnSpc>
                <a:spcPct val="110000"/>
              </a:lnSpc>
              <a:spcBef>
                <a:spcPts val="600"/>
              </a:spcBef>
              <a:spcAft>
                <a:spcPts val="1200"/>
              </a:spcAft>
            </a:pPr>
            <a:r>
              <a:rPr sz="38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M6. AI 기반 페이지 구성 실무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DBE6F6"/>
                </a:solidFill>
                <a:latin typeface="Pretendard"/>
                <a:ea typeface="Pretendard"/>
                <a:cs typeface="Pretendard"/>
              </a:rPr>
              <a:t>시안을 실제 홍보 페이지로 구성한다. 섹션별 카피·CTA·사용자 흐름을 설계해 "전환되는 페이지"를 만든다.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5212080"/>
            <a:ext cx="10515600" cy="1051560"/>
          </a:xfrm>
          <a:prstGeom prst="rect">
            <a:avLst/>
          </a:prstGeom>
          <a:solidFill>
            <a:srgbClr val="184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20040" tIns="164592" rtlCol="0" anchor="ctr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300"/>
              </a:spcAft>
            </a:pPr>
            <a:r>
              <a:rPr sz="1200" b="1">
                <a:solidFill>
                  <a:srgbClr val="9FC0E6"/>
                </a:solidFill>
                <a:latin typeface="JetBrains Mono"/>
                <a:ea typeface="JetBrains Mono"/>
                <a:cs typeface="JetBrains Mono"/>
              </a:rPr>
              <a:t>이전  </a:t>
            </a:r>
            <a:r>
              <a:rPr sz="13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M5의 시안 구조가 잡혔다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300"/>
              </a:spcAft>
            </a:pPr>
            <a:r>
              <a:rPr sz="12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이번  </a:t>
            </a: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섹션 카피·CTA·사용자 흐름으로 전환되는 페이지를 완성한다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400"/>
              </a:spcAft>
            </a:pPr>
            <a:r>
              <a:rPr sz="1200" b="1">
                <a:solidFill>
                  <a:srgbClr val="9FC0E6"/>
                </a:solidFill>
                <a:latin typeface="JetBrains Mono"/>
                <a:ea typeface="JetBrains Mono"/>
                <a:cs typeface="JetBrains Mono"/>
              </a:rPr>
              <a:t>다음  </a:t>
            </a:r>
            <a:r>
              <a:rPr sz="13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 제작 과정을 반복 자산으로 → M7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학습 목표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이 모듈에서 할 수 있게 되는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페이지 섹션 구성과 CTA 문구를 설계할 수 있다.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사용자 흐름에 맞춰 서비스 소개형 페이지를 구성할 수 있다.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D4E8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2468880"/>
            <a:ext cx="822960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800"/>
              </a:spcAft>
            </a:pPr>
            <a:r>
              <a:rPr sz="1400" b="0">
                <a:solidFill>
                  <a:srgbClr val="BFD2EC"/>
                </a:solidFill>
                <a:latin typeface="JetBrains Mono"/>
                <a:ea typeface="JetBrains Mono"/>
                <a:cs typeface="JetBrains Mono"/>
              </a:rPr>
              <a:t>세션 1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1200"/>
              </a:spcAft>
            </a:pPr>
            <a:r>
              <a:rPr sz="32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섹션 구성과 CTA 문구 작성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DBE6F6"/>
                </a:solidFill>
                <a:latin typeface="Pretendard"/>
                <a:ea typeface="Pretendard"/>
                <a:cs typeface="Pretendard"/>
              </a:rPr>
              <a:t>섹션마다 역할이 있다. 히어로=후킹, 특징=설득, 후기=신뢰, CTA=행동.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핵심 개념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핵심 개념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히어로 섹션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3초 안에 "무엇을·왜"를 전달. 한 줄 헤드라인 + 보조 문구 + CTA 버튼.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CTA 카피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"제출"보다 "지금 무료로 받기"처럼 이득을 담은 동사로. 버튼은 1차 행동 1개에 집중.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사회적 증거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후기·사용 수·로고로 신뢰를 보강. 숫자가 있으면 더 강력하다.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개념 깊이 보기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개념을 예시로 — 우리 케이스에 적용하면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1000"/>
              </a:spcBef>
              <a:spcAft>
                <a:spcPts val="200"/>
              </a:spcAft>
            </a:pPr>
            <a:r>
              <a:rPr sz="1500" b="1">
                <a:solidFill>
                  <a:srgbClr val="1D4E89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히어로 섹션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    예) </a:t>
            </a:r>
            <a:r>
              <a:rPr sz="14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3초 안에 "무엇을·왜". Night Off라면 헤드라인 "내일을 망치지 않는 한 잔" + "사전예약" 버튼.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  <a:spcAft>
                <a:spcPts val="200"/>
              </a:spcAft>
            </a:pPr>
            <a:r>
              <a:rPr sz="1500" b="1">
                <a:solidFill>
                  <a:srgbClr val="1D4E89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CTA 카피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    예) </a:t>
            </a:r>
            <a:r>
              <a:rPr sz="14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"제출"(X) → "지금 사전예약하고 20% 받기"(O). 이득을 담은 동사로.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절차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실습 절차 — 직접 해봅니다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1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시안의 각 섹션에 역할을 매핑한다(후킹/설득/신뢰/행동).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2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M2 메시지 하우스를 히어로 헤드라인으로 변환한다.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3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특징을 이득 중심 카피로 3개 작성한다.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4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CTA 문구를 이득형 동사로 3종 만들어 A/B 후보로 둔다.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프롬프트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섹션 카피 생성 프롬프트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74519"/>
            <a:ext cx="10332720" cy="4434840"/>
          </a:xfrm>
          <a:prstGeom prst="rect">
            <a:avLst/>
          </a:prstGeom>
          <a:solidFill>
            <a:srgbClr val="10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11480" tIns="502920" rIns="365760" bIns="320040" rtlCol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랜딩페이지 섹션 카피를 써줘. 톤은 따뜻·프리미엄.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- 히어로 헤드라인 1줄(20자 내) + 보조문구 1줄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- 특징 3개: 각 [소제목 + 이득 한 줄]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- CTA 버튼 문구 3종(이득형 동사)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핵심 메시지: 부담 없이 즐기는 진짜 맥주맛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2103120"/>
            <a:ext cx="109728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실제 입력 → 출력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실제 예시 — 섹션 카피 산출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783080"/>
            <a:ext cx="10332720" cy="1874519"/>
          </a:xfrm>
          <a:prstGeom prst="rect">
            <a:avLst/>
          </a:prstGeom>
          <a:solidFill>
            <a:srgbClr val="10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502920" rIns="320040" rtlCol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25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랜딩 섹션 카피를 써줘. 톤 따뜻·프리미엄.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25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- 히어로 헤드라인 1줄(20자내)+보조문구 - 특징 3개[소제목+이득 한 줄]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25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- CTA 3종(이득형). 핵심 메시지: 부담 없이 즐기는 진짜 맥주맛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783080"/>
            <a:ext cx="2011680" cy="329184"/>
          </a:xfrm>
          <a:prstGeom prst="rect">
            <a:avLst/>
          </a:prstGeom>
          <a:solidFill>
            <a:srgbClr val="24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400"/>
              </a:spcAft>
            </a:pPr>
            <a:r>
              <a:rPr sz="1200" b="0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▸ 입력 프롬프트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794760"/>
            <a:ext cx="10332720" cy="2514600"/>
          </a:xfrm>
          <a:prstGeom prst="rect">
            <a:avLst/>
          </a:prstGeom>
          <a:solidFill>
            <a:srgbClr val="FBFCFE"/>
          </a:solidFill>
          <a:ln w="12700">
            <a:solidFill>
              <a:srgbClr val="E9EC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502920" rIns="320040" rtlCol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5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[히어로] "내일을 망치지 않는 한 잔" / 진짜 맥주맛, 알코올은 0.0%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5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[특징] 발효공법 — 무알콜인데 진짜 맥주맛 / 저칼로리 — 한 캔 더도 가볍게 / 0.0% — 운전도 출근도 문제없이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5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[CTA] ①지금 사전예약하고 20% 받기 ②첫 한 박스 받아보기 ③출시 알림 신청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794760"/>
            <a:ext cx="1828800" cy="329184"/>
          </a:xfrm>
          <a:prstGeom prst="rect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384048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400"/>
              </a:spcAft>
            </a:pPr>
            <a:r>
              <a:rPr sz="12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▸ 나온 결과(예)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정리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섹션 구성과 CTA 문구 작성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20240"/>
            <a:ext cx="10332720" cy="1636776"/>
          </a:xfrm>
          <a:prstGeom prst="rect">
            <a:avLst/>
          </a:prstGeom>
          <a:solidFill>
            <a:srgbClr val="FB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228600" rIns="365760" bIns="182880" rtlCol="0" anchor="t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600"/>
              </a:spcAft>
            </a:pPr>
            <a:r>
              <a:rPr sz="1500" b="1">
                <a:solidFill>
                  <a:srgbClr val="B57A1A"/>
                </a:solidFill>
                <a:latin typeface="JetBrains Mono"/>
                <a:ea typeface="JetBrains Mono"/>
                <a:cs typeface="JetBrains Mono"/>
              </a:rPr>
              <a:t>⚠  흔한 실수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CTA가 "더보기"처럼 모호하면 클릭률이 떨어진다 → 이득을 담는다.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특징을 스펙 나열로 쓰면 안 읽힌다 → 이득 한 줄로.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739896"/>
            <a:ext cx="10332720" cy="1005840"/>
          </a:xfrm>
          <a:prstGeom prst="rect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201168" rIns="365760" bIns="182880" rtlCol="0" anchor="t"/>
          <a:lstStyle/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📦  결과물  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섹션별 카피 + CTA 문구 3종(A/B 후보).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D4E8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2468880"/>
            <a:ext cx="822960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800"/>
              </a:spcAft>
            </a:pPr>
            <a:r>
              <a:rPr sz="1400" b="0">
                <a:solidFill>
                  <a:srgbClr val="BFD2EC"/>
                </a:solidFill>
                <a:latin typeface="JetBrains Mono"/>
                <a:ea typeface="JetBrains Mono"/>
                <a:cs typeface="JetBrains Mono"/>
              </a:rPr>
              <a:t>세션 2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1200"/>
              </a:spcAft>
            </a:pPr>
            <a:r>
              <a:rPr sz="32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사용자 흐름 설계와 서비스 소개형 페이지 구성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DBE6F6"/>
                </a:solidFill>
                <a:latin typeface="Pretendard"/>
                <a:ea typeface="Pretendard"/>
                <a:cs typeface="Pretendard"/>
              </a:rPr>
              <a:t>사용자 흐름(인지→관심→욕구→행동)에 맞춰 섹션 순서와 정보 우선순위를 정한다.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핵심 개념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핵심 개념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AIDA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Attention→Interest→Desire→Action. 섹션 순서를 이 흐름에 맞춘다.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정보 우선순위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가장 중요한 1가지를 첫 화면에. 스크롤할수록 보조 정보로 내려간다.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인지 부하 줄이기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한 섹션 한 메시지. 선택지를 줄여 행동을 쉽게 만든다.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개념 깊이 보기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개념을 예시로 — 우리 케이스에 적용하면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1000"/>
              </a:spcBef>
              <a:spcAft>
                <a:spcPts val="200"/>
              </a:spcAft>
            </a:pPr>
            <a:r>
              <a:rPr sz="1500" b="1">
                <a:solidFill>
                  <a:srgbClr val="1D4E89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AIDA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    예) </a:t>
            </a:r>
            <a:r>
              <a:rPr sz="14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Attention(히어로)→Interest(특징)→Desire(후기·사회적 증거)→Action(CTA) 순으로 섹션을 배열.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절차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실습 절차 — 직접 해봅니다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1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섹션을 AIDA 흐름으로 재배열한다.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2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첫 화면에 핵심 메시지+CTA가 보이는지 확인한다.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3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불필요한 섹션을 덜어낸다(한 페이지 한 목표).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4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모바일에서 흐름이 깨지지 않는지 점검한다.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프롬프트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흐름 점검 프롬프트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74519"/>
            <a:ext cx="10332720" cy="4434840"/>
          </a:xfrm>
          <a:prstGeom prst="rect">
            <a:avLst/>
          </a:prstGeom>
          <a:solidFill>
            <a:srgbClr val="10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11480" tIns="502920" rIns="365760" bIns="320040" rtlCol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다음 섹션 순서를 AIDA 관점에서 검토하고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더 전환이 잘 되는 순서로 재배열 + 이유를 알려줘.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현재: 특징 → 히어로 → FAQ → 후기 → CTA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2103120"/>
            <a:ext cx="109728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좋은예 VS 나쁜예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비교 — CTA 문구, 한 끗 차이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20240"/>
            <a:ext cx="5029200" cy="4114800"/>
          </a:xfrm>
          <a:prstGeom prst="rect">
            <a:avLst/>
          </a:prstGeom>
          <a:solidFill>
            <a:srgbClr val="F7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320040" rIns="320040" rtlCol="0" anchor="t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700" b="1">
                <a:solidFill>
                  <a:srgbClr val="A63333"/>
                </a:solidFill>
                <a:latin typeface="Noto Serif KR"/>
                <a:ea typeface="Noto Serif KR"/>
                <a:cs typeface="Noto Serif KR"/>
              </a:rPr>
              <a:t>🚫 모호한 CTA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A6333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"더보기"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A6333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"제출하기"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A6333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→ 클릭해서 뭘 얻는지 안 보임</a:t>
            </a:r>
          </a:p>
        </p:txBody>
      </p:sp>
      <p:sp>
        <p:nvSpPr>
          <p:cNvPr id="5" name="Rectangle 4"/>
          <p:cNvSpPr/>
          <p:nvPr/>
        </p:nvSpPr>
        <p:spPr>
          <a:xfrm>
            <a:off x="6245352" y="1920240"/>
            <a:ext cx="5029200" cy="4114800"/>
          </a:xfrm>
          <a:prstGeom prst="rect">
            <a:avLst/>
          </a:prstGeom>
          <a:solidFill>
            <a:srgbClr val="E7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320040" rIns="320040" rtlCol="0" anchor="t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700" b="1">
                <a:solidFill>
                  <a:srgbClr val="2C6B44"/>
                </a:solidFill>
                <a:latin typeface="Noto Serif KR"/>
                <a:ea typeface="Noto Serif KR"/>
                <a:cs typeface="Noto Serif KR"/>
              </a:rPr>
              <a:t>✅ 이득형 CTA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2C6B44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"지금 사전예약하고 20% 받기"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2C6B44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"숙취 없는 첫 박스 받아보기"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2C6B44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→ 행동의 이득이 분명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정리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사용자 흐름 설계와 서비스 소개형 페이지 구성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20240"/>
            <a:ext cx="10332720" cy="1636776"/>
          </a:xfrm>
          <a:prstGeom prst="rect">
            <a:avLst/>
          </a:prstGeom>
          <a:solidFill>
            <a:srgbClr val="FB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228600" rIns="365760" bIns="182880" rtlCol="0" anchor="t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600"/>
              </a:spcAft>
            </a:pPr>
            <a:r>
              <a:rPr sz="1500" b="1">
                <a:solidFill>
                  <a:srgbClr val="B57A1A"/>
                </a:solidFill>
                <a:latin typeface="JetBrains Mono"/>
                <a:ea typeface="JetBrains Mono"/>
                <a:cs typeface="JetBrains Mono"/>
              </a:rPr>
              <a:t>⚠  흔한 실수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섹션이 너무 많으면 이탈한다 → 핵심만 남긴다.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모바일 미점검 → 데스크톱만 보고 발행하면 흐름이 깨진다.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739896"/>
            <a:ext cx="10332720" cy="1005840"/>
          </a:xfrm>
          <a:prstGeom prst="rect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201168" rIns="365760" bIns="182880" rtlCol="0" anchor="t"/>
          <a:lstStyle/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📦  결과물  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사용자 흐름에 맞춘 서비스 소개형 페이지 구성 1개.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도구 가이드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이 모듈에서 쓰는 도구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Google Stitch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시안 단계에서 섹션 구조를 잡는다.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Framer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시안을 실제 게시 가능한 반응형 페이지로. 노코드로 공개 URL 발급.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Carrd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가벼운 원페이지 프로모션에 적합. 빠르게 공개.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CHECKLIST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모듈 체크리스트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☐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섹션마다 역할을 부여했다.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☐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이득형 CTA를 3종 만들었다.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☐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AIDA 흐름으로 섹션을 재배열했다.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1371600"/>
            <a:ext cx="822960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51560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400" b="0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MISSION · 도장깨기</a:t>
            </a:r>
          </a:p>
          <a:p>
            <a:pPr algn="l">
              <a:lnSpc>
                <a:spcPct val="110000"/>
              </a:lnSpc>
              <a:spcBef>
                <a:spcPts val="600"/>
              </a:spcBef>
              <a:spcAft>
                <a:spcPts val="1200"/>
              </a:spcAft>
            </a:pPr>
            <a:r>
              <a:rPr sz="30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미션 06 — 홍보페이지 구성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2400"/>
              </a:spcAft>
            </a:pPr>
            <a:r>
              <a:rPr sz="1600" b="0">
                <a:solidFill>
                  <a:srgbClr val="C7D2E6"/>
                </a:solidFill>
                <a:latin typeface="Pretendard"/>
                <a:ea typeface="Pretendard"/>
                <a:cs typeface="Pretendard"/>
              </a:rPr>
              <a:t>💡 사용자 흐름(인지→관심→행동) 순으로 섹션을 배치한다.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▶  다음  </a:t>
            </a: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M7. AI 기반 반복업무 자동화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D4E8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1554480"/>
            <a:ext cx="1005840" cy="128016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400" b="0">
                <a:solidFill>
                  <a:srgbClr val="BFD2EC"/>
                </a:solidFill>
                <a:latin typeface="JetBrains Mono"/>
                <a:ea typeface="JetBrains Mono"/>
                <a:cs typeface="JetBrains Mono"/>
              </a:rPr>
              <a:t>MODULE 7 · 7–8교시 · 16:00–17:50</a:t>
            </a:r>
          </a:p>
          <a:p>
            <a:pPr algn="l">
              <a:lnSpc>
                <a:spcPct val="110000"/>
              </a:lnSpc>
              <a:spcBef>
                <a:spcPts val="600"/>
              </a:spcBef>
              <a:spcAft>
                <a:spcPts val="1200"/>
              </a:spcAft>
            </a:pPr>
            <a:r>
              <a:rPr sz="38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M7. AI 기반 반복업무 자동화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DBE6F6"/>
                </a:solidFill>
                <a:latin typeface="Pretendard"/>
                <a:ea typeface="Pretendard"/>
                <a:cs typeface="Pretendard"/>
              </a:rPr>
              <a:t>하루 동안 만든 산출물을 재사용 템플릿으로 자산화하고, 반복 홍보업무를 자동화 루틴으로 설계한다. (2시간 · 결과물 완성·발표 포함)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5212080"/>
            <a:ext cx="10515600" cy="1051560"/>
          </a:xfrm>
          <a:prstGeom prst="rect">
            <a:avLst/>
          </a:prstGeom>
          <a:solidFill>
            <a:srgbClr val="184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20040" tIns="164592" rtlCol="0" anchor="ctr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300"/>
              </a:spcAft>
            </a:pPr>
            <a:r>
              <a:rPr sz="1200" b="1">
                <a:solidFill>
                  <a:srgbClr val="9FC0E6"/>
                </a:solidFill>
                <a:latin typeface="JetBrains Mono"/>
                <a:ea typeface="JetBrains Mono"/>
                <a:cs typeface="JetBrains Mono"/>
              </a:rPr>
              <a:t>이전  </a:t>
            </a:r>
            <a:r>
              <a:rPr sz="13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M1~M6의 결과물이 모두 모였다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300"/>
              </a:spcAft>
            </a:pPr>
            <a:r>
              <a:rPr sz="12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이번  </a:t>
            </a: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오늘 만든 것을 템플릿·자동화로 자산화하고 발표한다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400"/>
              </a:spcAft>
            </a:pPr>
            <a:r>
              <a:rPr sz="1200" b="1">
                <a:solidFill>
                  <a:srgbClr val="9FC0E6"/>
                </a:solidFill>
                <a:latin typeface="JetBrains Mono"/>
                <a:ea typeface="JetBrains Mono"/>
                <a:cs typeface="JetBrains Mono"/>
              </a:rPr>
              <a:t>다음  </a:t>
            </a:r>
            <a:r>
              <a:rPr sz="13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하루의 결과물이 내일의 자산으로 🏁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학습 목표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이 모듈에서 할 수 있게 되는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반복 홍보업무를 템플릿화하고 실무 적용 프로세스를 설계할 수 있다.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오늘 만든 결과물을 완성하고 현업 적용 방안을 정리할 수 있다.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D4E8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2468880"/>
            <a:ext cx="822960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800"/>
              </a:spcAft>
            </a:pPr>
            <a:r>
              <a:rPr sz="1400" b="0">
                <a:solidFill>
                  <a:srgbClr val="BFD2EC"/>
                </a:solidFill>
                <a:latin typeface="JetBrains Mono"/>
                <a:ea typeface="JetBrains Mono"/>
                <a:cs typeface="JetBrains Mono"/>
              </a:rPr>
              <a:t>세션 1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1200"/>
              </a:spcAft>
            </a:pPr>
            <a:r>
              <a:rPr sz="32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홍보업무 템플릿화와 재사용 전략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DBE6F6"/>
                </a:solidFill>
                <a:latin typeface="Pretendard"/>
                <a:ea typeface="Pretendard"/>
                <a:cs typeface="Pretendard"/>
              </a:rPr>
              <a:t>반복업무는 "프롬프트 + 체크리스트 + 자산"의 3종 세트로 템플릿화한다.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핵심 개념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핵심 개념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프롬프트 라이브러리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잘 작동한 프롬프트를 용도별로 모은 개인 자산. 다음엔 0에서 시작하지 않는다.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콘텐츠 리퍼포징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하나의 핵심 콘텐츠를 여러 채널·형식으로 재가공(원소스 멀티유즈의 운영판).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워크플로 자동화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트리거→생성→사람 검수→발행 단계 정의. Make/Zapier로 일부 단계를 연결.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개념 깊이 보기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개념을 예시로 — 우리 케이스에 적용하면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1000"/>
              </a:spcBef>
              <a:spcAft>
                <a:spcPts val="200"/>
              </a:spcAft>
            </a:pPr>
            <a:r>
              <a:rPr sz="1500" b="1">
                <a:solidFill>
                  <a:srgbClr val="1D4E89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프롬프트 라이브러리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    예) </a:t>
            </a:r>
            <a:r>
              <a:rPr sz="14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오늘 잘 된 R-C-T-F 헤드라인 프롬프트를 노션에 저장 → 다음 신제품 땐 제품명만 바꿔 재사용.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  <a:spcAft>
                <a:spcPts val="200"/>
              </a:spcAft>
            </a:pPr>
            <a:r>
              <a:rPr sz="1500" b="1">
                <a:solidFill>
                  <a:srgbClr val="1D4E89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워크플로 자동화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    예) </a:t>
            </a:r>
            <a:r>
              <a:rPr sz="14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트리거(매주 월 09:00)→ChatGPT 초안→사람 검수→인스타 예약발행. Make로 연결.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절차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실습 절차 — 직접 해봅니다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1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오늘의 프롬프트 중 재사용할 것을 라이브러리에 정리한다.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2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반복업무 1개를 "트리거 → 생성 → 검수 → 발행" 단계로 그린다.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3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각 단계의 입력/출력과 담당(AI/사람)을 명시한다.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4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월간 반복 시 예상 절감시간을 적는다.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프롬프트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워크플로 설계 보조 프롬프트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74519"/>
            <a:ext cx="10332720" cy="4434840"/>
          </a:xfrm>
          <a:prstGeom prst="rect">
            <a:avLst/>
          </a:prstGeom>
          <a:solidFill>
            <a:srgbClr val="10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11480" tIns="502920" rIns="365760" bIns="320040" rtlCol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다음 반복 홍보업무를 자동화 워크플로로 설계해줘.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"트리거 / AI 단계 / 사람 검수 / 발행"으로 표를 만들고,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각 단계에 쓸 도구와 예상 소요시간을 적어줘.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업무: 매주 신제품 인스타 게시글 + 카드뉴스 발행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2103120"/>
            <a:ext cx="109728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실제 입력 → 출력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실제 예시 — 자동화 워크플로 설계 표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783080"/>
            <a:ext cx="10332720" cy="1874519"/>
          </a:xfrm>
          <a:prstGeom prst="rect">
            <a:avLst/>
          </a:prstGeom>
          <a:solidFill>
            <a:srgbClr val="10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502920" rIns="320040" rtlCol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25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다음 반복 업무를 자동화 워크플로로 설계해줘. "트리거/AI/사람검수/발행" 표 + 도구·소요시간.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25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업무: 매주 신제품 인스타 게시글 + 카드뉴스 발행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783080"/>
            <a:ext cx="2011680" cy="329184"/>
          </a:xfrm>
          <a:prstGeom prst="rect">
            <a:avLst/>
          </a:prstGeom>
          <a:solidFill>
            <a:srgbClr val="24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400"/>
              </a:spcAft>
            </a:pPr>
            <a:r>
              <a:rPr sz="1200" b="0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▸ 입력 프롬프트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794760"/>
            <a:ext cx="10332720" cy="2514600"/>
          </a:xfrm>
          <a:prstGeom prst="rect">
            <a:avLst/>
          </a:prstGeom>
          <a:solidFill>
            <a:srgbClr val="FBFCFE"/>
          </a:solidFill>
          <a:ln w="12700">
            <a:solidFill>
              <a:srgbClr val="E9EC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502920" rIns="320040" rtlCol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200">
                <a:solidFill>
                  <a:srgbClr val="14213D"/>
                </a:solidFill>
                <a:latin typeface="JetBrains Mono"/>
                <a:ea typeface="JetBrains Mono"/>
                <a:cs typeface="JetBrains Mono"/>
              </a:rPr>
              <a:t>┌────────┬───────────────┬──────────┬──────┐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200">
                <a:solidFill>
                  <a:srgbClr val="14213D"/>
                </a:solidFill>
                <a:latin typeface="JetBrains Mono"/>
                <a:ea typeface="JetBrains Mono"/>
                <a:cs typeface="JetBrains Mono"/>
              </a:rPr>
              <a:t>│ 단계    │ 하는 일        │ 도구      │ 시간 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200">
                <a:solidFill>
                  <a:srgbClr val="14213D"/>
                </a:solidFill>
                <a:latin typeface="JetBrains Mono"/>
                <a:ea typeface="JetBrains Mono"/>
                <a:cs typeface="JetBrains Mono"/>
              </a:rPr>
              <a:t>├────────┼───────────────┼──────────┼──────┤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200">
                <a:solidFill>
                  <a:srgbClr val="14213D"/>
                </a:solidFill>
                <a:latin typeface="JetBrains Mono"/>
                <a:ea typeface="JetBrains Mono"/>
                <a:cs typeface="JetBrains Mono"/>
              </a:rPr>
              <a:t>│ 트리거  │ 매주 월 09:00  │ Make     │  -   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200">
                <a:solidFill>
                  <a:srgbClr val="14213D"/>
                </a:solidFill>
                <a:latin typeface="JetBrains Mono"/>
                <a:ea typeface="JetBrains Mono"/>
                <a:cs typeface="JetBrains Mono"/>
              </a:rPr>
              <a:t>│ AI생성  │ 게시글+문구 초안│ ChatGPT  │ 2분  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200">
                <a:solidFill>
                  <a:srgbClr val="14213D"/>
                </a:solidFill>
                <a:latin typeface="JetBrains Mono"/>
                <a:ea typeface="JetBrains Mono"/>
                <a:cs typeface="JetBrains Mono"/>
              </a:rPr>
              <a:t>│ 사람검수│ 사실·톤 확인   │ 담당자    │ 5분  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200">
                <a:solidFill>
                  <a:srgbClr val="14213D"/>
                </a:solidFill>
                <a:latin typeface="JetBrains Mono"/>
                <a:ea typeface="JetBrains Mono"/>
                <a:cs typeface="JetBrains Mono"/>
              </a:rPr>
              <a:t>│ 발행    │ 인스타 예약발행 │ Make     │ 1분  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200">
                <a:solidFill>
                  <a:srgbClr val="14213D"/>
                </a:solidFill>
                <a:latin typeface="JetBrains Mono"/>
                <a:ea typeface="JetBrains Mono"/>
                <a:cs typeface="JetBrains Mono"/>
              </a:rPr>
              <a:t>└────────┴───────────────┴──────────┴──────┘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50">
                <a:solidFill>
                  <a:srgbClr val="1D4E89"/>
                </a:solidFill>
                <a:latin typeface="Pretendard"/>
                <a:ea typeface="Pretendard"/>
                <a:cs typeface="Pretendard"/>
              </a:rPr>
              <a:t>→ 기존 주 3시간 → 약 10분. 검수는 사람이 게이트.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794760"/>
            <a:ext cx="1828800" cy="329184"/>
          </a:xfrm>
          <a:prstGeom prst="rect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384048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400"/>
              </a:spcAft>
            </a:pPr>
            <a:r>
              <a:rPr sz="12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▸ 나온 결과(예)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정리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홍보업무 템플릿화와 재사용 전략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20240"/>
            <a:ext cx="10332720" cy="1636776"/>
          </a:xfrm>
          <a:prstGeom prst="rect">
            <a:avLst/>
          </a:prstGeom>
          <a:solidFill>
            <a:srgbClr val="FB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228600" rIns="365760" bIns="182880" rtlCol="0" anchor="t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600"/>
              </a:spcAft>
            </a:pPr>
            <a:r>
              <a:rPr sz="1500" b="1">
                <a:solidFill>
                  <a:srgbClr val="B57A1A"/>
                </a:solidFill>
                <a:latin typeface="JetBrains Mono"/>
                <a:ea typeface="JetBrains Mono"/>
                <a:cs typeface="JetBrains Mono"/>
              </a:rPr>
              <a:t>⚠  흔한 실수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검수 단계를 빼고 자동 발행하면 사고 위험 → 사람 게이트 필수.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템플릿을 안 남기면 매번 처음부터 → 라이브러리화가 핵심 자산.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739896"/>
            <a:ext cx="10332720" cy="1005840"/>
          </a:xfrm>
          <a:prstGeom prst="rect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201168" rIns="365760" bIns="182880" rtlCol="0" anchor="t"/>
          <a:lstStyle/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📦  결과물  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재사용 프롬프트 라이브러리 + 자동화 워크플로 1건.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D4E8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2468880"/>
            <a:ext cx="822960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800"/>
              </a:spcAft>
            </a:pPr>
            <a:r>
              <a:rPr sz="1400" b="0">
                <a:solidFill>
                  <a:srgbClr val="BFD2EC"/>
                </a:solidFill>
                <a:latin typeface="JetBrains Mono"/>
                <a:ea typeface="JetBrains Mono"/>
                <a:cs typeface="JetBrains Mono"/>
              </a:rPr>
              <a:t>세션 2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1200"/>
              </a:spcAft>
            </a:pPr>
            <a:r>
              <a:rPr sz="32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결과물 완성 및 피드백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DBE6F6"/>
                </a:solidFill>
                <a:latin typeface="Pretendard"/>
                <a:ea typeface="Pretendard"/>
                <a:cs typeface="Pretendard"/>
              </a:rPr>
              <a:t>오늘의 결과물을 모아 발표하고, 현업 적용 계획과 체크리스트로 마무리한다.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핵심 개념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핵심 개념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결과물 패키지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M2~M6 산출물(메시지·콘텐츠·시각자료·시안·페이지)을 한 폴더/문서로 묶어 포트폴리오화.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피드백 루프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발표 → 동료/강사 피드백 → 1개 개선점 도출. 작은 개선을 즉시 반영.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실무 적용 체크리스트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내일부터 쓸 1가지를 구체적 행동으로("매주 화 10시, 카드뉴스 템플릿으로 발행").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개념 깊이 보기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개념을 예시로 — 우리 케이스에 적용하면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1000"/>
              </a:spcBef>
              <a:spcAft>
                <a:spcPts val="200"/>
              </a:spcAft>
            </a:pPr>
            <a:r>
              <a:rPr sz="1500" b="1">
                <a:solidFill>
                  <a:srgbClr val="1D4E89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결과물 패키지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    예) </a:t>
            </a:r>
            <a:r>
              <a:rPr sz="14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M2 메시지하우스 + M3 콘텐츠 + M4 카드뉴스 + M5 시안 + M6 페이지를 노션 한 페이지로 묶어 포트폴리오화.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  <a:spcAft>
                <a:spcPts val="200"/>
              </a:spcAft>
            </a:pPr>
            <a:r>
              <a:rPr sz="1500" b="1">
                <a:solidFill>
                  <a:srgbClr val="1D4E89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실무 적용 체크리스트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    예) </a:t>
            </a:r>
            <a:r>
              <a:rPr sz="14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"언젠가"(X) → "매주 화 10시, 카드뉴스 템플릿으로 발행"(O). 요일·시간까지.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절차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실습 절차 — 직접 해봅니다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1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오늘 만든 결과물을 한 문서로 모은다.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2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2분 발표로 만든 것과 적용 계획을 공유한다.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3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피드백 중 개선점 1개를 즉시 반영한다.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4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실무 활용 체크리스트(다음 주 실행 1가지)를 작성한다.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프롬프트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회고·체크리스트 프롬프트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74519"/>
            <a:ext cx="10332720" cy="4434840"/>
          </a:xfrm>
          <a:prstGeom prst="rect">
            <a:avLst/>
          </a:prstGeom>
          <a:solidFill>
            <a:srgbClr val="10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11480" tIns="502920" rIns="365760" bIns="320040" rtlCol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오늘 만든 결과물 목록을 줄게. 이걸 바탕으로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(1) 한 문단 발표 스크립트 (2) 현업 적용 체크리스트 5개를 만들어줘.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결과물: 메시지 하우스, 소개문, 카드뉴스, UI 시안, 랜딩페이지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2103120"/>
            <a:ext cx="109728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좋은예 VS 나쁜예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비교 — 워크숍이 끝난 뒤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20240"/>
            <a:ext cx="5029200" cy="4114800"/>
          </a:xfrm>
          <a:prstGeom prst="rect">
            <a:avLst/>
          </a:prstGeom>
          <a:solidFill>
            <a:srgbClr val="F7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320040" rIns="320040" rtlCol="0" anchor="t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700" b="1">
                <a:solidFill>
                  <a:srgbClr val="A63333"/>
                </a:solidFill>
                <a:latin typeface="Noto Serif KR"/>
                <a:ea typeface="Noto Serif KR"/>
                <a:cs typeface="Noto Serif KR"/>
              </a:rPr>
              <a:t>🚫 흔한 끝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A6333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"좋았다"로 끝, 자료는 흩어짐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A6333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"언젠가 적용해봐야지"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A6333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한 달 뒤 0에서 다시 시작</a:t>
            </a:r>
          </a:p>
        </p:txBody>
      </p:sp>
      <p:sp>
        <p:nvSpPr>
          <p:cNvPr id="5" name="Rectangle 4"/>
          <p:cNvSpPr/>
          <p:nvPr/>
        </p:nvSpPr>
        <p:spPr>
          <a:xfrm>
            <a:off x="6245352" y="1920240"/>
            <a:ext cx="5029200" cy="4114800"/>
          </a:xfrm>
          <a:prstGeom prst="rect">
            <a:avLst/>
          </a:prstGeom>
          <a:solidFill>
            <a:srgbClr val="E7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320040" rIns="320040" rtlCol="0" anchor="t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700" b="1">
                <a:solidFill>
                  <a:srgbClr val="2C6B44"/>
                </a:solidFill>
                <a:latin typeface="Noto Serif KR"/>
                <a:ea typeface="Noto Serif KR"/>
                <a:cs typeface="Noto Serif KR"/>
              </a:rPr>
              <a:t>✅ 자산으로 남기기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2C6B44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결과물·프롬프트를 한 곳에 패키지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2C6B44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다음 주 실행 1가지를 날짜까지 확정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>
                <a:solidFill>
                  <a:srgbClr val="2C6B44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템플릿 재사용으로 매번 시간 절약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정리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결과물 완성 및 피드백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20240"/>
            <a:ext cx="10332720" cy="1069848"/>
          </a:xfrm>
          <a:prstGeom prst="rect">
            <a:avLst/>
          </a:prstGeom>
          <a:solidFill>
            <a:srgbClr val="FB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228600" rIns="365760" bIns="182880" rtlCol="0" anchor="t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600"/>
              </a:spcAft>
            </a:pPr>
            <a:r>
              <a:rPr sz="1500" b="1">
                <a:solidFill>
                  <a:srgbClr val="B57A1A"/>
                </a:solidFill>
                <a:latin typeface="JetBrains Mono"/>
                <a:ea typeface="JetBrains Mono"/>
                <a:cs typeface="JetBrains Mono"/>
              </a:rPr>
              <a:t>⚠  흔한 실수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"언젠가 해보겠다"는 적용 실패의 신호 → 요일·시간까지 구체화.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172968"/>
            <a:ext cx="10332720" cy="1005840"/>
          </a:xfrm>
          <a:prstGeom prst="rect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201168" rIns="365760" bIns="182880" rtlCol="0" anchor="t"/>
          <a:lstStyle/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📦  결과물  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결과물 패키지 + 발표 + 실무 활용 체크리스트.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도구 가이드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이 모듈에서 쓰는 도구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Make / Zapier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트리거-액션으로 단계 연결. 무료 한도로 간단한 자동화부터 시작.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노션 / 구글 문서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프롬프트 라이브러리·결과물 패키지·체크리스트를 보관하는 허브.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CHECKLIST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모듈 체크리스트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☐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재사용 프롬프트 라이브러리를 만들었다.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☐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반복업무 자동화 워크플로를 1건 설계했다.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☐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결과물을 모아 발표하고 적용 체크리스트를 작성했다.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1371600"/>
            <a:ext cx="822960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51560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400" b="0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MISSION · 도장깨기</a:t>
            </a:r>
          </a:p>
          <a:p>
            <a:pPr algn="l">
              <a:lnSpc>
                <a:spcPct val="110000"/>
              </a:lnSpc>
              <a:spcBef>
                <a:spcPts val="600"/>
              </a:spcBef>
              <a:spcAft>
                <a:spcPts val="1200"/>
              </a:spcAft>
            </a:pPr>
            <a:r>
              <a:rPr sz="30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미션 07 — 자동화 루틴 완성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2400"/>
              </a:spcAft>
            </a:pPr>
            <a:r>
              <a:rPr sz="1600" b="0">
                <a:solidFill>
                  <a:srgbClr val="C7D2E6"/>
                </a:solidFill>
                <a:latin typeface="Pretendard"/>
                <a:ea typeface="Pretendard"/>
                <a:cs typeface="Pretendard"/>
              </a:rPr>
              <a:t>💡 오늘 만든 결과물을 재사용 템플릿으로 묶는다.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1371600"/>
            <a:ext cx="1005840" cy="128016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515600" cy="4389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400" b="0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WRAP-UP</a:t>
            </a:r>
          </a:p>
          <a:p>
            <a:pPr algn="l">
              <a:lnSpc>
                <a:spcPct val="110000"/>
              </a:lnSpc>
              <a:spcBef>
                <a:spcPts val="600"/>
              </a:spcBef>
              <a:spcAft>
                <a:spcPts val="1600"/>
              </a:spcAft>
            </a:pPr>
            <a:r>
              <a:rPr sz="34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하루의 결과물이, 내일의 자산으로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800"/>
              </a:spcAft>
            </a:pPr>
            <a:r>
              <a:rPr sz="1600" b="0">
                <a:solidFill>
                  <a:srgbClr val="C7D2E6"/>
                </a:solidFill>
                <a:latin typeface="Pretendard"/>
                <a:ea typeface="Pretendard"/>
                <a:cs typeface="Pretendard"/>
              </a:rPr>
              <a:t>오늘 'Night Off' 캠페인을 처음부터 끝까지 만들었습니다 —</a:t>
            </a:r>
          </a:p>
          <a:p>
            <a:pPr algn="l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메시지 하우스(M2) → 콘텐츠 세트(M3) → 시각자료(M4)</a:t>
            </a:r>
          </a:p>
          <a:p>
            <a:pPr algn="l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→ UI 시안(M5) → 홍보 페이지(M6) → 자동화 루틴(M7)</a:t>
            </a:r>
          </a:p>
          <a:p>
            <a:pPr algn="l">
              <a:lnSpc>
                <a:spcPct val="118000"/>
              </a:lnSpc>
              <a:spcBef>
                <a:spcPts val="1600"/>
              </a:spcBef>
              <a:spcAft>
                <a:spcPts val="400"/>
              </a:spcAft>
            </a:pPr>
            <a:r>
              <a:rPr sz="1500" b="0">
                <a:solidFill>
                  <a:srgbClr val="9FAEC8"/>
                </a:solidFill>
                <a:latin typeface="Pretendard"/>
                <a:ea typeface="Pretendard"/>
                <a:cs typeface="Pretendard"/>
              </a:rPr>
              <a:t>이제 제품명만 바꾸면, 다음 캠페인은 처음부터 시작하지 않습니다.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F66171F-6E79-6048-A967-BBDDA22D2CFC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c55cad18-3976-4386-b932-71acc619f3e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119</TotalTime>
  <Words>8034</Words>
  <Application>Microsoft Macintosh PowerPoint</Application>
  <PresentationFormat>와이드스크린</PresentationFormat>
  <Paragraphs>1012</Paragraphs>
  <Slides>141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141</vt:i4>
      </vt:variant>
    </vt:vector>
  </HeadingPairs>
  <TitlesOfParts>
    <vt:vector size="147" baseType="lpstr">
      <vt:lpstr>JetBrains Mono</vt:lpstr>
      <vt:lpstr>Noto Serif KR</vt:lpstr>
      <vt:lpstr>Pretendard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이애본</cp:lastModifiedBy>
  <cp:revision>2</cp:revision>
  <dcterms:created xsi:type="dcterms:W3CDTF">2013-01-27T09:14:16Z</dcterms:created>
  <dcterms:modified xsi:type="dcterms:W3CDTF">2026-06-13T12:21:30Z</dcterms:modified>
  <cp:category/>
</cp:coreProperties>
</file>
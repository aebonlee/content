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3736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06039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47472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34340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212079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080759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515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400" b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1교시 · 09:00–09:50  ·  1시간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1400"/>
              </a:spcAft>
            </a:pPr>
            <a:r>
              <a:rPr sz="40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M1. AI 기반 업무효율화의 이해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C7D2E6"/>
                </a:solidFill>
                <a:latin typeface="Pretendard"/>
                <a:ea typeface="Pretendard"/>
                <a:cs typeface="Pretendard"/>
              </a:rPr>
              <a:t>생성형 AI를 "확률적 언어 생성기"로 정확히 이해하고, 내 홍보 워크플로를 입력→처리→출력 단위로 분해해 어디를 자동화할지 판단한다.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0">
                <a:solidFill>
                  <a:srgbClr val="8A99B5"/>
                </a:solidFill>
                <a:latin typeface="JetBrains Mono"/>
                <a:ea typeface="JetBrains Mono"/>
                <a:cs typeface="JetBrains Mono"/>
              </a:rPr>
              <a:t>AI로 만드는 홍보 실무 — 1일 워크숍 학습자료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학습 목표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생성형 AI(LLM)의 동작 원리와 한계(환각)를 설명할 수 있다.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기존 홍보 프로세스가 어떻게 바뀌는지 안다.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내 홍보 업무를 입력→처리→출력으로 분해해 자동화 지점을 판단한다.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AGENDA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오늘의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1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생성형 AI의 개념과 홍보 업무의 변화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2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중소기업 실무 적용 사례와 활용 포인트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468880"/>
            <a:ext cx="82296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800"/>
              </a:spcAft>
            </a:pPr>
            <a:r>
              <a:rPr sz="1400" b="0">
                <a:solidFill>
                  <a:srgbClr val="BFD2EC"/>
                </a:solidFill>
                <a:latin typeface="JetBrains Mono"/>
                <a:ea typeface="JetBrains Mono"/>
                <a:cs typeface="JetBrains Mono"/>
              </a:rPr>
              <a:t>세션 1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1200"/>
              </a:spcAft>
            </a:pPr>
            <a:r>
              <a:rPr sz="32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생성형 AI의 개념과 홍보 업무의 변화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LLM의 동작 원리(다음 토큰 예측)와 한계(환각)를 알고, "검색기"가 아니라 "생성기"로 다룬다.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핵심 개념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생성형 AI(LLM)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문맥상 가장 그럴듯한 다음 토큰을 확률적으로 이어 붙인다. 사실 DB 조회가 아니라 패턴 생성 → 출력은 "정답"이 아니라 "가장 그럴듯한 초안".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환각(Hallucination)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근거 없이 그럴듯한 사실·수치·인용을 만들어내는 현상. 통계·날짜·고유명사·법령은 반드시 원본 교차검증.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Human-in-the-loop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AI는 초안 생성, 사람은 사실검증·톤조정·최종승인. 발행 책임은 항상 사람에게.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1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내 홍보 업무를 "입력 → 처리 → 출력" 단위로 쪼개 나열한다.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2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각 작업을 반복성(고/저) × 창의성(고/저) 2×2로 분류한다.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3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반복성 高 · 창의성 低 = 자동화 1순위로 표시한다.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4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후보마다 현재 소요시간과 AI 도입 후 예상 시간을 숫자로 적는다.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업무 진단 보조 프롬프트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365760" tIns="502920" bIns="32004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너는 중소기업 홍보 담당자의 업무 컨설턴트야.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아래 업무 목록을 (1) 반복성 (2) AI 자동화 적합도 (3) 추천 도구로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1~5점 표를 만들어 정리하고, 자동화 우선순위를 제안해줘.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[업무 목록]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매주 인스타 게시글 3건 작성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월 1회 보도자료 작성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행사 안내 카드뉴스 제작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생성형 AI의 개념과 홍보 업무의 변화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1636776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28600" bIns="182880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AI 출력을 검수 없이 발행 → 환각·톤 불일치 사고. 발행 전 사람 검수는 비협상 원칙.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"전부 자동화" 욕심 → 판단·창의 영역까지 맡기면 품질이 무너진다.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39896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01168" bIns="182880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반복업무 진단표 1장(업무·반복성·자동화 적합도·추천 도구·예상 절감시간).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468880"/>
            <a:ext cx="82296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800"/>
              </a:spcAft>
            </a:pPr>
            <a:r>
              <a:rPr sz="1400" b="0">
                <a:solidFill>
                  <a:srgbClr val="BFD2EC"/>
                </a:solidFill>
                <a:latin typeface="JetBrains Mono"/>
                <a:ea typeface="JetBrains Mono"/>
                <a:cs typeface="JetBrains Mono"/>
              </a:rPr>
              <a:t>세션 2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1200"/>
              </a:spcAft>
            </a:pPr>
            <a:r>
              <a:rPr sz="32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중소기업 실무 적용 사례와 활용 포인트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중소기업 현장의 적용 사례로 "효과 큰 한 곳"을 먼저 찾는다(스몰 윈 전략).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핵심 개념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업무효율화 ROI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(절감 시간 × 빈도) − (도구 학습·검수 비용). 빈도 높은 업무일수록 효과가 누적된다.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스몰 윈(Small Win)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전 과정을 한 번에 바꾸지 않고, 효과가 즉시 보이는 단일 업무부터 자동화해 조직 신뢰를 쌓는다.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1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진단표에서 ROI가 가장 큰 업무 1개를 고른다.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2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그 업무의 현재 작업 절차를 글로 적는다(=프롬프트의 재료).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3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AI 도입 후 새 절차를 그려 보고, 사람이 개입할 검수 지점을 표시한다.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적용 시나리오 설계 프롬프트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365760" tIns="502920" bIns="32004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다음 업무를 AI로 자동화하는 단계별 절차를 만들어줘.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각 단계에 "AI가 하는 일"과 "사람이 검수할 점"을 구분해서 표시해줘.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업무: 매주 신제품 인스타 게시글 작성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중소기업 실무 적용 사례와 활용 포인트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1069848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28600" bIns="182880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검수 지점을 정하지 않으면 자동화가 "통제 불가"가 된다. 단계마다 사람 게이트를 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172968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01168" bIns="182880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우리 회사 1순위 자동화 시나리오 1건(현재 절차 → AI 절차 → 검수 지점).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도구 가이드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도구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ChatGPT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범용 초안 생성·요약·분류. 무료(GPT-4o mini 등)로 시작, 표/분류에 강하다.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Claude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긴 문서 이해·일관된 톤 유지에 강점. 보도자료처럼 구조가 중요한 글에 적합.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CHECKLIST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모듈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☐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내 홍보 업무를 입력→처리→출력으로 분해했다.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☐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반복업무 진단표를 만들었다.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☐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ROI 1순위 업무의 자동화 시나리오를 그렸다.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371600"/>
            <a:ext cx="82296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400" b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MISSION · 도장깨기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sz="30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미션 01 — 반복 업무 찾기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2400"/>
              </a:spcAft>
            </a:pPr>
            <a:r>
              <a:rPr sz="1600" b="0">
                <a:solidFill>
                  <a:srgbClr val="C7D2E6"/>
                </a:solidFill>
                <a:latin typeface="Pretendard"/>
                <a:ea typeface="Pretendard"/>
                <a:cs typeface="Pretendard"/>
              </a:rPr>
              <a:t>💡 "매번 똑같이 하는 일"부터 — 자동화 1순위를 고른다.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▶  다음  </a:t>
            </a: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M2. AI 기반 홍보 기획 실무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